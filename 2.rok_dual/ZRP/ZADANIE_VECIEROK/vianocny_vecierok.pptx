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Rozpočet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232F"/>
              </a:solidFill>
              <a:effectLst/>
            </c:spPr>
          </c:dPt>
          <c:dPt>
            <c:idx val="1"/>
            <c:bubble3D val="0"/>
            <c:spPr>
              <a:solidFill>
                <a:srgbClr val="1B4332"/>
              </a:solidFill>
              <a:effectLst/>
            </c:spPr>
          </c:dPt>
          <c:dPt>
            <c:idx val="2"/>
            <c:bubble3D val="0"/>
            <c:spPr>
              <a:solidFill>
                <a:srgbClr val="D4A843"/>
              </a:solidFill>
              <a:effectLst/>
            </c:spPr>
          </c:dPt>
          <c:dPt>
            <c:idx val="3"/>
            <c:bubble3D val="0"/>
            <c:spPr>
              <a:solidFill>
                <a:srgbClr val="40916C"/>
              </a:solidFill>
              <a:effectLst/>
            </c:spPr>
          </c:dPt>
          <c:dPt>
            <c:idx val="4"/>
            <c:bubble3D val="0"/>
            <c:spPr>
              <a:solidFill>
                <a:srgbClr val="5B8C5A"/>
              </a:solidFill>
              <a:effectLst/>
            </c:spPr>
          </c:dPt>
          <c:dPt>
            <c:idx val="5"/>
            <c:bubble3D val="0"/>
            <c:spPr>
              <a:solidFill>
                <a:srgbClr val="2D6A4F"/>
              </a:solidFill>
              <a:effectLst/>
            </c:spPr>
          </c:dPt>
          <c:dPt>
            <c:idx val="6"/>
            <c:bubble3D val="0"/>
            <c:spPr>
              <a:solidFill>
                <a:srgbClr val="8B1A1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Jedlo a nápoje</c:v>
                </c:pt>
                <c:pt idx="1">
                  <c:v>Balíčky</c:v>
                </c:pt>
                <c:pt idx="2">
                  <c:v>Stolové potreby</c:v>
                </c:pt>
                <c:pt idx="3">
                  <c:v>Dekorácie</c:v>
                </c:pt>
                <c:pt idx="4">
                  <c:v>Kreatívne mat.</c:v>
                </c:pt>
                <c:pt idx="5">
                  <c:v>Tombola + hry</c:v>
                </c:pt>
                <c:pt idx="6">
                  <c:v>Fotokútik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315</c:v>
                </c:pt>
                <c:pt idx="1">
                  <c:v>255</c:v>
                </c:pt>
                <c:pt idx="2">
                  <c:v>125</c:v>
                </c:pt>
                <c:pt idx="3">
                  <c:v>100</c:v>
                </c:pt>
                <c:pt idx="4">
                  <c:v>220</c:v>
                </c:pt>
                <c:pt idx="5">
                  <c:v>205</c:v>
                </c:pt>
                <c:pt idx="6">
                  <c:v>40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Vianočný večierok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 deti v školskej družine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Scenár 2 — Plánovanie a organizácia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Tím: Ado (team leader)  •  Matej  •  Braňo  •  Sebastian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Košice  |  Školský rok 2025/2026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akcii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" cy="155448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Počet detí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1965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– 135 detí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ročníky × 3 triedy × 5–15 detí)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Stredný odhad: 90 detí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64008" cy="155448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 akcie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77840" y="1965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Vianočný večierok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žiakov 1.–3. ročníka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priestoroch školskej družiny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200400"/>
            <a:ext cx="64008" cy="155448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Rozpočet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28016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Stredný variant: ~1 260 €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(~14 € na dieťa)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Financovanie: ZRPŠ + príspevky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2004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00400"/>
            <a:ext cx="64008" cy="155448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Príprava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57784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Dotazník pre rodičov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účasti dieťaťa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Zber odpovedí 3 týždne vopred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Dotazník pre rodičov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Ako to funguje?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2221992"/>
            <a:ext cx="36576" cy="320040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Distribúcia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Triedna učiteľka rozdá dotazníky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rodičom 4 týždne pred akciou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2953512"/>
            <a:ext cx="36576" cy="320040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Zber odpovedí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Rodičia potvrdia účasť, alergie,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ochotu pomôcť (do 1 týždňa)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3685032"/>
            <a:ext cx="36576" cy="320040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Vyhodnotenie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Spočítanie detí, zistenie alergií,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upravenie rozpočtu podľa počtu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Príspevok 14 €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Rodičia odovzdajú príspevok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spolu s dotazníkom triednej uč.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128016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280160"/>
            <a:ext cx="384048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13075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Dotazník — ukážka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 dotazníka: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Údaje o dieťati (meno, trieda)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Potvrdenie účasti (áno / nie)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03520" y="2788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Alergie a diétne obmedzenia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Pomoc rodičov (pečivo, tombola,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0352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dozor na akcii)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03520" y="3520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Súhlas s príspevkom 14 €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3520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Kontaktné údaje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37760" y="4617720"/>
            <a:ext cx="3840480" cy="22860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4617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5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3 týždne pred akciou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Rozdelenie rolí v tíme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920240" cy="502920"/>
          </a:xfrm>
          <a:prstGeom prst="rect">
            <a:avLst/>
          </a:prstGeom>
          <a:solidFill>
            <a:srgbClr val="B5232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188720" cy="1828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Celková koordinácia projektu,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komunikácia so školou,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dohľad nad harmonogramom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371600"/>
            <a:ext cx="1920240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Matej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Ekonóm / Rozpočtár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514600"/>
            <a:ext cx="1188720" cy="1828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Kalkulácia nákladov,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nákup materiálov,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financií a účtovníctvo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71600"/>
            <a:ext cx="1920240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Braňo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Moderátor / PR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2514600"/>
            <a:ext cx="1188720" cy="1828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Moderovanie programu,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komunikácia s rodičmi,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dotazníky a pozvánky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137160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371600"/>
            <a:ext cx="192024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Sebastian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Logistik / Technik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2514600"/>
            <a:ext cx="1188720" cy="1828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Príprava priestorov,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výzdoba a dekorácie,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zvuk, fotokútik, upratovanie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Aktivity a zodpovednosti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Zodpovedný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Popis úloh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Plánovanie a koordinácia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Harmonogram, rozdelenie úloh, schôdzky tímu, komunikácia so školou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Rozpočet a nákupy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Kalkulácia nákladov, cenový prieskum, nákup potravín a materiálov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Komunikácia s rodičmi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Braňo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Dotazníky účasti, pozvánky, moderovanie večierka, tombola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Kreatívne dielne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Sebastian + Matej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Príprava materiálov na tvorbu ozdôb, vedenie workshopov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Výzdoba a logistika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Sebastian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Dekorácie, stromček, priestory, zvuková technika, fotokútik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Občerstvenie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Matej + Braňo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Príprava punču, občerstvenia, koordinácia pečiva od rodičov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Vianočné balíčky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+ celý tím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Nákup sladkostí, balenie balíčkov, distribúcia deťom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večierka (14:00 – 17:00)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99032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2801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Privítanie a koledy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12801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8229600" cy="43891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837944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7190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1719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Kreatívne dielne (3 stanovištia)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17190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57984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276856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15798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215798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Občerstvenie a punč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1579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96896"/>
            <a:ext cx="8229600" cy="43891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715768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59689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259689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Vianočné hry a súťaže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5968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154680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03580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303580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3035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3593592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4747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28800" y="34747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Fotokútik a voľná zábava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34747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1363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032504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391363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28800" y="39136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Koledy a záver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39136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352544"/>
            <a:ext cx="8229600" cy="43891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80" y="4471416"/>
            <a:ext cx="201168" cy="20116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35254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16:50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828800" y="435254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Balíčky a rozlúčka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58000" y="43525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rotácie: deti rozdelené do 3–4 skupín po ~23, rotujú medzi stanovišťami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Kreatívne dielne — 3 stanovištia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97480" cy="548640"/>
          </a:xfrm>
          <a:prstGeom prst="rect">
            <a:avLst/>
          </a:prstGeom>
          <a:solidFill>
            <a:srgbClr val="B5232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Stanovište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Polystyrénové ozdoby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031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Polystyrénové gule a tvary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Trblietky, korálky, flitre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Lepidlo + stuhy na zavesenie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05840" y="3977640"/>
            <a:ext cx="1417320" cy="3657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977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Materiál: 80 €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371600"/>
            <a:ext cx="269748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2"/>
          <p:cNvSpPr/>
          <p:nvPr/>
        </p:nvSpPr>
        <p:spPr>
          <a:xfrm>
            <a:off x="324612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Stanovište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46120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Maľovanie ozdôb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10312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Drevené vianočné výrezy (100 ks)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Tempery (8 sád) + štetce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Podložky na ochranu stolov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886200" y="3977640"/>
            <a:ext cx="1417320" cy="3657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20" name="Text 16"/>
          <p:cNvSpPr/>
          <p:nvPr/>
        </p:nvSpPr>
        <p:spPr>
          <a:xfrm>
            <a:off x="3886200" y="3977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Materiál: 82 €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2648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26480" y="1371600"/>
            <a:ext cx="2697480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19"/>
          <p:cNvSpPr/>
          <p:nvPr/>
        </p:nvSpPr>
        <p:spPr>
          <a:xfrm>
            <a:off x="612648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Stanovište 3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126480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Vianočné pohľadnice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0312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2743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Farebný papier a kartón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Pečiatky, fixky, pastelky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Lepidlá, nožnice (škola má)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766560" y="3977640"/>
            <a:ext cx="1417320" cy="3657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28" name="Text 23"/>
          <p:cNvSpPr/>
          <p:nvPr/>
        </p:nvSpPr>
        <p:spPr>
          <a:xfrm>
            <a:off x="6766560" y="3977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Materiál: 58 €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0" name="Text 25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Celkom kreatívne materiály: 220 €  |  Rotácia skupín po 12–15 minútach  |  Potreba: 1–2 dospelí na stanovište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Občerstvenie a vianočné balíčky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B523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89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Občerstvenie — 315 €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Pagáčiky (~250 ks, domáce)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 chlebíčky (cca 180 ks)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Linecké koláčiky + medovníky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Ovocie (mandarínky, jablká, hrozno)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Salónky, čokolády, oblátky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Nealkoholický punč (20L)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Kakao z Granka + džúsy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Minerálka + plastové poháre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9903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389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Vianočný balíček — 2,80 € / dieťa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292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Čokoládový Mikuláš (40–60g)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292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3–4× salónky / bonbóny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0292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Candy cane lízatko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Perníček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02920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Mandarínka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02920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Cukríky mix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02920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Nálepky / omaľovánka / pero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0292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Papierové vrecúško s motívom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Ak rodičia prinesú domáce pečivo, náklady na jedlo klesnú o 40 %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Kalkulácia nákladov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Kategória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Úsporný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Stredný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Komfortný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Jedlo a nápoje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Vianočné balíčky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Stolové potreby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Dekorácie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Kreatívne materiály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Tombola + hry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Fotokútik + ostatné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2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2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1 260 €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23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1 675 €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232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371600" y="4663440"/>
            <a:ext cx="1828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71600" y="4663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Úsporný: </a:t>
            </a:r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~9 €</a:t>
            </a:r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 na dieťa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0" y="4663440"/>
            <a:ext cx="1828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0" y="4663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Stredný: </a:t>
            </a:r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~14 €</a:t>
            </a:r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 na dieťa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09360" y="4663440"/>
            <a:ext cx="18288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4663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Komfortný: </a:t>
            </a:r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~19 €</a:t>
            </a:r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 na dieťa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Štruktúra rozpočtu (stredný variant)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37160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371600"/>
            <a:ext cx="54864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Najväčšia položka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5780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Jedlo a nápoje tvoria 25% rozpočtu.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rodičovské pečivo ušetrí až 40%.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237744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377440"/>
            <a:ext cx="54864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Kreatívne dielne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5780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220 € na materiál pre 90 detí.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Polystyrénové ozdoby, farby, filc.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33832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0" y="3383280"/>
            <a:ext cx="54864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Tombola je investícia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5780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205 € za 30 cien + 60 sladkých cien.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Rodičia môžu darovať hračky.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0" y="43891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0" y="4389120"/>
            <a:ext cx="54864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Úspora cez rodičov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57800" y="4709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zapojení rodín klesne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rozpočet na ~650 € (7 €/dieťa).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Harmonogram prípravy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256032" cy="25603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64208"/>
            <a:ext cx="36576" cy="20116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80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týždne pred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280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Dohodnúť termín so školou • Distribúcia dotazníkov • Predbežný rozpočet • Inventúra výzdoby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0" y="1353312"/>
            <a:ext cx="1554480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1353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+ Braňo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956816"/>
            <a:ext cx="256032" cy="25603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2231136"/>
            <a:ext cx="36576" cy="20116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8470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týždne pred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847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Zber dotazníkov • Finálny rozpočet podľa počtu • Rozdelenie nákupných zoznamov • Tímová schôdzka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1920240"/>
            <a:ext cx="1554480" cy="34747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Braňo + Matej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523744"/>
            <a:ext cx="256032" cy="25603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" y="2798064"/>
            <a:ext cx="36576" cy="20116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4140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týždne pred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24140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Objednávky: cukrovinky.sk, heliumking.sk • Zber tombolových darov • Nákup kreatívnych materiálov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2487168"/>
            <a:ext cx="155448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2487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Matej + Sebastian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3090672"/>
            <a:ext cx="256032" cy="256032"/>
          </a:xfrm>
          <a:prstGeom prst="ellipse">
            <a:avLst/>
          </a:prstGeom>
          <a:solidFill>
            <a:srgbClr val="B5232F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" y="3364992"/>
            <a:ext cx="36576" cy="20116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29809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týždeň pred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29809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Nákup potravín (Kaufland/Tesco) • Kontrola dodávok • Príprava tombolových lístkov • Test techniky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3054096"/>
            <a:ext cx="1554480" cy="347472"/>
          </a:xfrm>
          <a:prstGeom prst="rect">
            <a:avLst/>
          </a:prstGeom>
          <a:solidFill>
            <a:srgbClr val="B5232F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3054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Celý tím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3657600"/>
            <a:ext cx="256032" cy="256032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" y="3931920"/>
            <a:ext cx="36576" cy="201168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35478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dni pred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06040" y="35478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Nákup čerstvého ovocia a pečiva • Balenie 90 vianočných balíčkov • Príprava výzdoby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23760" y="3621024"/>
            <a:ext cx="1554480" cy="34747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36210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Celý tím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" y="4224528"/>
            <a:ext cx="256032" cy="25603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4114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Deň D ráno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0604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Výzdoba od 10:00 • Príprava jedla od 12:00 • Tombola setup • Finálna kontrola všetkého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4187952"/>
            <a:ext cx="155448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0" y="4187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Celý tím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Kompletný checklist s nákupným zoznamom a cenami je k dispozícii ako samostatný dokument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Riziká a odporúčania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2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Možné riziká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54864" cy="685800"/>
          </a:xfrm>
          <a:prstGeom prst="rect">
            <a:avLst/>
          </a:prstGeom>
          <a:solidFill>
            <a:srgbClr val="B5232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01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Nízka účasť rodičov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39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Mať záložný plán nákupu pečiva;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rozpočet počíta aj bez príspevkov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54864" cy="685800"/>
          </a:xfrm>
          <a:prstGeom prst="rect">
            <a:avLst/>
          </a:prstGeom>
          <a:solidFill>
            <a:srgbClr val="B5232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78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Potravinové alergie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816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Dotazník zisťuje alergie vopred;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označiť alergény pri jedle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37560"/>
            <a:ext cx="54864" cy="685800"/>
          </a:xfrm>
          <a:prstGeom prst="rect">
            <a:avLst/>
          </a:prstGeom>
          <a:solidFill>
            <a:srgbClr val="B5232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55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Príliš veľa / málo detí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5935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Dotazník zbiera presné čísla;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flexibilný program pre ±20 detí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114800"/>
            <a:ext cx="54864" cy="685800"/>
          </a:xfrm>
          <a:prstGeom prst="rect">
            <a:avLst/>
          </a:prstGeom>
          <a:solidFill>
            <a:srgbClr val="B5232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33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Technické problémy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3708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Testovať techniku deň vopred;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mať záložný BT reproduktor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Tipy na úspech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178308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783080"/>
            <a:ext cx="54864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801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Zapojte rodičov aktívne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039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Pečivo od rodičov ušetrí 40% z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rozpočtu na jedlo; tombola dary zadarmo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60320"/>
            <a:ext cx="54864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578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Nakupujte vo veľkom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816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cukrovinky.sk — doprava zdarma od 60 €;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heliumking.sk — výdajné miesto Košice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33756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337560"/>
            <a:ext cx="54864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355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Využite sezónne akcie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5935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Mandarínky v Kauflande pred Vianocami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0,89 €/kg; Pepco/Tedi výzdoba −50%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411480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4114800"/>
            <a:ext cx="54864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4133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Pripravte sa na upratovanie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43708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Vrecia na odpad + mokré utierky;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dohodnúť s družinárom priestory do 18:00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Ďakujeme za pozornosť!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200400" y="228600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9728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detí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1 260 €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92608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14 €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93776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dieťa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76656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Veselé Vianoce a šťastný nový rok!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Tím: Ado  •  Matej  •  Braňo  •  Sebastian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Otázky?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Vianočný večierok pre deti v školskej družine</dc:title>
  <dc:subject>PptxGenJS Presentation</dc:subject>
  <dc:creator>Tím: Ado, Matej, Braňo, Sebastian</dc:creator>
  <cp:lastModifiedBy>Tím: Ado, Matej, Braňo, Sebastian</cp:lastModifiedBy>
  <cp:revision>1</cp:revision>
  <dcterms:created xsi:type="dcterms:W3CDTF">2026-04-08T14:50:49Z</dcterms:created>
  <dcterms:modified xsi:type="dcterms:W3CDTF">2026-04-08T14:50:49Z</dcterms:modified>
</cp:coreProperties>
</file>