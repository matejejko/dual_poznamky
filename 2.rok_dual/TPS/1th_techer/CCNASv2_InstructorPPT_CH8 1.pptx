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7" r:id="rId1"/>
  </p:sldMasterIdLst>
  <p:notesMasterIdLst>
    <p:notesMasterId r:id="rId66"/>
  </p:notesMasterIdLst>
  <p:sldIdLst>
    <p:sldId id="306" r:id="rId2"/>
    <p:sldId id="316" r:id="rId3"/>
    <p:sldId id="312" r:id="rId4"/>
    <p:sldId id="384" r:id="rId5"/>
    <p:sldId id="318" r:id="rId6"/>
    <p:sldId id="319" r:id="rId7"/>
    <p:sldId id="428" r:id="rId8"/>
    <p:sldId id="321" r:id="rId9"/>
    <p:sldId id="320" r:id="rId10"/>
    <p:sldId id="397" r:id="rId11"/>
    <p:sldId id="398" r:id="rId12"/>
    <p:sldId id="385" r:id="rId13"/>
    <p:sldId id="322" r:id="rId14"/>
    <p:sldId id="323" r:id="rId15"/>
    <p:sldId id="400" r:id="rId16"/>
    <p:sldId id="324" r:id="rId17"/>
    <p:sldId id="325" r:id="rId18"/>
    <p:sldId id="401" r:id="rId19"/>
    <p:sldId id="402" r:id="rId20"/>
    <p:sldId id="386" r:id="rId21"/>
    <p:sldId id="403" r:id="rId22"/>
    <p:sldId id="404" r:id="rId23"/>
    <p:sldId id="405" r:id="rId24"/>
    <p:sldId id="329" r:id="rId25"/>
    <p:sldId id="406" r:id="rId26"/>
    <p:sldId id="407" r:id="rId27"/>
    <p:sldId id="408" r:id="rId28"/>
    <p:sldId id="387" r:id="rId29"/>
    <p:sldId id="409" r:id="rId30"/>
    <p:sldId id="410" r:id="rId31"/>
    <p:sldId id="411" r:id="rId32"/>
    <p:sldId id="413" r:id="rId33"/>
    <p:sldId id="414" r:id="rId34"/>
    <p:sldId id="335" r:id="rId35"/>
    <p:sldId id="415" r:id="rId36"/>
    <p:sldId id="416" r:id="rId37"/>
    <p:sldId id="417" r:id="rId38"/>
    <p:sldId id="432" r:id="rId39"/>
    <p:sldId id="418" r:id="rId40"/>
    <p:sldId id="419" r:id="rId41"/>
    <p:sldId id="388" r:id="rId42"/>
    <p:sldId id="420" r:id="rId43"/>
    <p:sldId id="433" r:id="rId44"/>
    <p:sldId id="434" r:id="rId45"/>
    <p:sldId id="421" r:id="rId46"/>
    <p:sldId id="435" r:id="rId47"/>
    <p:sldId id="423" r:id="rId48"/>
    <p:sldId id="436" r:id="rId49"/>
    <p:sldId id="437" r:id="rId50"/>
    <p:sldId id="422" r:id="rId51"/>
    <p:sldId id="438" r:id="rId52"/>
    <p:sldId id="426" r:id="rId53"/>
    <p:sldId id="424" r:id="rId54"/>
    <p:sldId id="439" r:id="rId55"/>
    <p:sldId id="326" r:id="rId56"/>
    <p:sldId id="440" r:id="rId57"/>
    <p:sldId id="441" r:id="rId58"/>
    <p:sldId id="425" r:id="rId59"/>
    <p:sldId id="427" r:id="rId60"/>
    <p:sldId id="431" r:id="rId61"/>
    <p:sldId id="442" r:id="rId62"/>
    <p:sldId id="383" r:id="rId63"/>
    <p:sldId id="303" r:id="rId64"/>
    <p:sldId id="443" r:id="rId65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5153"/>
    <a:srgbClr val="8A8A8A"/>
    <a:srgbClr val="6B6B6B"/>
    <a:srgbClr val="264DAE"/>
    <a:srgbClr val="4ADAD7"/>
    <a:srgbClr val="90A3A6"/>
    <a:srgbClr val="EDDFF5"/>
    <a:srgbClr val="493B93"/>
    <a:srgbClr val="80808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0AF1F0-5F9F-FBC7-A409-5E508B03810D}" v="2" dt="2025-10-27T12:36:39.9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ga, Denis" userId="S::denis.varga@t-systems.com::42659979-cca9-4584-a3ec-1aae59c40602" providerId="AD" clId="Web-{A50AF1F0-5F9F-FBC7-A409-5E508B03810D}"/>
    <pc:docChg chg="modSld">
      <pc:chgData name="Varga, Denis" userId="S::denis.varga@t-systems.com::42659979-cca9-4584-a3ec-1aae59c40602" providerId="AD" clId="Web-{A50AF1F0-5F9F-FBC7-A409-5E508B03810D}" dt="2025-10-27T12:36:39.994" v="1" actId="20577"/>
      <pc:docMkLst>
        <pc:docMk/>
      </pc:docMkLst>
      <pc:sldChg chg="modSp">
        <pc:chgData name="Varga, Denis" userId="S::denis.varga@t-systems.com::42659979-cca9-4584-a3ec-1aae59c40602" providerId="AD" clId="Web-{A50AF1F0-5F9F-FBC7-A409-5E508B03810D}" dt="2025-10-27T12:36:39.994" v="1" actId="20577"/>
        <pc:sldMkLst>
          <pc:docMk/>
          <pc:sldMk cId="0" sldId="306"/>
        </pc:sldMkLst>
        <pc:spChg chg="mod">
          <ac:chgData name="Varga, Denis" userId="S::denis.varga@t-systems.com::42659979-cca9-4584-a3ec-1aae59c40602" providerId="AD" clId="Web-{A50AF1F0-5F9F-FBC7-A409-5E508B03810D}" dt="2025-10-27T12:36:39.994" v="1" actId="20577"/>
          <ac:spMkLst>
            <pc:docMk/>
            <pc:sldMk cId="0" sldId="306"/>
            <ac:spMk id="2" creationId="{00000000-0000-0000-0000-000000000000}"/>
          </ac:spMkLst>
        </pc:spChg>
      </pc:sldChg>
    </pc:docChg>
  </pc:docChgLst>
  <pc:docChgLst>
    <pc:chgData name="Kotulič, Miroslav" userId="1bdf2965-162b-49f6-988f-56b1e206425e" providerId="ADAL" clId="{EB7FA3A1-9DE6-43BB-A015-B3EC544E096E}"/>
    <pc:docChg chg="modSld">
      <pc:chgData name="Kotulič, Miroslav" userId="1bdf2965-162b-49f6-988f-56b1e206425e" providerId="ADAL" clId="{EB7FA3A1-9DE6-43BB-A015-B3EC544E096E}" dt="2025-10-08T06:29:49.559" v="0" actId="729"/>
      <pc:docMkLst>
        <pc:docMk/>
      </pc:docMkLst>
      <pc:sldChg chg="mod modShow">
        <pc:chgData name="Kotulič, Miroslav" userId="1bdf2965-162b-49f6-988f-56b1e206425e" providerId="ADAL" clId="{EB7FA3A1-9DE6-43BB-A015-B3EC544E096E}" dt="2025-10-08T06:29:49.559" v="0" actId="729"/>
        <pc:sldMkLst>
          <pc:docMk/>
          <pc:sldMk cId="647902909" sldId="41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33006-993C-46CE-BE81-A42F2D8A626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72CD79-D36A-4E01-AE1C-064887FE9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72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8.1.1.1 Introducing</a:t>
            </a:r>
            <a:r>
              <a:rPr lang="en-US" baseline="0"/>
              <a:t> VPNs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8.1.1.2 </a:t>
            </a:r>
            <a:r>
              <a:rPr lang="en-US" sz="1200"/>
              <a:t>Layer 3 IPsec VPNs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8.1.2.1 Two Types of VPNs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8.1.2.2</a:t>
            </a:r>
            <a:r>
              <a:rPr lang="en-US" baseline="0"/>
              <a:t> </a:t>
            </a:r>
            <a:r>
              <a:rPr lang="en-US" sz="1200"/>
              <a:t>Components of Remote-Access VPNs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8.1.2.3 </a:t>
            </a:r>
            <a:r>
              <a:rPr lang="en-US" sz="1200"/>
              <a:t>Components of Site-to-Site VPNs</a:t>
            </a:r>
          </a:p>
          <a:p>
            <a:r>
              <a:rPr lang="en-US" sz="1200"/>
              <a:t>8.1.2.4 Activity – Compare</a:t>
            </a:r>
            <a:r>
              <a:rPr lang="en-US" sz="1200" baseline="0"/>
              <a:t> Remote-Access and Site-to-Site VPNs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8.2.1.1 IPsec</a:t>
            </a:r>
            <a:r>
              <a:rPr lang="en-US" baseline="0"/>
              <a:t> Technologies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8.2.1.2</a:t>
            </a:r>
            <a:r>
              <a:rPr lang="en-US" baseline="0"/>
              <a:t> Confidentiality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8.2.1.2</a:t>
            </a:r>
            <a:r>
              <a:rPr lang="en-US" baseline="0"/>
              <a:t> Confidentiality (Cont.)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8.2.1.3 Integrity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8.2.1.4 Authentication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8.2.1.4 Authentication (Cont.)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8.2.1.5</a:t>
            </a:r>
            <a:r>
              <a:rPr lang="en-US" sz="1200" baseline="0"/>
              <a:t> Secure Key Exchange</a:t>
            </a:r>
          </a:p>
          <a:p>
            <a:r>
              <a:rPr lang="en-US" sz="1200" baseline="0"/>
              <a:t>8.2.1.6 Activity – Identify the Components </a:t>
            </a:r>
            <a:r>
              <a:rPr lang="en-US" sz="1200" baseline="0" err="1"/>
              <a:t>fo</a:t>
            </a:r>
            <a:r>
              <a:rPr lang="en-US" sz="1200" baseline="0"/>
              <a:t> the IPsec Framework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8.2.2.1</a:t>
            </a:r>
            <a:r>
              <a:rPr lang="en-US" sz="1200" baseline="0"/>
              <a:t> IPsec Protocol Overview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8.2.2.2</a:t>
            </a:r>
            <a:r>
              <a:rPr lang="en-US" sz="1200" baseline="0"/>
              <a:t> Authentication Header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8.2.2.2</a:t>
            </a:r>
            <a:r>
              <a:rPr lang="en-US" sz="1200" baseline="0"/>
              <a:t> Authentication Header (Cont.)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8.2.2.3</a:t>
            </a:r>
            <a:r>
              <a:rPr lang="en-US" baseline="0"/>
              <a:t> ESP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8.2.2.4</a:t>
            </a:r>
            <a:r>
              <a:rPr lang="en-US" baseline="0"/>
              <a:t> ESP Encrypts and Authenticates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8.2.2.5</a:t>
            </a:r>
            <a:r>
              <a:rPr lang="en-US" baseline="0"/>
              <a:t> Transport and Tunnel Modes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8.2.2.5</a:t>
            </a:r>
            <a:r>
              <a:rPr lang="en-US" baseline="0"/>
              <a:t> Transport and Tunnel Modes (Cont.)</a:t>
            </a:r>
          </a:p>
          <a:p>
            <a:r>
              <a:rPr lang="en-US" baseline="0"/>
              <a:t>8.2.2.6 Activity – Compare AH and ESP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8.2.3.1 The IKE Protocol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8.2.3.2 Phase</a:t>
            </a:r>
            <a:r>
              <a:rPr lang="en-US" baseline="0"/>
              <a:t> 1 and 2 Key Negotiation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8.2.3.3 Phase</a:t>
            </a:r>
            <a:r>
              <a:rPr lang="en-US" baseline="0"/>
              <a:t> 2: Negotiating </a:t>
            </a:r>
            <a:r>
              <a:rPr lang="en-US" baseline="0" err="1"/>
              <a:t>Sas</a:t>
            </a:r>
            <a:endParaRPr lang="en-US" baseline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8.2.3.4</a:t>
            </a:r>
            <a:r>
              <a:rPr lang="en-US" baseline="0"/>
              <a:t> Video Tutorial – IKE Phase 1 and Phase 2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8.3.1.1 IPsec Negotiation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8.3.1.1 IPsec Negotiation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8.3.1.2 Site-to-Site IPsec</a:t>
            </a:r>
            <a:r>
              <a:rPr lang="en-US" baseline="0"/>
              <a:t> VPN Topology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8.3.1.3 IPsec</a:t>
            </a:r>
            <a:r>
              <a:rPr lang="en-US" baseline="0"/>
              <a:t> VPN Configuration Tasks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8.3.1.4 Existing ACL Configurations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8.3.1.4 Existing ACL Configurations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8.3.1.5 Introduction to GRE Tunnels</a:t>
            </a:r>
          </a:p>
          <a:p>
            <a:r>
              <a:rPr lang="en-US"/>
              <a:t>8.3.1.6 Activity – Order the IPsec Negotiation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8.3.2.1 </a:t>
            </a:r>
            <a:r>
              <a:rPr lang="en-US" sz="1200"/>
              <a:t>The Default ISAKMP Policies</a:t>
            </a:r>
            <a:endParaRPr lang="en-US" strike="sngStrik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8.3.2.2</a:t>
            </a:r>
            <a:r>
              <a:rPr lang="en-US" baseline="0"/>
              <a:t> Syntax to Configure a New ISAKMP Policy</a:t>
            </a:r>
            <a:endParaRPr lang="en-US" strike="sngStrik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8.3.2.3</a:t>
            </a:r>
            <a:r>
              <a:rPr lang="en-US" baseline="0"/>
              <a:t> XYZCORP ISAKMP Policy Configuration</a:t>
            </a:r>
            <a:endParaRPr lang="en-US" strike="sngStrik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8.3.2.4 </a:t>
            </a:r>
            <a:r>
              <a:rPr lang="en-US" sz="1200"/>
              <a:t>Configuring a Pre-Shared Key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8.3.2.4 </a:t>
            </a:r>
            <a:r>
              <a:rPr lang="en-US" sz="1200"/>
              <a:t>Configuring a Pre-shared Key (Cont.)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8.3.3.1 </a:t>
            </a:r>
            <a:r>
              <a:rPr lang="en-US" sz="1200"/>
              <a:t>Define</a:t>
            </a:r>
            <a:r>
              <a:rPr lang="en-US" sz="1200" baseline="0"/>
              <a:t> Interesting Traffic</a:t>
            </a:r>
            <a:endParaRPr lang="en-US" baseline="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8.3.3.1 </a:t>
            </a:r>
            <a:r>
              <a:rPr lang="en-US" sz="1200"/>
              <a:t>Define</a:t>
            </a:r>
            <a:r>
              <a:rPr lang="en-US" sz="1200" baseline="0"/>
              <a:t> Interesting Traffic (Cont.)</a:t>
            </a:r>
            <a:endParaRPr lang="en-US" baseline="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8.3.3.2</a:t>
            </a:r>
            <a:r>
              <a:rPr lang="en-US" baseline="0"/>
              <a:t> Configure IPsec Transform Set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8.3.3.2</a:t>
            </a:r>
            <a:r>
              <a:rPr lang="en-US" baseline="0"/>
              <a:t> Configure IPsec Transform Set (Cont.)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8.3.4.1</a:t>
            </a:r>
            <a:r>
              <a:rPr lang="en-US" baseline="0"/>
              <a:t> Syntax to Configure a Crypto Map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8.3.4.1</a:t>
            </a:r>
            <a:r>
              <a:rPr lang="en-US" baseline="0"/>
              <a:t> Syntax to Configure a Crypto Map (Cont.)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8.3.4.2 </a:t>
            </a:r>
            <a:r>
              <a:rPr lang="en-US" sz="1200"/>
              <a:t>XYZCORP Crypto Map Configuration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8.3.4.2 </a:t>
            </a:r>
            <a:r>
              <a:rPr lang="en-US" sz="1200"/>
              <a:t>XYZCORP Crypto Map Configuration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8.3.4.3</a:t>
            </a:r>
            <a:r>
              <a:rPr lang="en-US" sz="1200" baseline="0"/>
              <a:t> Apply the Crypto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8.3.5.1 </a:t>
            </a:r>
            <a:r>
              <a:rPr lang="en-US" sz="1200"/>
              <a:t>Send Interesting Traffic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8.3.5.2 </a:t>
            </a:r>
            <a:r>
              <a:rPr lang="en-US" sz="1200"/>
              <a:t>Verify ISAKMP</a:t>
            </a:r>
            <a:r>
              <a:rPr lang="en-US" sz="1200" baseline="0"/>
              <a:t> and IPsec Tunnels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8.3.5.2 </a:t>
            </a:r>
            <a:r>
              <a:rPr lang="en-US" sz="1200"/>
              <a:t>Verify ISAKMP</a:t>
            </a:r>
            <a:r>
              <a:rPr lang="en-US" sz="1200" baseline="0"/>
              <a:t> and IPsec Tunnels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8.3.5.2 </a:t>
            </a:r>
            <a:r>
              <a:rPr lang="en-US" sz="1200"/>
              <a:t>Verify ISAKMP</a:t>
            </a:r>
            <a:r>
              <a:rPr lang="en-US" sz="1200" baseline="0"/>
              <a:t> and IPsec Tunnels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8.4.1.1 Video Demonstration – Site-to-Site IPsec VPN Configuration</a:t>
            </a:r>
          </a:p>
          <a:p>
            <a:r>
              <a:rPr lang="en-US"/>
              <a:t>8.4.1.2 Packet Tracer – Configure and Verify a Site-to-Site IPsec VPN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8.4.1.3 Lab – Configuring</a:t>
            </a:r>
            <a:r>
              <a:rPr lang="en-US" baseline="0"/>
              <a:t> a Site-to-Site VPN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8.4.1.4 Chapter 8: Implementing Virtual</a:t>
            </a:r>
            <a:r>
              <a:rPr lang="en-US" baseline="0"/>
              <a:t> Private Networks</a:t>
            </a:r>
            <a:endParaRPr lang="en-US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91819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https://www.netacad.com</a:t>
            </a:r>
          </a:p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464066"/>
            <a:ext cx="3657600" cy="384721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/>
            </a:pPr>
            <a:r>
              <a:rPr lang="en-US"/>
              <a:t>Speaker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algn="l" defTabSz="914400" rtl="0" eaLnBrk="1" latinLnBrk="0" hangingPunct="1">
              <a:lnSpc>
                <a:spcPts val="6200"/>
              </a:lnSpc>
              <a:spcBef>
                <a:spcPct val="0"/>
              </a:spcBef>
              <a:buNone/>
              <a:defRPr lang="en-US" sz="5400" b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pic>
        <p:nvPicPr>
          <p:cNvPr id="44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2068" y="330200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3" y="4862154"/>
            <a:ext cx="3657600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Speaker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2" y="5231003"/>
            <a:ext cx="3657600" cy="297004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2" y="4464066"/>
            <a:ext cx="3657600" cy="384721"/>
          </a:xfr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/>
            </a:pPr>
            <a:r>
              <a:rPr lang="en-US"/>
              <a:t>Speaker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algn="l" defTabSz="914400" rtl="0" eaLnBrk="1" latinLnBrk="0" hangingPunct="1">
              <a:lnSpc>
                <a:spcPts val="6200"/>
              </a:lnSpc>
              <a:spcBef>
                <a:spcPct val="0"/>
              </a:spcBef>
              <a:buNone/>
              <a:defRPr lang="en-US" sz="5400" b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pic>
        <p:nvPicPr>
          <p:cNvPr id="44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2068" y="330200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3" y="4862154"/>
            <a:ext cx="3657600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Speaker Title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2" y="5231003"/>
            <a:ext cx="3657600" cy="297004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570477232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464066"/>
            <a:ext cx="8110728" cy="384175"/>
          </a:xfr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rmAutofit/>
          </a:bodyPr>
          <a:lstStyle>
            <a:lvl1pPr marL="0" indent="0" algn="l">
              <a:buNone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/>
              <a:t>Presenter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Presentation </a:t>
            </a:r>
            <a:br>
              <a:rPr lang="en-US"/>
            </a:br>
            <a:r>
              <a:rPr lang="en-US"/>
              <a:t>Title Goes Here</a:t>
            </a:r>
          </a:p>
        </p:txBody>
      </p:sp>
      <p:pic>
        <p:nvPicPr>
          <p:cNvPr id="51" name="Picture 4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3053" y="325971"/>
            <a:ext cx="2920207" cy="485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2" y="4862154"/>
            <a:ext cx="8110728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rgbClr val="493B93"/>
                </a:solidFill>
              </a:defRPr>
            </a:lvl1pPr>
          </a:lstStyle>
          <a:p>
            <a:pPr lvl="0"/>
            <a:r>
              <a:rPr lang="en-US"/>
              <a:t>Speaker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1" y="5231003"/>
            <a:ext cx="8110728" cy="297004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400">
                <a:solidFill>
                  <a:srgbClr val="493B93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Presentation </a:t>
            </a:r>
            <a:br>
              <a:rPr lang="en-US"/>
            </a:br>
            <a:r>
              <a:rPr lang="en-US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77931373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6" y="4712451"/>
            <a:ext cx="8477250" cy="1828800"/>
          </a:xfrm>
          <a:prstGeom prst="rect">
            <a:avLst/>
          </a:prstGeom>
        </p:spPr>
      </p:pic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/>
              <a:t>Segue Title Here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</a:p>
        </p:txBody>
      </p:sp>
      <p:sp>
        <p:nvSpPr>
          <p:cNvPr id="9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>
              <a:solidFill>
                <a:srgbClr val="808080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6" y="4696378"/>
            <a:ext cx="8477250" cy="1844873"/>
          </a:xfrm>
          <a:prstGeom prst="rect">
            <a:avLst/>
          </a:prstGeom>
        </p:spPr>
      </p:pic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/>
              <a:t>Segue Title Here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65715276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 Segu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/>
              <a:t>Segue Title Here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  <p:sp>
        <p:nvSpPr>
          <p:cNvPr id="9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87243975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432215"/>
            <a:ext cx="8588861" cy="838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344168"/>
            <a:ext cx="8577072" cy="496519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5548096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706781" y="1339745"/>
            <a:ext cx="4122425" cy="4965700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ts val="1480"/>
              </a:spcBef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spcBef>
                <a:spcPts val="600"/>
              </a:spcBef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/>
          <a:p>
            <a:pPr lv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229702" y="1339745"/>
            <a:ext cx="4122425" cy="4965700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ts val="1480"/>
              </a:spcBef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spcBef>
                <a:spcPts val="600"/>
              </a:spcBef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with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39713" y="1339745"/>
            <a:ext cx="4103687" cy="4965700"/>
          </a:xfrm>
        </p:spPr>
        <p:txBody>
          <a:bodyPr/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435153"/>
                </a:solidFill>
                <a:latin typeface="+mj-lt"/>
              </a:defRPr>
            </a:lvl2pPr>
            <a:lvl3pPr>
              <a:defRPr>
                <a:solidFill>
                  <a:srgbClr val="435153"/>
                </a:solidFill>
                <a:latin typeface="+mj-lt"/>
              </a:defRPr>
            </a:lvl3pPr>
            <a:lvl4pPr>
              <a:defRPr>
                <a:solidFill>
                  <a:srgbClr val="435153"/>
                </a:solidFill>
                <a:latin typeface="+mj-lt"/>
              </a:defRPr>
            </a:lvl4pPr>
            <a:lvl5pPr>
              <a:defRPr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Rounded Rectangle 9"/>
          <p:cNvSpPr/>
          <p:nvPr userDrawn="1"/>
        </p:nvSpPr>
        <p:spPr>
          <a:xfrm>
            <a:off x="4984231" y="1416140"/>
            <a:ext cx="3759720" cy="459903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tx1">
                  <a:lumMod val="20000"/>
                  <a:lumOff val="80000"/>
                </a:schemeClr>
              </a:gs>
              <a:gs pos="47000">
                <a:schemeClr val="bg1"/>
              </a:gs>
              <a:gs pos="100000">
                <a:srgbClr val="EDDFF5"/>
              </a:gs>
            </a:gsLst>
            <a:lin ang="2700000" scaled="1"/>
            <a:tileRect/>
          </a:gradFill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5221224" y="1747683"/>
            <a:ext cx="3236976" cy="1900292"/>
          </a:xfrm>
        </p:spPr>
        <p:txBody>
          <a:bodyPr/>
          <a:lstStyle>
            <a:lvl1pPr marL="114300" indent="-114300">
              <a:buFontTx/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6"/>
          </p:nvPr>
        </p:nvSpPr>
        <p:spPr>
          <a:xfrm>
            <a:off x="5310124" y="4876800"/>
            <a:ext cx="3044497" cy="326243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 flipH="1">
            <a:off x="4990141" y="1335313"/>
            <a:ext cx="1" cy="4760687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332592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2-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301752"/>
            <a:ext cx="4123944" cy="838200"/>
          </a:xfrm>
        </p:spPr>
        <p:txBody>
          <a:bodyPr vert="horz" lIns="82296" tIns="45720" rIns="82296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Two Column</a:t>
            </a:r>
            <a:br>
              <a:rPr lang="en-US"/>
            </a:br>
            <a:r>
              <a:rPr lang="en-US"/>
              <a:t>Title Left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219455" y="1600200"/>
            <a:ext cx="4142232" cy="452628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406400" indent="0">
              <a:buClr>
                <a:schemeClr val="accent5"/>
              </a:buClr>
              <a:buFontTx/>
              <a:buNone/>
              <a:tabLst/>
              <a:defRPr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en-US"/>
              <a:t>Body copy uses sentence capital letters only, size 20, left aligned</a:t>
            </a:r>
          </a:p>
          <a:p>
            <a:pPr lvl="1"/>
            <a:r>
              <a:rPr lang="en-US"/>
              <a:t>Sub-bullets are size 18 </a:t>
            </a:r>
            <a:br>
              <a:rPr lang="en-US"/>
            </a:br>
            <a:r>
              <a:rPr lang="en-US"/>
              <a:t>and indented</a:t>
            </a:r>
          </a:p>
          <a:p>
            <a:pPr lvl="1"/>
            <a:r>
              <a:rPr lang="en-US"/>
              <a:t>Hyperlink: www.cisco.com </a:t>
            </a:r>
          </a:p>
          <a:p>
            <a:pPr lvl="0"/>
            <a:r>
              <a:rPr lang="en-US"/>
              <a:t>Use Cisco highlight color, bold, or both when emphasizing words, </a:t>
            </a:r>
            <a:br>
              <a:rPr lang="en-US"/>
            </a:br>
            <a:r>
              <a:rPr lang="en-US"/>
              <a:t>do not italicize; use yellow on the </a:t>
            </a:r>
            <a:br>
              <a:rPr lang="en-US"/>
            </a:br>
            <a:r>
              <a:rPr lang="en-US"/>
              <a:t>black template and red for the white template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818888" y="1600200"/>
            <a:ext cx="4005072" cy="452628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406400" indent="0">
              <a:buClr>
                <a:schemeClr val="accent1">
                  <a:lumMod val="40000"/>
                  <a:lumOff val="60000"/>
                </a:schemeClr>
              </a:buClr>
              <a:buFont typeface="Arial" pitchFamily="34" charset="0"/>
              <a:buNone/>
              <a:defRPr>
                <a:solidFill>
                  <a:schemeClr val="tx1"/>
                </a:solidFill>
                <a:latin typeface="+mj-lt"/>
              </a:defRPr>
            </a:lvl2pPr>
          </a:lstStyle>
          <a:p>
            <a:pPr lvl="0"/>
            <a:r>
              <a:rPr lang="en-US"/>
              <a:t>Body copy uses sentence capital letters only, size 20, left aligned</a:t>
            </a:r>
          </a:p>
          <a:p>
            <a:pPr lvl="1"/>
            <a:r>
              <a:rPr lang="en-US"/>
              <a:t>Sub-bullets are size 18 </a:t>
            </a:r>
            <a:br>
              <a:rPr lang="en-US"/>
            </a:br>
            <a:r>
              <a:rPr lang="en-US"/>
              <a:t>and indented</a:t>
            </a:r>
          </a:p>
          <a:p>
            <a:pPr lvl="1"/>
            <a:r>
              <a:rPr lang="en-US"/>
              <a:t>Hyperlink: www.cisco.com </a:t>
            </a:r>
          </a:p>
          <a:p>
            <a:pPr lvl="0"/>
            <a:r>
              <a:rPr lang="en-US"/>
              <a:t>Use Cisco highlight color, bold, or both when emphasizing words, do not italicize; use yellow on the black template and red for the white template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818887" y="301752"/>
            <a:ext cx="3951308" cy="838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  <a:t>Two Column</a:t>
            </a:r>
            <a:br>
              <a:rPr kumimoji="0" lang="en-US" sz="36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</a:b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  <a:t>Title Right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486587" y="777667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3-Column Layout 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4475" y="1866900"/>
            <a:ext cx="2622550" cy="4391025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3292474" y="1866900"/>
            <a:ext cx="2593975" cy="4362450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75388" y="1866900"/>
            <a:ext cx="2633662" cy="4333875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0"/>
          <p:cNvSpPr>
            <a:spLocks noGrp="1" noChangeAspect="1"/>
          </p:cNvSpPr>
          <p:nvPr>
            <p:ph type="body" sz="quarter" idx="17"/>
          </p:nvPr>
        </p:nvSpPr>
        <p:spPr>
          <a:xfrm>
            <a:off x="219456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8"/>
          </p:nvPr>
        </p:nvSpPr>
        <p:spPr>
          <a:xfrm>
            <a:off x="3255264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20"/>
          <p:cNvSpPr>
            <a:spLocks noGrp="1" noChangeAspect="1"/>
          </p:cNvSpPr>
          <p:nvPr>
            <p:ph type="body" sz="quarter" idx="19"/>
          </p:nvPr>
        </p:nvSpPr>
        <p:spPr>
          <a:xfrm>
            <a:off x="6247902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082817" y="869003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6083084" y="869003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>
          <a:xfrm>
            <a:off x="246972" y="439710"/>
            <a:ext cx="8567244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Slide Title Goes Here</a:t>
            </a:r>
          </a:p>
        </p:txBody>
      </p:sp>
      <p:sp>
        <p:nvSpPr>
          <p:cNvPr id="36" name="Chart Placeholder 35"/>
          <p:cNvSpPr>
            <a:spLocks noGrp="1"/>
          </p:cNvSpPr>
          <p:nvPr>
            <p:ph type="chart" sz="quarter" idx="10"/>
          </p:nvPr>
        </p:nvSpPr>
        <p:spPr>
          <a:xfrm>
            <a:off x="359764" y="1476375"/>
            <a:ext cx="8439461" cy="4305300"/>
          </a:xfrm>
        </p:spPr>
        <p:txBody>
          <a:bodyPr anchor="ctr" anchorCtr="1"/>
          <a:lstStyle>
            <a:lvl1pPr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49466" y="6062114"/>
            <a:ext cx="7461250" cy="276999"/>
          </a:xfrm>
        </p:spPr>
        <p:txBody>
          <a:bodyPr wrap="square" anchor="b" anchorCtr="0">
            <a:spAutoFit/>
          </a:bodyPr>
          <a:lstStyle>
            <a:lvl1pPr algn="l" defTabSz="804863">
              <a:lnSpc>
                <a:spcPct val="100000"/>
              </a:lnSpc>
              <a:spcBef>
                <a:spcPct val="50000"/>
              </a:spcBef>
              <a:buNone/>
              <a:defRPr sz="1200">
                <a:solidFill>
                  <a:srgbClr val="435153"/>
                </a:solidFill>
                <a:latin typeface="+mj-lt"/>
              </a:defRPr>
            </a:lvl1pPr>
            <a:lvl2pPr>
              <a:buFont typeface="Arial" pitchFamily="34" charset="0"/>
              <a:buNone/>
              <a:defRPr sz="1400"/>
            </a:lvl2pPr>
            <a:lvl3pPr>
              <a:buFont typeface="Arial" pitchFamily="34" charset="0"/>
              <a:buNone/>
              <a:defRPr sz="1400"/>
            </a:lvl3pPr>
            <a:lvl4pPr>
              <a:buFont typeface="Arial" pitchFamily="34" charset="0"/>
              <a:buNone/>
              <a:defRPr sz="1400"/>
            </a:lvl4pPr>
            <a:lvl5pPr>
              <a:buFont typeface="Arial" pitchFamily="34" charset="0"/>
              <a:buNone/>
              <a:defRPr sz="1400"/>
            </a:lvl5pPr>
          </a:lstStyle>
          <a:p>
            <a:pPr lvl="0"/>
            <a:r>
              <a:rPr lang="en-US"/>
              <a:t>Source: Placeholder for Notes Is 12 Points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_phot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5430244"/>
            <a:ext cx="85586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46888" y="1600200"/>
            <a:ext cx="4005072" cy="374904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 baseline="0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Simple text goes here and can wrap to accommodate more lines of information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4873752" y="1947672"/>
            <a:ext cx="3429000" cy="2990088"/>
          </a:xfrm>
        </p:spPr>
        <p:txBody>
          <a:bodyPr anchor="ctr" anchorCtr="1"/>
          <a:lstStyle>
            <a:lvl1pPr algn="ctr">
              <a:buFontTx/>
              <a:buNone/>
              <a:defRPr>
                <a:latin typeface="+mj-lt"/>
              </a:defRPr>
            </a:lvl1pPr>
          </a:lstStyle>
          <a:p>
            <a:r>
              <a:rPr lang="en-US"/>
              <a:t>Insert photo here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5430244"/>
            <a:ext cx="85586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Slide Title Goes Here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776" y="5852160"/>
            <a:ext cx="8112126" cy="384175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456" y="649224"/>
            <a:ext cx="8112125" cy="4480560"/>
          </a:xfrm>
        </p:spPr>
        <p:txBody>
          <a:bodyPr/>
          <a:lstStyle>
            <a:lvl1pPr marL="236538" indent="-236538" algn="l" defTabSz="914400" rtl="0" eaLnBrk="1" latinLnBrk="0" hangingPunct="1">
              <a:lnSpc>
                <a:spcPts val="52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None/>
              <a:defRPr kumimoji="0" lang="en-US" sz="54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“Format large quotes using this slide layout. Be sure to cite your source below.”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7744" y="484632"/>
            <a:ext cx="8755128" cy="4372131"/>
          </a:xfrm>
        </p:spPr>
        <p:txBody>
          <a:bodyPr anchor="b" anchorCtr="0"/>
          <a:lstStyle>
            <a:lvl1pPr marL="228600" indent="-228600">
              <a:buFont typeface="Arial" pitchFamily="34" charset="0"/>
              <a:buChar char="“"/>
              <a:defRPr sz="6000" spc="-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Format large quotes using this slide layout. Be sure to cite your source below.”</a:t>
            </a: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60248" y="5358903"/>
            <a:ext cx="8574685" cy="61436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/>
              <a:t>Source</a:t>
            </a:r>
          </a:p>
        </p:txBody>
      </p:sp>
      <p:sp>
        <p:nvSpPr>
          <p:cNvPr id="21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2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te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1918741"/>
            <a:ext cx="4117446" cy="3020518"/>
          </a:xfrm>
        </p:spPr>
        <p:txBody>
          <a:bodyPr vert="horz" lIns="82296" tIns="45720" rIns="82296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kumimoji="0" lang="en-US" sz="54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Telling Shared Experiences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922519" y="777667"/>
            <a:ext cx="3895344" cy="5287676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+mn-cs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marL="0" lv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Clr>
                <a:srgbClr val="435153"/>
              </a:buClr>
              <a:buFont typeface="Arial" pitchFamily="34" charset="0"/>
              <a:buNone/>
            </a:pPr>
            <a:r>
              <a:rPr lang="en-US"/>
              <a:t>Tell your story here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486587" y="777667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1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1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279392"/>
            <a:ext cx="4684867" cy="38417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rgbClr val="493B93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8693" y="3282696"/>
            <a:ext cx="4712557" cy="1022350"/>
          </a:xfrm>
        </p:spPr>
        <p:txBody>
          <a:bodyPr vert="horz" lIns="82296" tIns="45720" rIns="82296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/>
              <a:t>Demo Title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0" hasCustomPrompt="1"/>
          </p:nvPr>
        </p:nvSpPr>
        <p:spPr>
          <a:xfrm>
            <a:off x="5540375" y="1917700"/>
            <a:ext cx="2676525" cy="2889250"/>
          </a:xfrm>
        </p:spPr>
        <p:txBody>
          <a:bodyPr anchor="ctr" anchorCtr="1"/>
          <a:lstStyle>
            <a:lvl1pPr algn="ctr">
              <a:buFontTx/>
              <a:buNone/>
              <a:defRPr>
                <a:latin typeface="+mj-lt"/>
              </a:defRPr>
            </a:lvl1pPr>
          </a:lstStyle>
          <a:p>
            <a:r>
              <a:rPr lang="en-US"/>
              <a:t>Insert photo here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ngle 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891875" y="795528"/>
            <a:ext cx="5349240" cy="400507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1891874" y="4794352"/>
            <a:ext cx="5347552" cy="9963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1900238" y="795528"/>
            <a:ext cx="5329238" cy="400507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65871" y="4873438"/>
            <a:ext cx="5074070" cy="838200"/>
          </a:xfrm>
        </p:spPr>
        <p:txBody>
          <a:bodyPr anchor="ctr"/>
          <a:lstStyle>
            <a:lvl1pPr>
              <a:defRPr sz="2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mall photo_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338328" y="310896"/>
            <a:ext cx="3273552" cy="2459736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338328" y="310896"/>
            <a:ext cx="3273552" cy="2459736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29703" y="3429000"/>
            <a:ext cx="7009298" cy="1421928"/>
          </a:xfrm>
        </p:spPr>
        <p:txBody>
          <a:bodyPr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Large photo </a:t>
            </a:r>
            <a:br>
              <a:rPr lang="en-US"/>
            </a:br>
            <a:r>
              <a:rPr lang="en-US"/>
              <a:t>caption here.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ortrait photo_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4992624" y="859536"/>
            <a:ext cx="3630168" cy="5029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4992624" y="859536"/>
            <a:ext cx="3630168" cy="5029200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229703" y="728972"/>
            <a:ext cx="4349918" cy="1089529"/>
          </a:xfrm>
        </p:spPr>
        <p:txBody>
          <a:bodyPr anchor="t">
            <a:spAutoFit/>
          </a:bodyPr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ultip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668713" y="311149"/>
            <a:ext cx="3268136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9" name="Picture Placeholder 25"/>
          <p:cNvSpPr>
            <a:spLocks noGrp="1"/>
          </p:cNvSpPr>
          <p:nvPr>
            <p:ph type="pic" sz="quarter" idx="11" hasCustomPrompt="1"/>
          </p:nvPr>
        </p:nvSpPr>
        <p:spPr>
          <a:xfrm>
            <a:off x="3668989" y="311149"/>
            <a:ext cx="3267861" cy="266065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4963" y="311149"/>
            <a:ext cx="3258612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320824" y="311149"/>
            <a:ext cx="3272751" cy="266065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11988" y="311149"/>
            <a:ext cx="1806574" cy="130810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Picture Placeholder 25"/>
          <p:cNvSpPr>
            <a:spLocks noGrp="1"/>
          </p:cNvSpPr>
          <p:nvPr>
            <p:ph type="pic" sz="quarter" idx="12" hasCustomPrompt="1"/>
          </p:nvPr>
        </p:nvSpPr>
        <p:spPr>
          <a:xfrm>
            <a:off x="7011988" y="311149"/>
            <a:ext cx="1806573" cy="1308101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4963" y="3028951"/>
            <a:ext cx="2501965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Picture Placeholder 25"/>
          <p:cNvSpPr>
            <a:spLocks noGrp="1"/>
          </p:cNvSpPr>
          <p:nvPr>
            <p:ph type="pic" sz="quarter" idx="13" hasCustomPrompt="1"/>
          </p:nvPr>
        </p:nvSpPr>
        <p:spPr>
          <a:xfrm>
            <a:off x="320824" y="3028951"/>
            <a:ext cx="2516104" cy="3458934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11476" y="3028951"/>
            <a:ext cx="4025374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5" name="Picture Placeholder 25"/>
          <p:cNvSpPr>
            <a:spLocks noGrp="1"/>
          </p:cNvSpPr>
          <p:nvPr>
            <p:ph type="pic" sz="quarter" idx="14" hasCustomPrompt="1"/>
          </p:nvPr>
        </p:nvSpPr>
        <p:spPr>
          <a:xfrm>
            <a:off x="2908334" y="3028951"/>
            <a:ext cx="4028516" cy="3458934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11988" y="1683657"/>
            <a:ext cx="1806574" cy="344215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Picture Placeholder 25"/>
          <p:cNvSpPr>
            <a:spLocks noGrp="1"/>
          </p:cNvSpPr>
          <p:nvPr>
            <p:ph type="pic" sz="quarter" idx="15" hasCustomPrompt="1"/>
          </p:nvPr>
        </p:nvSpPr>
        <p:spPr>
          <a:xfrm>
            <a:off x="7011988" y="1676400"/>
            <a:ext cx="1806573" cy="3449410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11988" y="5182960"/>
            <a:ext cx="1806574" cy="1304925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9" name="Picture Placeholder 25"/>
          <p:cNvSpPr>
            <a:spLocks noGrp="1"/>
          </p:cNvSpPr>
          <p:nvPr>
            <p:ph type="pic" sz="quarter" idx="16" hasCustomPrompt="1"/>
          </p:nvPr>
        </p:nvSpPr>
        <p:spPr>
          <a:xfrm>
            <a:off x="7011988" y="5182960"/>
            <a:ext cx="1806573" cy="1304925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8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2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2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photo with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8328" y="310896"/>
            <a:ext cx="8476488" cy="607539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333375" y="339924"/>
            <a:ext cx="8474869" cy="6054185"/>
          </a:xfrm>
          <a:ln>
            <a:solidFill>
              <a:srgbClr val="FFFFFF"/>
            </a:solidFill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baseline="0" dirty="0">
                <a:solidFill>
                  <a:srgbClr val="546568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Photo placeholder</a:t>
            </a:r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>
              <a:solidFill>
                <a:srgbClr val="808080"/>
              </a:solidFill>
              <a:latin typeface="+mj-lt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-91440" y="-91440"/>
            <a:ext cx="9326880" cy="7040880"/>
          </a:xfrm>
        </p:spPr>
        <p:txBody>
          <a:bodyPr anchor="ctr" anchorCtr="1">
            <a:noAutofit/>
          </a:bodyPr>
          <a:lstStyle>
            <a:lvl1pPr algn="ctr">
              <a:buNone/>
              <a:defRPr>
                <a:latin typeface="+mj-lt"/>
              </a:defRPr>
            </a:lvl1pPr>
          </a:lstStyle>
          <a:p>
            <a:r>
              <a:rPr lang="en-US"/>
              <a:t>Full bleed image placeholder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ndar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1" name="Media Placeholder 20"/>
          <p:cNvSpPr>
            <a:spLocks noGrp="1"/>
          </p:cNvSpPr>
          <p:nvPr>
            <p:ph type="media" sz="quarter" idx="10" hasCustomPrompt="1"/>
          </p:nvPr>
        </p:nvSpPr>
        <p:spPr>
          <a:xfrm>
            <a:off x="2642616" y="777240"/>
            <a:ext cx="5897880" cy="4425696"/>
          </a:xfrm>
          <a:solidFill>
            <a:srgbClr val="000000"/>
          </a:solidFill>
          <a:ln>
            <a:noFill/>
          </a:ln>
          <a:effectLst>
            <a:innerShdw blurRad="4191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800" kern="1200">
                <a:solidFill>
                  <a:schemeClr val="l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icon to add video</a:t>
            </a:r>
          </a:p>
        </p:txBody>
      </p:sp>
      <p:pic>
        <p:nvPicPr>
          <p:cNvPr id="23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6148" y="6042098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_gradi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2361"/>
      </p:ext>
    </p:extLst>
  </p:cSld>
  <p:clrMapOvr>
    <a:masterClrMapping/>
  </p:clrMapOvr>
  <p:transition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6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>
              <a:solidFill>
                <a:srgbClr val="808080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  <p:sp>
        <p:nvSpPr>
          <p:cNvPr id="20" name="Rectangle 19"/>
          <p:cNvSpPr>
            <a:spLocks noChangeArrowheads="1"/>
          </p:cNvSpPr>
          <p:nvPr/>
        </p:nvSpPr>
        <p:spPr bwMode="black">
          <a:xfrm>
            <a:off x="4373702" y="5844550"/>
            <a:ext cx="41443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1" name="Freeform 20"/>
          <p:cNvSpPr>
            <a:spLocks/>
          </p:cNvSpPr>
          <p:nvPr/>
        </p:nvSpPr>
        <p:spPr bwMode="black">
          <a:xfrm>
            <a:off x="4615130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2" name="Freeform 21"/>
          <p:cNvSpPr>
            <a:spLocks/>
          </p:cNvSpPr>
          <p:nvPr/>
        </p:nvSpPr>
        <p:spPr bwMode="black">
          <a:xfrm>
            <a:off x="4200221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3" name="Freeform 22"/>
          <p:cNvSpPr>
            <a:spLocks noEditPoints="1"/>
          </p:cNvSpPr>
          <p:nvPr userDrawn="1"/>
        </p:nvSpPr>
        <p:spPr bwMode="black">
          <a:xfrm>
            <a:off x="4778491" y="5840202"/>
            <a:ext cx="164807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4" name="Freeform 23"/>
          <p:cNvSpPr>
            <a:spLocks/>
          </p:cNvSpPr>
          <p:nvPr/>
        </p:nvSpPr>
        <p:spPr bwMode="black">
          <a:xfrm>
            <a:off x="4468634" y="5840202"/>
            <a:ext cx="107462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5" name="Freeform 24"/>
          <p:cNvSpPr>
            <a:spLocks/>
          </p:cNvSpPr>
          <p:nvPr/>
        </p:nvSpPr>
        <p:spPr bwMode="black">
          <a:xfrm>
            <a:off x="4117817" y="5654198"/>
            <a:ext cx="3903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6" name="Freeform 25"/>
          <p:cNvSpPr>
            <a:spLocks/>
          </p:cNvSpPr>
          <p:nvPr/>
        </p:nvSpPr>
        <p:spPr bwMode="black">
          <a:xfrm>
            <a:off x="4227206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7" name="Freeform 26"/>
          <p:cNvSpPr>
            <a:spLocks/>
          </p:cNvSpPr>
          <p:nvPr/>
        </p:nvSpPr>
        <p:spPr bwMode="black">
          <a:xfrm>
            <a:off x="4334669" y="5525687"/>
            <a:ext cx="3903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8" name="Freeform 27"/>
          <p:cNvSpPr>
            <a:spLocks/>
          </p:cNvSpPr>
          <p:nvPr/>
        </p:nvSpPr>
        <p:spPr bwMode="black">
          <a:xfrm>
            <a:off x="4444058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9" name="Freeform 28"/>
          <p:cNvSpPr>
            <a:spLocks/>
          </p:cNvSpPr>
          <p:nvPr/>
        </p:nvSpPr>
        <p:spPr bwMode="black">
          <a:xfrm>
            <a:off x="4551038" y="5654198"/>
            <a:ext cx="41443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0" name="Freeform 29"/>
          <p:cNvSpPr>
            <a:spLocks/>
          </p:cNvSpPr>
          <p:nvPr/>
        </p:nvSpPr>
        <p:spPr bwMode="black">
          <a:xfrm>
            <a:off x="4660428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1" name="Freeform 30"/>
          <p:cNvSpPr>
            <a:spLocks/>
          </p:cNvSpPr>
          <p:nvPr/>
        </p:nvSpPr>
        <p:spPr bwMode="black">
          <a:xfrm>
            <a:off x="4769818" y="5525687"/>
            <a:ext cx="3951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2" name="Freeform 31"/>
          <p:cNvSpPr>
            <a:spLocks/>
          </p:cNvSpPr>
          <p:nvPr/>
        </p:nvSpPr>
        <p:spPr bwMode="black">
          <a:xfrm>
            <a:off x="4877279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3" name="Freeform 32"/>
          <p:cNvSpPr>
            <a:spLocks/>
          </p:cNvSpPr>
          <p:nvPr/>
        </p:nvSpPr>
        <p:spPr bwMode="black">
          <a:xfrm>
            <a:off x="4986669" y="5654198"/>
            <a:ext cx="3951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3" dur="7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5" dur="7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blue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  <p:sp>
        <p:nvSpPr>
          <p:cNvPr id="34" name="TextBox 33"/>
          <p:cNvSpPr txBox="1"/>
          <p:nvPr userDrawn="1"/>
        </p:nvSpPr>
        <p:spPr>
          <a:xfrm>
            <a:off x="644691" y="3060488"/>
            <a:ext cx="2437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rgbClr val="FFFFFF"/>
                </a:solidFill>
                <a:latin typeface="+mj-lt"/>
              </a:rPr>
              <a:t>Thank you.</a:t>
            </a:r>
          </a:p>
        </p:txBody>
      </p:sp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9746" y="3078070"/>
            <a:ext cx="3669899" cy="610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black">
          <a:xfrm>
            <a:off x="4373702" y="5844550"/>
            <a:ext cx="41443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5" name="Freeform 4"/>
          <p:cNvSpPr>
            <a:spLocks/>
          </p:cNvSpPr>
          <p:nvPr/>
        </p:nvSpPr>
        <p:spPr bwMode="black">
          <a:xfrm>
            <a:off x="4615130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6" name="Freeform 5"/>
          <p:cNvSpPr>
            <a:spLocks/>
          </p:cNvSpPr>
          <p:nvPr/>
        </p:nvSpPr>
        <p:spPr bwMode="black">
          <a:xfrm>
            <a:off x="4200221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7" name="Freeform 6"/>
          <p:cNvSpPr>
            <a:spLocks noEditPoints="1"/>
          </p:cNvSpPr>
          <p:nvPr userDrawn="1"/>
        </p:nvSpPr>
        <p:spPr bwMode="black">
          <a:xfrm>
            <a:off x="4778491" y="5840202"/>
            <a:ext cx="164807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black">
          <a:xfrm>
            <a:off x="4468634" y="5840202"/>
            <a:ext cx="107462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black">
          <a:xfrm>
            <a:off x="4117817" y="5654198"/>
            <a:ext cx="3903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0" name="Freeform 9"/>
          <p:cNvSpPr>
            <a:spLocks/>
          </p:cNvSpPr>
          <p:nvPr/>
        </p:nvSpPr>
        <p:spPr bwMode="black">
          <a:xfrm>
            <a:off x="4227206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black">
          <a:xfrm>
            <a:off x="4334669" y="5525687"/>
            <a:ext cx="3903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black">
          <a:xfrm>
            <a:off x="4444058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4" name="Freeform 13"/>
          <p:cNvSpPr>
            <a:spLocks/>
          </p:cNvSpPr>
          <p:nvPr/>
        </p:nvSpPr>
        <p:spPr bwMode="black">
          <a:xfrm>
            <a:off x="4551038" y="5654198"/>
            <a:ext cx="41443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5" name="Freeform 14"/>
          <p:cNvSpPr>
            <a:spLocks/>
          </p:cNvSpPr>
          <p:nvPr/>
        </p:nvSpPr>
        <p:spPr bwMode="black">
          <a:xfrm>
            <a:off x="4660428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black">
          <a:xfrm>
            <a:off x="4769818" y="5525687"/>
            <a:ext cx="3951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7" name="Freeform 16"/>
          <p:cNvSpPr>
            <a:spLocks/>
          </p:cNvSpPr>
          <p:nvPr/>
        </p:nvSpPr>
        <p:spPr bwMode="black">
          <a:xfrm>
            <a:off x="4877279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8" name="Freeform 17"/>
          <p:cNvSpPr>
            <a:spLocks/>
          </p:cNvSpPr>
          <p:nvPr/>
        </p:nvSpPr>
        <p:spPr bwMode="black">
          <a:xfrm>
            <a:off x="4986669" y="5654198"/>
            <a:ext cx="3951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3" dur="7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5" dur="7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4" name="TextBox 33"/>
          <p:cNvSpPr txBox="1"/>
          <p:nvPr userDrawn="1"/>
        </p:nvSpPr>
        <p:spPr>
          <a:xfrm>
            <a:off x="644691" y="3060488"/>
            <a:ext cx="2437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rgbClr val="FFFFFF"/>
                </a:solidFill>
                <a:latin typeface="+mj-lt"/>
              </a:rPr>
              <a:t>Thank you.</a:t>
            </a:r>
          </a:p>
        </p:txBody>
      </p:sp>
      <p:pic>
        <p:nvPicPr>
          <p:cNvPr id="21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9746" y="3078070"/>
            <a:ext cx="3669899" cy="610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/>
          <a:p>
            <a:pPr lv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/>
              <a:t>Slide Title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9702" y="1339745"/>
            <a:ext cx="8577072" cy="4965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>
                <a:solidFill>
                  <a:srgbClr val="808080"/>
                </a:solidFill>
                <a:latin typeface="+mj-lt"/>
              </a:rPr>
              <a:t>Cisco Public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>
              <a:solidFill>
                <a:srgbClr val="808080"/>
              </a:solidFill>
              <a:latin typeface="+mj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930" r:id="rId2"/>
    <p:sldLayoutId id="2147483929" r:id="rId3"/>
    <p:sldLayoutId id="2147483937" r:id="rId4"/>
    <p:sldLayoutId id="2147483900" r:id="rId5"/>
    <p:sldLayoutId id="2147483931" r:id="rId6"/>
    <p:sldLayoutId id="2147483932" r:id="rId7"/>
    <p:sldLayoutId id="2147483933" r:id="rId8"/>
    <p:sldLayoutId id="2147483902" r:id="rId9"/>
    <p:sldLayoutId id="2147483903" r:id="rId10"/>
    <p:sldLayoutId id="2147483935" r:id="rId11"/>
    <p:sldLayoutId id="2147483905" r:id="rId12"/>
    <p:sldLayoutId id="2147483906" r:id="rId13"/>
    <p:sldLayoutId id="2147483907" r:id="rId14"/>
    <p:sldLayoutId id="2147483908" r:id="rId15"/>
    <p:sldLayoutId id="2147483909" r:id="rId16"/>
    <p:sldLayoutId id="2147483910" r:id="rId17"/>
    <p:sldLayoutId id="2147483913" r:id="rId18"/>
    <p:sldLayoutId id="2147483911" r:id="rId19"/>
    <p:sldLayoutId id="2147483912" r:id="rId20"/>
    <p:sldLayoutId id="2147483914" r:id="rId21"/>
    <p:sldLayoutId id="2147483915" r:id="rId22"/>
    <p:sldLayoutId id="2147483916" r:id="rId23"/>
    <p:sldLayoutId id="2147483917" r:id="rId24"/>
    <p:sldLayoutId id="2147483918" r:id="rId25"/>
    <p:sldLayoutId id="2147483919" r:id="rId26"/>
    <p:sldLayoutId id="2147483921" r:id="rId27"/>
    <p:sldLayoutId id="2147483922" r:id="rId28"/>
    <p:sldLayoutId id="2147483936" r:id="rId29"/>
    <p:sldLayoutId id="2147483923" r:id="rId30"/>
    <p:sldLayoutId id="2147483924" r:id="rId31"/>
    <p:sldLayoutId id="2147483925" r:id="rId32"/>
    <p:sldLayoutId id="2147483926" r:id="rId33"/>
    <p:sldLayoutId id="2147483927" r:id="rId34"/>
  </p:sldLayoutIdLst>
  <p:transition>
    <p:wipe dir="r"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0" lang="en-US" sz="3600" b="0" i="0" u="none" strike="noStrike" kern="1200" cap="none" spc="0" normalizeH="0" baseline="0" dirty="0">
          <a:ln>
            <a:noFill/>
          </a:ln>
          <a:gradFill flip="none" rotWithShape="1">
            <a:gsLst>
              <a:gs pos="16000">
                <a:schemeClr val="tx2"/>
              </a:gs>
              <a:gs pos="100000">
                <a:srgbClr val="28A7DF"/>
              </a:gs>
            </a:gsLst>
            <a:lin ang="1800000" scaled="0"/>
            <a:tileRect/>
          </a:gradFill>
          <a:effectLst/>
          <a:uLnTx/>
          <a:uFillTx/>
          <a:latin typeface="+mj-lt"/>
          <a:ea typeface="+mj-ea"/>
          <a:cs typeface="Arial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5000"/>
        </a:lnSpc>
        <a:spcBef>
          <a:spcPts val="1440"/>
        </a:spcBef>
        <a:buClr>
          <a:srgbClr val="493B93"/>
        </a:buClr>
        <a:buSzPct val="90000"/>
        <a:buFont typeface="Arial" pitchFamily="34" charset="0"/>
        <a:buChar char="•"/>
        <a:tabLst/>
        <a:defRPr lang="en-US" sz="2200" kern="1200" dirty="0" smtClean="0">
          <a:solidFill>
            <a:srgbClr val="435153"/>
          </a:solidFill>
          <a:latin typeface="+mj-lt"/>
          <a:ea typeface="+mn-ea"/>
          <a:cs typeface="+mn-cs"/>
        </a:defRPr>
      </a:lvl1pPr>
      <a:lvl2pPr marL="406400" indent="0" algn="l" defTabSz="914400" rtl="0" eaLnBrk="1" latinLnBrk="0" hangingPunct="1">
        <a:lnSpc>
          <a:spcPct val="95000"/>
        </a:lnSpc>
        <a:spcBef>
          <a:spcPts val="840"/>
        </a:spcBef>
        <a:buClr>
          <a:schemeClr val="tx2"/>
        </a:buClr>
        <a:buFontTx/>
        <a:buNone/>
        <a:defRPr lang="en-US" sz="1800" kern="1200" dirty="0" smtClean="0">
          <a:solidFill>
            <a:srgbClr val="435153"/>
          </a:solidFill>
          <a:latin typeface="+mj-lt"/>
          <a:ea typeface="+mn-ea"/>
          <a:cs typeface="+mn-cs"/>
        </a:defRPr>
      </a:lvl2pPr>
      <a:lvl3pPr marL="571500" indent="-1588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600" kern="1200" dirty="0" smtClean="0">
          <a:solidFill>
            <a:srgbClr val="435153"/>
          </a:solidFill>
          <a:latin typeface="+mj-lt"/>
          <a:ea typeface="+mn-ea"/>
          <a:cs typeface="+mn-cs"/>
        </a:defRPr>
      </a:lvl3pPr>
      <a:lvl4pPr marL="688975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 smtClean="0">
          <a:solidFill>
            <a:srgbClr val="435153"/>
          </a:solidFill>
          <a:latin typeface="+mj-lt"/>
          <a:ea typeface="+mn-ea"/>
          <a:cs typeface="+mn-cs"/>
        </a:defRPr>
      </a:lvl4pPr>
      <a:lvl5pPr marL="801688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>
          <a:solidFill>
            <a:srgbClr val="435153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CCNA Security v2.0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1393" y="722449"/>
            <a:ext cx="8112125" cy="2907239"/>
          </a:xfrm>
        </p:spPr>
        <p:txBody>
          <a:bodyPr/>
          <a:lstStyle/>
          <a:p>
            <a:r>
              <a:rPr lang="en-US" sz="4000">
                <a:cs typeface="Arial"/>
              </a:rPr>
              <a:t>Chapter 8:</a:t>
            </a:r>
            <a:br>
              <a:rPr lang="en-US" sz="4000"/>
            </a:br>
            <a:r>
              <a:rPr lang="en-US" sz="4000">
                <a:cs typeface="Arial"/>
              </a:rPr>
              <a:t>Implementing Virtual Private Networks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/>
              <a:t>Chapter Outline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8.0 Introduction</a:t>
            </a:r>
          </a:p>
          <a:p>
            <a:r>
              <a:rPr lang="en-US">
                <a:solidFill>
                  <a:schemeClr val="tx2"/>
                </a:solidFill>
              </a:rPr>
              <a:t>8.1 VPNs</a:t>
            </a:r>
          </a:p>
          <a:p>
            <a:r>
              <a:rPr lang="en-US">
                <a:solidFill>
                  <a:schemeClr val="tx2"/>
                </a:solidFill>
              </a:rPr>
              <a:t>8.2 IPsec VPN Components and Operations</a:t>
            </a:r>
          </a:p>
          <a:p>
            <a:r>
              <a:rPr lang="en-US">
                <a:solidFill>
                  <a:schemeClr val="tx2"/>
                </a:solidFill>
              </a:rPr>
              <a:t>8.3 Implementing Site-to-Site IPsec VPNs with CLI</a:t>
            </a:r>
          </a:p>
          <a:p>
            <a:r>
              <a:rPr lang="en-US">
                <a:solidFill>
                  <a:schemeClr val="tx2"/>
                </a:solidFill>
              </a:rPr>
              <a:t>8.4 Summary</a:t>
            </a:r>
            <a:endParaRPr lang="en-US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422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1393" y="2174124"/>
            <a:ext cx="8112125" cy="696192"/>
          </a:xfrm>
        </p:spPr>
        <p:txBody>
          <a:bodyPr/>
          <a:lstStyle/>
          <a:p>
            <a:r>
              <a:rPr lang="en-US" sz="4000"/>
              <a:t>Section 8.1:</a:t>
            </a:r>
            <a:br>
              <a:rPr lang="en-US" sz="4000"/>
            </a:br>
            <a:r>
              <a:rPr lang="en-US" sz="4000"/>
              <a:t>VPNs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419100" y="3119628"/>
            <a:ext cx="8577072" cy="2023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Upon completion of this section, you should be able to:</a:t>
            </a:r>
          </a:p>
          <a:p>
            <a:r>
              <a:rPr lang="en-US" sz="1800"/>
              <a:t>Describe VPNs and their benefits.</a:t>
            </a:r>
          </a:p>
          <a:p>
            <a:r>
              <a:rPr lang="en-US" sz="1800"/>
              <a:t>Compare site-to-site and remote-access VPNs.</a:t>
            </a:r>
          </a:p>
        </p:txBody>
      </p:sp>
    </p:spTree>
    <p:extLst>
      <p:ext uri="{BB962C8B-B14F-4D97-AF65-F5344CB8AC3E}">
        <p14:creationId xmlns:p14="http://schemas.microsoft.com/office/powerpoint/2010/main" val="3076075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/>
              <a:t>Topic 8.1.1:</a:t>
            </a:r>
            <a:br>
              <a:rPr lang="en-US" sz="2800"/>
            </a:br>
            <a:r>
              <a:rPr lang="en-US" sz="2800"/>
              <a:t>VPN Overview</a:t>
            </a:r>
          </a:p>
        </p:txBody>
      </p:sp>
    </p:spTree>
    <p:extLst>
      <p:ext uri="{BB962C8B-B14F-4D97-AF65-F5344CB8AC3E}">
        <p14:creationId xmlns:p14="http://schemas.microsoft.com/office/powerpoint/2010/main" val="2560295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Introducing VPNs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869" y="2373086"/>
            <a:ext cx="6331683" cy="3869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274048" y="1091839"/>
            <a:ext cx="2084070" cy="23807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VPN Benefits:</a:t>
            </a:r>
          </a:p>
          <a:p>
            <a:r>
              <a:rPr lang="en-US" sz="2000"/>
              <a:t>Cost Savings</a:t>
            </a:r>
          </a:p>
          <a:p>
            <a:r>
              <a:rPr lang="en-US" sz="2000"/>
              <a:t>Security</a:t>
            </a:r>
          </a:p>
          <a:p>
            <a:r>
              <a:rPr lang="en-US" sz="2000"/>
              <a:t>Scalability</a:t>
            </a:r>
          </a:p>
          <a:p>
            <a:r>
              <a:rPr lang="en-US" sz="2000"/>
              <a:t>Compatibility</a:t>
            </a:r>
          </a:p>
        </p:txBody>
      </p:sp>
    </p:spTree>
    <p:extLst>
      <p:ext uri="{BB962C8B-B14F-4D97-AF65-F5344CB8AC3E}">
        <p14:creationId xmlns:p14="http://schemas.microsoft.com/office/powerpoint/2010/main" val="925658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Layer 3 IPsec VPNs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694" y="1354138"/>
            <a:ext cx="6932612" cy="4859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3281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/>
              <a:t>Topic 8.1.2:</a:t>
            </a:r>
            <a:br>
              <a:rPr lang="en-US" sz="2800"/>
            </a:br>
            <a:r>
              <a:rPr lang="en-US" sz="2800"/>
              <a:t>VPN Technologies</a:t>
            </a:r>
          </a:p>
        </p:txBody>
      </p:sp>
    </p:spTree>
    <p:extLst>
      <p:ext uri="{BB962C8B-B14F-4D97-AF65-F5344CB8AC3E}">
        <p14:creationId xmlns:p14="http://schemas.microsoft.com/office/powerpoint/2010/main" val="2461929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Two Types of VPNs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" y="1153319"/>
            <a:ext cx="5556290" cy="2466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095" y="3848893"/>
            <a:ext cx="5761530" cy="2466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6012180" y="1985597"/>
            <a:ext cx="2579370" cy="4008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Remote-Access VPN</a:t>
            </a: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687705" y="4881577"/>
            <a:ext cx="2084070" cy="4008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Site-to-Site VPN Access</a:t>
            </a:r>
          </a:p>
        </p:txBody>
      </p:sp>
    </p:spTree>
    <p:extLst>
      <p:ext uri="{BB962C8B-B14F-4D97-AF65-F5344CB8AC3E}">
        <p14:creationId xmlns:p14="http://schemas.microsoft.com/office/powerpoint/2010/main" val="2811766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Components of Remote-Access VPNs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72" y="1808797"/>
            <a:ext cx="8235256" cy="360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6969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Components of Site-to-Site VPNs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42" y="1943099"/>
            <a:ext cx="8392716" cy="353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094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1393" y="2174124"/>
            <a:ext cx="8112125" cy="696192"/>
          </a:xfrm>
        </p:spPr>
        <p:txBody>
          <a:bodyPr/>
          <a:lstStyle/>
          <a:p>
            <a:r>
              <a:rPr lang="en-US" sz="4000"/>
              <a:t>Section 8.2:</a:t>
            </a:r>
            <a:br>
              <a:rPr lang="en-US" sz="4000"/>
            </a:br>
            <a:r>
              <a:rPr lang="en-US" sz="4000"/>
              <a:t>IPsec VPN Components and Operation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419100" y="3119628"/>
            <a:ext cx="8577072" cy="2023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Upon completion of this section, you should be able to:</a:t>
            </a:r>
          </a:p>
          <a:p>
            <a:r>
              <a:rPr lang="en-US" sz="1800"/>
              <a:t>Describe the IPsec protocol and its basic functions.</a:t>
            </a:r>
          </a:p>
          <a:p>
            <a:r>
              <a:rPr lang="en-US" sz="1800"/>
              <a:t>Compare AH and ESP protocols.</a:t>
            </a:r>
          </a:p>
          <a:p>
            <a:r>
              <a:rPr lang="en-US" sz="1800"/>
              <a:t>Describe the IKE protocol.</a:t>
            </a:r>
          </a:p>
        </p:txBody>
      </p:sp>
    </p:spTree>
    <p:extLst>
      <p:ext uri="{BB962C8B-B14F-4D97-AF65-F5344CB8AC3E}">
        <p14:creationId xmlns:p14="http://schemas.microsoft.com/office/powerpoint/2010/main" val="3504652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/>
              <a:t>Topic 8.2.1:</a:t>
            </a:r>
            <a:br>
              <a:rPr lang="en-US" sz="2800"/>
            </a:br>
            <a:r>
              <a:rPr lang="en-US" sz="2800"/>
              <a:t>Introducing IPsec</a:t>
            </a:r>
          </a:p>
        </p:txBody>
      </p:sp>
    </p:spTree>
    <p:extLst>
      <p:ext uri="{BB962C8B-B14F-4D97-AF65-F5344CB8AC3E}">
        <p14:creationId xmlns:p14="http://schemas.microsoft.com/office/powerpoint/2010/main" val="1046521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IPsec Technologies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109789"/>
            <a:ext cx="5264150" cy="4167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550" y="2119743"/>
            <a:ext cx="3234442" cy="415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5670550" y="1381506"/>
            <a:ext cx="3368674" cy="6572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/>
              <a:t>IPsec Implementation Examples</a:t>
            </a: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250825" y="1638300"/>
            <a:ext cx="5264150" cy="4004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/>
              <a:t>IPsec Framework</a:t>
            </a:r>
          </a:p>
        </p:txBody>
      </p:sp>
    </p:spTree>
    <p:extLst>
      <p:ext uri="{BB962C8B-B14F-4D97-AF65-F5344CB8AC3E}">
        <p14:creationId xmlns:p14="http://schemas.microsoft.com/office/powerpoint/2010/main" val="852735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Confidentiality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27" y="1489075"/>
            <a:ext cx="7648547" cy="465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259080" y="1034923"/>
            <a:ext cx="3931920" cy="435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Confidentiality with Encryption:</a:t>
            </a:r>
          </a:p>
        </p:txBody>
      </p:sp>
    </p:spTree>
    <p:extLst>
      <p:ext uri="{BB962C8B-B14F-4D97-AF65-F5344CB8AC3E}">
        <p14:creationId xmlns:p14="http://schemas.microsoft.com/office/powerpoint/2010/main" val="1243326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Confidentiality (Cont.)</a:t>
            </a:r>
            <a:endParaRPr lang="en-US" sz="3200">
              <a:solidFill>
                <a:srgbClr val="FF0000"/>
              </a:solidFill>
            </a:endParaRP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259080" y="1034923"/>
            <a:ext cx="3931920" cy="435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Encryption Algorithms: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685" y="1470025"/>
            <a:ext cx="6150630" cy="4755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111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Integrity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259080" y="1034923"/>
            <a:ext cx="3931920" cy="435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Hash Algorithms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1470025"/>
            <a:ext cx="7023259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388" y="3509963"/>
            <a:ext cx="3414712" cy="2724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6"/>
          <p:cNvSpPr txBox="1">
            <a:spLocks/>
          </p:cNvSpPr>
          <p:nvPr/>
        </p:nvSpPr>
        <p:spPr>
          <a:xfrm>
            <a:off x="1430655" y="4639010"/>
            <a:ext cx="3465195" cy="435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Security of Hash Algorithms</a:t>
            </a:r>
          </a:p>
        </p:txBody>
      </p:sp>
    </p:spTree>
    <p:extLst>
      <p:ext uri="{BB962C8B-B14F-4D97-AF65-F5344CB8AC3E}">
        <p14:creationId xmlns:p14="http://schemas.microsoft.com/office/powerpoint/2010/main" val="4273124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Authentication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4821555" y="1647444"/>
            <a:ext cx="3531870" cy="5341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Peer Authentication Methods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2" y="1364043"/>
            <a:ext cx="4428020" cy="134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175" y="3001169"/>
            <a:ext cx="6616700" cy="3279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990600" y="4172331"/>
            <a:ext cx="769938" cy="5341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PSK</a:t>
            </a:r>
          </a:p>
        </p:txBody>
      </p:sp>
    </p:spTree>
    <p:extLst>
      <p:ext uri="{BB962C8B-B14F-4D97-AF65-F5344CB8AC3E}">
        <p14:creationId xmlns:p14="http://schemas.microsoft.com/office/powerpoint/2010/main" val="2000556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Authentication (Cont.)</a:t>
            </a:r>
            <a:endParaRPr lang="en-US" sz="3200">
              <a:solidFill>
                <a:srgbClr val="FF0000"/>
              </a:solidFill>
            </a:endParaRP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220980" y="1002713"/>
            <a:ext cx="3531870" cy="5341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RSA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834" y="1460675"/>
            <a:ext cx="7222332" cy="4802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6188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Secure Key Exchange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220980" y="1002713"/>
            <a:ext cx="3531870" cy="5341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err="1"/>
              <a:t>Diffie</a:t>
            </a:r>
            <a:r>
              <a:rPr lang="en-US" sz="2000"/>
              <a:t>-Hellman Key Exchange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08" y="1470200"/>
            <a:ext cx="8004784" cy="477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8138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/>
              <a:t>Topic 8.2.2:</a:t>
            </a:r>
            <a:br>
              <a:rPr lang="en-US" sz="2800"/>
            </a:br>
            <a:r>
              <a:rPr lang="en-US" sz="2800"/>
              <a:t>IPsec Protocols</a:t>
            </a:r>
          </a:p>
        </p:txBody>
      </p:sp>
    </p:spTree>
    <p:extLst>
      <p:ext uri="{BB962C8B-B14F-4D97-AF65-F5344CB8AC3E}">
        <p14:creationId xmlns:p14="http://schemas.microsoft.com/office/powerpoint/2010/main" val="1355478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IPsec Protocol Overview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13" y="1181100"/>
            <a:ext cx="6175375" cy="4945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6894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Authentication Header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725" y="1510808"/>
            <a:ext cx="5162551" cy="4691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220980" y="1002713"/>
            <a:ext cx="3531870" cy="5341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AH Protocols</a:t>
            </a:r>
          </a:p>
        </p:txBody>
      </p:sp>
    </p:spTree>
    <p:extLst>
      <p:ext uri="{BB962C8B-B14F-4D97-AF65-F5344CB8AC3E}">
        <p14:creationId xmlns:p14="http://schemas.microsoft.com/office/powerpoint/2010/main" val="3439855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Authentication Header (Cont.)</a:t>
            </a:r>
            <a:endParaRPr lang="en-US" sz="3200">
              <a:solidFill>
                <a:srgbClr val="FF0000"/>
              </a:solidFill>
            </a:endParaRP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4107179" y="1259888"/>
            <a:ext cx="4246245" cy="5341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Router Creates Hash and Transmits to Peer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44" y="1111251"/>
            <a:ext cx="3504733" cy="376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530" y="2416176"/>
            <a:ext cx="3165439" cy="376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6"/>
          <p:cNvSpPr txBox="1">
            <a:spLocks/>
          </p:cNvSpPr>
          <p:nvPr/>
        </p:nvSpPr>
        <p:spPr>
          <a:xfrm>
            <a:off x="500044" y="5441363"/>
            <a:ext cx="4467224" cy="5341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Peer Router Compares Recomputed Hash to Received Hash</a:t>
            </a:r>
          </a:p>
        </p:txBody>
      </p:sp>
    </p:spTree>
    <p:extLst>
      <p:ext uri="{BB962C8B-B14F-4D97-AF65-F5344CB8AC3E}">
        <p14:creationId xmlns:p14="http://schemas.microsoft.com/office/powerpoint/2010/main" val="1018595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/>
              <a:t>ESP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942" y="1211263"/>
            <a:ext cx="5822117" cy="488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7350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/>
              <a:t>ESP Encrypts and Authenticates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35" y="1395413"/>
            <a:ext cx="8319530" cy="472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6287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/>
              <a:t>Transport and Tunnel Modes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27" y="2042670"/>
            <a:ext cx="8440147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351925" y="1352312"/>
            <a:ext cx="4122103" cy="4008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Apply ESP and AH in Two Modes</a:t>
            </a:r>
          </a:p>
        </p:txBody>
      </p:sp>
    </p:spTree>
    <p:extLst>
      <p:ext uri="{BB962C8B-B14F-4D97-AF65-F5344CB8AC3E}">
        <p14:creationId xmlns:p14="http://schemas.microsoft.com/office/powerpoint/2010/main" val="794469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/>
              <a:t>Transport and Tunnel Modes (Cont.)</a:t>
            </a:r>
            <a:endParaRPr lang="en-US" sz="2800">
              <a:solidFill>
                <a:srgbClr val="FF0000"/>
              </a:solidFill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980" y="1934072"/>
            <a:ext cx="6548041" cy="43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339362" y="1245748"/>
            <a:ext cx="2795724" cy="4008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ESP Tunnel Mode</a:t>
            </a:r>
          </a:p>
        </p:txBody>
      </p:sp>
    </p:spTree>
    <p:extLst>
      <p:ext uri="{BB962C8B-B14F-4D97-AF65-F5344CB8AC3E}">
        <p14:creationId xmlns:p14="http://schemas.microsoft.com/office/powerpoint/2010/main" val="3595943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/>
              <a:t>Topic 8.2.3:</a:t>
            </a:r>
            <a:br>
              <a:rPr lang="en-US" sz="2800"/>
            </a:br>
            <a:r>
              <a:rPr lang="en-US" sz="2800"/>
              <a:t>Internet Key Exchange</a:t>
            </a:r>
          </a:p>
        </p:txBody>
      </p:sp>
    </p:spTree>
    <p:extLst>
      <p:ext uri="{BB962C8B-B14F-4D97-AF65-F5344CB8AC3E}">
        <p14:creationId xmlns:p14="http://schemas.microsoft.com/office/powerpoint/2010/main" val="2010562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/>
              <a:t>The IKE Protocol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769" y="1330325"/>
            <a:ext cx="6748462" cy="4945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3450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/>
              <a:t>Phase 1 and 2 Key Negotiation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94" y="1209675"/>
            <a:ext cx="7643812" cy="5000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9191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/>
              <a:t>Phase 2: Negotiating SAs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69" y="2393950"/>
            <a:ext cx="8291862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9085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1393" y="2174124"/>
            <a:ext cx="8112125" cy="696192"/>
          </a:xfrm>
        </p:spPr>
        <p:txBody>
          <a:bodyPr/>
          <a:lstStyle/>
          <a:p>
            <a:r>
              <a:rPr lang="en-US" sz="4000"/>
              <a:t>Section 8.3:</a:t>
            </a:r>
            <a:br>
              <a:rPr lang="en-US" sz="4000"/>
            </a:br>
            <a:r>
              <a:rPr lang="en-US" sz="4000"/>
              <a:t>Implementing Site-to-Site IPsec VPNs with CLI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419100" y="3119628"/>
            <a:ext cx="8577072" cy="2023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Upon completion of this section, you should be able to:</a:t>
            </a:r>
          </a:p>
          <a:p>
            <a:r>
              <a:rPr lang="en-US" sz="1800"/>
              <a:t>Describe IPsec negotiation and the five steps of IPsec configuration.</a:t>
            </a:r>
          </a:p>
          <a:p>
            <a:r>
              <a:rPr lang="en-US" sz="1800"/>
              <a:t>Configure the ISAKMP policy.</a:t>
            </a:r>
          </a:p>
          <a:p>
            <a:r>
              <a:rPr lang="en-US" sz="1800"/>
              <a:t>Configure the IPsec policy.</a:t>
            </a:r>
          </a:p>
          <a:p>
            <a:r>
              <a:rPr lang="en-US" sz="1800"/>
              <a:t>Configure and apply a crypto map.</a:t>
            </a:r>
          </a:p>
          <a:p>
            <a:r>
              <a:rPr lang="en-US" sz="1800"/>
              <a:t>Verify the IPsec VPN.</a:t>
            </a:r>
          </a:p>
        </p:txBody>
      </p:sp>
    </p:spTree>
    <p:extLst>
      <p:ext uri="{BB962C8B-B14F-4D97-AF65-F5344CB8AC3E}">
        <p14:creationId xmlns:p14="http://schemas.microsoft.com/office/powerpoint/2010/main" val="1175168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/>
              <a:t>Topic 8.3.1:</a:t>
            </a:r>
            <a:br>
              <a:rPr lang="en-US" sz="2800"/>
            </a:br>
            <a:r>
              <a:rPr lang="en-US" sz="2800"/>
              <a:t>Configuring a Site-to-Site IPsec VPN</a:t>
            </a:r>
          </a:p>
        </p:txBody>
      </p:sp>
    </p:spTree>
    <p:extLst>
      <p:ext uri="{BB962C8B-B14F-4D97-AF65-F5344CB8AC3E}">
        <p14:creationId xmlns:p14="http://schemas.microsoft.com/office/powerpoint/2010/main" val="3612156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IPsec Negotiation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25" y="1384300"/>
            <a:ext cx="5014913" cy="124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260" y="2882518"/>
            <a:ext cx="4999037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288" y="4743450"/>
            <a:ext cx="500697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6"/>
          <p:cNvSpPr txBox="1">
            <a:spLocks/>
          </p:cNvSpPr>
          <p:nvPr/>
        </p:nvSpPr>
        <p:spPr>
          <a:xfrm>
            <a:off x="106679" y="2913411"/>
            <a:ext cx="3329941" cy="448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IPsec VPN Negotiation: Step 2 - R1 and R2 negotiate an IKE Phase 1 session.</a:t>
            </a: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5621654" y="1472342"/>
            <a:ext cx="3278506" cy="448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IPsec VPN Negotiation: Step 1 - Host A sends interesting traffic to Host B.</a:t>
            </a:r>
          </a:p>
        </p:txBody>
      </p:sp>
      <p:sp>
        <p:nvSpPr>
          <p:cNvPr id="10" name="Text Placeholder 6"/>
          <p:cNvSpPr txBox="1">
            <a:spLocks/>
          </p:cNvSpPr>
          <p:nvPr/>
        </p:nvSpPr>
        <p:spPr>
          <a:xfrm>
            <a:off x="725805" y="4770692"/>
            <a:ext cx="2865120" cy="448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IPsec VPN Negotiation: Step 3 - R1 and R2 negotiate an IKE Phase 2 session.</a:t>
            </a:r>
          </a:p>
        </p:txBody>
      </p:sp>
    </p:spTree>
    <p:extLst>
      <p:ext uri="{BB962C8B-B14F-4D97-AF65-F5344CB8AC3E}">
        <p14:creationId xmlns:p14="http://schemas.microsoft.com/office/powerpoint/2010/main" val="632191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IPsec Negotiation (Cont.)</a:t>
            </a:r>
            <a:endParaRPr lang="en-US" sz="3200">
              <a:solidFill>
                <a:srgbClr val="FF0000"/>
              </a:solidFill>
            </a:endParaRP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5621654" y="2236246"/>
            <a:ext cx="3408046" cy="448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IPsec VPN Negotiation: Step 4 - Information is exchanged via IPsec tunnel.</a:t>
            </a:r>
          </a:p>
        </p:txBody>
      </p:sp>
      <p:sp>
        <p:nvSpPr>
          <p:cNvPr id="10" name="Text Placeholder 6"/>
          <p:cNvSpPr txBox="1">
            <a:spLocks/>
          </p:cNvSpPr>
          <p:nvPr/>
        </p:nvSpPr>
        <p:spPr>
          <a:xfrm>
            <a:off x="278130" y="3956461"/>
            <a:ext cx="2865120" cy="448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IPsec VPN Negotiation: Step 5 - The IPsec tunnel is terminated.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64543"/>
            <a:ext cx="502920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675" y="3864768"/>
            <a:ext cx="49911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0456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Site-to-Site IPsec VPN Topology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21" y="2644775"/>
            <a:ext cx="8331359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8154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IPsec VPN Configuration Tasks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19" y="1251045"/>
            <a:ext cx="7969762" cy="169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875221"/>
              </p:ext>
            </p:extLst>
          </p:nvPr>
        </p:nvGraphicFramePr>
        <p:xfrm>
          <a:off x="255270" y="3530600"/>
          <a:ext cx="863346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4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/>
                        <a:t>XYZCORP</a:t>
                      </a:r>
                      <a:r>
                        <a:rPr lang="en-US" sz="1500" baseline="0"/>
                        <a:t> </a:t>
                      </a:r>
                      <a:r>
                        <a:rPr lang="en-US" sz="1500"/>
                        <a:t>Security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Configuration 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435153"/>
                          </a:solidFill>
                        </a:rPr>
                        <a:t>Encrypt</a:t>
                      </a:r>
                      <a:r>
                        <a:rPr lang="en-US" sz="1500" baseline="0">
                          <a:solidFill>
                            <a:srgbClr val="435153"/>
                          </a:solidFill>
                        </a:rPr>
                        <a:t> traffic with AES 256 and SHA</a:t>
                      </a:r>
                      <a:endParaRPr lang="en-US" sz="1500">
                        <a:solidFill>
                          <a:srgbClr val="43515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435153"/>
                          </a:solidFill>
                        </a:rPr>
                        <a:t>1. Configure the ISAKMP policy for IKE Phase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435153"/>
                          </a:solidFill>
                        </a:rPr>
                        <a:t>Authentication with PSK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>
                          <a:solidFill>
                            <a:srgbClr val="435153"/>
                          </a:solidFill>
                        </a:rPr>
                        <a:t>2. Configure the IPsec policy for IKE Phase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435153"/>
                          </a:solidFill>
                        </a:rPr>
                        <a:t>Exchange keys with group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435153"/>
                          </a:solidFill>
                        </a:rPr>
                        <a:t>3. Configure the crypto map for IPsec policy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435153"/>
                          </a:solidFill>
                        </a:rPr>
                        <a:t>ISAKMP tunnel lifetime</a:t>
                      </a:r>
                      <a:r>
                        <a:rPr lang="en-US" sz="1500" baseline="0">
                          <a:solidFill>
                            <a:srgbClr val="435153"/>
                          </a:solidFill>
                        </a:rPr>
                        <a:t> is 1 hour</a:t>
                      </a:r>
                      <a:endParaRPr lang="en-US" sz="1500">
                        <a:solidFill>
                          <a:srgbClr val="43515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435153"/>
                          </a:solidFill>
                        </a:rPr>
                        <a:t>4. Apply the IPsec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435153"/>
                          </a:solidFill>
                        </a:rPr>
                        <a:t>IPsec tunnel uses ESP with a 15-min. 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>
                          <a:solidFill>
                            <a:srgbClr val="435153"/>
                          </a:solidFill>
                        </a:rPr>
                        <a:t>5. Verify the IPsec tunnel is operational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882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Existing ACL Configurations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" y="2005035"/>
            <a:ext cx="6228669" cy="3556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6678930" y="3469123"/>
            <a:ext cx="2388870" cy="448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ACL Syntax for IPsec Traffic</a:t>
            </a:r>
          </a:p>
        </p:txBody>
      </p:sp>
    </p:spTree>
    <p:extLst>
      <p:ext uri="{BB962C8B-B14F-4D97-AF65-F5344CB8AC3E}">
        <p14:creationId xmlns:p14="http://schemas.microsoft.com/office/powerpoint/2010/main" val="361334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Existing ACL Configurations (Cont.)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424925" y="1442942"/>
            <a:ext cx="6171817" cy="448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Permitting Traffic for IPsec Negotiations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63" y="2039436"/>
            <a:ext cx="7880874" cy="4198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7559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Introduction to GRE Tunnels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64" y="1296988"/>
            <a:ext cx="6846672" cy="501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7902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/>
              <a:t>Topic 8.3.2:</a:t>
            </a:r>
            <a:br>
              <a:rPr lang="en-US" sz="2800"/>
            </a:br>
            <a:r>
              <a:rPr lang="en-US" sz="2800"/>
              <a:t>ISAKMP Policy</a:t>
            </a:r>
          </a:p>
        </p:txBody>
      </p:sp>
    </p:spTree>
    <p:extLst>
      <p:ext uri="{BB962C8B-B14F-4D97-AF65-F5344CB8AC3E}">
        <p14:creationId xmlns:p14="http://schemas.microsoft.com/office/powerpoint/2010/main" val="2410899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The Default ISAKMP Policies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18" y="1132795"/>
            <a:ext cx="7650565" cy="5137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1632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Syntax to Configure a New ISAKMP Policy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97" y="1371828"/>
            <a:ext cx="7917206" cy="4876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0233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XYZCORP ISAKMP Policy Configuration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194" y="1382486"/>
            <a:ext cx="7059613" cy="481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2944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Configuring a Pre-Shared Key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11" y="2623230"/>
            <a:ext cx="8652779" cy="2743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6"/>
          <p:cNvSpPr txBox="1">
            <a:spLocks/>
          </p:cNvSpPr>
          <p:nvPr/>
        </p:nvSpPr>
        <p:spPr>
          <a:xfrm>
            <a:off x="169703" y="1813446"/>
            <a:ext cx="7383621" cy="5341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The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crypto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isakmp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key </a:t>
            </a:r>
            <a:r>
              <a:rPr lang="en-US" sz="2000"/>
              <a:t>Command</a:t>
            </a:r>
          </a:p>
        </p:txBody>
      </p:sp>
    </p:spTree>
    <p:extLst>
      <p:ext uri="{BB962C8B-B14F-4D97-AF65-F5344CB8AC3E}">
        <p14:creationId xmlns:p14="http://schemas.microsoft.com/office/powerpoint/2010/main" val="8185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Configuring a Pre-Shared Key (Cont.)</a:t>
            </a: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169704" y="1109720"/>
            <a:ext cx="7383621" cy="5341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Pre-Shared Key Configuration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4" y="1532388"/>
            <a:ext cx="5594350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083" y="3709534"/>
            <a:ext cx="5594350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4897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/>
              <a:t>Topic 8.3.3:</a:t>
            </a:r>
            <a:br>
              <a:rPr lang="en-US" sz="2800"/>
            </a:br>
            <a:r>
              <a:rPr lang="en-US" sz="2800"/>
              <a:t>IPsec Policy</a:t>
            </a:r>
          </a:p>
        </p:txBody>
      </p:sp>
    </p:spTree>
    <p:extLst>
      <p:ext uri="{BB962C8B-B14F-4D97-AF65-F5344CB8AC3E}">
        <p14:creationId xmlns:p14="http://schemas.microsoft.com/office/powerpoint/2010/main" val="232371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Define Interesting Traffic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169704" y="1109720"/>
            <a:ext cx="7383621" cy="5341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The IKE Phase 1 Tunnel Does Not Exist Yet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4" y="1643882"/>
            <a:ext cx="8649047" cy="3918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5584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Define Interesting Traffic (Cont.)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169704" y="1109720"/>
            <a:ext cx="7383621" cy="5341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Configure an ACL to Define Interesting Traffic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4" y="1643882"/>
            <a:ext cx="5586413" cy="253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027" y="3748723"/>
            <a:ext cx="5608637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3655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Configure IPsec Transform Set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2" y="1472746"/>
            <a:ext cx="6611185" cy="484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169702" y="1069216"/>
            <a:ext cx="7383621" cy="5341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The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crypto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ipsec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transform-set </a:t>
            </a:r>
            <a:r>
              <a:rPr lang="en-US" sz="2000"/>
              <a:t>Command</a:t>
            </a:r>
          </a:p>
        </p:txBody>
      </p:sp>
    </p:spTree>
    <p:extLst>
      <p:ext uri="{BB962C8B-B14F-4D97-AF65-F5344CB8AC3E}">
        <p14:creationId xmlns:p14="http://schemas.microsoft.com/office/powerpoint/2010/main" val="4034930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Configure IPsec Transform Set (Cont.)</a:t>
            </a:r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169702" y="1069216"/>
            <a:ext cx="7383621" cy="5341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The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crypto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ipsec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transform-set </a:t>
            </a:r>
            <a:r>
              <a:rPr lang="en-US" sz="2000"/>
              <a:t>Command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49" y="1603378"/>
            <a:ext cx="6054519" cy="24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686" y="3788229"/>
            <a:ext cx="6230760" cy="2509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1284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/>
              <a:t>Topic 8.3.4:</a:t>
            </a:r>
            <a:br>
              <a:rPr lang="en-US" sz="2800"/>
            </a:br>
            <a:r>
              <a:rPr lang="en-US" sz="2800"/>
              <a:t>Crypto Map</a:t>
            </a:r>
          </a:p>
        </p:txBody>
      </p:sp>
    </p:spTree>
    <p:extLst>
      <p:ext uri="{BB962C8B-B14F-4D97-AF65-F5344CB8AC3E}">
        <p14:creationId xmlns:p14="http://schemas.microsoft.com/office/powerpoint/2010/main" val="1292569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/>
              <a:t>Syntax to Configure a Crypto Map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93" y="1700213"/>
            <a:ext cx="8546815" cy="375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0374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/>
              <a:t>Syntax to Configure a Crypto Map (Cont.)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81" y="1706563"/>
            <a:ext cx="7361238" cy="4545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169702" y="1172401"/>
            <a:ext cx="7383621" cy="5341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Crypto Map Configuration Commands</a:t>
            </a:r>
          </a:p>
        </p:txBody>
      </p:sp>
    </p:spTree>
    <p:extLst>
      <p:ext uri="{BB962C8B-B14F-4D97-AF65-F5344CB8AC3E}">
        <p14:creationId xmlns:p14="http://schemas.microsoft.com/office/powerpoint/2010/main" val="2309703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XYZCORP Crypto Map Configuration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297179" y="1024128"/>
            <a:ext cx="8380095" cy="499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Crypto Map Configuration: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" y="1394053"/>
            <a:ext cx="4514306" cy="2643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657" y="3701594"/>
            <a:ext cx="4566245" cy="2653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1242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XYZCORP Crypto Map Configuration (Cont.)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297179" y="1024128"/>
            <a:ext cx="8380095" cy="2023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Crypto Map Configuration: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381" y="1502230"/>
            <a:ext cx="6641239" cy="4798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0331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r>
              <a:rPr lang="en-US" sz="3200"/>
              <a:t>Apply the Crypto Map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339" y="1133282"/>
            <a:ext cx="6971322" cy="5169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5999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/>
              <a:t>Topic 8.3.5:</a:t>
            </a:r>
            <a:br>
              <a:rPr lang="en-US" sz="2800"/>
            </a:br>
            <a:r>
              <a:rPr lang="en-US" sz="2800"/>
              <a:t>IPsec VPN</a:t>
            </a:r>
          </a:p>
        </p:txBody>
      </p:sp>
    </p:spTree>
    <p:extLst>
      <p:ext uri="{BB962C8B-B14F-4D97-AF65-F5344CB8AC3E}">
        <p14:creationId xmlns:p14="http://schemas.microsoft.com/office/powerpoint/2010/main" val="3025141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r>
              <a:rPr lang="en-US" sz="3200"/>
              <a:t>Send Interesting Traffic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297178" y="1617621"/>
            <a:ext cx="8380095" cy="4019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Use Extended Ping to Send Interesting Traffic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53" y="2109788"/>
            <a:ext cx="8380095" cy="391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3009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r>
              <a:rPr lang="en-US" sz="3200"/>
              <a:t>Verify ISAKMP and IPsec Tunnels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93" y="1699070"/>
            <a:ext cx="8615815" cy="4245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297178" y="1291041"/>
            <a:ext cx="8380095" cy="4019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Verify the ISAKMP Tunnel is Established</a:t>
            </a:r>
          </a:p>
        </p:txBody>
      </p:sp>
    </p:spTree>
    <p:extLst>
      <p:ext uri="{BB962C8B-B14F-4D97-AF65-F5344CB8AC3E}">
        <p14:creationId xmlns:p14="http://schemas.microsoft.com/office/powerpoint/2010/main" val="734618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r>
              <a:rPr lang="en-US" sz="3200"/>
              <a:t>Verify ISAKMP and IPsec Tunnels (Cont.)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08" y="1447800"/>
            <a:ext cx="8445902" cy="4865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297178" y="1095093"/>
            <a:ext cx="8380095" cy="4019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Verify the IPsec Tunnel is Established</a:t>
            </a:r>
          </a:p>
        </p:txBody>
      </p:sp>
    </p:spTree>
    <p:extLst>
      <p:ext uri="{BB962C8B-B14F-4D97-AF65-F5344CB8AC3E}">
        <p14:creationId xmlns:p14="http://schemas.microsoft.com/office/powerpoint/2010/main" val="615113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1393" y="2072640"/>
            <a:ext cx="8112125" cy="688368"/>
          </a:xfrm>
        </p:spPr>
        <p:txBody>
          <a:bodyPr/>
          <a:lstStyle/>
          <a:p>
            <a:r>
              <a:rPr lang="en-US" sz="4000"/>
              <a:t>Section 8.4:</a:t>
            </a:r>
            <a:br>
              <a:rPr lang="en-US" sz="4000"/>
            </a:br>
            <a:r>
              <a:rPr lang="en-US" sz="4000"/>
              <a:t>Summary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419100" y="3012948"/>
            <a:ext cx="8577072" cy="2656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Chapter Objectives: </a:t>
            </a:r>
          </a:p>
          <a:p>
            <a:r>
              <a:rPr lang="en-US" sz="1800"/>
              <a:t>Explain the purpose of VPNs.</a:t>
            </a:r>
          </a:p>
          <a:p>
            <a:r>
              <a:rPr lang="en-US" sz="1800"/>
              <a:t>Explain how IPsec VPNs operate.</a:t>
            </a:r>
          </a:p>
          <a:p>
            <a:r>
              <a:rPr lang="en-US" sz="1800"/>
              <a:t>Configure a site-to-site IPsec VPN, with pre-shared key authentication,</a:t>
            </a:r>
            <a:br>
              <a:rPr lang="en-US" sz="1800"/>
            </a:br>
            <a:r>
              <a:rPr lang="en-US" sz="1800"/>
              <a:t>using the CLI.</a:t>
            </a:r>
          </a:p>
        </p:txBody>
      </p:sp>
    </p:spTree>
    <p:extLst>
      <p:ext uri="{BB962C8B-B14F-4D97-AF65-F5344CB8AC3E}">
        <p14:creationId xmlns:p14="http://schemas.microsoft.com/office/powerpoint/2010/main" val="3590238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549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/>
              <a:t>Instructor Resources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28599" y="1318260"/>
            <a:ext cx="3314701" cy="4991099"/>
          </a:xfrm>
        </p:spPr>
        <p:txBody>
          <a:bodyPr/>
          <a:lstStyle/>
          <a:p>
            <a:r>
              <a:rPr lang="en-US" sz="1800" b="1"/>
              <a:t>Remember</a:t>
            </a:r>
            <a:r>
              <a:rPr lang="en-US" sz="1800"/>
              <a:t>, there are helpful tutorials and user guides available via your </a:t>
            </a:r>
            <a:r>
              <a:rPr lang="en-US" sz="1800" err="1"/>
              <a:t>NetSpace</a:t>
            </a:r>
            <a:r>
              <a:rPr lang="en-US" sz="1800"/>
              <a:t> home page. (https://www.netacad.com)</a:t>
            </a:r>
          </a:p>
          <a:p>
            <a:r>
              <a:rPr lang="en-US" sz="1800"/>
              <a:t>These resources cover a variety of topics including navigation, assessments, and assignments.</a:t>
            </a:r>
          </a:p>
          <a:p>
            <a:r>
              <a:rPr lang="en-US" sz="1800"/>
              <a:t>A screenshot has been provided here highlighting the tutorials related to activating exams, managing assessments, and creating quizzes.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961" y="1531620"/>
            <a:ext cx="4997317" cy="2381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883" y="4336386"/>
            <a:ext cx="3419475" cy="1828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Arrow Connector 10"/>
          <p:cNvCxnSpPr/>
          <p:nvPr/>
        </p:nvCxnSpPr>
        <p:spPr>
          <a:xfrm flipV="1">
            <a:off x="4648897" y="5370353"/>
            <a:ext cx="359327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658684" y="4692242"/>
            <a:ext cx="359327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4643304" y="5146646"/>
            <a:ext cx="359327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86867" y="2033142"/>
            <a:ext cx="27683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9062" y="2354091"/>
            <a:ext cx="276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83133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etAcad_White_PPT_Template 05Oct12">
  <a:themeElements>
    <a:clrScheme name="Cisco NetAcad">
      <a:dk1>
        <a:srgbClr val="2AA7DF"/>
      </a:dk1>
      <a:lt1>
        <a:srgbClr val="FFFFFF"/>
      </a:lt1>
      <a:dk2>
        <a:srgbClr val="6B308E"/>
      </a:dk2>
      <a:lt2>
        <a:srgbClr val="000000"/>
      </a:lt2>
      <a:accent1>
        <a:srgbClr val="00938E"/>
      </a:accent1>
      <a:accent2>
        <a:srgbClr val="3EB549"/>
      </a:accent2>
      <a:accent3>
        <a:srgbClr val="D81673"/>
      </a:accent3>
      <a:accent4>
        <a:srgbClr val="234493"/>
      </a:accent4>
      <a:accent5>
        <a:srgbClr val="ED2D28"/>
      </a:accent5>
      <a:accent6>
        <a:srgbClr val="F68B21"/>
      </a:accent6>
      <a:hlink>
        <a:srgbClr val="2AA7DF"/>
      </a:hlink>
      <a:folHlink>
        <a:srgbClr val="ACB2C2"/>
      </a:folHlink>
    </a:clrScheme>
    <a:fontScheme name="Cisco 2010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NetAcad_White_PPT_Template 05Oct12</Template>
  <Application>Microsoft Office PowerPoint</Application>
  <PresentationFormat>On-screen Show (4:3)</PresentationFormat>
  <Slides>64</Slides>
  <Notes>48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5" baseType="lpstr">
      <vt:lpstr>NetAcad_White_PPT_Template 05Oct12</vt:lpstr>
      <vt:lpstr>Chapter 8: Implementing Virtual Private Networks</vt:lpstr>
      <vt:lpstr>Chapter Outline</vt:lpstr>
      <vt:lpstr>Section 8.1: VPNs</vt:lpstr>
      <vt:lpstr>Topic 8.1.1: VPN Overview</vt:lpstr>
      <vt:lpstr>Introducing VPNs</vt:lpstr>
      <vt:lpstr>Layer 3 IPsec VPNs</vt:lpstr>
      <vt:lpstr>Topic 8.1.2: VPN Technologies</vt:lpstr>
      <vt:lpstr>Two Types of VPNs</vt:lpstr>
      <vt:lpstr>Components of Remote-Access VPNs</vt:lpstr>
      <vt:lpstr>Components of Site-to-Site VPNs</vt:lpstr>
      <vt:lpstr>Section 8.2: IPsec VPN Components and Operation</vt:lpstr>
      <vt:lpstr>Topic 8.2.1: Introducing IPsec</vt:lpstr>
      <vt:lpstr>IPsec Technologies</vt:lpstr>
      <vt:lpstr>Confidentiality</vt:lpstr>
      <vt:lpstr>Confidentiality (Cont.)</vt:lpstr>
      <vt:lpstr>Integrity</vt:lpstr>
      <vt:lpstr>Authentication</vt:lpstr>
      <vt:lpstr>Authentication (Cont.)</vt:lpstr>
      <vt:lpstr>Secure Key Exchange</vt:lpstr>
      <vt:lpstr>Topic 8.2.2: IPsec Protocols</vt:lpstr>
      <vt:lpstr>IPsec Protocol Overview</vt:lpstr>
      <vt:lpstr>Authentication Header</vt:lpstr>
      <vt:lpstr>Authentication Header (Cont.)</vt:lpstr>
      <vt:lpstr>ESP</vt:lpstr>
      <vt:lpstr>ESP Encrypts and Authenticates</vt:lpstr>
      <vt:lpstr>Transport and Tunnel Modes</vt:lpstr>
      <vt:lpstr>Transport and Tunnel Modes (Cont.)</vt:lpstr>
      <vt:lpstr>Topic 8.2.3: Internet Key Exchange</vt:lpstr>
      <vt:lpstr>The IKE Protocol</vt:lpstr>
      <vt:lpstr>Phase 1 and 2 Key Negotiation</vt:lpstr>
      <vt:lpstr>Phase 2: Negotiating SAs</vt:lpstr>
      <vt:lpstr>Section 8.3: Implementing Site-to-Site IPsec VPNs with CLI</vt:lpstr>
      <vt:lpstr>Topic 8.3.1: Configuring a Site-to-Site IPsec VPN</vt:lpstr>
      <vt:lpstr>IPsec Negotiation</vt:lpstr>
      <vt:lpstr>IPsec Negotiation (Cont.)</vt:lpstr>
      <vt:lpstr>Site-to-Site IPsec VPN Topology</vt:lpstr>
      <vt:lpstr>IPsec VPN Configuration Tasks</vt:lpstr>
      <vt:lpstr>Existing ACL Configurations</vt:lpstr>
      <vt:lpstr>Existing ACL Configurations (Cont.)</vt:lpstr>
      <vt:lpstr>Introduction to GRE Tunnels</vt:lpstr>
      <vt:lpstr>Topic 8.3.2: ISAKMP Policy</vt:lpstr>
      <vt:lpstr>The Default ISAKMP Policies</vt:lpstr>
      <vt:lpstr>Syntax to Configure a New ISAKMP Policy</vt:lpstr>
      <vt:lpstr>XYZCORP ISAKMP Policy Configuration</vt:lpstr>
      <vt:lpstr>Configuring a Pre-Shared Key</vt:lpstr>
      <vt:lpstr>Configuring a Pre-Shared Key (Cont.)</vt:lpstr>
      <vt:lpstr>Topic 8.3.3: IPsec Policy</vt:lpstr>
      <vt:lpstr>Define Interesting Traffic</vt:lpstr>
      <vt:lpstr>Define Interesting Traffic (Cont.)</vt:lpstr>
      <vt:lpstr>Configure IPsec Transform Set</vt:lpstr>
      <vt:lpstr>Configure IPsec Transform Set (Cont.)</vt:lpstr>
      <vt:lpstr>Topic 8.3.4: Crypto Map</vt:lpstr>
      <vt:lpstr>Syntax to Configure a Crypto Map</vt:lpstr>
      <vt:lpstr>Syntax to Configure a Crypto Map (Cont.)</vt:lpstr>
      <vt:lpstr>XYZCORP Crypto Map Configuration</vt:lpstr>
      <vt:lpstr>XYZCORP Crypto Map Configuration (Cont.)</vt:lpstr>
      <vt:lpstr>Apply the Crypto Map</vt:lpstr>
      <vt:lpstr>Topic 8.3.5: IPsec VPN</vt:lpstr>
      <vt:lpstr>Send Interesting Traffic</vt:lpstr>
      <vt:lpstr>Verify ISAKMP and IPsec Tunnels</vt:lpstr>
      <vt:lpstr>Verify ISAKMP and IPsec Tunnels (Cont.)</vt:lpstr>
      <vt:lpstr>Section 8.4: Summary</vt:lpstr>
      <vt:lpstr>PowerPoint Presentation</vt:lpstr>
      <vt:lpstr>Instructor Resources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Real, Relevant,  Surprising and Fresh: Cisco Brand</dc:title>
  <dc:creator>Melissa Gabriel</dc:creator>
  <cp:revision>1</cp:revision>
  <dcterms:created xsi:type="dcterms:W3CDTF">2012-10-09T16:58:47Z</dcterms:created>
  <dcterms:modified xsi:type="dcterms:W3CDTF">2025-10-27T12:36:41Z</dcterms:modified>
</cp:coreProperties>
</file>