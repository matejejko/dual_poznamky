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7" r:id="rId11"/>
    <p:sldId id="268" r:id="rId12"/>
    <p:sldId id="269" r:id="rId13"/>
    <p:sldId id="278" r:id="rId14"/>
    <p:sldId id="299" r:id="rId15"/>
    <p:sldId id="266" r:id="rId16"/>
    <p:sldId id="270" r:id="rId17"/>
    <p:sldId id="271" r:id="rId18"/>
    <p:sldId id="272" r:id="rId19"/>
    <p:sldId id="273" r:id="rId20"/>
    <p:sldId id="274" r:id="rId21"/>
    <p:sldId id="275" r:id="rId22"/>
    <p:sldId id="276" r:id="rId23"/>
    <p:sldId id="277" r:id="rId24"/>
    <p:sldId id="279" r:id="rId25"/>
    <p:sldId id="280" r:id="rId26"/>
    <p:sldId id="284" r:id="rId27"/>
    <p:sldId id="281" r:id="rId28"/>
    <p:sldId id="282" r:id="rId29"/>
    <p:sldId id="300" r:id="rId30"/>
    <p:sldId id="301" r:id="rId31"/>
    <p:sldId id="302" r:id="rId32"/>
    <p:sldId id="283" r:id="rId33"/>
    <p:sldId id="285" r:id="rId34"/>
    <p:sldId id="286" r:id="rId35"/>
    <p:sldId id="287" r:id="rId36"/>
    <p:sldId id="288" r:id="rId37"/>
    <p:sldId id="289" r:id="rId38"/>
    <p:sldId id="290" r:id="rId39"/>
    <p:sldId id="291" r:id="rId40"/>
    <p:sldId id="292" r:id="rId41"/>
    <p:sldId id="297" r:id="rId42"/>
    <p:sldId id="293" r:id="rId43"/>
    <p:sldId id="294" r:id="rId44"/>
    <p:sldId id="295" r:id="rId45"/>
    <p:sldId id="29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9" d="100"/>
          <a:sy n="109"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26.49463" units="1/cm"/>
          <inkml:channelProperty channel="Y" name="resolution" value="574.55725" units="1/cm"/>
          <inkml:channelProperty channel="T" name="resolution" value="1" units="1/dev"/>
        </inkml:channelProperties>
      </inkml:inkSource>
      <inkml:timestamp xml:id="ts0" timeString="2024-10-09T11:13:43.874"/>
    </inkml:context>
    <inkml:brush xml:id="br0">
      <inkml:brushProperty name="width" value="0.05292" units="cm"/>
      <inkml:brushProperty name="height" value="0.05292" units="cm"/>
      <inkml:brushProperty name="color" value="#FF0000"/>
    </inkml:brush>
  </inkml:definitions>
  <inkml:trace contextRef="#ctx0" brushRef="#br0">927 12236 0,'51'-17'0,"36"-9"0,13 4 0,15 7 0,19 7 16,14 10-1,16 6-15,15 13 16,19 18-16,32 27 0,23 31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CFD12C-7A93-44DE-805B-0B5B0A52F216}"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1343678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CFD12C-7A93-44DE-805B-0B5B0A52F216}"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122327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CFD12C-7A93-44DE-805B-0B5B0A52F216}"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242676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CFD12C-7A93-44DE-805B-0B5B0A52F216}"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336547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CFD12C-7A93-44DE-805B-0B5B0A52F216}" type="datetimeFigureOut">
              <a:rPr lang="en-US" smtClean="0"/>
              <a:t>10/7/2024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3023042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CFD12C-7A93-44DE-805B-0B5B0A52F216}" type="datetimeFigureOut">
              <a:rPr lang="en-US" smtClean="0"/>
              <a:t>10/7/2024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4008727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FD12C-7A93-44DE-805B-0B5B0A52F216}" type="datetimeFigureOut">
              <a:rPr lang="en-US" smtClean="0"/>
              <a:t>10/7/2024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426919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3CFD12C-7A93-44DE-805B-0B5B0A52F216}"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3321921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3CFD12C-7A93-44DE-805B-0B5B0A52F216}"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122590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CFD12C-7A93-44DE-805B-0B5B0A52F216}"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2273370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CFD12C-7A93-44DE-805B-0B5B0A52F216}"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180B0-4C02-4DB7-9D6F-D771B49C7107}" type="slidenum">
              <a:rPr lang="en-US" smtClean="0"/>
              <a:t>‹#›</a:t>
            </a:fld>
            <a:endParaRPr lang="en-US"/>
          </a:p>
        </p:txBody>
      </p:sp>
    </p:spTree>
    <p:extLst>
      <p:ext uri="{BB962C8B-B14F-4D97-AF65-F5344CB8AC3E}">
        <p14:creationId xmlns:p14="http://schemas.microsoft.com/office/powerpoint/2010/main" val="3637319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CFD12C-7A93-44DE-805B-0B5B0A52F216}" type="datetimeFigureOut">
              <a:rPr lang="en-US" smtClean="0"/>
              <a:t>10/7/2024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5180B0-4C02-4DB7-9D6F-D771B49C7107}" type="slidenum">
              <a:rPr lang="en-US" smtClean="0"/>
              <a:t>‹#›</a:t>
            </a:fld>
            <a:endParaRPr lang="en-US"/>
          </a:p>
        </p:txBody>
      </p:sp>
    </p:spTree>
    <p:extLst>
      <p:ext uri="{BB962C8B-B14F-4D97-AF65-F5344CB8AC3E}">
        <p14:creationId xmlns:p14="http://schemas.microsoft.com/office/powerpoint/2010/main" val="139331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customXml" Target="../ink/ink1.xml"/><Relationship Id="rId4" Type="http://schemas.openxmlformats.org/officeDocument/2006/relationships/image" Target="../media/image58.jpg"/></Relationships>
</file>

<file path=ppt/slides/_rels/slide36.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jp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08598" y="1909542"/>
            <a:ext cx="9986839" cy="2387600"/>
          </a:xfrm>
        </p:spPr>
        <p:txBody>
          <a:bodyPr>
            <a:normAutofit/>
          </a:bodyPr>
          <a:lstStyle/>
          <a:p>
            <a:r>
              <a:rPr lang="en-US" sz="7200" dirty="0"/>
              <a:t>802.11 Wireless Networks</a:t>
            </a:r>
          </a:p>
        </p:txBody>
      </p:sp>
      <p:sp>
        <p:nvSpPr>
          <p:cNvPr id="4" name="TextBox 3"/>
          <p:cNvSpPr txBox="1"/>
          <p:nvPr/>
        </p:nvSpPr>
        <p:spPr>
          <a:xfrm>
            <a:off x="1896386" y="4399059"/>
            <a:ext cx="8458200" cy="461665"/>
          </a:xfrm>
          <a:prstGeom prst="rect">
            <a:avLst/>
          </a:prstGeom>
          <a:noFill/>
        </p:spPr>
        <p:txBody>
          <a:bodyPr wrap="square" rtlCol="0">
            <a:spAutoFit/>
          </a:bodyPr>
          <a:lstStyle/>
          <a:p>
            <a:r>
              <a:rPr lang="en-US" sz="1200" dirty="0">
                <a:latin typeface="+mn-lt"/>
              </a:rPr>
              <a:t>This document is customized  and covers basic wireless  information and knowledge for group of users who are very new to  wireless technology.</a:t>
            </a:r>
          </a:p>
        </p:txBody>
      </p:sp>
    </p:spTree>
    <p:extLst>
      <p:ext uri="{BB962C8B-B14F-4D97-AF65-F5344CB8AC3E}">
        <p14:creationId xmlns:p14="http://schemas.microsoft.com/office/powerpoint/2010/main" val="536391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for Wireless Networks</a:t>
            </a:r>
          </a:p>
        </p:txBody>
      </p:sp>
      <p:sp>
        <p:nvSpPr>
          <p:cNvPr id="3" name="Content Placeholder 2"/>
          <p:cNvSpPr>
            <a:spLocks noGrp="1"/>
          </p:cNvSpPr>
          <p:nvPr>
            <p:ph idx="1"/>
          </p:nvPr>
        </p:nvSpPr>
        <p:spPr>
          <a:xfrm>
            <a:off x="838200" y="1536867"/>
            <a:ext cx="11036968" cy="4351338"/>
          </a:xfrm>
        </p:spPr>
        <p:txBody>
          <a:bodyPr>
            <a:noAutofit/>
          </a:bodyPr>
          <a:lstStyle/>
          <a:p>
            <a:r>
              <a:rPr lang="en-US" sz="2000" dirty="0"/>
              <a:t>Convenience:  laptops, mobile phones, smart devices, sensors  equipped with the Wi-Fi technology require to connect directly to a wireless LAN. </a:t>
            </a:r>
          </a:p>
          <a:p>
            <a:r>
              <a:rPr lang="en-US" sz="2000" dirty="0"/>
              <a:t>Mobility:  employees can stay connected to the network even when they're not at their desks; people in meetings can access documents and applications; salespeople can check the network for important details from any location; different smart devices provide different smart data or services; </a:t>
            </a:r>
          </a:p>
          <a:p>
            <a:r>
              <a:rPr lang="en-US" sz="2000" dirty="0"/>
              <a:t>Ease of setup:  When you don't have to run physical cables through a location, installation can be quick and cost-effective. Wireless LANs also make it easier to bring network connectivity to hard-to-reach locations, such as a warehouse or factory floor, place without cable infrastructure</a:t>
            </a:r>
          </a:p>
          <a:p>
            <a:r>
              <a:rPr lang="en-US" sz="2000" dirty="0"/>
              <a:t>Scalability:  As your business operations grow, you may need to quickly expand your network. Wireless networks can typically expand with existing equipment, while a wired network might require additional wiring.</a:t>
            </a:r>
          </a:p>
          <a:p>
            <a:r>
              <a:rPr lang="en-US" sz="2000" dirty="0"/>
              <a:t>Security: Controlling and managing access to your wireless network is important to its success. Advances in Wi-Fi technology provide robust security protections so your data is easily available to only the people you allow access.</a:t>
            </a:r>
          </a:p>
          <a:p>
            <a:r>
              <a:rPr lang="en-US" sz="2000" dirty="0"/>
              <a:t>Cost: It can cost less to operate a wireless LAN, which eliminates or reduces wiring costs during office moves, reconfigurations, or expansions.</a:t>
            </a:r>
          </a:p>
          <a:p>
            <a:endParaRPr lang="en-US" sz="2000" dirty="0"/>
          </a:p>
        </p:txBody>
      </p:sp>
    </p:spTree>
    <p:extLst>
      <p:ext uri="{BB962C8B-B14F-4D97-AF65-F5344CB8AC3E}">
        <p14:creationId xmlns:p14="http://schemas.microsoft.com/office/powerpoint/2010/main" val="190266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p:txBody>
          <a:bodyPr/>
          <a:lstStyle/>
          <a:p>
            <a:r>
              <a:rPr lang="en-US" dirty="0"/>
              <a:t>RF signals </a:t>
            </a:r>
            <a:endParaRPr lang="sk-SK" dirty="0"/>
          </a:p>
          <a:p>
            <a:pPr lvl="1"/>
            <a:r>
              <a:rPr lang="sk-SK" dirty="0"/>
              <a:t>EM</a:t>
            </a:r>
            <a:r>
              <a:rPr lang="en-US" dirty="0"/>
              <a:t> wave</a:t>
            </a:r>
            <a:r>
              <a:rPr lang="sk-SK" dirty="0"/>
              <a:t> propagation</a:t>
            </a:r>
          </a:p>
          <a:p>
            <a:pPr lvl="2"/>
            <a:r>
              <a:rPr lang="sk-SK" dirty="0"/>
              <a:t>Amplitude </a:t>
            </a:r>
            <a:r>
              <a:rPr lang="en-US" dirty="0"/>
              <a:t>(RF power, dB)</a:t>
            </a:r>
            <a:endParaRPr lang="sk-SK" dirty="0"/>
          </a:p>
          <a:p>
            <a:pPr lvl="2"/>
            <a:r>
              <a:rPr lang="sk-SK" dirty="0"/>
              <a:t>f</a:t>
            </a:r>
            <a:r>
              <a:rPr lang="en-US" dirty="0" err="1"/>
              <a:t>requency</a:t>
            </a:r>
            <a:endParaRPr lang="sk-SK" dirty="0"/>
          </a:p>
          <a:p>
            <a:pPr lvl="2"/>
            <a:r>
              <a:rPr lang="en-US" dirty="0" err="1"/>
              <a:t>waveleng</a:t>
            </a:r>
            <a:r>
              <a:rPr lang="sk-SK" dirty="0"/>
              <a:t>th</a:t>
            </a:r>
          </a:p>
          <a:p>
            <a:pPr lvl="2"/>
            <a:r>
              <a:rPr lang="sk-SK" dirty="0"/>
              <a:t>phase</a:t>
            </a:r>
          </a:p>
          <a:p>
            <a:pPr lvl="2"/>
            <a:endParaRPr lang="sk-SK" dirty="0"/>
          </a:p>
          <a:p>
            <a:pPr lvl="2"/>
            <a:r>
              <a:rPr lang="en-US" dirty="0"/>
              <a:t> reflection</a:t>
            </a:r>
            <a:endParaRPr lang="sk-SK" dirty="0"/>
          </a:p>
          <a:p>
            <a:pPr lvl="2"/>
            <a:r>
              <a:rPr lang="en-US" dirty="0"/>
              <a:t> refraction</a:t>
            </a:r>
            <a:endParaRPr lang="sk-SK" dirty="0"/>
          </a:p>
          <a:p>
            <a:pPr lvl="2"/>
            <a:r>
              <a:rPr lang="en-US" dirty="0"/>
              <a:t> scattering</a:t>
            </a:r>
            <a:endParaRPr lang="sk-SK" dirty="0"/>
          </a:p>
          <a:p>
            <a:pPr lvl="2"/>
            <a:r>
              <a:rPr lang="en-US" dirty="0"/>
              <a:t> multipath</a:t>
            </a:r>
          </a:p>
          <a:p>
            <a:pPr lvl="2"/>
            <a:r>
              <a:rPr lang="en-US" dirty="0" err="1"/>
              <a:t>absorbtion</a:t>
            </a:r>
            <a:endParaRPr lang="en-US" dirty="0"/>
          </a:p>
          <a:p>
            <a:endParaRPr lang="en-US" dirty="0"/>
          </a:p>
          <a:p>
            <a:endParaRPr lang="en-US" dirty="0"/>
          </a:p>
        </p:txBody>
      </p:sp>
      <p:pic>
        <p:nvPicPr>
          <p:cNvPr id="7" name="Picture 2" descr="D:\Hemant\RF Fundamental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1075" y="2062164"/>
            <a:ext cx="7296150" cy="3969849"/>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754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p:txBody>
          <a:bodyPr/>
          <a:lstStyle/>
          <a:p>
            <a:r>
              <a:rPr lang="en-US" dirty="0"/>
              <a:t>RF power vs. dB</a:t>
            </a:r>
          </a:p>
        </p:txBody>
      </p:sp>
      <p:pic>
        <p:nvPicPr>
          <p:cNvPr id="5" name="Picture 4"/>
          <p:cNvPicPr>
            <a:picLocks noChangeAspect="1"/>
          </p:cNvPicPr>
          <p:nvPr/>
        </p:nvPicPr>
        <p:blipFill>
          <a:blip r:embed="rId2"/>
          <a:stretch>
            <a:fillRect/>
          </a:stretch>
        </p:blipFill>
        <p:spPr>
          <a:xfrm>
            <a:off x="2038350" y="2724150"/>
            <a:ext cx="2790825" cy="1875800"/>
          </a:xfrm>
          <a:prstGeom prst="rect">
            <a:avLst/>
          </a:prstGeom>
        </p:spPr>
      </p:pic>
      <p:pic>
        <p:nvPicPr>
          <p:cNvPr id="6" name="Picture 5"/>
          <p:cNvPicPr>
            <a:picLocks noChangeAspect="1"/>
          </p:cNvPicPr>
          <p:nvPr/>
        </p:nvPicPr>
        <p:blipFill>
          <a:blip r:embed="rId3"/>
          <a:stretch>
            <a:fillRect/>
          </a:stretch>
        </p:blipFill>
        <p:spPr>
          <a:xfrm>
            <a:off x="5762625" y="2767013"/>
            <a:ext cx="1814799" cy="1807174"/>
          </a:xfrm>
          <a:prstGeom prst="rect">
            <a:avLst/>
          </a:prstGeom>
        </p:spPr>
      </p:pic>
      <p:pic>
        <p:nvPicPr>
          <p:cNvPr id="7" name="Picture 6"/>
          <p:cNvPicPr>
            <a:picLocks noChangeAspect="1"/>
          </p:cNvPicPr>
          <p:nvPr/>
        </p:nvPicPr>
        <p:blipFill>
          <a:blip r:embed="rId4"/>
          <a:stretch>
            <a:fillRect/>
          </a:stretch>
        </p:blipFill>
        <p:spPr>
          <a:xfrm>
            <a:off x="4505325" y="1642753"/>
            <a:ext cx="2378284" cy="946460"/>
          </a:xfrm>
          <a:prstGeom prst="rect">
            <a:avLst/>
          </a:prstGeom>
        </p:spPr>
      </p:pic>
      <p:pic>
        <p:nvPicPr>
          <p:cNvPr id="8" name="Picture 7"/>
          <p:cNvPicPr>
            <a:picLocks noChangeAspect="1"/>
          </p:cNvPicPr>
          <p:nvPr/>
        </p:nvPicPr>
        <p:blipFill>
          <a:blip r:embed="rId5"/>
          <a:stretch>
            <a:fillRect/>
          </a:stretch>
        </p:blipFill>
        <p:spPr>
          <a:xfrm>
            <a:off x="1585913" y="4697409"/>
            <a:ext cx="6796088" cy="1879604"/>
          </a:xfrm>
          <a:prstGeom prst="rect">
            <a:avLst/>
          </a:prstGeom>
        </p:spPr>
      </p:pic>
    </p:spTree>
    <p:extLst>
      <p:ext uri="{BB962C8B-B14F-4D97-AF65-F5344CB8AC3E}">
        <p14:creationId xmlns:p14="http://schemas.microsoft.com/office/powerpoint/2010/main" val="1701263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a:xfrm>
            <a:off x="838200" y="1687117"/>
            <a:ext cx="10515600" cy="4351338"/>
          </a:xfrm>
        </p:spPr>
        <p:txBody>
          <a:bodyPr/>
          <a:lstStyle/>
          <a:p>
            <a:r>
              <a:rPr lang="en-US" dirty="0"/>
              <a:t>Free Path Loss: </a:t>
            </a:r>
            <a:r>
              <a:rPr lang="en-US" sz="2000" dirty="0"/>
              <a:t>Even without obstacles, a radio wave gets weaker as it moves away from the emitting source because the energy of the wave spreads </a:t>
            </a:r>
          </a:p>
          <a:p>
            <a:r>
              <a:rPr lang="en-US" dirty="0"/>
              <a:t>RSSI: </a:t>
            </a:r>
            <a:r>
              <a:rPr lang="en-US" sz="2000" dirty="0"/>
              <a:t>Because the RF wave might have been affected by obstacles in its path, it is important to determine how much signal is received by the other endpoint. The value that indicates the amount of power received is called Received Signal Strength Indicator (RSSI).</a:t>
            </a:r>
          </a:p>
          <a:p>
            <a:pPr marL="0" indent="0">
              <a:buNone/>
            </a:pPr>
            <a:endParaRPr lang="en-US" dirty="0"/>
          </a:p>
        </p:txBody>
      </p:sp>
      <p:pic>
        <p:nvPicPr>
          <p:cNvPr id="4" name="Picture 3"/>
          <p:cNvPicPr>
            <a:picLocks noChangeAspect="1"/>
          </p:cNvPicPr>
          <p:nvPr/>
        </p:nvPicPr>
        <p:blipFill>
          <a:blip r:embed="rId2"/>
          <a:stretch>
            <a:fillRect/>
          </a:stretch>
        </p:blipFill>
        <p:spPr>
          <a:xfrm>
            <a:off x="1985962" y="3572669"/>
            <a:ext cx="7991475" cy="2152650"/>
          </a:xfrm>
          <a:prstGeom prst="rect">
            <a:avLst/>
          </a:prstGeom>
        </p:spPr>
      </p:pic>
      <p:pic>
        <p:nvPicPr>
          <p:cNvPr id="5" name="Picture 4"/>
          <p:cNvPicPr>
            <a:picLocks noChangeAspect="1"/>
          </p:cNvPicPr>
          <p:nvPr/>
        </p:nvPicPr>
        <p:blipFill>
          <a:blip r:embed="rId3"/>
          <a:stretch>
            <a:fillRect/>
          </a:stretch>
        </p:blipFill>
        <p:spPr>
          <a:xfrm>
            <a:off x="3781425" y="5983685"/>
            <a:ext cx="3943350" cy="704850"/>
          </a:xfrm>
          <a:prstGeom prst="rect">
            <a:avLst/>
          </a:prstGeom>
        </p:spPr>
      </p:pic>
    </p:spTree>
    <p:extLst>
      <p:ext uri="{BB962C8B-B14F-4D97-AF65-F5344CB8AC3E}">
        <p14:creationId xmlns:p14="http://schemas.microsoft.com/office/powerpoint/2010/main" val="2486173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p:txBody>
          <a:bodyPr/>
          <a:lstStyle/>
          <a:p>
            <a:r>
              <a:rPr lang="en-US" dirty="0"/>
              <a:t>EIRP - effective isotropic radiated power</a:t>
            </a:r>
          </a:p>
          <a:p>
            <a:pPr lvl="1"/>
            <a:r>
              <a:rPr lang="en-US" dirty="0"/>
              <a:t>actual power level radiated from the antenna</a:t>
            </a:r>
          </a:p>
          <a:p>
            <a:pPr lvl="1"/>
            <a:r>
              <a:rPr lang="en-US" dirty="0"/>
              <a:t>Important parameter regulated by the governmental agencies (FCC, ETSI)</a:t>
            </a:r>
          </a:p>
          <a:p>
            <a:pPr lvl="1"/>
            <a:endParaRPr lang="en-US" dirty="0"/>
          </a:p>
        </p:txBody>
      </p:sp>
      <p:pic>
        <p:nvPicPr>
          <p:cNvPr id="4" name="Picture 3"/>
          <p:cNvPicPr>
            <a:picLocks noChangeAspect="1"/>
          </p:cNvPicPr>
          <p:nvPr/>
        </p:nvPicPr>
        <p:blipFill>
          <a:blip r:embed="rId2"/>
          <a:stretch>
            <a:fillRect/>
          </a:stretch>
        </p:blipFill>
        <p:spPr>
          <a:xfrm>
            <a:off x="1081087" y="3490913"/>
            <a:ext cx="5248275" cy="2686050"/>
          </a:xfrm>
          <a:prstGeom prst="rect">
            <a:avLst/>
          </a:prstGeom>
        </p:spPr>
      </p:pic>
      <p:sp>
        <p:nvSpPr>
          <p:cNvPr id="5" name="Content Placeholder 2"/>
          <p:cNvSpPr txBox="1">
            <a:spLocks/>
          </p:cNvSpPr>
          <p:nvPr/>
        </p:nvSpPr>
        <p:spPr>
          <a:xfrm>
            <a:off x="6734175" y="4095750"/>
            <a:ext cx="4772024" cy="22336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sz="2000" dirty="0"/>
          </a:p>
          <a:p>
            <a:pPr marL="457200" lvl="1" indent="0">
              <a:buNone/>
            </a:pPr>
            <a:r>
              <a:rPr lang="en-US" sz="2000" dirty="0" err="1"/>
              <a:t>Tx</a:t>
            </a:r>
            <a:r>
              <a:rPr lang="en-US" sz="2000" dirty="0"/>
              <a:t> Power = 10dBm (10mW)</a:t>
            </a:r>
          </a:p>
          <a:p>
            <a:pPr marL="457200" lvl="1" indent="0">
              <a:buNone/>
            </a:pPr>
            <a:r>
              <a:rPr lang="en-US" sz="2000" dirty="0"/>
              <a:t>Cable loss = 5dB</a:t>
            </a:r>
          </a:p>
          <a:p>
            <a:pPr marL="457200" lvl="1" indent="0">
              <a:buNone/>
            </a:pPr>
            <a:r>
              <a:rPr lang="en-US" sz="2000" dirty="0"/>
              <a:t>Antenna gain = 8dBi</a:t>
            </a:r>
          </a:p>
          <a:p>
            <a:pPr marL="457200" lvl="1" indent="0">
              <a:buNone/>
            </a:pPr>
            <a:endParaRPr lang="en-US" sz="2000" dirty="0"/>
          </a:p>
          <a:p>
            <a:pPr marL="457200" lvl="1" indent="0">
              <a:buNone/>
            </a:pPr>
            <a:r>
              <a:rPr lang="en-US" sz="2000" dirty="0"/>
              <a:t>EIRP = 10dBm – 5dB + 8dBi = 13dBm</a:t>
            </a:r>
          </a:p>
        </p:txBody>
      </p:sp>
    </p:spTree>
    <p:extLst>
      <p:ext uri="{BB962C8B-B14F-4D97-AF65-F5344CB8AC3E}">
        <p14:creationId xmlns:p14="http://schemas.microsoft.com/office/powerpoint/2010/main" val="2262376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a:xfrm>
            <a:off x="838200" y="1500980"/>
            <a:ext cx="10515600" cy="4351338"/>
          </a:xfrm>
        </p:spPr>
        <p:txBody>
          <a:bodyPr/>
          <a:lstStyle/>
          <a:p>
            <a:r>
              <a:rPr lang="en-US" dirty="0"/>
              <a:t>Link budget – complete signal path from the transmitter to receiver with its gains and losses</a:t>
            </a:r>
          </a:p>
        </p:txBody>
      </p:sp>
      <p:pic>
        <p:nvPicPr>
          <p:cNvPr id="4" name="Picture 3"/>
          <p:cNvPicPr>
            <a:picLocks noChangeAspect="1"/>
          </p:cNvPicPr>
          <p:nvPr/>
        </p:nvPicPr>
        <p:blipFill>
          <a:blip r:embed="rId2"/>
          <a:stretch>
            <a:fillRect/>
          </a:stretch>
        </p:blipFill>
        <p:spPr>
          <a:xfrm>
            <a:off x="3414712" y="2245519"/>
            <a:ext cx="7305675" cy="2009775"/>
          </a:xfrm>
          <a:prstGeom prst="rect">
            <a:avLst/>
          </a:prstGeom>
        </p:spPr>
      </p:pic>
      <p:pic>
        <p:nvPicPr>
          <p:cNvPr id="5" name="Picture 4"/>
          <p:cNvPicPr>
            <a:picLocks noChangeAspect="1"/>
          </p:cNvPicPr>
          <p:nvPr/>
        </p:nvPicPr>
        <p:blipFill>
          <a:blip r:embed="rId3"/>
          <a:stretch>
            <a:fillRect/>
          </a:stretch>
        </p:blipFill>
        <p:spPr>
          <a:xfrm>
            <a:off x="3690937" y="4602955"/>
            <a:ext cx="7029450" cy="2047875"/>
          </a:xfrm>
          <a:prstGeom prst="rect">
            <a:avLst/>
          </a:prstGeom>
        </p:spPr>
      </p:pic>
    </p:spTree>
    <p:extLst>
      <p:ext uri="{BB962C8B-B14F-4D97-AF65-F5344CB8AC3E}">
        <p14:creationId xmlns:p14="http://schemas.microsoft.com/office/powerpoint/2010/main" val="2228531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a:xfrm>
            <a:off x="838200" y="1662906"/>
            <a:ext cx="10515600" cy="4351338"/>
          </a:xfrm>
        </p:spPr>
        <p:txBody>
          <a:bodyPr/>
          <a:lstStyle/>
          <a:p>
            <a:r>
              <a:rPr lang="en-US" dirty="0"/>
              <a:t>Understanding Power Levels at the Receiver</a:t>
            </a:r>
          </a:p>
          <a:p>
            <a:pPr lvl="1"/>
            <a:r>
              <a:rPr lang="en-US" dirty="0"/>
              <a:t>EIRP ranges normally from 100mW (20dBm) to 1mW (0dBm)</a:t>
            </a:r>
          </a:p>
          <a:p>
            <a:pPr lvl="1"/>
            <a:r>
              <a:rPr lang="en-US" dirty="0"/>
              <a:t>RSSI ranges usually from 1mW (0dBm) down to 0mW (less than -100dBm)</a:t>
            </a:r>
          </a:p>
          <a:p>
            <a:pPr lvl="1"/>
            <a:r>
              <a:rPr lang="en-US" dirty="0"/>
              <a:t>Every receiver has a sensitivity level or threshold that divides intelligible, useful signals from unintelligible</a:t>
            </a:r>
          </a:p>
        </p:txBody>
      </p:sp>
      <p:pic>
        <p:nvPicPr>
          <p:cNvPr id="4" name="Picture 3"/>
          <p:cNvPicPr>
            <a:picLocks noChangeAspect="1"/>
          </p:cNvPicPr>
          <p:nvPr/>
        </p:nvPicPr>
        <p:blipFill>
          <a:blip r:embed="rId2"/>
          <a:stretch>
            <a:fillRect/>
          </a:stretch>
        </p:blipFill>
        <p:spPr>
          <a:xfrm>
            <a:off x="838200" y="3798939"/>
            <a:ext cx="6686550" cy="2628900"/>
          </a:xfrm>
          <a:prstGeom prst="rect">
            <a:avLst/>
          </a:prstGeom>
        </p:spPr>
      </p:pic>
      <p:pic>
        <p:nvPicPr>
          <p:cNvPr id="6" name="Picture 5">
            <a:extLst>
              <a:ext uri="{FF2B5EF4-FFF2-40B4-BE49-F238E27FC236}">
                <a16:creationId xmlns:a16="http://schemas.microsoft.com/office/drawing/2014/main" id="{FF0D0F92-87A8-4B9B-AF83-98B9E85ECF5D}"/>
              </a:ext>
            </a:extLst>
          </p:cNvPr>
          <p:cNvPicPr>
            <a:picLocks noChangeAspect="1"/>
          </p:cNvPicPr>
          <p:nvPr/>
        </p:nvPicPr>
        <p:blipFill>
          <a:blip r:embed="rId3"/>
          <a:stretch>
            <a:fillRect/>
          </a:stretch>
        </p:blipFill>
        <p:spPr>
          <a:xfrm>
            <a:off x="8117633" y="3685591"/>
            <a:ext cx="3850530" cy="2742247"/>
          </a:xfrm>
          <a:prstGeom prst="rect">
            <a:avLst/>
          </a:prstGeom>
        </p:spPr>
      </p:pic>
    </p:spTree>
    <p:extLst>
      <p:ext uri="{BB962C8B-B14F-4D97-AF65-F5344CB8AC3E}">
        <p14:creationId xmlns:p14="http://schemas.microsoft.com/office/powerpoint/2010/main" val="2897749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Fundamentals</a:t>
            </a:r>
          </a:p>
        </p:txBody>
      </p:sp>
      <p:sp>
        <p:nvSpPr>
          <p:cNvPr id="3" name="Content Placeholder 2"/>
          <p:cNvSpPr>
            <a:spLocks noGrp="1"/>
          </p:cNvSpPr>
          <p:nvPr>
            <p:ph idx="1"/>
          </p:nvPr>
        </p:nvSpPr>
        <p:spPr/>
        <p:txBody>
          <a:bodyPr/>
          <a:lstStyle/>
          <a:p>
            <a:r>
              <a:rPr lang="en-US" dirty="0"/>
              <a:t>SNR – signal to noise ratio</a:t>
            </a:r>
          </a:p>
          <a:p>
            <a:pPr lvl="1"/>
            <a:r>
              <a:rPr lang="en-US" dirty="0"/>
              <a:t>Higher SNR level is </a:t>
            </a:r>
            <a:r>
              <a:rPr lang="en-US" dirty="0" err="1"/>
              <a:t>prefferred</a:t>
            </a:r>
            <a:endParaRPr lang="en-US" dirty="0"/>
          </a:p>
        </p:txBody>
      </p:sp>
      <p:pic>
        <p:nvPicPr>
          <p:cNvPr id="4" name="Picture 3"/>
          <p:cNvPicPr>
            <a:picLocks noChangeAspect="1"/>
          </p:cNvPicPr>
          <p:nvPr/>
        </p:nvPicPr>
        <p:blipFill>
          <a:blip r:embed="rId2"/>
          <a:stretch>
            <a:fillRect/>
          </a:stretch>
        </p:blipFill>
        <p:spPr>
          <a:xfrm>
            <a:off x="5482157" y="1398530"/>
            <a:ext cx="6471545" cy="2796662"/>
          </a:xfrm>
          <a:prstGeom prst="rect">
            <a:avLst/>
          </a:prstGeom>
        </p:spPr>
      </p:pic>
      <p:pic>
        <p:nvPicPr>
          <p:cNvPr id="5" name="Picture 4"/>
          <p:cNvPicPr>
            <a:picLocks noChangeAspect="1"/>
          </p:cNvPicPr>
          <p:nvPr/>
        </p:nvPicPr>
        <p:blipFill>
          <a:blip r:embed="rId3"/>
          <a:stretch>
            <a:fillRect/>
          </a:stretch>
        </p:blipFill>
        <p:spPr>
          <a:xfrm>
            <a:off x="838200" y="3002192"/>
            <a:ext cx="5436437" cy="3465331"/>
          </a:xfrm>
          <a:prstGeom prst="rect">
            <a:avLst/>
          </a:prstGeom>
        </p:spPr>
      </p:pic>
    </p:spTree>
    <p:extLst>
      <p:ext uri="{BB962C8B-B14F-4D97-AF65-F5344CB8AC3E}">
        <p14:creationId xmlns:p14="http://schemas.microsoft.com/office/powerpoint/2010/main" val="1661136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Regulatory Bodies</a:t>
            </a:r>
          </a:p>
        </p:txBody>
      </p:sp>
      <p:sp>
        <p:nvSpPr>
          <p:cNvPr id="3" name="Content Placeholder 2"/>
          <p:cNvSpPr>
            <a:spLocks noGrp="1"/>
          </p:cNvSpPr>
          <p:nvPr>
            <p:ph idx="1"/>
          </p:nvPr>
        </p:nvSpPr>
        <p:spPr/>
        <p:txBody>
          <a:bodyPr>
            <a:normAutofit fontScale="85000" lnSpcReduction="20000"/>
          </a:bodyPr>
          <a:lstStyle/>
          <a:p>
            <a:r>
              <a:rPr lang="en-US" dirty="0"/>
              <a:t>ITU-R – International Telecommunication Union Regulatory</a:t>
            </a:r>
          </a:p>
          <a:p>
            <a:pPr lvl="1"/>
            <a:r>
              <a:rPr lang="en-US" dirty="0"/>
              <a:t>provide a hierarchy to manage RF spectrum globally</a:t>
            </a:r>
          </a:p>
          <a:p>
            <a:r>
              <a:rPr lang="en-US" dirty="0"/>
              <a:t>FCC – Federal communications commission</a:t>
            </a:r>
          </a:p>
          <a:p>
            <a:pPr lvl="1"/>
            <a:r>
              <a:rPr lang="en-US" dirty="0"/>
              <a:t>restricts the power and the frequency used in the region</a:t>
            </a:r>
          </a:p>
          <a:p>
            <a:r>
              <a:rPr lang="en-US" dirty="0"/>
              <a:t>ETSI – European Telecommunication Standards Institute</a:t>
            </a:r>
          </a:p>
          <a:p>
            <a:pPr lvl="1"/>
            <a:r>
              <a:rPr lang="en-US" dirty="0"/>
              <a:t>controls frequency and power in Europe and other countries like Israel and some other countries</a:t>
            </a:r>
          </a:p>
          <a:p>
            <a:r>
              <a:rPr lang="en-US" dirty="0"/>
              <a:t>IEEE – Institute of Electrical and Electronics Engineers</a:t>
            </a:r>
          </a:p>
          <a:p>
            <a:pPr lvl="1"/>
            <a:r>
              <a:rPr lang="en-US" dirty="0"/>
              <a:t>creates  and maintains technical standards and protocols used</a:t>
            </a:r>
          </a:p>
          <a:p>
            <a:pPr lvl="1"/>
            <a:r>
              <a:rPr lang="en-US" dirty="0"/>
              <a:t>802 standards deals with LAN/MAN</a:t>
            </a:r>
          </a:p>
          <a:p>
            <a:pPr lvl="1"/>
            <a:r>
              <a:rPr lang="en-US" dirty="0"/>
              <a:t>802.11 standard deals with WLAN</a:t>
            </a:r>
          </a:p>
          <a:p>
            <a:r>
              <a:rPr lang="en-US" dirty="0"/>
              <a:t>Wi-Fi </a:t>
            </a:r>
            <a:r>
              <a:rPr lang="en-US" dirty="0" err="1"/>
              <a:t>Aliance</a:t>
            </a:r>
            <a:endParaRPr lang="en-US" dirty="0"/>
          </a:p>
          <a:p>
            <a:pPr lvl="1"/>
            <a:r>
              <a:rPr lang="en-US" dirty="0"/>
              <a:t>ensures that wireless products available to consumers are tested and provide the features that are compatible and interoperable to other Wi-Fi certified products</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6311" y="1690688"/>
            <a:ext cx="1776090" cy="1491915"/>
          </a:xfrm>
          <a:prstGeom prst="rect">
            <a:avLst/>
          </a:prstGeom>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8307" t="11936" r="11016" b="7735"/>
          <a:stretch/>
        </p:blipFill>
        <p:spPr>
          <a:xfrm>
            <a:off x="9548100" y="3946358"/>
            <a:ext cx="2276535" cy="1484697"/>
          </a:xfrm>
          <a:prstGeom prst="rect">
            <a:avLst/>
          </a:prstGeom>
        </p:spPr>
      </p:pic>
    </p:spTree>
    <p:extLst>
      <p:ext uri="{BB962C8B-B14F-4D97-AF65-F5344CB8AC3E}">
        <p14:creationId xmlns:p14="http://schemas.microsoft.com/office/powerpoint/2010/main" val="467189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Regulatory Bodies</a:t>
            </a:r>
          </a:p>
        </p:txBody>
      </p:sp>
      <p:sp>
        <p:nvSpPr>
          <p:cNvPr id="3" name="Content Placeholder 2"/>
          <p:cNvSpPr>
            <a:spLocks noGrp="1"/>
          </p:cNvSpPr>
          <p:nvPr>
            <p:ph idx="1"/>
          </p:nvPr>
        </p:nvSpPr>
        <p:spPr>
          <a:xfrm>
            <a:off x="838200" y="2033337"/>
            <a:ext cx="10515600" cy="3818774"/>
          </a:xfrm>
        </p:spPr>
        <p:txBody>
          <a:bodyPr>
            <a:normAutofit/>
          </a:bodyPr>
          <a:lstStyle/>
          <a:p>
            <a:r>
              <a:rPr lang="en-US" dirty="0"/>
              <a:t>FCC</a:t>
            </a:r>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919162" y="2449972"/>
            <a:ext cx="10353675" cy="2428875"/>
          </a:xfrm>
          <a:prstGeom prst="rect">
            <a:avLst/>
          </a:prstGeom>
        </p:spPr>
      </p:pic>
    </p:spTree>
    <p:extLst>
      <p:ext uri="{BB962C8B-B14F-4D97-AF65-F5344CB8AC3E}">
        <p14:creationId xmlns:p14="http://schemas.microsoft.com/office/powerpoint/2010/main" val="1600148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Regulatory Bodies</a:t>
            </a:r>
          </a:p>
        </p:txBody>
      </p:sp>
      <p:sp>
        <p:nvSpPr>
          <p:cNvPr id="3" name="Content Placeholder 2"/>
          <p:cNvSpPr>
            <a:spLocks noGrp="1"/>
          </p:cNvSpPr>
          <p:nvPr>
            <p:ph idx="1"/>
          </p:nvPr>
        </p:nvSpPr>
        <p:spPr/>
        <p:txBody>
          <a:bodyPr/>
          <a:lstStyle/>
          <a:p>
            <a:r>
              <a:rPr lang="en-US" dirty="0"/>
              <a:t>ETSI</a:t>
            </a:r>
          </a:p>
        </p:txBody>
      </p:sp>
      <p:pic>
        <p:nvPicPr>
          <p:cNvPr id="4" name="Picture 3"/>
          <p:cNvPicPr>
            <a:picLocks noChangeAspect="1"/>
          </p:cNvPicPr>
          <p:nvPr/>
        </p:nvPicPr>
        <p:blipFill>
          <a:blip r:embed="rId2"/>
          <a:stretch>
            <a:fillRect/>
          </a:stretch>
        </p:blipFill>
        <p:spPr>
          <a:xfrm>
            <a:off x="942975" y="2306303"/>
            <a:ext cx="10410825" cy="2943225"/>
          </a:xfrm>
          <a:prstGeom prst="rect">
            <a:avLst/>
          </a:prstGeom>
        </p:spPr>
      </p:pic>
    </p:spTree>
    <p:extLst>
      <p:ext uri="{BB962C8B-B14F-4D97-AF65-F5344CB8AC3E}">
        <p14:creationId xmlns:p14="http://schemas.microsoft.com/office/powerpoint/2010/main" val="2740982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Types (Standards)</a:t>
            </a:r>
          </a:p>
        </p:txBody>
      </p:sp>
      <p:pic>
        <p:nvPicPr>
          <p:cNvPr id="5" name="Picture 4"/>
          <p:cNvPicPr>
            <a:picLocks noChangeAspect="1"/>
          </p:cNvPicPr>
          <p:nvPr/>
        </p:nvPicPr>
        <p:blipFill>
          <a:blip r:embed="rId2"/>
          <a:stretch>
            <a:fillRect/>
          </a:stretch>
        </p:blipFill>
        <p:spPr>
          <a:xfrm>
            <a:off x="761604" y="1481356"/>
            <a:ext cx="7952234" cy="3034405"/>
          </a:xfrm>
          <a:prstGeom prst="rect">
            <a:avLst/>
          </a:prstGeom>
        </p:spPr>
      </p:pic>
      <p:pic>
        <p:nvPicPr>
          <p:cNvPr id="3" name="Picture 2"/>
          <p:cNvPicPr>
            <a:picLocks noChangeAspect="1"/>
          </p:cNvPicPr>
          <p:nvPr/>
        </p:nvPicPr>
        <p:blipFill>
          <a:blip r:embed="rId3"/>
          <a:stretch>
            <a:fillRect/>
          </a:stretch>
        </p:blipFill>
        <p:spPr>
          <a:xfrm>
            <a:off x="761604" y="4728754"/>
            <a:ext cx="7955676" cy="1374024"/>
          </a:xfrm>
          <a:prstGeom prst="rect">
            <a:avLst/>
          </a:prstGeom>
        </p:spPr>
      </p:pic>
    </p:spTree>
    <p:extLst>
      <p:ext uri="{BB962C8B-B14F-4D97-AF65-F5344CB8AC3E}">
        <p14:creationId xmlns:p14="http://schemas.microsoft.com/office/powerpoint/2010/main" val="1350911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Types (Standards)</a:t>
            </a:r>
          </a:p>
        </p:txBody>
      </p:sp>
      <p:pic>
        <p:nvPicPr>
          <p:cNvPr id="4" name="Picture 3"/>
          <p:cNvPicPr>
            <a:picLocks noChangeAspect="1"/>
          </p:cNvPicPr>
          <p:nvPr/>
        </p:nvPicPr>
        <p:blipFill>
          <a:blip r:embed="rId2"/>
          <a:stretch>
            <a:fillRect/>
          </a:stretch>
        </p:blipFill>
        <p:spPr>
          <a:xfrm>
            <a:off x="773111" y="2064023"/>
            <a:ext cx="7640439" cy="3101918"/>
          </a:xfrm>
          <a:prstGeom prst="rect">
            <a:avLst/>
          </a:prstGeom>
        </p:spPr>
      </p:pic>
    </p:spTree>
    <p:extLst>
      <p:ext uri="{BB962C8B-B14F-4D97-AF65-F5344CB8AC3E}">
        <p14:creationId xmlns:p14="http://schemas.microsoft.com/office/powerpoint/2010/main" val="2758916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Antenna Characteristics</a:t>
            </a:r>
          </a:p>
        </p:txBody>
      </p:sp>
      <p:sp>
        <p:nvSpPr>
          <p:cNvPr id="3" name="Content Placeholder 2"/>
          <p:cNvSpPr>
            <a:spLocks noGrp="1"/>
          </p:cNvSpPr>
          <p:nvPr>
            <p:ph idx="1"/>
          </p:nvPr>
        </p:nvSpPr>
        <p:spPr/>
        <p:txBody>
          <a:bodyPr/>
          <a:lstStyle/>
          <a:p>
            <a:r>
              <a:rPr lang="en-US" dirty="0"/>
              <a:t>Radiation pattern</a:t>
            </a:r>
          </a:p>
          <a:p>
            <a:r>
              <a:rPr lang="en-US" dirty="0"/>
              <a:t>Gain</a:t>
            </a:r>
          </a:p>
          <a:p>
            <a:r>
              <a:rPr lang="en-US" dirty="0" err="1"/>
              <a:t>Beamwidth</a:t>
            </a:r>
            <a:endParaRPr lang="en-US" dirty="0"/>
          </a:p>
          <a:p>
            <a:r>
              <a:rPr lang="en-US" dirty="0"/>
              <a:t>Polarization</a:t>
            </a:r>
          </a:p>
          <a:p>
            <a:r>
              <a:rPr lang="en-US" dirty="0"/>
              <a:t>Antenna types</a:t>
            </a:r>
          </a:p>
        </p:txBody>
      </p:sp>
      <p:pic>
        <p:nvPicPr>
          <p:cNvPr id="6" name="Picture 5"/>
          <p:cNvPicPr>
            <a:picLocks noChangeAspect="1"/>
          </p:cNvPicPr>
          <p:nvPr/>
        </p:nvPicPr>
        <p:blipFill>
          <a:blip r:embed="rId2"/>
          <a:stretch>
            <a:fillRect/>
          </a:stretch>
        </p:blipFill>
        <p:spPr>
          <a:xfrm>
            <a:off x="5078593" y="1298803"/>
            <a:ext cx="5705475" cy="2495550"/>
          </a:xfrm>
          <a:prstGeom prst="rect">
            <a:avLst/>
          </a:prstGeom>
        </p:spPr>
      </p:pic>
      <p:pic>
        <p:nvPicPr>
          <p:cNvPr id="7" name="Picture 6"/>
          <p:cNvPicPr>
            <a:picLocks noChangeAspect="1"/>
          </p:cNvPicPr>
          <p:nvPr/>
        </p:nvPicPr>
        <p:blipFill>
          <a:blip r:embed="rId3"/>
          <a:stretch>
            <a:fillRect/>
          </a:stretch>
        </p:blipFill>
        <p:spPr>
          <a:xfrm>
            <a:off x="5384276" y="3794353"/>
            <a:ext cx="5094107" cy="2927921"/>
          </a:xfrm>
          <a:prstGeom prst="rect">
            <a:avLst/>
          </a:prstGeom>
        </p:spPr>
      </p:pic>
      <p:pic>
        <p:nvPicPr>
          <p:cNvPr id="8" name="Picture 7"/>
          <p:cNvPicPr>
            <a:picLocks noChangeAspect="1"/>
          </p:cNvPicPr>
          <p:nvPr/>
        </p:nvPicPr>
        <p:blipFill>
          <a:blip r:embed="rId4"/>
          <a:stretch>
            <a:fillRect/>
          </a:stretch>
        </p:blipFill>
        <p:spPr>
          <a:xfrm>
            <a:off x="1204877" y="4386891"/>
            <a:ext cx="3523877" cy="2245608"/>
          </a:xfrm>
          <a:prstGeom prst="rect">
            <a:avLst/>
          </a:prstGeom>
        </p:spPr>
      </p:pic>
    </p:spTree>
    <p:extLst>
      <p:ext uri="{BB962C8B-B14F-4D97-AF65-F5344CB8AC3E}">
        <p14:creationId xmlns:p14="http://schemas.microsoft.com/office/powerpoint/2010/main" val="3723669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Antenna Types</a:t>
            </a:r>
          </a:p>
        </p:txBody>
      </p:sp>
      <p:sp>
        <p:nvSpPr>
          <p:cNvPr id="3" name="Content Placeholder 2"/>
          <p:cNvSpPr>
            <a:spLocks noGrp="1"/>
          </p:cNvSpPr>
          <p:nvPr>
            <p:ph idx="1"/>
          </p:nvPr>
        </p:nvSpPr>
        <p:spPr/>
        <p:txBody>
          <a:bodyPr/>
          <a:lstStyle/>
          <a:p>
            <a:r>
              <a:rPr lang="en-US" dirty="0"/>
              <a:t>Omnidirectional (usually built-in dipole antennas)</a:t>
            </a:r>
          </a:p>
          <a:p>
            <a:endParaRPr lang="en-US" dirty="0"/>
          </a:p>
          <a:p>
            <a:pPr marL="914400" lvl="2" indent="0">
              <a:buNone/>
            </a:pPr>
            <a:r>
              <a:rPr lang="en-US" dirty="0"/>
              <a:t>ideal							cisco AP built-in</a:t>
            </a:r>
          </a:p>
        </p:txBody>
      </p:sp>
      <p:pic>
        <p:nvPicPr>
          <p:cNvPr id="4" name="Picture 3"/>
          <p:cNvPicPr>
            <a:picLocks noChangeAspect="1"/>
          </p:cNvPicPr>
          <p:nvPr/>
        </p:nvPicPr>
        <p:blipFill>
          <a:blip r:embed="rId2"/>
          <a:stretch>
            <a:fillRect/>
          </a:stretch>
        </p:blipFill>
        <p:spPr>
          <a:xfrm>
            <a:off x="838200" y="3251054"/>
            <a:ext cx="4211719" cy="2094029"/>
          </a:xfrm>
          <a:prstGeom prst="rect">
            <a:avLst/>
          </a:prstGeom>
        </p:spPr>
      </p:pic>
      <p:pic>
        <p:nvPicPr>
          <p:cNvPr id="5" name="Picture 4"/>
          <p:cNvPicPr>
            <a:picLocks noChangeAspect="1"/>
          </p:cNvPicPr>
          <p:nvPr/>
        </p:nvPicPr>
        <p:blipFill>
          <a:blip r:embed="rId3"/>
          <a:stretch>
            <a:fillRect/>
          </a:stretch>
        </p:blipFill>
        <p:spPr>
          <a:xfrm>
            <a:off x="6849512" y="3251054"/>
            <a:ext cx="4299443" cy="2136849"/>
          </a:xfrm>
          <a:prstGeom prst="rect">
            <a:avLst/>
          </a:prstGeom>
        </p:spPr>
      </p:pic>
    </p:spTree>
    <p:extLst>
      <p:ext uri="{BB962C8B-B14F-4D97-AF65-F5344CB8AC3E}">
        <p14:creationId xmlns:p14="http://schemas.microsoft.com/office/powerpoint/2010/main" val="2365009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Antenna Types</a:t>
            </a:r>
          </a:p>
        </p:txBody>
      </p:sp>
      <p:sp>
        <p:nvSpPr>
          <p:cNvPr id="3" name="Content Placeholder 2"/>
          <p:cNvSpPr>
            <a:spLocks noGrp="1"/>
          </p:cNvSpPr>
          <p:nvPr>
            <p:ph idx="1"/>
          </p:nvPr>
        </p:nvSpPr>
        <p:spPr/>
        <p:txBody>
          <a:bodyPr/>
          <a:lstStyle/>
          <a:p>
            <a:r>
              <a:rPr lang="en-US" dirty="0"/>
              <a:t>Directional </a:t>
            </a:r>
          </a:p>
          <a:p>
            <a:pPr lvl="1"/>
            <a:r>
              <a:rPr lang="en-US" dirty="0"/>
              <a:t>Patch</a:t>
            </a:r>
          </a:p>
          <a:p>
            <a:pPr lvl="1"/>
            <a:endParaRPr lang="en-US" dirty="0"/>
          </a:p>
          <a:p>
            <a:pPr lvl="1"/>
            <a:endParaRPr lang="en-US" dirty="0"/>
          </a:p>
          <a:p>
            <a:pPr lvl="1"/>
            <a:endParaRPr lang="en-US" dirty="0"/>
          </a:p>
          <a:p>
            <a:pPr lvl="1"/>
            <a:r>
              <a:rPr lang="en-US" dirty="0"/>
              <a:t>Yagi</a:t>
            </a:r>
          </a:p>
          <a:p>
            <a:pPr lvl="1"/>
            <a:endParaRPr lang="en-US" dirty="0"/>
          </a:p>
          <a:p>
            <a:pPr lvl="1"/>
            <a:endParaRPr lang="en-US" dirty="0"/>
          </a:p>
          <a:p>
            <a:pPr marL="457200" lvl="1" indent="0">
              <a:buNone/>
            </a:pPr>
            <a:endParaRPr lang="en-US" dirty="0"/>
          </a:p>
          <a:p>
            <a:pPr lvl="1"/>
            <a:r>
              <a:rPr lang="en-US" dirty="0"/>
              <a:t>Dish</a:t>
            </a:r>
          </a:p>
          <a:p>
            <a:pPr marL="457200" lvl="1" indent="0">
              <a:buNone/>
            </a:pPr>
            <a:endParaRPr lang="en-US" dirty="0"/>
          </a:p>
        </p:txBody>
      </p:sp>
      <p:pic>
        <p:nvPicPr>
          <p:cNvPr id="4" name="Picture 3"/>
          <p:cNvPicPr>
            <a:picLocks noChangeAspect="1"/>
          </p:cNvPicPr>
          <p:nvPr/>
        </p:nvPicPr>
        <p:blipFill>
          <a:blip r:embed="rId2"/>
          <a:stretch>
            <a:fillRect/>
          </a:stretch>
        </p:blipFill>
        <p:spPr>
          <a:xfrm>
            <a:off x="4599709" y="1585727"/>
            <a:ext cx="2800610" cy="1746483"/>
          </a:xfrm>
          <a:prstGeom prst="rect">
            <a:avLst/>
          </a:prstGeom>
        </p:spPr>
      </p:pic>
      <p:pic>
        <p:nvPicPr>
          <p:cNvPr id="5" name="Picture 4"/>
          <p:cNvPicPr>
            <a:picLocks noChangeAspect="1"/>
          </p:cNvPicPr>
          <p:nvPr/>
        </p:nvPicPr>
        <p:blipFill>
          <a:blip r:embed="rId3"/>
          <a:stretch>
            <a:fillRect/>
          </a:stretch>
        </p:blipFill>
        <p:spPr>
          <a:xfrm>
            <a:off x="7698711" y="1640886"/>
            <a:ext cx="3095625" cy="1600200"/>
          </a:xfrm>
          <a:prstGeom prst="rect">
            <a:avLst/>
          </a:prstGeom>
        </p:spPr>
      </p:pic>
      <p:pic>
        <p:nvPicPr>
          <p:cNvPr id="6" name="Picture 5"/>
          <p:cNvPicPr>
            <a:picLocks noChangeAspect="1"/>
          </p:cNvPicPr>
          <p:nvPr/>
        </p:nvPicPr>
        <p:blipFill>
          <a:blip r:embed="rId4"/>
          <a:stretch>
            <a:fillRect/>
          </a:stretch>
        </p:blipFill>
        <p:spPr>
          <a:xfrm>
            <a:off x="4385916" y="3332210"/>
            <a:ext cx="2771775" cy="1495425"/>
          </a:xfrm>
          <a:prstGeom prst="rect">
            <a:avLst/>
          </a:prstGeom>
        </p:spPr>
      </p:pic>
      <p:pic>
        <p:nvPicPr>
          <p:cNvPr id="7" name="Picture 6"/>
          <p:cNvPicPr>
            <a:picLocks noChangeAspect="1"/>
          </p:cNvPicPr>
          <p:nvPr/>
        </p:nvPicPr>
        <p:blipFill>
          <a:blip r:embed="rId5"/>
          <a:stretch>
            <a:fillRect/>
          </a:stretch>
        </p:blipFill>
        <p:spPr>
          <a:xfrm>
            <a:off x="7698711" y="3215467"/>
            <a:ext cx="3400425" cy="1676400"/>
          </a:xfrm>
          <a:prstGeom prst="rect">
            <a:avLst/>
          </a:prstGeom>
        </p:spPr>
      </p:pic>
      <p:pic>
        <p:nvPicPr>
          <p:cNvPr id="8" name="Picture 7"/>
          <p:cNvPicPr>
            <a:picLocks noChangeAspect="1"/>
          </p:cNvPicPr>
          <p:nvPr/>
        </p:nvPicPr>
        <p:blipFill>
          <a:blip r:embed="rId6"/>
          <a:stretch>
            <a:fillRect/>
          </a:stretch>
        </p:blipFill>
        <p:spPr>
          <a:xfrm>
            <a:off x="5047903" y="4996642"/>
            <a:ext cx="1447800" cy="1752600"/>
          </a:xfrm>
          <a:prstGeom prst="rect">
            <a:avLst/>
          </a:prstGeom>
        </p:spPr>
      </p:pic>
      <p:pic>
        <p:nvPicPr>
          <p:cNvPr id="9" name="Picture 8"/>
          <p:cNvPicPr>
            <a:picLocks noChangeAspect="1"/>
          </p:cNvPicPr>
          <p:nvPr/>
        </p:nvPicPr>
        <p:blipFill>
          <a:blip r:embed="rId7"/>
          <a:stretch>
            <a:fillRect/>
          </a:stretch>
        </p:blipFill>
        <p:spPr>
          <a:xfrm>
            <a:off x="7698711" y="4891867"/>
            <a:ext cx="3286125" cy="1857375"/>
          </a:xfrm>
          <a:prstGeom prst="rect">
            <a:avLst/>
          </a:prstGeom>
        </p:spPr>
      </p:pic>
    </p:spTree>
    <p:extLst>
      <p:ext uri="{BB962C8B-B14F-4D97-AF65-F5344CB8AC3E}">
        <p14:creationId xmlns:p14="http://schemas.microsoft.com/office/powerpoint/2010/main" val="1046034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Antenna Types</a:t>
            </a:r>
          </a:p>
        </p:txBody>
      </p:sp>
      <p:pic>
        <p:nvPicPr>
          <p:cNvPr id="4" name="Picture 3"/>
          <p:cNvPicPr>
            <a:picLocks noChangeAspect="1"/>
          </p:cNvPicPr>
          <p:nvPr/>
        </p:nvPicPr>
        <p:blipFill>
          <a:blip r:embed="rId2"/>
          <a:stretch>
            <a:fillRect/>
          </a:stretch>
        </p:blipFill>
        <p:spPr>
          <a:xfrm>
            <a:off x="1820314" y="1895820"/>
            <a:ext cx="8036943" cy="3025313"/>
          </a:xfrm>
          <a:prstGeom prst="rect">
            <a:avLst/>
          </a:prstGeom>
        </p:spPr>
      </p:pic>
    </p:spTree>
    <p:extLst>
      <p:ext uri="{BB962C8B-B14F-4D97-AF65-F5344CB8AC3E}">
        <p14:creationId xmlns:p14="http://schemas.microsoft.com/office/powerpoint/2010/main" val="2477536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LAN topologies</a:t>
            </a:r>
          </a:p>
        </p:txBody>
      </p:sp>
      <p:sp>
        <p:nvSpPr>
          <p:cNvPr id="3" name="Content Placeholder 2"/>
          <p:cNvSpPr>
            <a:spLocks noGrp="1"/>
          </p:cNvSpPr>
          <p:nvPr>
            <p:ph idx="1"/>
          </p:nvPr>
        </p:nvSpPr>
        <p:spPr/>
        <p:txBody>
          <a:bodyPr>
            <a:normAutofit/>
          </a:bodyPr>
          <a:lstStyle/>
          <a:p>
            <a:r>
              <a:rPr lang="en-US" sz="2000" dirty="0"/>
              <a:t>BSS (Basic Service Set) – group of wireless stations formed around the AP</a:t>
            </a:r>
          </a:p>
          <a:p>
            <a:r>
              <a:rPr lang="en-US" sz="2000" dirty="0"/>
              <a:t>BSA (Basic Service Area) – wireless cell created around the AP</a:t>
            </a:r>
          </a:p>
          <a:p>
            <a:r>
              <a:rPr lang="en-US" sz="2000" dirty="0"/>
              <a:t>BSSID – MAC address of AP wireless radio</a:t>
            </a:r>
          </a:p>
          <a:p>
            <a:endParaRPr lang="en-US" sz="2000" dirty="0"/>
          </a:p>
          <a:p>
            <a:endParaRPr lang="en-US" sz="2000" dirty="0"/>
          </a:p>
          <a:p>
            <a:endParaRPr lang="en-US" sz="2000" dirty="0"/>
          </a:p>
          <a:p>
            <a:endParaRPr lang="en-US" sz="2000" dirty="0"/>
          </a:p>
        </p:txBody>
      </p:sp>
      <p:pic>
        <p:nvPicPr>
          <p:cNvPr id="4" name="Picture 3"/>
          <p:cNvPicPr>
            <a:picLocks noChangeAspect="1"/>
          </p:cNvPicPr>
          <p:nvPr/>
        </p:nvPicPr>
        <p:blipFill>
          <a:blip r:embed="rId2"/>
          <a:stretch>
            <a:fillRect/>
          </a:stretch>
        </p:blipFill>
        <p:spPr>
          <a:xfrm>
            <a:off x="3213474" y="3327255"/>
            <a:ext cx="3952875" cy="3362325"/>
          </a:xfrm>
          <a:prstGeom prst="rect">
            <a:avLst/>
          </a:prstGeom>
        </p:spPr>
      </p:pic>
    </p:spTree>
    <p:extLst>
      <p:ext uri="{BB962C8B-B14F-4D97-AF65-F5344CB8AC3E}">
        <p14:creationId xmlns:p14="http://schemas.microsoft.com/office/powerpoint/2010/main" val="99668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LAN topologies</a:t>
            </a:r>
          </a:p>
        </p:txBody>
      </p:sp>
      <p:sp>
        <p:nvSpPr>
          <p:cNvPr id="3" name="Content Placeholder 2"/>
          <p:cNvSpPr>
            <a:spLocks noGrp="1"/>
          </p:cNvSpPr>
          <p:nvPr>
            <p:ph idx="1"/>
          </p:nvPr>
        </p:nvSpPr>
        <p:spPr/>
        <p:txBody>
          <a:bodyPr>
            <a:normAutofit/>
          </a:bodyPr>
          <a:lstStyle/>
          <a:p>
            <a:r>
              <a:rPr lang="en-US" sz="2000" dirty="0"/>
              <a:t>IBSS – Independent Basic Service Set – Ad-Hoc Wireless Network - </a:t>
            </a:r>
            <a:r>
              <a:rPr lang="en-US" altLang="en-US" sz="2000" dirty="0"/>
              <a:t>Wireless network created by a stations without APs</a:t>
            </a:r>
            <a:endParaRPr lang="en-US" sz="2000" dirty="0"/>
          </a:p>
          <a:p>
            <a:r>
              <a:rPr lang="en-US" sz="2000" dirty="0"/>
              <a:t>DS - Distribution System - The wired section of the network that can be reached through the AP</a:t>
            </a:r>
          </a:p>
          <a:p>
            <a:r>
              <a:rPr lang="en-US" sz="2000" dirty="0"/>
              <a:t>ESS – Extended Service Set  - links two or more APs to one group and allows mobility roaming of wireless devices within a distributed system.</a:t>
            </a:r>
          </a:p>
        </p:txBody>
      </p:sp>
      <p:pic>
        <p:nvPicPr>
          <p:cNvPr id="4" name="Picture 3"/>
          <p:cNvPicPr>
            <a:picLocks noChangeAspect="1"/>
          </p:cNvPicPr>
          <p:nvPr/>
        </p:nvPicPr>
        <p:blipFill>
          <a:blip r:embed="rId2"/>
          <a:stretch>
            <a:fillRect/>
          </a:stretch>
        </p:blipFill>
        <p:spPr>
          <a:xfrm>
            <a:off x="4903399" y="3546865"/>
            <a:ext cx="2493206" cy="3310189"/>
          </a:xfrm>
          <a:prstGeom prst="rect">
            <a:avLst/>
          </a:prstGeom>
        </p:spPr>
      </p:pic>
      <p:pic>
        <p:nvPicPr>
          <p:cNvPr id="5" name="Picture 4"/>
          <p:cNvPicPr>
            <a:picLocks noChangeAspect="1"/>
          </p:cNvPicPr>
          <p:nvPr/>
        </p:nvPicPr>
        <p:blipFill>
          <a:blip r:embed="rId3"/>
          <a:stretch>
            <a:fillRect/>
          </a:stretch>
        </p:blipFill>
        <p:spPr>
          <a:xfrm>
            <a:off x="7792262" y="3176242"/>
            <a:ext cx="4117235" cy="3681758"/>
          </a:xfrm>
          <a:prstGeom prst="rect">
            <a:avLst/>
          </a:prstGeom>
        </p:spPr>
      </p:pic>
      <p:sp>
        <p:nvSpPr>
          <p:cNvPr id="6" name="Content Placeholder 2"/>
          <p:cNvSpPr txBox="1">
            <a:spLocks/>
          </p:cNvSpPr>
          <p:nvPr/>
        </p:nvSpPr>
        <p:spPr>
          <a:xfrm>
            <a:off x="3882962" y="3546865"/>
            <a:ext cx="1516217" cy="6654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Distribution System</a:t>
            </a:r>
          </a:p>
        </p:txBody>
      </p:sp>
      <p:sp>
        <p:nvSpPr>
          <p:cNvPr id="7" name="Content Placeholder 2"/>
          <p:cNvSpPr txBox="1">
            <a:spLocks/>
          </p:cNvSpPr>
          <p:nvPr/>
        </p:nvSpPr>
        <p:spPr>
          <a:xfrm>
            <a:off x="8077460" y="3546865"/>
            <a:ext cx="1516217" cy="6654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Extended Service Set</a:t>
            </a:r>
          </a:p>
        </p:txBody>
      </p:sp>
      <p:pic>
        <p:nvPicPr>
          <p:cNvPr id="8" name="Picture 7"/>
          <p:cNvPicPr>
            <a:picLocks noChangeAspect="1"/>
          </p:cNvPicPr>
          <p:nvPr/>
        </p:nvPicPr>
        <p:blipFill>
          <a:blip r:embed="rId4"/>
          <a:stretch>
            <a:fillRect/>
          </a:stretch>
        </p:blipFill>
        <p:spPr>
          <a:xfrm>
            <a:off x="737494" y="5317332"/>
            <a:ext cx="3019425" cy="1200150"/>
          </a:xfrm>
          <a:prstGeom prst="rect">
            <a:avLst/>
          </a:prstGeom>
        </p:spPr>
      </p:pic>
      <p:sp>
        <p:nvSpPr>
          <p:cNvPr id="9" name="Content Placeholder 2"/>
          <p:cNvSpPr txBox="1">
            <a:spLocks/>
          </p:cNvSpPr>
          <p:nvPr/>
        </p:nvSpPr>
        <p:spPr>
          <a:xfrm>
            <a:off x="1277967" y="4636295"/>
            <a:ext cx="1516217" cy="6654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Independent BSS</a:t>
            </a:r>
          </a:p>
        </p:txBody>
      </p:sp>
    </p:spTree>
    <p:extLst>
      <p:ext uri="{BB962C8B-B14F-4D97-AF65-F5344CB8AC3E}">
        <p14:creationId xmlns:p14="http://schemas.microsoft.com/office/powerpoint/2010/main" val="2520863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LAN topologies</a:t>
            </a:r>
          </a:p>
        </p:txBody>
      </p:sp>
      <p:sp>
        <p:nvSpPr>
          <p:cNvPr id="3" name="Content Placeholder 2"/>
          <p:cNvSpPr>
            <a:spLocks noGrp="1"/>
          </p:cNvSpPr>
          <p:nvPr>
            <p:ph idx="1"/>
          </p:nvPr>
        </p:nvSpPr>
        <p:spPr>
          <a:xfrm>
            <a:off x="838200" y="1825625"/>
            <a:ext cx="5479473" cy="4351338"/>
          </a:xfrm>
        </p:spPr>
        <p:txBody>
          <a:bodyPr>
            <a:normAutofit lnSpcReduction="10000"/>
          </a:bodyPr>
          <a:lstStyle/>
          <a:p>
            <a:r>
              <a:rPr lang="en-US" dirty="0"/>
              <a:t>Repeater</a:t>
            </a:r>
          </a:p>
          <a:p>
            <a:pPr lvl="1"/>
            <a:r>
              <a:rPr lang="en-US" dirty="0"/>
              <a:t>Extends the AP coverage</a:t>
            </a:r>
          </a:p>
          <a:p>
            <a:pPr lvl="1"/>
            <a:r>
              <a:rPr lang="en-US" dirty="0"/>
              <a:t>Dual radio can create dual half-duplex</a:t>
            </a:r>
          </a:p>
          <a:p>
            <a:pPr lvl="1"/>
            <a:r>
              <a:rPr lang="en-US" dirty="0"/>
              <a:t>Overlap of 50% required</a:t>
            </a:r>
          </a:p>
          <a:p>
            <a:pPr lvl="1"/>
            <a:r>
              <a:rPr lang="en-US" dirty="0"/>
              <a:t>Throughput impacted when single frequency  used</a:t>
            </a:r>
          </a:p>
          <a:p>
            <a:r>
              <a:rPr lang="en-US" dirty="0"/>
              <a:t>Workgroup Bridge</a:t>
            </a:r>
          </a:p>
          <a:p>
            <a:pPr lvl="1"/>
            <a:r>
              <a:rPr lang="en-US" dirty="0"/>
              <a:t>A WGB provides wireless connection from Ethernet port.</a:t>
            </a:r>
          </a:p>
          <a:p>
            <a:pPr lvl="1"/>
            <a:r>
              <a:rPr lang="en-US" dirty="0"/>
              <a:t>Several devices can benefit if the WGB is connected to a switch.</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7159249" y="1141095"/>
            <a:ext cx="4257675" cy="2381250"/>
          </a:xfrm>
          <a:prstGeom prst="rect">
            <a:avLst/>
          </a:prstGeom>
        </p:spPr>
      </p:pic>
      <p:pic>
        <p:nvPicPr>
          <p:cNvPr id="6" name="Picture 5"/>
          <p:cNvPicPr>
            <a:picLocks noChangeAspect="1"/>
          </p:cNvPicPr>
          <p:nvPr/>
        </p:nvPicPr>
        <p:blipFill>
          <a:blip r:embed="rId3"/>
          <a:stretch>
            <a:fillRect/>
          </a:stretch>
        </p:blipFill>
        <p:spPr>
          <a:xfrm>
            <a:off x="7621559" y="4001294"/>
            <a:ext cx="3067050" cy="2619375"/>
          </a:xfrm>
          <a:prstGeom prst="rect">
            <a:avLst/>
          </a:prstGeom>
        </p:spPr>
      </p:pic>
    </p:spTree>
    <p:extLst>
      <p:ext uri="{BB962C8B-B14F-4D97-AF65-F5344CB8AC3E}">
        <p14:creationId xmlns:p14="http://schemas.microsoft.com/office/powerpoint/2010/main" val="907082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LAN topologies</a:t>
            </a:r>
          </a:p>
        </p:txBody>
      </p:sp>
      <p:sp>
        <p:nvSpPr>
          <p:cNvPr id="3" name="Content Placeholder 2"/>
          <p:cNvSpPr>
            <a:spLocks noGrp="1"/>
          </p:cNvSpPr>
          <p:nvPr>
            <p:ph idx="1"/>
          </p:nvPr>
        </p:nvSpPr>
        <p:spPr>
          <a:xfrm>
            <a:off x="838200" y="1825625"/>
            <a:ext cx="4856018" cy="1757160"/>
          </a:xfrm>
        </p:spPr>
        <p:txBody>
          <a:bodyPr/>
          <a:lstStyle/>
          <a:p>
            <a:r>
              <a:rPr lang="en-US" dirty="0"/>
              <a:t>Outdoor Wireless Bridge</a:t>
            </a:r>
          </a:p>
          <a:p>
            <a:pPr lvl="1"/>
            <a:r>
              <a:rPr lang="en-US" dirty="0"/>
              <a:t>Extend the LAN by linking LANs</a:t>
            </a:r>
          </a:p>
          <a:p>
            <a:pPr lvl="1"/>
            <a:r>
              <a:rPr lang="en-US" dirty="0"/>
              <a:t>Usually a few miles range</a:t>
            </a:r>
          </a:p>
          <a:p>
            <a:pPr lvl="1"/>
            <a:r>
              <a:rPr lang="en-US" dirty="0"/>
              <a:t>Point to point or hub and spoke</a:t>
            </a:r>
          </a:p>
        </p:txBody>
      </p:sp>
      <p:pic>
        <p:nvPicPr>
          <p:cNvPr id="4" name="Picture 3"/>
          <p:cNvPicPr>
            <a:picLocks noChangeAspect="1"/>
          </p:cNvPicPr>
          <p:nvPr/>
        </p:nvPicPr>
        <p:blipFill>
          <a:blip r:embed="rId2"/>
          <a:stretch>
            <a:fillRect/>
          </a:stretch>
        </p:blipFill>
        <p:spPr>
          <a:xfrm>
            <a:off x="5873980" y="1690688"/>
            <a:ext cx="5873632" cy="1493087"/>
          </a:xfrm>
          <a:prstGeom prst="rect">
            <a:avLst/>
          </a:prstGeom>
        </p:spPr>
      </p:pic>
      <p:pic>
        <p:nvPicPr>
          <p:cNvPr id="5" name="Picture 4"/>
          <p:cNvPicPr>
            <a:picLocks noChangeAspect="1"/>
          </p:cNvPicPr>
          <p:nvPr/>
        </p:nvPicPr>
        <p:blipFill>
          <a:blip r:embed="rId3"/>
          <a:stretch>
            <a:fillRect/>
          </a:stretch>
        </p:blipFill>
        <p:spPr>
          <a:xfrm>
            <a:off x="5873980" y="3476654"/>
            <a:ext cx="5810597" cy="3168304"/>
          </a:xfrm>
          <a:prstGeom prst="rect">
            <a:avLst/>
          </a:prstGeom>
        </p:spPr>
      </p:pic>
    </p:spTree>
    <p:extLst>
      <p:ext uri="{BB962C8B-B14F-4D97-AF65-F5344CB8AC3E}">
        <p14:creationId xmlns:p14="http://schemas.microsoft.com/office/powerpoint/2010/main" val="1008238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4894"/>
            <a:ext cx="10515600" cy="1325563"/>
          </a:xfrm>
        </p:spPr>
        <p:txBody>
          <a:bodyPr/>
          <a:lstStyle/>
          <a:p>
            <a:r>
              <a:rPr lang="en-US" dirty="0"/>
              <a:t>Wireless LAN Topologies</a:t>
            </a:r>
          </a:p>
        </p:txBody>
      </p:sp>
      <p:sp>
        <p:nvSpPr>
          <p:cNvPr id="3" name="Content Placeholder 2"/>
          <p:cNvSpPr>
            <a:spLocks noGrp="1"/>
          </p:cNvSpPr>
          <p:nvPr>
            <p:ph idx="1"/>
          </p:nvPr>
        </p:nvSpPr>
        <p:spPr>
          <a:xfrm>
            <a:off x="838200" y="1825625"/>
            <a:ext cx="5180215" cy="4608426"/>
          </a:xfrm>
        </p:spPr>
        <p:txBody>
          <a:bodyPr>
            <a:normAutofit lnSpcReduction="10000"/>
          </a:bodyPr>
          <a:lstStyle/>
          <a:p>
            <a:r>
              <a:rPr lang="en-US" dirty="0"/>
              <a:t>Mesh Networks</a:t>
            </a:r>
          </a:p>
          <a:p>
            <a:pPr lvl="1"/>
            <a:r>
              <a:rPr lang="en-US" dirty="0"/>
              <a:t>provide wireless coverage over a large area</a:t>
            </a:r>
          </a:p>
          <a:p>
            <a:pPr lvl="1"/>
            <a:r>
              <a:rPr lang="en-GB" dirty="0"/>
              <a:t>devices are connected with redundant connection between nodes</a:t>
            </a:r>
          </a:p>
          <a:p>
            <a:pPr lvl="1"/>
            <a:r>
              <a:rPr lang="en-GB" dirty="0"/>
              <a:t>no single point of failure</a:t>
            </a:r>
          </a:p>
          <a:p>
            <a:pPr lvl="1"/>
            <a:r>
              <a:rPr lang="en-GB" dirty="0"/>
              <a:t>usually 5GHz radio is a backbone</a:t>
            </a:r>
          </a:p>
          <a:p>
            <a:pPr lvl="1"/>
            <a:r>
              <a:rPr lang="en-GB" dirty="0"/>
              <a:t>2.4GHz radio serve as BSS</a:t>
            </a:r>
          </a:p>
          <a:p>
            <a:pPr lvl="1"/>
            <a:r>
              <a:rPr lang="en-GB" dirty="0"/>
              <a:t>RAP (root AP – connected by Ethernet cable)</a:t>
            </a:r>
          </a:p>
          <a:p>
            <a:pPr lvl="1"/>
            <a:r>
              <a:rPr lang="en-GB" dirty="0"/>
              <a:t>MAP (Mesh AP – connected wirelessly)</a:t>
            </a:r>
            <a:endParaRPr lang="fr-FR" dirty="0"/>
          </a:p>
        </p:txBody>
      </p:sp>
      <p:pic>
        <p:nvPicPr>
          <p:cNvPr id="4" name="Picture 7" descr="328P_115"/>
          <p:cNvPicPr>
            <a:picLocks noChangeAspect="1" noChangeArrowheads="1"/>
          </p:cNvPicPr>
          <p:nvPr/>
        </p:nvPicPr>
        <p:blipFill>
          <a:blip r:embed="rId2"/>
          <a:srcRect/>
          <a:stretch>
            <a:fillRect/>
          </a:stretch>
        </p:blipFill>
        <p:spPr bwMode="auto">
          <a:xfrm>
            <a:off x="6596070" y="2333973"/>
            <a:ext cx="5149567" cy="3169054"/>
          </a:xfrm>
          <a:prstGeom prst="rect">
            <a:avLst/>
          </a:prstGeom>
          <a:noFill/>
          <a:ln w="9525">
            <a:noFill/>
            <a:miter lim="800000"/>
            <a:headEnd/>
            <a:tailEnd/>
          </a:ln>
        </p:spPr>
      </p:pic>
    </p:spTree>
    <p:extLst>
      <p:ext uri="{BB962C8B-B14F-4D97-AF65-F5344CB8AC3E}">
        <p14:creationId xmlns:p14="http://schemas.microsoft.com/office/powerpoint/2010/main" val="2790067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Standards features</a:t>
            </a:r>
          </a:p>
        </p:txBody>
      </p:sp>
      <p:sp>
        <p:nvSpPr>
          <p:cNvPr id="3" name="Content Placeholder 2"/>
          <p:cNvSpPr>
            <a:spLocks noGrp="1"/>
          </p:cNvSpPr>
          <p:nvPr>
            <p:ph idx="1"/>
          </p:nvPr>
        </p:nvSpPr>
        <p:spPr/>
        <p:txBody>
          <a:bodyPr>
            <a:normAutofit fontScale="62500" lnSpcReduction="20000"/>
          </a:bodyPr>
          <a:lstStyle/>
          <a:p>
            <a:r>
              <a:rPr lang="en-US" dirty="0"/>
              <a:t>802.11n</a:t>
            </a:r>
          </a:p>
          <a:p>
            <a:pPr lvl="1"/>
            <a:r>
              <a:rPr lang="en-US" sz="2100" dirty="0"/>
              <a:t>introduce channel aggregation (2 adjacent 20-MHz channels are combined to create a single 40-MHz channel)</a:t>
            </a:r>
          </a:p>
          <a:p>
            <a:pPr lvl="1"/>
            <a:r>
              <a:rPr lang="en-US" sz="2000" dirty="0"/>
              <a:t>MAC aggregation packs smaller packets into a single unit</a:t>
            </a:r>
          </a:p>
          <a:p>
            <a:pPr lvl="1"/>
            <a:r>
              <a:rPr lang="en-US" sz="2000" dirty="0"/>
              <a:t>Block acknowledgment improves throughput</a:t>
            </a:r>
          </a:p>
          <a:p>
            <a:pPr lvl="1"/>
            <a:r>
              <a:rPr lang="en-US" sz="2000" dirty="0"/>
              <a:t>Maximal Ratio Combining (MRC)</a:t>
            </a:r>
          </a:p>
          <a:p>
            <a:pPr lvl="1"/>
            <a:r>
              <a:rPr lang="en-US" sz="2000" dirty="0"/>
              <a:t>Transmit Beamforming</a:t>
            </a:r>
          </a:p>
          <a:p>
            <a:pPr lvl="1"/>
            <a:r>
              <a:rPr lang="en-US" sz="2000" dirty="0"/>
              <a:t>Spatial multiplexing</a:t>
            </a:r>
          </a:p>
          <a:p>
            <a:r>
              <a:rPr lang="en-US" dirty="0"/>
              <a:t>802.11ac</a:t>
            </a:r>
          </a:p>
          <a:p>
            <a:pPr lvl="1"/>
            <a:r>
              <a:rPr lang="en-US" sz="1900" dirty="0"/>
              <a:t>5 GHz operation only</a:t>
            </a:r>
          </a:p>
          <a:p>
            <a:pPr lvl="1"/>
            <a:r>
              <a:rPr lang="en-US" sz="1900" dirty="0"/>
              <a:t>up to 8 spatial streams</a:t>
            </a:r>
          </a:p>
          <a:p>
            <a:pPr lvl="1"/>
            <a:r>
              <a:rPr lang="en-US" sz="1900" dirty="0"/>
              <a:t>introduce up to 160 MHz channel</a:t>
            </a:r>
          </a:p>
          <a:p>
            <a:pPr lvl="1"/>
            <a:r>
              <a:rPr lang="en-US" sz="1900" dirty="0"/>
              <a:t>256-QAM modulation</a:t>
            </a:r>
          </a:p>
          <a:p>
            <a:pPr lvl="1"/>
            <a:r>
              <a:rPr lang="en-US" sz="1900" dirty="0"/>
              <a:t>wave 2 introduce MU-MIMO</a:t>
            </a:r>
          </a:p>
          <a:p>
            <a:r>
              <a:rPr lang="en-US" dirty="0"/>
              <a:t>802.11ax</a:t>
            </a:r>
          </a:p>
          <a:p>
            <a:pPr lvl="1"/>
            <a:r>
              <a:rPr lang="en-US" dirty="0"/>
              <a:t>introduce OFDMA - Orthogonal Frequency-Division Multiple Access</a:t>
            </a:r>
          </a:p>
          <a:p>
            <a:pPr lvl="1"/>
            <a:r>
              <a:rPr lang="en-US" dirty="0"/>
              <a:t>Spatial frequency reuse (device coloring to differentiate own and neighboring devices)</a:t>
            </a:r>
          </a:p>
          <a:p>
            <a:pPr lvl="1"/>
            <a:r>
              <a:rPr lang="en-US" dirty="0"/>
              <a:t>1024-QAM modulation</a:t>
            </a:r>
          </a:p>
          <a:p>
            <a:pPr lvl="1"/>
            <a:r>
              <a:rPr lang="en-US" dirty="0"/>
              <a:t>TWT – Target Wake Time</a:t>
            </a:r>
          </a:p>
          <a:p>
            <a:pPr lvl="1"/>
            <a:r>
              <a:rPr lang="en-US" dirty="0"/>
              <a:t>WPA3</a:t>
            </a:r>
          </a:p>
          <a:p>
            <a:pPr lvl="1"/>
            <a:endParaRPr lang="en-US" dirty="0"/>
          </a:p>
        </p:txBody>
      </p:sp>
    </p:spTree>
    <p:extLst>
      <p:ext uri="{BB962C8B-B14F-4D97-AF65-F5344CB8AC3E}">
        <p14:creationId xmlns:p14="http://schemas.microsoft.com/office/powerpoint/2010/main" val="333173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Standards features</a:t>
            </a:r>
          </a:p>
        </p:txBody>
      </p:sp>
      <p:sp>
        <p:nvSpPr>
          <p:cNvPr id="3" name="Content Placeholder 2"/>
          <p:cNvSpPr>
            <a:spLocks noGrp="1"/>
          </p:cNvSpPr>
          <p:nvPr>
            <p:ph idx="1"/>
          </p:nvPr>
        </p:nvSpPr>
        <p:spPr/>
        <p:txBody>
          <a:bodyPr>
            <a:normAutofit/>
          </a:bodyPr>
          <a:lstStyle/>
          <a:p>
            <a:r>
              <a:rPr lang="en-US" sz="2000" dirty="0"/>
              <a:t>MRC (Maximal Ratio Combining )</a:t>
            </a:r>
          </a:p>
          <a:p>
            <a:pPr lvl="1"/>
            <a:r>
              <a:rPr lang="en-US" sz="1600" dirty="0"/>
              <a:t> is used by the receiver with multiple antennas to optimally combine energies from multiple receive chains. An algorithm eliminates out-of-phase signal degradation</a:t>
            </a:r>
          </a:p>
        </p:txBody>
      </p:sp>
      <p:pic>
        <p:nvPicPr>
          <p:cNvPr id="4" name="Picture 10" descr="328P_184"/>
          <p:cNvPicPr>
            <a:picLocks noChangeAspect="1" noChangeArrowheads="1"/>
          </p:cNvPicPr>
          <p:nvPr/>
        </p:nvPicPr>
        <p:blipFill>
          <a:blip r:embed="rId2"/>
          <a:srcRect/>
          <a:stretch>
            <a:fillRect/>
          </a:stretch>
        </p:blipFill>
        <p:spPr bwMode="auto">
          <a:xfrm>
            <a:off x="2230091" y="2665413"/>
            <a:ext cx="7615237" cy="4192587"/>
          </a:xfrm>
          <a:prstGeom prst="rect">
            <a:avLst/>
          </a:prstGeom>
          <a:noFill/>
          <a:ln w="9525">
            <a:noFill/>
            <a:miter lim="800000"/>
            <a:headEnd/>
            <a:tailEnd/>
          </a:ln>
        </p:spPr>
      </p:pic>
    </p:spTree>
    <p:extLst>
      <p:ext uri="{BB962C8B-B14F-4D97-AF65-F5344CB8AC3E}">
        <p14:creationId xmlns:p14="http://schemas.microsoft.com/office/powerpoint/2010/main" val="64582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Standards features</a:t>
            </a:r>
          </a:p>
        </p:txBody>
      </p:sp>
      <p:sp>
        <p:nvSpPr>
          <p:cNvPr id="3" name="Content Placeholder 2"/>
          <p:cNvSpPr>
            <a:spLocks noGrp="1"/>
          </p:cNvSpPr>
          <p:nvPr>
            <p:ph idx="1"/>
          </p:nvPr>
        </p:nvSpPr>
        <p:spPr/>
        <p:txBody>
          <a:bodyPr>
            <a:normAutofit/>
          </a:bodyPr>
          <a:lstStyle/>
          <a:p>
            <a:r>
              <a:rPr lang="en-US" sz="2000" dirty="0"/>
              <a:t>Transmit Beamforming (</a:t>
            </a:r>
            <a:r>
              <a:rPr lang="en-US" sz="2000" dirty="0" err="1"/>
              <a:t>TxBF</a:t>
            </a:r>
            <a:r>
              <a:rPr lang="en-US" sz="2000" dirty="0"/>
              <a:t>)</a:t>
            </a:r>
          </a:p>
          <a:p>
            <a:pPr lvl="1"/>
            <a:r>
              <a:rPr lang="en-US" sz="1600" dirty="0"/>
              <a:t>The emitter can send the same signal from several antennas. By carefully coordinating these signals based on the feedback transmitted by the 802.11n receiving station, the emitter aims at making these signals be received in phase, thus increasing the signal power level at the receiving station, allowing for longer range or higher throughput</a:t>
            </a:r>
          </a:p>
        </p:txBody>
      </p:sp>
      <p:pic>
        <p:nvPicPr>
          <p:cNvPr id="4" name="Picture 9" descr="328P_183"/>
          <p:cNvPicPr>
            <a:picLocks noChangeAspect="1" noChangeArrowheads="1"/>
          </p:cNvPicPr>
          <p:nvPr/>
        </p:nvPicPr>
        <p:blipFill>
          <a:blip r:embed="rId2"/>
          <a:srcRect/>
          <a:stretch>
            <a:fillRect/>
          </a:stretch>
        </p:blipFill>
        <p:spPr bwMode="auto">
          <a:xfrm>
            <a:off x="1068647" y="3131127"/>
            <a:ext cx="8666163" cy="2935288"/>
          </a:xfrm>
          <a:prstGeom prst="rect">
            <a:avLst/>
          </a:prstGeom>
          <a:noFill/>
          <a:ln w="9525">
            <a:noFill/>
            <a:miter lim="800000"/>
            <a:headEnd/>
            <a:tailEnd/>
          </a:ln>
        </p:spPr>
      </p:pic>
    </p:spTree>
    <p:extLst>
      <p:ext uri="{BB962C8B-B14F-4D97-AF65-F5344CB8AC3E}">
        <p14:creationId xmlns:p14="http://schemas.microsoft.com/office/powerpoint/2010/main" val="4031493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Standards features</a:t>
            </a:r>
          </a:p>
        </p:txBody>
      </p:sp>
      <p:sp>
        <p:nvSpPr>
          <p:cNvPr id="3" name="Content Placeholder 2"/>
          <p:cNvSpPr>
            <a:spLocks noGrp="1"/>
          </p:cNvSpPr>
          <p:nvPr>
            <p:ph idx="1"/>
          </p:nvPr>
        </p:nvSpPr>
        <p:spPr/>
        <p:txBody>
          <a:bodyPr>
            <a:normAutofit/>
          </a:bodyPr>
          <a:lstStyle/>
          <a:p>
            <a:r>
              <a:rPr lang="en-US" sz="2000" dirty="0"/>
              <a:t>Spatial multiplexing</a:t>
            </a:r>
          </a:p>
          <a:p>
            <a:pPr lvl="1"/>
            <a:r>
              <a:rPr lang="en-US" sz="1600" dirty="0"/>
              <a:t>The emitter can send different simultaneous signals from different radios. The 802.11n receiver will receive these signals on all its radios. Each of the receive radios independently decode the arriving signals. Then, each receive signal is combined with the signals from the other radios. This results in additional throughput</a:t>
            </a:r>
          </a:p>
        </p:txBody>
      </p:sp>
      <p:pic>
        <p:nvPicPr>
          <p:cNvPr id="4" name="Picture 7" descr="328P_182"/>
          <p:cNvPicPr>
            <a:picLocks noChangeAspect="1" noChangeArrowheads="1"/>
          </p:cNvPicPr>
          <p:nvPr/>
        </p:nvPicPr>
        <p:blipFill>
          <a:blip r:embed="rId2"/>
          <a:srcRect/>
          <a:stretch>
            <a:fillRect/>
          </a:stretch>
        </p:blipFill>
        <p:spPr bwMode="auto">
          <a:xfrm>
            <a:off x="2589656" y="3030451"/>
            <a:ext cx="6871354" cy="3755275"/>
          </a:xfrm>
          <a:prstGeom prst="rect">
            <a:avLst/>
          </a:prstGeom>
          <a:noFill/>
          <a:ln w="9525">
            <a:noFill/>
            <a:miter lim="800000"/>
            <a:headEnd/>
            <a:tailEnd/>
          </a:ln>
        </p:spPr>
      </p:pic>
    </p:spTree>
    <p:extLst>
      <p:ext uri="{BB962C8B-B14F-4D97-AF65-F5344CB8AC3E}">
        <p14:creationId xmlns:p14="http://schemas.microsoft.com/office/powerpoint/2010/main" val="1931497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 Standards features</a:t>
            </a:r>
          </a:p>
        </p:txBody>
      </p:sp>
      <p:pic>
        <p:nvPicPr>
          <p:cNvPr id="4" name="Picture 11" descr="328P_187"/>
          <p:cNvPicPr>
            <a:picLocks noChangeAspect="1" noChangeArrowheads="1"/>
          </p:cNvPicPr>
          <p:nvPr/>
        </p:nvPicPr>
        <p:blipFill>
          <a:blip r:embed="rId2"/>
          <a:srcRect/>
          <a:stretch>
            <a:fillRect/>
          </a:stretch>
        </p:blipFill>
        <p:spPr bwMode="auto">
          <a:xfrm>
            <a:off x="3405877" y="4740133"/>
            <a:ext cx="4799622" cy="1295625"/>
          </a:xfrm>
          <a:prstGeom prst="rect">
            <a:avLst/>
          </a:prstGeom>
          <a:noFill/>
          <a:ln w="3175">
            <a:noFill/>
            <a:miter lim="800000"/>
            <a:headEnd/>
            <a:tailEnd/>
          </a:ln>
        </p:spPr>
      </p:pic>
      <p:pic>
        <p:nvPicPr>
          <p:cNvPr id="5" name="Picture 13" descr="328P_186"/>
          <p:cNvPicPr>
            <a:picLocks noChangeAspect="1" noChangeArrowheads="1"/>
          </p:cNvPicPr>
          <p:nvPr/>
        </p:nvPicPr>
        <p:blipFill>
          <a:blip r:embed="rId3"/>
          <a:srcRect/>
          <a:stretch>
            <a:fillRect/>
          </a:stretch>
        </p:blipFill>
        <p:spPr bwMode="auto">
          <a:xfrm>
            <a:off x="3407063" y="3187294"/>
            <a:ext cx="4798436" cy="1284957"/>
          </a:xfrm>
          <a:prstGeom prst="rect">
            <a:avLst/>
          </a:prstGeom>
          <a:noFill/>
          <a:ln w="3175">
            <a:noFill/>
            <a:miter lim="800000"/>
            <a:headEnd/>
            <a:tailEnd/>
          </a:ln>
        </p:spPr>
      </p:pic>
      <p:pic>
        <p:nvPicPr>
          <p:cNvPr id="6" name="Picture 12" descr="328P_185"/>
          <p:cNvPicPr>
            <a:picLocks noChangeAspect="1" noChangeArrowheads="1"/>
          </p:cNvPicPr>
          <p:nvPr/>
        </p:nvPicPr>
        <p:blipFill>
          <a:blip r:embed="rId4"/>
          <a:srcRect/>
          <a:stretch>
            <a:fillRect/>
          </a:stretch>
        </p:blipFill>
        <p:spPr bwMode="auto">
          <a:xfrm>
            <a:off x="3424843" y="1902353"/>
            <a:ext cx="4780656" cy="1017060"/>
          </a:xfrm>
          <a:prstGeom prst="rect">
            <a:avLst/>
          </a:prstGeom>
          <a:noFill/>
          <a:ln w="3175">
            <a:noFill/>
            <a:miter lim="800000"/>
            <a:headEnd/>
            <a:tailEnd/>
          </a:ln>
        </p:spPr>
      </p:pic>
      <p:sp>
        <p:nvSpPr>
          <p:cNvPr id="7" name="Content Placeholder 2"/>
          <p:cNvSpPr>
            <a:spLocks noGrp="1"/>
          </p:cNvSpPr>
          <p:nvPr>
            <p:ph idx="1"/>
          </p:nvPr>
        </p:nvSpPr>
        <p:spPr>
          <a:xfrm>
            <a:off x="838200" y="1803862"/>
            <a:ext cx="10515600" cy="4547668"/>
          </a:xfrm>
        </p:spPr>
        <p:txBody>
          <a:bodyPr>
            <a:normAutofit/>
          </a:bodyPr>
          <a:lstStyle/>
          <a:p>
            <a:r>
              <a:rPr lang="en-US" sz="2000" dirty="0"/>
              <a:t>MIMO Benefits</a:t>
            </a:r>
          </a:p>
        </p:txBody>
      </p:sp>
    </p:spTree>
    <p:extLst>
      <p:ext uri="{BB962C8B-B14F-4D97-AF65-F5344CB8AC3E}">
        <p14:creationId xmlns:p14="http://schemas.microsoft.com/office/powerpoint/2010/main" val="1243966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6F97-DB89-4796-8B23-EBF7323F5F68}"/>
              </a:ext>
            </a:extLst>
          </p:cNvPr>
          <p:cNvSpPr>
            <a:spLocks noGrp="1"/>
          </p:cNvSpPr>
          <p:nvPr>
            <p:ph type="title"/>
          </p:nvPr>
        </p:nvSpPr>
        <p:spPr/>
        <p:txBody>
          <a:bodyPr/>
          <a:lstStyle/>
          <a:p>
            <a:r>
              <a:rPr lang="en-US" dirty="0"/>
              <a:t>802.11 Frame and CSMA/CA</a:t>
            </a:r>
            <a:endParaRPr lang="sk-SK" dirty="0"/>
          </a:p>
        </p:txBody>
      </p:sp>
      <p:pic>
        <p:nvPicPr>
          <p:cNvPr id="7" name="Picture 6">
            <a:extLst>
              <a:ext uri="{FF2B5EF4-FFF2-40B4-BE49-F238E27FC236}">
                <a16:creationId xmlns:a16="http://schemas.microsoft.com/office/drawing/2014/main" id="{C94C6D07-0B9F-452B-BAEF-0398853CBF58}"/>
              </a:ext>
            </a:extLst>
          </p:cNvPr>
          <p:cNvPicPr>
            <a:picLocks noChangeAspect="1"/>
          </p:cNvPicPr>
          <p:nvPr/>
        </p:nvPicPr>
        <p:blipFill>
          <a:blip r:embed="rId2"/>
          <a:stretch>
            <a:fillRect/>
          </a:stretch>
        </p:blipFill>
        <p:spPr>
          <a:xfrm>
            <a:off x="838200" y="1784867"/>
            <a:ext cx="6753225" cy="1114425"/>
          </a:xfrm>
          <a:prstGeom prst="rect">
            <a:avLst/>
          </a:prstGeom>
        </p:spPr>
      </p:pic>
      <p:sp>
        <p:nvSpPr>
          <p:cNvPr id="8" name="TextBox 7">
            <a:extLst>
              <a:ext uri="{FF2B5EF4-FFF2-40B4-BE49-F238E27FC236}">
                <a16:creationId xmlns:a16="http://schemas.microsoft.com/office/drawing/2014/main" id="{517967E5-E9D0-4130-9C17-CBD7EE11CE8F}"/>
              </a:ext>
            </a:extLst>
          </p:cNvPr>
          <p:cNvSpPr txBox="1"/>
          <p:nvPr/>
        </p:nvSpPr>
        <p:spPr>
          <a:xfrm>
            <a:off x="866676" y="1515616"/>
            <a:ext cx="3348135" cy="369332"/>
          </a:xfrm>
          <a:prstGeom prst="rect">
            <a:avLst/>
          </a:prstGeom>
          <a:noFill/>
        </p:spPr>
        <p:txBody>
          <a:bodyPr wrap="square" rtlCol="0">
            <a:spAutoFit/>
          </a:bodyPr>
          <a:lstStyle/>
          <a:p>
            <a:r>
              <a:rPr lang="en-US" dirty="0"/>
              <a:t>802.3 Frame</a:t>
            </a:r>
            <a:endParaRPr lang="sk-SK" dirty="0"/>
          </a:p>
        </p:txBody>
      </p:sp>
      <p:sp>
        <p:nvSpPr>
          <p:cNvPr id="9" name="TextBox 8">
            <a:extLst>
              <a:ext uri="{FF2B5EF4-FFF2-40B4-BE49-F238E27FC236}">
                <a16:creationId xmlns:a16="http://schemas.microsoft.com/office/drawing/2014/main" id="{90DFAE05-AC06-48B3-92EA-C5E2828A4BAE}"/>
              </a:ext>
            </a:extLst>
          </p:cNvPr>
          <p:cNvSpPr txBox="1"/>
          <p:nvPr/>
        </p:nvSpPr>
        <p:spPr>
          <a:xfrm>
            <a:off x="866676" y="3530928"/>
            <a:ext cx="3348135" cy="369332"/>
          </a:xfrm>
          <a:prstGeom prst="rect">
            <a:avLst/>
          </a:prstGeom>
          <a:noFill/>
        </p:spPr>
        <p:txBody>
          <a:bodyPr wrap="square" rtlCol="0">
            <a:spAutoFit/>
          </a:bodyPr>
          <a:lstStyle/>
          <a:p>
            <a:r>
              <a:rPr lang="en-US" dirty="0"/>
              <a:t>802.11 Frame</a:t>
            </a:r>
            <a:endParaRPr lang="sk-SK" dirty="0"/>
          </a:p>
        </p:txBody>
      </p:sp>
      <p:pic>
        <p:nvPicPr>
          <p:cNvPr id="11" name="Picture 10">
            <a:extLst>
              <a:ext uri="{FF2B5EF4-FFF2-40B4-BE49-F238E27FC236}">
                <a16:creationId xmlns:a16="http://schemas.microsoft.com/office/drawing/2014/main" id="{E2CA1FE0-E565-4D54-B9B8-39237263278A}"/>
              </a:ext>
            </a:extLst>
          </p:cNvPr>
          <p:cNvPicPr>
            <a:picLocks noChangeAspect="1"/>
          </p:cNvPicPr>
          <p:nvPr/>
        </p:nvPicPr>
        <p:blipFill>
          <a:blip r:embed="rId3"/>
          <a:stretch>
            <a:fillRect/>
          </a:stretch>
        </p:blipFill>
        <p:spPr>
          <a:xfrm>
            <a:off x="747712" y="3900260"/>
            <a:ext cx="10696575" cy="2781300"/>
          </a:xfrm>
          <a:prstGeom prst="rect">
            <a:avLst/>
          </a:prstGeom>
        </p:spPr>
      </p:pic>
      <p:sp>
        <p:nvSpPr>
          <p:cNvPr id="12" name="TextBox 11">
            <a:extLst>
              <a:ext uri="{FF2B5EF4-FFF2-40B4-BE49-F238E27FC236}">
                <a16:creationId xmlns:a16="http://schemas.microsoft.com/office/drawing/2014/main" id="{C5AB4B1A-60FF-4DC0-B99C-FD5A1A3200F4}"/>
              </a:ext>
            </a:extLst>
          </p:cNvPr>
          <p:cNvSpPr txBox="1"/>
          <p:nvPr/>
        </p:nvSpPr>
        <p:spPr>
          <a:xfrm>
            <a:off x="7852095" y="1415535"/>
            <a:ext cx="4093828" cy="2031325"/>
          </a:xfrm>
          <a:prstGeom prst="rect">
            <a:avLst/>
          </a:prstGeom>
          <a:noFill/>
        </p:spPr>
        <p:txBody>
          <a:bodyPr wrap="square" rtlCol="0">
            <a:spAutoFit/>
          </a:bodyPr>
          <a:lstStyle/>
          <a:p>
            <a:r>
              <a:rPr lang="en-US" dirty="0"/>
              <a:t>DS – Distribution System</a:t>
            </a:r>
          </a:p>
          <a:p>
            <a:r>
              <a:rPr lang="en-US" dirty="0"/>
              <a:t>FCS – Frame Check Sequence</a:t>
            </a:r>
          </a:p>
          <a:p>
            <a:r>
              <a:rPr lang="en-US" dirty="0"/>
              <a:t>Type – Data, Control, Management</a:t>
            </a:r>
          </a:p>
          <a:p>
            <a:r>
              <a:rPr lang="en-US" dirty="0"/>
              <a:t>Address1 – Receiving Address (RA)</a:t>
            </a:r>
          </a:p>
          <a:p>
            <a:r>
              <a:rPr lang="en-US" dirty="0"/>
              <a:t>Address2 – Transmitting Address (TA)</a:t>
            </a:r>
          </a:p>
          <a:p>
            <a:r>
              <a:rPr lang="en-US" dirty="0"/>
              <a:t>Address3 – Source/</a:t>
            </a:r>
            <a:r>
              <a:rPr lang="en-US" dirty="0" err="1"/>
              <a:t>Dest</a:t>
            </a:r>
            <a:r>
              <a:rPr lang="en-US" dirty="0"/>
              <a:t>. Address (SA/DA)</a:t>
            </a:r>
          </a:p>
          <a:p>
            <a:r>
              <a:rPr lang="en-US" dirty="0"/>
              <a:t>Address4 – SA (</a:t>
            </a:r>
            <a:r>
              <a:rPr lang="en-US" dirty="0" err="1"/>
              <a:t>mesh,WGB</a:t>
            </a:r>
            <a:r>
              <a:rPr lang="en-US" dirty="0"/>
              <a:t>)</a:t>
            </a:r>
            <a:endParaRPr lang="sk-SK" dirty="0"/>
          </a:p>
        </p:txBody>
      </p:sp>
    </p:spTree>
    <p:extLst>
      <p:ext uri="{BB962C8B-B14F-4D97-AF65-F5344CB8AC3E}">
        <p14:creationId xmlns:p14="http://schemas.microsoft.com/office/powerpoint/2010/main" val="1438281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41B2-3863-4D51-B1EB-A57C56A8966B}"/>
              </a:ext>
            </a:extLst>
          </p:cNvPr>
          <p:cNvSpPr>
            <a:spLocks noGrp="1"/>
          </p:cNvSpPr>
          <p:nvPr>
            <p:ph type="title"/>
          </p:nvPr>
        </p:nvSpPr>
        <p:spPr/>
        <p:txBody>
          <a:bodyPr/>
          <a:lstStyle/>
          <a:p>
            <a:r>
              <a:rPr lang="en-US" dirty="0"/>
              <a:t>802.11 Frame and CSMA/CA</a:t>
            </a:r>
            <a:endParaRPr lang="sk-SK" dirty="0"/>
          </a:p>
        </p:txBody>
      </p:sp>
      <p:pic>
        <p:nvPicPr>
          <p:cNvPr id="7" name="Picture 6">
            <a:extLst>
              <a:ext uri="{FF2B5EF4-FFF2-40B4-BE49-F238E27FC236}">
                <a16:creationId xmlns:a16="http://schemas.microsoft.com/office/drawing/2014/main" id="{6EF2B0D3-5486-4475-AF91-27CCF9C020C8}"/>
              </a:ext>
            </a:extLst>
          </p:cNvPr>
          <p:cNvPicPr>
            <a:picLocks noChangeAspect="1"/>
          </p:cNvPicPr>
          <p:nvPr/>
        </p:nvPicPr>
        <p:blipFill>
          <a:blip r:embed="rId2"/>
          <a:stretch>
            <a:fillRect/>
          </a:stretch>
        </p:blipFill>
        <p:spPr>
          <a:xfrm>
            <a:off x="838200" y="1616544"/>
            <a:ext cx="6486234" cy="3307672"/>
          </a:xfrm>
          <a:prstGeom prst="rect">
            <a:avLst/>
          </a:prstGeom>
        </p:spPr>
      </p:pic>
      <p:pic>
        <p:nvPicPr>
          <p:cNvPr id="9" name="Picture 8">
            <a:extLst>
              <a:ext uri="{FF2B5EF4-FFF2-40B4-BE49-F238E27FC236}">
                <a16:creationId xmlns:a16="http://schemas.microsoft.com/office/drawing/2014/main" id="{5B03934B-16C6-4079-BDDF-46BA54F25B1A}"/>
              </a:ext>
            </a:extLst>
          </p:cNvPr>
          <p:cNvPicPr>
            <a:picLocks noChangeAspect="1"/>
          </p:cNvPicPr>
          <p:nvPr/>
        </p:nvPicPr>
        <p:blipFill>
          <a:blip r:embed="rId3"/>
          <a:stretch>
            <a:fillRect/>
          </a:stretch>
        </p:blipFill>
        <p:spPr>
          <a:xfrm>
            <a:off x="5087614" y="5082836"/>
            <a:ext cx="6706282" cy="1720333"/>
          </a:xfrm>
          <a:prstGeom prst="rect">
            <a:avLst/>
          </a:prstGeom>
        </p:spPr>
      </p:pic>
      <p:sp>
        <p:nvSpPr>
          <p:cNvPr id="10" name="TextBox 9">
            <a:extLst>
              <a:ext uri="{FF2B5EF4-FFF2-40B4-BE49-F238E27FC236}">
                <a16:creationId xmlns:a16="http://schemas.microsoft.com/office/drawing/2014/main" id="{38721FA7-4B37-4698-97D8-DAA31D47FD15}"/>
              </a:ext>
            </a:extLst>
          </p:cNvPr>
          <p:cNvSpPr txBox="1"/>
          <p:nvPr/>
        </p:nvSpPr>
        <p:spPr>
          <a:xfrm>
            <a:off x="7669762" y="1399592"/>
            <a:ext cx="4124133" cy="1323439"/>
          </a:xfrm>
          <a:prstGeom prst="rect">
            <a:avLst/>
          </a:prstGeom>
          <a:noFill/>
        </p:spPr>
        <p:txBody>
          <a:bodyPr wrap="square" rtlCol="0">
            <a:spAutoFit/>
          </a:bodyPr>
          <a:lstStyle/>
          <a:p>
            <a:r>
              <a:rPr lang="en-US" sz="1600" dirty="0"/>
              <a:t>CSMA/CA – Carrier </a:t>
            </a:r>
            <a:r>
              <a:rPr lang="en-US" sz="1600" dirty="0" err="1"/>
              <a:t>Sence</a:t>
            </a:r>
            <a:r>
              <a:rPr lang="en-US" sz="1600" dirty="0"/>
              <a:t> Multiple Access / Collision Avoidance</a:t>
            </a:r>
          </a:p>
          <a:p>
            <a:r>
              <a:rPr lang="en-US" sz="1600" dirty="0"/>
              <a:t>Backoff timer – contention window (0-31 slots)</a:t>
            </a:r>
          </a:p>
          <a:p>
            <a:r>
              <a:rPr lang="en-US" sz="1600" dirty="0"/>
              <a:t>DIFS – distributed interframe space</a:t>
            </a:r>
          </a:p>
          <a:p>
            <a:r>
              <a:rPr lang="en-US" sz="1600" dirty="0"/>
              <a:t>FRAME (in the example) = DATA + SIFS + ACK</a:t>
            </a:r>
            <a:endParaRPr lang="sk-SK" sz="1600" dirty="0"/>
          </a:p>
        </p:txBody>
      </p:sp>
      <p:sp>
        <p:nvSpPr>
          <p:cNvPr id="11" name="TextBox 10">
            <a:extLst>
              <a:ext uri="{FF2B5EF4-FFF2-40B4-BE49-F238E27FC236}">
                <a16:creationId xmlns:a16="http://schemas.microsoft.com/office/drawing/2014/main" id="{A6D99B32-6580-48B9-A180-BAC9284EB7D8}"/>
              </a:ext>
            </a:extLst>
          </p:cNvPr>
          <p:cNvSpPr txBox="1"/>
          <p:nvPr/>
        </p:nvSpPr>
        <p:spPr>
          <a:xfrm>
            <a:off x="913702" y="1399592"/>
            <a:ext cx="1972112" cy="646331"/>
          </a:xfrm>
          <a:prstGeom prst="rect">
            <a:avLst/>
          </a:prstGeom>
          <a:noFill/>
        </p:spPr>
        <p:txBody>
          <a:bodyPr wrap="square" rtlCol="0">
            <a:spAutoFit/>
          </a:bodyPr>
          <a:lstStyle/>
          <a:p>
            <a:r>
              <a:rPr lang="en-US" sz="1800" dirty="0"/>
              <a:t>CSMA/CA example</a:t>
            </a:r>
          </a:p>
          <a:p>
            <a:endParaRPr lang="sk-SK" dirty="0"/>
          </a:p>
        </p:txBody>
      </p:sp>
    </p:spTree>
    <p:extLst>
      <p:ext uri="{BB962C8B-B14F-4D97-AF65-F5344CB8AC3E}">
        <p14:creationId xmlns:p14="http://schemas.microsoft.com/office/powerpoint/2010/main" val="2271331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0F09-6684-4D23-AD01-6D83624C9C1A}"/>
              </a:ext>
            </a:extLst>
          </p:cNvPr>
          <p:cNvSpPr>
            <a:spLocks noGrp="1"/>
          </p:cNvSpPr>
          <p:nvPr>
            <p:ph type="title"/>
          </p:nvPr>
        </p:nvSpPr>
        <p:spPr/>
        <p:txBody>
          <a:bodyPr/>
          <a:lstStyle/>
          <a:p>
            <a:r>
              <a:rPr lang="en-US" dirty="0"/>
              <a:t>802.11 Frame and CSMA/CA</a:t>
            </a:r>
            <a:endParaRPr lang="sk-SK" dirty="0"/>
          </a:p>
        </p:txBody>
      </p:sp>
      <p:sp>
        <p:nvSpPr>
          <p:cNvPr id="3" name="Content Placeholder 2">
            <a:extLst>
              <a:ext uri="{FF2B5EF4-FFF2-40B4-BE49-F238E27FC236}">
                <a16:creationId xmlns:a16="http://schemas.microsoft.com/office/drawing/2014/main" id="{71DEAA86-DCA5-4EC3-A029-9A4D0877249D}"/>
              </a:ext>
            </a:extLst>
          </p:cNvPr>
          <p:cNvSpPr>
            <a:spLocks noGrp="1"/>
          </p:cNvSpPr>
          <p:nvPr>
            <p:ph idx="1"/>
          </p:nvPr>
        </p:nvSpPr>
        <p:spPr/>
        <p:txBody>
          <a:bodyPr>
            <a:normAutofit/>
          </a:bodyPr>
          <a:lstStyle/>
          <a:p>
            <a:r>
              <a:rPr lang="en-US" dirty="0"/>
              <a:t>Frame Types</a:t>
            </a:r>
          </a:p>
          <a:p>
            <a:pPr lvl="1"/>
            <a:r>
              <a:rPr lang="en-US" dirty="0"/>
              <a:t>Data frames</a:t>
            </a:r>
          </a:p>
          <a:p>
            <a:pPr lvl="1"/>
            <a:r>
              <a:rPr lang="en-US" dirty="0"/>
              <a:t>Control frame</a:t>
            </a:r>
          </a:p>
          <a:p>
            <a:pPr lvl="2"/>
            <a:r>
              <a:rPr lang="en-US" dirty="0"/>
              <a:t>RTS (request to send)</a:t>
            </a:r>
          </a:p>
          <a:p>
            <a:pPr lvl="2"/>
            <a:r>
              <a:rPr lang="en-US" dirty="0"/>
              <a:t>CTS (clear to send)</a:t>
            </a:r>
          </a:p>
          <a:p>
            <a:pPr lvl="2"/>
            <a:r>
              <a:rPr lang="en-US" dirty="0"/>
              <a:t>ACK (acknowledgement)</a:t>
            </a:r>
          </a:p>
          <a:p>
            <a:pPr lvl="1"/>
            <a:r>
              <a:rPr lang="en-US" dirty="0"/>
              <a:t>Management frame</a:t>
            </a:r>
          </a:p>
          <a:p>
            <a:pPr lvl="2"/>
            <a:r>
              <a:rPr lang="en-US" dirty="0"/>
              <a:t>Beacon</a:t>
            </a:r>
          </a:p>
          <a:p>
            <a:pPr lvl="2"/>
            <a:r>
              <a:rPr lang="en-US" dirty="0"/>
              <a:t>Probe request/response</a:t>
            </a:r>
          </a:p>
          <a:p>
            <a:pPr lvl="2"/>
            <a:r>
              <a:rPr lang="en-US" dirty="0"/>
              <a:t>Authentication/</a:t>
            </a:r>
            <a:r>
              <a:rPr lang="en-US" dirty="0" err="1"/>
              <a:t>Deauthentication</a:t>
            </a:r>
            <a:endParaRPr lang="en-US" dirty="0"/>
          </a:p>
          <a:p>
            <a:pPr lvl="2"/>
            <a:r>
              <a:rPr lang="sk-SK" dirty="0"/>
              <a:t>Association </a:t>
            </a:r>
            <a:r>
              <a:rPr lang="sk-SK" dirty="0" err="1"/>
              <a:t>Request</a:t>
            </a:r>
            <a:r>
              <a:rPr lang="en-US" dirty="0"/>
              <a:t>/Response, </a:t>
            </a:r>
            <a:r>
              <a:rPr lang="sk-SK" dirty="0" err="1"/>
              <a:t>Reassociation</a:t>
            </a:r>
            <a:r>
              <a:rPr lang="sk-SK" dirty="0"/>
              <a:t> </a:t>
            </a:r>
            <a:r>
              <a:rPr lang="sk-SK" dirty="0" err="1"/>
              <a:t>Request</a:t>
            </a:r>
            <a:r>
              <a:rPr lang="en-US" dirty="0"/>
              <a:t>/Response, Dis</a:t>
            </a:r>
            <a:r>
              <a:rPr lang="sk-SK" dirty="0"/>
              <a:t>association</a:t>
            </a:r>
            <a:endParaRPr lang="en-US" dirty="0"/>
          </a:p>
        </p:txBody>
      </p:sp>
    </p:spTree>
    <p:extLst>
      <p:ext uri="{BB962C8B-B14F-4D97-AF65-F5344CB8AC3E}">
        <p14:creationId xmlns:p14="http://schemas.microsoft.com/office/powerpoint/2010/main" val="919154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Cisco Wireless Network Architecture</a:t>
            </a:r>
            <a:endParaRPr lang="en-US" dirty="0"/>
          </a:p>
        </p:txBody>
      </p:sp>
      <p:sp>
        <p:nvSpPr>
          <p:cNvPr id="3" name="Content Placeholder 2"/>
          <p:cNvSpPr>
            <a:spLocks noGrp="1"/>
          </p:cNvSpPr>
          <p:nvPr>
            <p:ph idx="1"/>
          </p:nvPr>
        </p:nvSpPr>
        <p:spPr>
          <a:xfrm>
            <a:off x="838200" y="1825625"/>
            <a:ext cx="10515600" cy="4664386"/>
          </a:xfrm>
        </p:spPr>
        <p:txBody>
          <a:bodyPr>
            <a:normAutofit fontScale="62500" lnSpcReduction="20000"/>
          </a:bodyPr>
          <a:lstStyle/>
          <a:p>
            <a:r>
              <a:rPr lang="en-US" dirty="0"/>
              <a:t>Autonomous architecture</a:t>
            </a:r>
          </a:p>
          <a:p>
            <a:pPr lvl="1"/>
            <a:r>
              <a:rPr lang="en-US" dirty="0"/>
              <a:t>Autonomous APs, access switches, distribution switches</a:t>
            </a:r>
          </a:p>
          <a:p>
            <a:pPr lvl="1"/>
            <a:r>
              <a:rPr lang="en-US" dirty="0"/>
              <a:t>offering one or more fully functional standalone BSSs</a:t>
            </a:r>
          </a:p>
          <a:p>
            <a:pPr lvl="1"/>
            <a:r>
              <a:rPr lang="en-US" dirty="0"/>
              <a:t>different SSIDs are linked to different VLANs</a:t>
            </a:r>
          </a:p>
          <a:p>
            <a:pPr lvl="1"/>
            <a:r>
              <a:rPr lang="en-US" dirty="0"/>
              <a:t>each AP must be configured locally</a:t>
            </a:r>
          </a:p>
          <a:p>
            <a:pPr marL="457200" lvl="1" indent="0">
              <a:buNone/>
            </a:pPr>
            <a:endParaRPr lang="en-US" dirty="0"/>
          </a:p>
          <a:p>
            <a:r>
              <a:rPr lang="en-US" dirty="0"/>
              <a:t>Controller based (split-MAC) architecture</a:t>
            </a:r>
          </a:p>
          <a:p>
            <a:pPr lvl="1"/>
            <a:r>
              <a:rPr lang="en-US" dirty="0"/>
              <a:t>Lightweight APs (LAPs) are centrally managed and configured by the WLC</a:t>
            </a:r>
          </a:p>
          <a:p>
            <a:pPr lvl="1"/>
            <a:r>
              <a:rPr lang="en-US" dirty="0"/>
              <a:t>Wireless LAN Controller (WLC) performs</a:t>
            </a:r>
          </a:p>
          <a:p>
            <a:pPr lvl="2"/>
            <a:r>
              <a:rPr lang="en-US" dirty="0"/>
              <a:t>RF management</a:t>
            </a:r>
          </a:p>
          <a:p>
            <a:pPr lvl="2"/>
            <a:r>
              <a:rPr lang="en-US" dirty="0"/>
              <a:t>association and roaming management</a:t>
            </a:r>
          </a:p>
          <a:p>
            <a:pPr lvl="2"/>
            <a:r>
              <a:rPr lang="en-US" dirty="0"/>
              <a:t>client authentication</a:t>
            </a:r>
          </a:p>
          <a:p>
            <a:pPr lvl="2"/>
            <a:r>
              <a:rPr lang="en-US" dirty="0"/>
              <a:t>management of security policies</a:t>
            </a:r>
          </a:p>
          <a:p>
            <a:pPr lvl="2"/>
            <a:r>
              <a:rPr lang="en-US" dirty="0" err="1"/>
              <a:t>QoS</a:t>
            </a:r>
            <a:r>
              <a:rPr lang="en-US" dirty="0"/>
              <a:t> </a:t>
            </a:r>
          </a:p>
          <a:p>
            <a:pPr lvl="1"/>
            <a:r>
              <a:rPr lang="en-US" dirty="0"/>
              <a:t>LAP itself performs real-time 802.11 interaction</a:t>
            </a:r>
          </a:p>
          <a:p>
            <a:pPr lvl="2"/>
            <a:r>
              <a:rPr lang="en-US" dirty="0"/>
              <a:t>RF Transmit/Receive of Data</a:t>
            </a:r>
          </a:p>
          <a:p>
            <a:pPr lvl="2"/>
            <a:r>
              <a:rPr lang="en-US" dirty="0"/>
              <a:t>Data Encryption</a:t>
            </a:r>
          </a:p>
          <a:p>
            <a:pPr lvl="1"/>
            <a:r>
              <a:rPr lang="en-US" dirty="0"/>
              <a:t>2 CAPWAP (Control and Provisioning of Wireless AP) tunnels are created btw. WLC and LAPs</a:t>
            </a:r>
          </a:p>
          <a:p>
            <a:pPr lvl="2"/>
            <a:r>
              <a:rPr lang="en-US" dirty="0"/>
              <a:t>CAPWAP control messages (encrypted and authenticated) transported over 5246 UDP port</a:t>
            </a:r>
          </a:p>
          <a:p>
            <a:pPr lvl="2"/>
            <a:r>
              <a:rPr lang="en-US" dirty="0"/>
              <a:t>CAPWAP data (not encrypted by default) transported over the 5247 UDP</a:t>
            </a:r>
          </a:p>
        </p:txBody>
      </p:sp>
    </p:spTree>
    <p:extLst>
      <p:ext uri="{BB962C8B-B14F-4D97-AF65-F5344CB8AC3E}">
        <p14:creationId xmlns:p14="http://schemas.microsoft.com/office/powerpoint/2010/main" val="3900638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Autonomous Architecture</a:t>
            </a:r>
          </a:p>
        </p:txBody>
      </p:sp>
      <p:pic>
        <p:nvPicPr>
          <p:cNvPr id="4" name="Picture 3"/>
          <p:cNvPicPr>
            <a:picLocks noChangeAspect="1"/>
          </p:cNvPicPr>
          <p:nvPr/>
        </p:nvPicPr>
        <p:blipFill>
          <a:blip r:embed="rId2"/>
          <a:stretch>
            <a:fillRect/>
          </a:stretch>
        </p:blipFill>
        <p:spPr>
          <a:xfrm>
            <a:off x="2263698" y="1808808"/>
            <a:ext cx="7493617" cy="4947477"/>
          </a:xfrm>
          <a:prstGeom prst="rect">
            <a:avLst/>
          </a:prstGeom>
        </p:spPr>
      </p:pic>
    </p:spTree>
    <p:extLst>
      <p:ext uri="{BB962C8B-B14F-4D97-AF65-F5344CB8AC3E}">
        <p14:creationId xmlns:p14="http://schemas.microsoft.com/office/powerpoint/2010/main" val="8124665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Controller-based Architecture</a:t>
            </a:r>
          </a:p>
        </p:txBody>
      </p:sp>
      <p:pic>
        <p:nvPicPr>
          <p:cNvPr id="4" name="Picture 3"/>
          <p:cNvPicPr>
            <a:picLocks noChangeAspect="1"/>
          </p:cNvPicPr>
          <p:nvPr/>
        </p:nvPicPr>
        <p:blipFill>
          <a:blip r:embed="rId2"/>
          <a:stretch>
            <a:fillRect/>
          </a:stretch>
        </p:blipFill>
        <p:spPr>
          <a:xfrm>
            <a:off x="7612043" y="1690688"/>
            <a:ext cx="4202603" cy="3860530"/>
          </a:xfrm>
          <a:prstGeom prst="rect">
            <a:avLst/>
          </a:prstGeom>
        </p:spPr>
      </p:pic>
      <p:pic>
        <p:nvPicPr>
          <p:cNvPr id="5" name="Picture 4"/>
          <p:cNvPicPr>
            <a:picLocks noChangeAspect="1"/>
          </p:cNvPicPr>
          <p:nvPr/>
        </p:nvPicPr>
        <p:blipFill>
          <a:blip r:embed="rId3"/>
          <a:stretch>
            <a:fillRect/>
          </a:stretch>
        </p:blipFill>
        <p:spPr>
          <a:xfrm>
            <a:off x="580328" y="1690688"/>
            <a:ext cx="7031715" cy="4687810"/>
          </a:xfrm>
          <a:prstGeom prst="rect">
            <a:avLst/>
          </a:prstGeom>
        </p:spPr>
      </p:pic>
    </p:spTree>
    <p:extLst>
      <p:ext uri="{BB962C8B-B14F-4D97-AF65-F5344CB8AC3E}">
        <p14:creationId xmlns:p14="http://schemas.microsoft.com/office/powerpoint/2010/main" val="873770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LAN Controller Models</a:t>
            </a:r>
          </a:p>
        </p:txBody>
      </p:sp>
      <p:sp>
        <p:nvSpPr>
          <p:cNvPr id="5" name="Content Placeholder 2"/>
          <p:cNvSpPr>
            <a:spLocks noGrp="1"/>
          </p:cNvSpPr>
          <p:nvPr>
            <p:ph idx="1"/>
          </p:nvPr>
        </p:nvSpPr>
        <p:spPr>
          <a:xfrm>
            <a:off x="838200" y="1825625"/>
            <a:ext cx="10515600" cy="2724073"/>
          </a:xfrm>
        </p:spPr>
        <p:txBody>
          <a:bodyPr>
            <a:normAutofit/>
          </a:bodyPr>
          <a:lstStyle/>
          <a:p>
            <a:r>
              <a:rPr lang="en-US" dirty="0"/>
              <a:t>Small size WLC</a:t>
            </a:r>
          </a:p>
          <a:p>
            <a:pPr lvl="1"/>
            <a:r>
              <a:rPr lang="en-US" dirty="0"/>
              <a:t>2504/3504 (75/150 APs, 1000/3000 clients)</a:t>
            </a:r>
          </a:p>
          <a:p>
            <a:r>
              <a:rPr lang="en-US" dirty="0"/>
              <a:t>Middle size WLC</a:t>
            </a:r>
          </a:p>
          <a:p>
            <a:pPr lvl="1"/>
            <a:r>
              <a:rPr lang="en-US" dirty="0"/>
              <a:t>Virtual WLC, 5508, 5520, WiSM2 (200-1500 APs, 6000-20000 clients)</a:t>
            </a:r>
          </a:p>
          <a:p>
            <a:r>
              <a:rPr lang="en-US" dirty="0"/>
              <a:t>Enterprise WLC</a:t>
            </a:r>
          </a:p>
          <a:p>
            <a:pPr lvl="1"/>
            <a:r>
              <a:rPr lang="en-US" dirty="0"/>
              <a:t>8510, 8540 (6000 APs, 64000 clients)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5853" y="5240492"/>
            <a:ext cx="3826727" cy="868986"/>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326" y="4714805"/>
            <a:ext cx="3416392" cy="192036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3718" y="4549698"/>
            <a:ext cx="3412272" cy="2274848"/>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7FB8BEA0-45C9-AD09-C7CC-42319504A9F4}"/>
                  </a:ext>
                </a:extLst>
              </p14:cNvPr>
              <p14:cNvContentPartPr/>
              <p14:nvPr/>
            </p14:nvContentPartPr>
            <p14:xfrm>
              <a:off x="333720" y="4373280"/>
              <a:ext cx="597600" cy="84240"/>
            </p14:xfrm>
          </p:contentPart>
        </mc:Choice>
        <mc:Fallback>
          <p:pic>
            <p:nvPicPr>
              <p:cNvPr id="3" name="Ink 2">
                <a:extLst>
                  <a:ext uri="{FF2B5EF4-FFF2-40B4-BE49-F238E27FC236}">
                    <a16:creationId xmlns:a16="http://schemas.microsoft.com/office/drawing/2014/main" id="{7FB8BEA0-45C9-AD09-C7CC-42319504A9F4}"/>
                  </a:ext>
                </a:extLst>
              </p:cNvPr>
              <p:cNvPicPr/>
              <p:nvPr/>
            </p:nvPicPr>
            <p:blipFill>
              <a:blip r:embed="rId6"/>
              <a:stretch>
                <a:fillRect/>
              </a:stretch>
            </p:blipFill>
            <p:spPr>
              <a:xfrm>
                <a:off x="324360" y="4363920"/>
                <a:ext cx="616320" cy="102960"/>
              </a:xfrm>
              <a:prstGeom prst="rect">
                <a:avLst/>
              </a:prstGeom>
            </p:spPr>
          </p:pic>
        </mc:Fallback>
      </mc:AlternateContent>
    </p:spTree>
    <p:extLst>
      <p:ext uri="{BB962C8B-B14F-4D97-AF65-F5344CB8AC3E}">
        <p14:creationId xmlns:p14="http://schemas.microsoft.com/office/powerpoint/2010/main" val="2347342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Point models</a:t>
            </a:r>
          </a:p>
        </p:txBody>
      </p:sp>
      <p:sp>
        <p:nvSpPr>
          <p:cNvPr id="3" name="Content Placeholder 2"/>
          <p:cNvSpPr>
            <a:spLocks noGrp="1"/>
          </p:cNvSpPr>
          <p:nvPr>
            <p:ph idx="1"/>
          </p:nvPr>
        </p:nvSpPr>
        <p:spPr/>
        <p:txBody>
          <a:bodyPr/>
          <a:lstStyle/>
          <a:p>
            <a:r>
              <a:rPr lang="en-US" dirty="0"/>
              <a:t>Indoor (802.11ac models)</a:t>
            </a:r>
          </a:p>
          <a:p>
            <a:pPr lvl="1"/>
            <a:r>
              <a:rPr lang="en-US" dirty="0"/>
              <a:t>1700/1800 series</a:t>
            </a:r>
          </a:p>
          <a:p>
            <a:pPr lvl="1"/>
            <a:r>
              <a:rPr lang="en-US" dirty="0"/>
              <a:t>2700/2800 series</a:t>
            </a:r>
          </a:p>
          <a:p>
            <a:pPr lvl="1"/>
            <a:r>
              <a:rPr lang="en-US" dirty="0"/>
              <a:t>3700/3800 series</a:t>
            </a:r>
          </a:p>
          <a:p>
            <a:pPr lvl="1"/>
            <a:r>
              <a:rPr lang="en-US" dirty="0"/>
              <a:t>4800 series</a:t>
            </a:r>
          </a:p>
          <a:p>
            <a:r>
              <a:rPr lang="en-US" dirty="0"/>
              <a:t>Outdoor</a:t>
            </a:r>
          </a:p>
          <a:p>
            <a:pPr lvl="1"/>
            <a:r>
              <a:rPr lang="en-US" dirty="0"/>
              <a:t>1530/1540/1552/1560/1570 series </a:t>
            </a:r>
          </a:p>
          <a:p>
            <a:r>
              <a:rPr lang="en-US" dirty="0"/>
              <a:t>Catalyst 91xx series</a:t>
            </a:r>
          </a:p>
          <a:p>
            <a:pPr lvl="1"/>
            <a:r>
              <a:rPr lang="en-US" dirty="0"/>
              <a:t>Wi-Fi 6 models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2771" y="1240263"/>
            <a:ext cx="3657600" cy="1752600"/>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29459" t="-1497" r="26394" b="-1"/>
          <a:stretch/>
        </p:blipFill>
        <p:spPr>
          <a:xfrm>
            <a:off x="8571571" y="2992863"/>
            <a:ext cx="1471961" cy="2256070"/>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9805" r="21709" b="636"/>
          <a:stretch/>
        </p:blipFill>
        <p:spPr>
          <a:xfrm>
            <a:off x="6646126" y="4951140"/>
            <a:ext cx="1817649" cy="1739591"/>
          </a:xfrm>
          <a:prstGeom prst="rect">
            <a:avLst/>
          </a:prstGeom>
        </p:spPr>
      </p:pic>
    </p:spTree>
    <p:extLst>
      <p:ext uri="{BB962C8B-B14F-4D97-AF65-F5344CB8AC3E}">
        <p14:creationId xmlns:p14="http://schemas.microsoft.com/office/powerpoint/2010/main" val="3534507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 mobility (Roaming)</a:t>
            </a:r>
          </a:p>
        </p:txBody>
      </p:sp>
      <p:sp>
        <p:nvSpPr>
          <p:cNvPr id="3" name="Content Placeholder 2"/>
          <p:cNvSpPr>
            <a:spLocks noGrp="1"/>
          </p:cNvSpPr>
          <p:nvPr>
            <p:ph idx="1"/>
          </p:nvPr>
        </p:nvSpPr>
        <p:spPr>
          <a:xfrm>
            <a:off x="838200" y="1825625"/>
            <a:ext cx="10515600" cy="4724804"/>
          </a:xfrm>
        </p:spPr>
        <p:txBody>
          <a:bodyPr>
            <a:normAutofit fontScale="55000" lnSpcReduction="20000"/>
          </a:bodyPr>
          <a:lstStyle/>
          <a:p>
            <a:r>
              <a:rPr lang="en-US" dirty="0"/>
              <a:t>WLAN clients expect</a:t>
            </a:r>
          </a:p>
          <a:p>
            <a:pPr lvl="1"/>
            <a:r>
              <a:rPr lang="en-US" dirty="0"/>
              <a:t>good, seamless coverage whenever go</a:t>
            </a:r>
          </a:p>
          <a:p>
            <a:r>
              <a:rPr lang="en-US" dirty="0"/>
              <a:t>Clients know how to roam and ignore WLAN infrastructure</a:t>
            </a:r>
          </a:p>
          <a:p>
            <a:pPr lvl="1"/>
            <a:r>
              <a:rPr lang="en-US" dirty="0"/>
              <a:t>have their own algorithms for roaming, own written driver</a:t>
            </a:r>
          </a:p>
          <a:p>
            <a:r>
              <a:rPr lang="en-US" dirty="0"/>
              <a:t>Clean roaming requires</a:t>
            </a:r>
          </a:p>
          <a:p>
            <a:pPr lvl="1"/>
            <a:r>
              <a:rPr lang="en-US" dirty="0"/>
              <a:t>Neighboring APs should use different non-overlapping channels</a:t>
            </a:r>
          </a:p>
          <a:p>
            <a:pPr lvl="1"/>
            <a:r>
              <a:rPr lang="en-US" dirty="0"/>
              <a:t>Cell coverage overlap is usually 15% - 20% for voice service (cisco advice)</a:t>
            </a:r>
          </a:p>
          <a:p>
            <a:pPr lvl="1"/>
            <a:r>
              <a:rPr lang="en-US" dirty="0"/>
              <a:t>Cell coverage overlap is usually 10% - 15% for most data apps (cisco advice)</a:t>
            </a:r>
          </a:p>
          <a:p>
            <a:r>
              <a:rPr lang="en-US" dirty="0"/>
              <a:t>Client undergo</a:t>
            </a:r>
          </a:p>
          <a:p>
            <a:pPr lvl="1"/>
            <a:r>
              <a:rPr lang="en-US" dirty="0"/>
              <a:t>re-association</a:t>
            </a:r>
          </a:p>
          <a:p>
            <a:pPr lvl="1"/>
            <a:r>
              <a:rPr lang="en-US" dirty="0"/>
              <a:t>DHCP renew</a:t>
            </a:r>
          </a:p>
          <a:p>
            <a:pPr lvl="1"/>
            <a:r>
              <a:rPr lang="en-US" dirty="0"/>
              <a:t>re-authentication</a:t>
            </a:r>
          </a:p>
          <a:p>
            <a:pPr lvl="1"/>
            <a:r>
              <a:rPr lang="en-US" dirty="0"/>
              <a:t>Cisco WLCs utilize following features to eliminate the complete process of re-association, DHCP renew and re-authentication</a:t>
            </a:r>
          </a:p>
          <a:p>
            <a:pPr lvl="2"/>
            <a:r>
              <a:rPr lang="en-US" dirty="0"/>
              <a:t>CCKM (Cisco </a:t>
            </a:r>
            <a:r>
              <a:rPr lang="en-US" dirty="0" err="1"/>
              <a:t>Centralised</a:t>
            </a:r>
            <a:r>
              <a:rPr lang="en-US" dirty="0"/>
              <a:t> Key Management) – WLC keeps DBs of clients and keys to share with other WLCs in case of roaming, this feature requires CCX (Cisco Compatible </a:t>
            </a:r>
            <a:r>
              <a:rPr lang="en-US" dirty="0" err="1"/>
              <a:t>Extentions</a:t>
            </a:r>
            <a:r>
              <a:rPr lang="en-US" dirty="0"/>
              <a:t>) on the client to operate correctly</a:t>
            </a:r>
          </a:p>
          <a:p>
            <a:pPr lvl="2"/>
            <a:r>
              <a:rPr lang="en-US" dirty="0"/>
              <a:t>Key Caching – each client keeps the list of keys used with prior AP associations (limited to 8 AP-key entries)</a:t>
            </a:r>
          </a:p>
          <a:p>
            <a:pPr lvl="2"/>
            <a:r>
              <a:rPr lang="en-US" dirty="0"/>
              <a:t>802.11r (fast roaming, fast BSS transitions) – client can cache a portion of the authentication server’s key and present that to future APs as it roams</a:t>
            </a:r>
          </a:p>
          <a:p>
            <a:r>
              <a:rPr lang="en-US" dirty="0"/>
              <a:t>Roaming btw. autonomous APs</a:t>
            </a:r>
          </a:p>
          <a:p>
            <a:r>
              <a:rPr lang="en-US" dirty="0" err="1"/>
              <a:t>Intracontroller</a:t>
            </a:r>
            <a:r>
              <a:rPr lang="en-US" dirty="0"/>
              <a:t> roaming</a:t>
            </a:r>
          </a:p>
          <a:p>
            <a:r>
              <a:rPr lang="en-US" dirty="0" err="1"/>
              <a:t>Intercontroller</a:t>
            </a:r>
            <a:r>
              <a:rPr lang="en-US" dirty="0"/>
              <a:t> roaming</a:t>
            </a:r>
          </a:p>
          <a:p>
            <a:pPr lvl="1"/>
            <a:r>
              <a:rPr lang="en-US" dirty="0"/>
              <a:t>must use the same Mobility Group for seamless roaming</a:t>
            </a:r>
          </a:p>
        </p:txBody>
      </p:sp>
    </p:spTree>
    <p:extLst>
      <p:ext uri="{BB962C8B-B14F-4D97-AF65-F5344CB8AC3E}">
        <p14:creationId xmlns:p14="http://schemas.microsoft.com/office/powerpoint/2010/main" val="3476236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 mobility (Roaming)</a:t>
            </a:r>
          </a:p>
        </p:txBody>
      </p:sp>
      <p:sp>
        <p:nvSpPr>
          <p:cNvPr id="3" name="Content Placeholder 2"/>
          <p:cNvSpPr>
            <a:spLocks noGrp="1"/>
          </p:cNvSpPr>
          <p:nvPr>
            <p:ph idx="1"/>
          </p:nvPr>
        </p:nvSpPr>
        <p:spPr/>
        <p:txBody>
          <a:bodyPr/>
          <a:lstStyle/>
          <a:p>
            <a:r>
              <a:rPr lang="en-US" dirty="0"/>
              <a:t>Autonomous AP’s client roaming</a:t>
            </a:r>
          </a:p>
        </p:txBody>
      </p:sp>
      <p:pic>
        <p:nvPicPr>
          <p:cNvPr id="4" name="Picture 3"/>
          <p:cNvPicPr>
            <a:picLocks noChangeAspect="1"/>
          </p:cNvPicPr>
          <p:nvPr/>
        </p:nvPicPr>
        <p:blipFill>
          <a:blip r:embed="rId2"/>
          <a:stretch>
            <a:fillRect/>
          </a:stretch>
        </p:blipFill>
        <p:spPr>
          <a:xfrm>
            <a:off x="838199" y="2269259"/>
            <a:ext cx="4547425" cy="4106603"/>
          </a:xfrm>
          <a:prstGeom prst="rect">
            <a:avLst/>
          </a:prstGeom>
        </p:spPr>
      </p:pic>
      <p:pic>
        <p:nvPicPr>
          <p:cNvPr id="5" name="Picture 4"/>
          <p:cNvPicPr>
            <a:picLocks noChangeAspect="1"/>
          </p:cNvPicPr>
          <p:nvPr/>
        </p:nvPicPr>
        <p:blipFill>
          <a:blip r:embed="rId3"/>
          <a:stretch>
            <a:fillRect/>
          </a:stretch>
        </p:blipFill>
        <p:spPr>
          <a:xfrm>
            <a:off x="6851853" y="2269259"/>
            <a:ext cx="4071072" cy="4124943"/>
          </a:xfrm>
          <a:prstGeom prst="rect">
            <a:avLst/>
          </a:prstGeom>
        </p:spPr>
      </p:pic>
    </p:spTree>
    <p:extLst>
      <p:ext uri="{BB962C8B-B14F-4D97-AF65-F5344CB8AC3E}">
        <p14:creationId xmlns:p14="http://schemas.microsoft.com/office/powerpoint/2010/main" val="8473770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 mobility (Roaming)</a:t>
            </a:r>
          </a:p>
        </p:txBody>
      </p:sp>
      <p:sp>
        <p:nvSpPr>
          <p:cNvPr id="3" name="Content Placeholder 2"/>
          <p:cNvSpPr>
            <a:spLocks noGrp="1"/>
          </p:cNvSpPr>
          <p:nvPr>
            <p:ph idx="1"/>
          </p:nvPr>
        </p:nvSpPr>
        <p:spPr/>
        <p:txBody>
          <a:bodyPr/>
          <a:lstStyle/>
          <a:p>
            <a:r>
              <a:rPr lang="en-US" dirty="0" err="1"/>
              <a:t>Intracontroller</a:t>
            </a:r>
            <a:r>
              <a:rPr lang="en-US" dirty="0"/>
              <a:t> roaming</a:t>
            </a:r>
          </a:p>
        </p:txBody>
      </p:sp>
      <p:pic>
        <p:nvPicPr>
          <p:cNvPr id="4" name="Picture 3"/>
          <p:cNvPicPr>
            <a:picLocks noChangeAspect="1"/>
          </p:cNvPicPr>
          <p:nvPr/>
        </p:nvPicPr>
        <p:blipFill>
          <a:blip r:embed="rId2"/>
          <a:stretch>
            <a:fillRect/>
          </a:stretch>
        </p:blipFill>
        <p:spPr>
          <a:xfrm>
            <a:off x="838200" y="2312529"/>
            <a:ext cx="4613478" cy="3999371"/>
          </a:xfrm>
          <a:prstGeom prst="rect">
            <a:avLst/>
          </a:prstGeom>
        </p:spPr>
      </p:pic>
      <p:pic>
        <p:nvPicPr>
          <p:cNvPr id="5" name="Picture 4"/>
          <p:cNvPicPr>
            <a:picLocks noChangeAspect="1"/>
          </p:cNvPicPr>
          <p:nvPr/>
        </p:nvPicPr>
        <p:blipFill>
          <a:blip r:embed="rId3"/>
          <a:stretch>
            <a:fillRect/>
          </a:stretch>
        </p:blipFill>
        <p:spPr>
          <a:xfrm>
            <a:off x="6544886" y="2312529"/>
            <a:ext cx="4619105" cy="3935077"/>
          </a:xfrm>
          <a:prstGeom prst="rect">
            <a:avLst/>
          </a:prstGeom>
        </p:spPr>
      </p:pic>
    </p:spTree>
    <p:extLst>
      <p:ext uri="{BB962C8B-B14F-4D97-AF65-F5344CB8AC3E}">
        <p14:creationId xmlns:p14="http://schemas.microsoft.com/office/powerpoint/2010/main" val="2776022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 mobility (Roaming)</a:t>
            </a:r>
          </a:p>
        </p:txBody>
      </p:sp>
      <p:sp>
        <p:nvSpPr>
          <p:cNvPr id="3" name="Content Placeholder 2"/>
          <p:cNvSpPr>
            <a:spLocks noGrp="1"/>
          </p:cNvSpPr>
          <p:nvPr>
            <p:ph idx="1"/>
          </p:nvPr>
        </p:nvSpPr>
        <p:spPr/>
        <p:txBody>
          <a:bodyPr/>
          <a:lstStyle/>
          <a:p>
            <a:r>
              <a:rPr lang="en-US" dirty="0" err="1"/>
              <a:t>Intercontroller</a:t>
            </a:r>
            <a:r>
              <a:rPr lang="en-US" dirty="0"/>
              <a:t> roaming L2</a:t>
            </a:r>
          </a:p>
        </p:txBody>
      </p:sp>
      <p:pic>
        <p:nvPicPr>
          <p:cNvPr id="4" name="Picture 3"/>
          <p:cNvPicPr>
            <a:picLocks noChangeAspect="1"/>
          </p:cNvPicPr>
          <p:nvPr/>
        </p:nvPicPr>
        <p:blipFill>
          <a:blip r:embed="rId2"/>
          <a:stretch>
            <a:fillRect/>
          </a:stretch>
        </p:blipFill>
        <p:spPr>
          <a:xfrm>
            <a:off x="1074766" y="2391566"/>
            <a:ext cx="4203816" cy="4178991"/>
          </a:xfrm>
          <a:prstGeom prst="rect">
            <a:avLst/>
          </a:prstGeom>
        </p:spPr>
      </p:pic>
      <p:pic>
        <p:nvPicPr>
          <p:cNvPr id="5" name="Picture 4"/>
          <p:cNvPicPr>
            <a:picLocks noChangeAspect="1"/>
          </p:cNvPicPr>
          <p:nvPr/>
        </p:nvPicPr>
        <p:blipFill>
          <a:blip r:embed="rId3"/>
          <a:stretch>
            <a:fillRect/>
          </a:stretch>
        </p:blipFill>
        <p:spPr>
          <a:xfrm>
            <a:off x="6852111" y="2391566"/>
            <a:ext cx="4237067" cy="4237067"/>
          </a:xfrm>
          <a:prstGeom prst="rect">
            <a:avLst/>
          </a:prstGeom>
        </p:spPr>
      </p:pic>
    </p:spTree>
    <p:extLst>
      <p:ext uri="{BB962C8B-B14F-4D97-AF65-F5344CB8AC3E}">
        <p14:creationId xmlns:p14="http://schemas.microsoft.com/office/powerpoint/2010/main" val="510211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 mobility (Roaming)</a:t>
            </a:r>
          </a:p>
        </p:txBody>
      </p:sp>
      <p:sp>
        <p:nvSpPr>
          <p:cNvPr id="3" name="Content Placeholder 2"/>
          <p:cNvSpPr>
            <a:spLocks noGrp="1"/>
          </p:cNvSpPr>
          <p:nvPr>
            <p:ph idx="1"/>
          </p:nvPr>
        </p:nvSpPr>
        <p:spPr/>
        <p:txBody>
          <a:bodyPr/>
          <a:lstStyle/>
          <a:p>
            <a:r>
              <a:rPr lang="en-US" dirty="0" err="1"/>
              <a:t>Intercontroller</a:t>
            </a:r>
            <a:r>
              <a:rPr lang="en-US" dirty="0"/>
              <a:t> roaming L3</a:t>
            </a:r>
          </a:p>
        </p:txBody>
      </p:sp>
      <p:pic>
        <p:nvPicPr>
          <p:cNvPr id="6" name="Picture 5"/>
          <p:cNvPicPr>
            <a:picLocks noChangeAspect="1"/>
          </p:cNvPicPr>
          <p:nvPr/>
        </p:nvPicPr>
        <p:blipFill>
          <a:blip r:embed="rId2"/>
          <a:stretch>
            <a:fillRect/>
          </a:stretch>
        </p:blipFill>
        <p:spPr>
          <a:xfrm>
            <a:off x="838200" y="2335877"/>
            <a:ext cx="4357043" cy="4342447"/>
          </a:xfrm>
          <a:prstGeom prst="rect">
            <a:avLst/>
          </a:prstGeom>
        </p:spPr>
      </p:pic>
      <p:pic>
        <p:nvPicPr>
          <p:cNvPr id="7" name="Picture 6"/>
          <p:cNvPicPr>
            <a:picLocks noChangeAspect="1"/>
          </p:cNvPicPr>
          <p:nvPr/>
        </p:nvPicPr>
        <p:blipFill>
          <a:blip r:embed="rId3"/>
          <a:stretch>
            <a:fillRect/>
          </a:stretch>
        </p:blipFill>
        <p:spPr>
          <a:xfrm>
            <a:off x="6726034" y="2335877"/>
            <a:ext cx="4304955" cy="4341010"/>
          </a:xfrm>
          <a:prstGeom prst="rect">
            <a:avLst/>
          </a:prstGeom>
        </p:spPr>
      </p:pic>
    </p:spTree>
    <p:extLst>
      <p:ext uri="{BB962C8B-B14F-4D97-AF65-F5344CB8AC3E}">
        <p14:creationId xmlns:p14="http://schemas.microsoft.com/office/powerpoint/2010/main" val="3495465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Wireless LAN Security</a:t>
            </a:r>
            <a:endParaRPr lang="en-US" dirty="0"/>
          </a:p>
        </p:txBody>
      </p:sp>
      <p:sp>
        <p:nvSpPr>
          <p:cNvPr id="3" name="Content Placeholder 2"/>
          <p:cNvSpPr>
            <a:spLocks noGrp="1"/>
          </p:cNvSpPr>
          <p:nvPr>
            <p:ph idx="1"/>
          </p:nvPr>
        </p:nvSpPr>
        <p:spPr>
          <a:xfrm>
            <a:off x="838200" y="1825625"/>
            <a:ext cx="10515600" cy="4642082"/>
          </a:xfrm>
        </p:spPr>
        <p:txBody>
          <a:bodyPr>
            <a:normAutofit fontScale="85000" lnSpcReduction="20000"/>
          </a:bodyPr>
          <a:lstStyle/>
          <a:p>
            <a:r>
              <a:rPr lang="en-US" dirty="0"/>
              <a:t>Anatomy of secure connection -&gt; TRUST, PRIVACY, INTEGRITY</a:t>
            </a:r>
          </a:p>
          <a:p>
            <a:r>
              <a:rPr lang="en-US" dirty="0"/>
              <a:t>TRUST -&gt; Authentication (provide credentials)</a:t>
            </a:r>
          </a:p>
          <a:p>
            <a:r>
              <a:rPr lang="en-US" dirty="0"/>
              <a:t>PRIVACY -&gt; Encryption</a:t>
            </a:r>
          </a:p>
          <a:p>
            <a:r>
              <a:rPr lang="en-US" dirty="0"/>
              <a:t>INTEGRITY -&gt; MIC - Message integrity check - protects against data tampering</a:t>
            </a:r>
          </a:p>
          <a:p>
            <a:pPr marL="0" indent="0">
              <a:buNone/>
            </a:pPr>
            <a:endParaRPr lang="en-US" dirty="0"/>
          </a:p>
          <a:p>
            <a:r>
              <a:rPr lang="en-US" dirty="0"/>
              <a:t>Client to join BSS must firstly authenticate (send authentication request frame, AP responds with AUTH response frame).</a:t>
            </a:r>
          </a:p>
          <a:p>
            <a:r>
              <a:rPr lang="en-US" dirty="0"/>
              <a:t>After successful </a:t>
            </a:r>
            <a:r>
              <a:rPr lang="en-US" dirty="0" err="1"/>
              <a:t>AUTHentication</a:t>
            </a:r>
            <a:r>
              <a:rPr lang="en-US" dirty="0"/>
              <a:t>, client can ASSOCIATE with the BSS (send association frame, AP will reply with ASSOC response frame, along with a unique AID - association ID)</a:t>
            </a:r>
          </a:p>
          <a:p>
            <a:r>
              <a:rPr lang="en-US" dirty="0"/>
              <a:t>For each client, AP has its own key, so other users cannot decrypt data transferred in between.</a:t>
            </a:r>
          </a:p>
          <a:p>
            <a:r>
              <a:rPr lang="en-US" dirty="0"/>
              <a:t>AP also has "group key" in case AP needs to inform all clients at once.</a:t>
            </a:r>
          </a:p>
        </p:txBody>
      </p:sp>
    </p:spTree>
    <p:extLst>
      <p:ext uri="{BB962C8B-B14F-4D97-AF65-F5344CB8AC3E}">
        <p14:creationId xmlns:p14="http://schemas.microsoft.com/office/powerpoint/2010/main" val="1258606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Wireless LAN Security</a:t>
            </a:r>
            <a:endParaRPr lang="en-US" dirty="0"/>
          </a:p>
        </p:txBody>
      </p:sp>
      <p:sp>
        <p:nvSpPr>
          <p:cNvPr id="3" name="Content Placeholder 2"/>
          <p:cNvSpPr>
            <a:spLocks noGrp="1"/>
          </p:cNvSpPr>
          <p:nvPr>
            <p:ph idx="1"/>
          </p:nvPr>
        </p:nvSpPr>
        <p:spPr>
          <a:xfrm>
            <a:off x="838200" y="1836775"/>
            <a:ext cx="10515600" cy="4920863"/>
          </a:xfrm>
        </p:spPr>
        <p:txBody>
          <a:bodyPr>
            <a:normAutofit fontScale="92500" lnSpcReduction="20000"/>
          </a:bodyPr>
          <a:lstStyle/>
          <a:p>
            <a:r>
              <a:rPr lang="en-US" dirty="0"/>
              <a:t>WLAN client authentication methods</a:t>
            </a:r>
          </a:p>
          <a:p>
            <a:pPr lvl="1"/>
            <a:r>
              <a:rPr lang="en-US" dirty="0"/>
              <a:t>OPEN (client must send AUTH REQ before it associate with the AP, no credentials needed)</a:t>
            </a:r>
          </a:p>
          <a:p>
            <a:pPr lvl="1"/>
            <a:r>
              <a:rPr lang="en-US" dirty="0"/>
              <a:t>WEP (Wired Equivalent Privacy) - uses RC4 cipher algorithm, is weak, not used these days</a:t>
            </a:r>
          </a:p>
          <a:p>
            <a:pPr lvl="1"/>
            <a:r>
              <a:rPr lang="en-US" dirty="0"/>
              <a:t>802.1x/EAP (Extensible Authentication Protocol) - when enabled, it allows client to associate with the AP, but don't pass any data to the network until successful authentication.</a:t>
            </a:r>
          </a:p>
          <a:p>
            <a:r>
              <a:rPr lang="en-US" dirty="0"/>
              <a:t>EAP authentication methods</a:t>
            </a:r>
          </a:p>
          <a:p>
            <a:pPr lvl="1"/>
            <a:r>
              <a:rPr lang="en-US" dirty="0"/>
              <a:t>LEAP (Lightweight EAP) - cisco proprietary, deprecated</a:t>
            </a:r>
          </a:p>
          <a:p>
            <a:pPr lvl="1"/>
            <a:r>
              <a:rPr lang="en-US" dirty="0"/>
              <a:t>EAP-FAST (EAP-Flexible Authentication by Secure </a:t>
            </a:r>
            <a:r>
              <a:rPr lang="en-US" dirty="0" err="1"/>
              <a:t>Tunelling</a:t>
            </a:r>
            <a:r>
              <a:rPr lang="en-US" dirty="0"/>
              <a:t>) - cisco proprietary</a:t>
            </a:r>
          </a:p>
          <a:p>
            <a:pPr lvl="1"/>
            <a:r>
              <a:rPr lang="en-US" dirty="0"/>
              <a:t>PEAP - Protected EAP </a:t>
            </a:r>
          </a:p>
          <a:p>
            <a:pPr lvl="1"/>
            <a:r>
              <a:rPr lang="en-US" dirty="0"/>
              <a:t>EAP-TLS - EAP Transport Layer Security</a:t>
            </a:r>
          </a:p>
          <a:p>
            <a:pPr lvl="2"/>
            <a:r>
              <a:rPr lang="en-US" dirty="0"/>
              <a:t>requires certificate on AS (auth server) and each client device</a:t>
            </a:r>
          </a:p>
          <a:p>
            <a:pPr lvl="2"/>
            <a:r>
              <a:rPr lang="en-US" dirty="0"/>
              <a:t>TLS tunnel is built after authentication</a:t>
            </a:r>
          </a:p>
          <a:p>
            <a:pPr lvl="2"/>
            <a:r>
              <a:rPr lang="en-US" dirty="0"/>
              <a:t>considered most secure authentication method</a:t>
            </a:r>
          </a:p>
        </p:txBody>
      </p:sp>
    </p:spTree>
    <p:extLst>
      <p:ext uri="{BB962C8B-B14F-4D97-AF65-F5344CB8AC3E}">
        <p14:creationId xmlns:p14="http://schemas.microsoft.com/office/powerpoint/2010/main" val="2757729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Wireless LAN Security</a:t>
            </a:r>
            <a:endParaRPr lang="en-US" dirty="0"/>
          </a:p>
        </p:txBody>
      </p:sp>
      <p:sp>
        <p:nvSpPr>
          <p:cNvPr id="3" name="Content Placeholder 2"/>
          <p:cNvSpPr>
            <a:spLocks noGrp="1"/>
          </p:cNvSpPr>
          <p:nvPr>
            <p:ph idx="1"/>
          </p:nvPr>
        </p:nvSpPr>
        <p:spPr>
          <a:xfrm>
            <a:off x="838200" y="1834092"/>
            <a:ext cx="10515600" cy="4667250"/>
          </a:xfrm>
        </p:spPr>
        <p:txBody>
          <a:bodyPr>
            <a:normAutofit lnSpcReduction="10000"/>
          </a:bodyPr>
          <a:lstStyle/>
          <a:p>
            <a:r>
              <a:rPr lang="en-US" dirty="0"/>
              <a:t>Wireless Privacy and Integrity Methods</a:t>
            </a:r>
          </a:p>
          <a:p>
            <a:pPr lvl="1"/>
            <a:r>
              <a:rPr lang="en-US" dirty="0"/>
              <a:t>TKIP - Temporal Key Integrity Protocol - deprecated, created to support older WLAN clients (used in WPA1)</a:t>
            </a:r>
          </a:p>
          <a:p>
            <a:pPr lvl="1"/>
            <a:r>
              <a:rPr lang="en-US" dirty="0"/>
              <a:t>CCMP - Counter/CBC-MAC Protocol - consists of two algorithms</a:t>
            </a:r>
          </a:p>
          <a:p>
            <a:pPr lvl="2"/>
            <a:r>
              <a:rPr lang="en-US" dirty="0"/>
              <a:t>AES counter mode encryption</a:t>
            </a:r>
          </a:p>
          <a:p>
            <a:pPr lvl="2"/>
            <a:r>
              <a:rPr lang="en-US" dirty="0"/>
              <a:t>Cipher Block Chaining Message Authentication Code (CBC-MAC) used as a message integrity check</a:t>
            </a:r>
          </a:p>
          <a:p>
            <a:pPr lvl="2"/>
            <a:r>
              <a:rPr lang="en-US" dirty="0"/>
              <a:t>Used in WPA2</a:t>
            </a:r>
          </a:p>
          <a:p>
            <a:pPr lvl="1"/>
            <a:r>
              <a:rPr lang="en-US" dirty="0"/>
              <a:t>GCMP – Galois/Counter Mode Protocol</a:t>
            </a:r>
          </a:p>
          <a:p>
            <a:pPr lvl="2"/>
            <a:r>
              <a:rPr lang="en-US" dirty="0"/>
              <a:t>More secure and more efficient than CCMP, allows higher data throughput than CCMP</a:t>
            </a:r>
          </a:p>
          <a:p>
            <a:pPr lvl="2"/>
            <a:r>
              <a:rPr lang="en-US" dirty="0"/>
              <a:t>Used in WPA3</a:t>
            </a:r>
          </a:p>
          <a:p>
            <a:pPr lvl="2"/>
            <a:r>
              <a:rPr lang="en-US" dirty="0"/>
              <a:t>AES counter mode encryption</a:t>
            </a:r>
          </a:p>
          <a:p>
            <a:pPr lvl="2"/>
            <a:r>
              <a:rPr lang="en-US" dirty="0"/>
              <a:t>GMAC (Galois Message Authentication Code) is used as a MIC to ensure integrity of messages</a:t>
            </a:r>
          </a:p>
        </p:txBody>
      </p:sp>
    </p:spTree>
    <p:extLst>
      <p:ext uri="{BB962C8B-B14F-4D97-AF65-F5344CB8AC3E}">
        <p14:creationId xmlns:p14="http://schemas.microsoft.com/office/powerpoint/2010/main" val="3752408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Wireless LAN Security</a:t>
            </a:r>
            <a:endParaRPr lang="en-US" dirty="0"/>
          </a:p>
        </p:txBody>
      </p:sp>
      <p:sp>
        <p:nvSpPr>
          <p:cNvPr id="3" name="Content Placeholder 2"/>
          <p:cNvSpPr>
            <a:spLocks noGrp="1"/>
          </p:cNvSpPr>
          <p:nvPr>
            <p:ph idx="1"/>
          </p:nvPr>
        </p:nvSpPr>
        <p:spPr>
          <a:xfrm>
            <a:off x="838200" y="1825625"/>
            <a:ext cx="10795000" cy="4351338"/>
          </a:xfrm>
        </p:spPr>
        <p:txBody>
          <a:bodyPr/>
          <a:lstStyle/>
          <a:p>
            <a:r>
              <a:rPr lang="en-US" dirty="0"/>
              <a:t>The Wi-Fi alliance has developed 3 WPA certifications for Wi-Fi devices</a:t>
            </a:r>
          </a:p>
          <a:p>
            <a:r>
              <a:rPr lang="en-US" dirty="0"/>
              <a:t>WPA, WPA2, WPA3 – wireless protected access</a:t>
            </a:r>
          </a:p>
          <a:p>
            <a:endParaRPr lang="en-US" dirty="0"/>
          </a:p>
          <a:p>
            <a:endParaRPr lang="en-US" dirty="0"/>
          </a:p>
          <a:p>
            <a:pPr lvl="1"/>
            <a:r>
              <a:rPr lang="en-US" dirty="0"/>
              <a:t>WPA3 has also additional features</a:t>
            </a:r>
          </a:p>
          <a:p>
            <a:pPr lvl="2"/>
            <a:r>
              <a:rPr lang="en-US" dirty="0"/>
              <a:t>PMF (Protected Management Frames) – protects 802.11 mgmt. frame from eavesdropping</a:t>
            </a:r>
          </a:p>
          <a:p>
            <a:pPr lvl="2"/>
            <a:r>
              <a:rPr lang="en-US" dirty="0"/>
              <a:t>SAE (Simultaneous Authentications of Equals) – protects 4-way handshake when PSK is used</a:t>
            </a:r>
          </a:p>
          <a:p>
            <a:pPr lvl="2"/>
            <a:r>
              <a:rPr lang="en-US" dirty="0"/>
              <a:t>Forward Secrecy – prevents data decryption after being transmitted over the air</a:t>
            </a:r>
          </a:p>
        </p:txBody>
      </p:sp>
      <p:graphicFrame>
        <p:nvGraphicFramePr>
          <p:cNvPr id="5" name="Table 4">
            <a:extLst>
              <a:ext uri="{FF2B5EF4-FFF2-40B4-BE49-F238E27FC236}">
                <a16:creationId xmlns:a16="http://schemas.microsoft.com/office/drawing/2014/main" id="{2270677A-96A6-BA9E-734B-F3ABD8171A84}"/>
              </a:ext>
            </a:extLst>
          </p:cNvPr>
          <p:cNvGraphicFramePr>
            <a:graphicFrameLocks noGrp="1"/>
          </p:cNvGraphicFramePr>
          <p:nvPr>
            <p:extLst>
              <p:ext uri="{D42A27DB-BD31-4B8C-83A1-F6EECF244321}">
                <p14:modId xmlns:p14="http://schemas.microsoft.com/office/powerpoint/2010/main" val="3912211862"/>
              </p:ext>
            </p:extLst>
          </p:nvPr>
        </p:nvGraphicFramePr>
        <p:xfrm>
          <a:off x="1111250" y="2858812"/>
          <a:ext cx="6769100" cy="786882"/>
        </p:xfrm>
        <a:graphic>
          <a:graphicData uri="http://schemas.openxmlformats.org/drawingml/2006/table">
            <a:tbl>
              <a:tblPr>
                <a:tableStyleId>{2A488322-F2BA-4B5B-9748-0D474271808F}</a:tableStyleId>
              </a:tblPr>
              <a:tblGrid>
                <a:gridCol w="1257300">
                  <a:extLst>
                    <a:ext uri="{9D8B030D-6E8A-4147-A177-3AD203B41FA5}">
                      <a16:colId xmlns:a16="http://schemas.microsoft.com/office/drawing/2014/main" val="1403147976"/>
                    </a:ext>
                  </a:extLst>
                </a:gridCol>
                <a:gridCol w="1841500">
                  <a:extLst>
                    <a:ext uri="{9D8B030D-6E8A-4147-A177-3AD203B41FA5}">
                      <a16:colId xmlns:a16="http://schemas.microsoft.com/office/drawing/2014/main" val="1946970984"/>
                    </a:ext>
                  </a:extLst>
                </a:gridCol>
                <a:gridCol w="1828800">
                  <a:extLst>
                    <a:ext uri="{9D8B030D-6E8A-4147-A177-3AD203B41FA5}">
                      <a16:colId xmlns:a16="http://schemas.microsoft.com/office/drawing/2014/main" val="486802721"/>
                    </a:ext>
                  </a:extLst>
                </a:gridCol>
                <a:gridCol w="1841500">
                  <a:extLst>
                    <a:ext uri="{9D8B030D-6E8A-4147-A177-3AD203B41FA5}">
                      <a16:colId xmlns:a16="http://schemas.microsoft.com/office/drawing/2014/main" val="269802328"/>
                    </a:ext>
                  </a:extLst>
                </a:gridCol>
              </a:tblGrid>
              <a:tr h="215382">
                <a:tc>
                  <a:txBody>
                    <a:bodyPr/>
                    <a:lstStyle/>
                    <a:p>
                      <a:pPr algn="l" fontAlgn="b"/>
                      <a:r>
                        <a:rPr lang="sk-SK" sz="1100" u="none" strike="noStrike" dirty="0">
                          <a:effectLst/>
                        </a:rPr>
                        <a:t> </a:t>
                      </a:r>
                      <a:endParaRPr lang="sk-SK" sz="11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sk-SK" sz="1100" b="1" u="none" strike="noStrike" dirty="0">
                          <a:solidFill>
                            <a:schemeClr val="bg1"/>
                          </a:solidFill>
                          <a:effectLst/>
                        </a:rPr>
                        <a:t>WPA</a:t>
                      </a:r>
                      <a:endParaRPr lang="sk-SK" sz="11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sk-SK" sz="1100" b="1" u="none" strike="noStrike" dirty="0">
                          <a:solidFill>
                            <a:schemeClr val="bg1"/>
                          </a:solidFill>
                          <a:effectLst/>
                        </a:rPr>
                        <a:t>WPA2</a:t>
                      </a:r>
                      <a:endParaRPr lang="sk-SK" sz="11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sk-SK" sz="1100" b="1" u="none" strike="noStrike" dirty="0">
                          <a:solidFill>
                            <a:schemeClr val="bg1"/>
                          </a:solidFill>
                          <a:effectLst/>
                        </a:rPr>
                        <a:t>WPA3</a:t>
                      </a:r>
                      <a:endParaRPr lang="sk-SK" sz="1100" b="1" i="0" u="none" strike="noStrike" dirty="0">
                        <a:solidFill>
                          <a:schemeClr val="bg1"/>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38341151"/>
                  </a:ext>
                </a:extLst>
              </a:tr>
              <a:tr h="190500">
                <a:tc>
                  <a:txBody>
                    <a:bodyPr/>
                    <a:lstStyle/>
                    <a:p>
                      <a:pPr algn="l" fontAlgn="b"/>
                      <a:r>
                        <a:rPr lang="sk-SK" sz="1100" u="none" strike="noStrike">
                          <a:effectLst/>
                        </a:rPr>
                        <a:t>Authentication</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a:effectLst/>
                        </a:rPr>
                        <a:t>PSK (personal mode)/802.1x</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a:effectLst/>
                        </a:rPr>
                        <a:t>PSK (personal mode)/802.1x</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a:effectLst/>
                        </a:rPr>
                        <a:t>PSK (personal mode)/802.1x</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6209622"/>
                  </a:ext>
                </a:extLst>
              </a:tr>
              <a:tr h="190500">
                <a:tc>
                  <a:txBody>
                    <a:bodyPr/>
                    <a:lstStyle/>
                    <a:p>
                      <a:pPr algn="l" fontAlgn="b"/>
                      <a:r>
                        <a:rPr lang="sk-SK" sz="1100" u="none" strike="noStrike">
                          <a:effectLst/>
                        </a:rPr>
                        <a:t>Encryption and MIC</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dirty="0">
                          <a:effectLst/>
                        </a:rPr>
                        <a:t>TKIP / AES (CCMP)</a:t>
                      </a:r>
                      <a:endParaRPr lang="sk-SK" sz="11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a:effectLst/>
                        </a:rPr>
                        <a:t>AES (CCMP)</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a:effectLst/>
                        </a:rPr>
                        <a:t>AES (GCMP)</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061523"/>
                  </a:ext>
                </a:extLst>
              </a:tr>
              <a:tr h="190500">
                <a:tc>
                  <a:txBody>
                    <a:bodyPr/>
                    <a:lstStyle/>
                    <a:p>
                      <a:pPr algn="l" fontAlgn="b"/>
                      <a:r>
                        <a:rPr lang="sk-SK" sz="1100" u="none" strike="noStrike">
                          <a:effectLst/>
                        </a:rPr>
                        <a:t>Key Management</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dirty="0" err="1">
                          <a:effectLst/>
                        </a:rPr>
                        <a:t>Dynamic</a:t>
                      </a:r>
                      <a:r>
                        <a:rPr lang="sk-SK" sz="1100" u="none" strike="noStrike" dirty="0">
                          <a:effectLst/>
                        </a:rPr>
                        <a:t> </a:t>
                      </a:r>
                      <a:r>
                        <a:rPr lang="sk-SK" sz="1100" u="none" strike="noStrike" dirty="0" err="1">
                          <a:effectLst/>
                        </a:rPr>
                        <a:t>Key</a:t>
                      </a:r>
                      <a:r>
                        <a:rPr lang="sk-SK" sz="1100" u="none" strike="noStrike" dirty="0">
                          <a:effectLst/>
                        </a:rPr>
                        <a:t> </a:t>
                      </a:r>
                      <a:r>
                        <a:rPr lang="sk-SK" sz="1100" u="none" strike="noStrike" dirty="0" err="1">
                          <a:effectLst/>
                        </a:rPr>
                        <a:t>managemet</a:t>
                      </a:r>
                      <a:endParaRPr lang="sk-SK" sz="11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a:effectLst/>
                        </a:rPr>
                        <a:t>Dynamic Key managemet</a:t>
                      </a:r>
                      <a:endParaRPr lang="sk-SK"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sk-SK" sz="1100" u="none" strike="noStrike" dirty="0" err="1">
                          <a:effectLst/>
                        </a:rPr>
                        <a:t>Dynamic</a:t>
                      </a:r>
                      <a:r>
                        <a:rPr lang="sk-SK" sz="1100" u="none" strike="noStrike" dirty="0">
                          <a:effectLst/>
                        </a:rPr>
                        <a:t> </a:t>
                      </a:r>
                      <a:r>
                        <a:rPr lang="sk-SK" sz="1100" u="none" strike="noStrike" dirty="0" err="1">
                          <a:effectLst/>
                        </a:rPr>
                        <a:t>Key</a:t>
                      </a:r>
                      <a:r>
                        <a:rPr lang="sk-SK" sz="1100" u="none" strike="noStrike" dirty="0">
                          <a:effectLst/>
                        </a:rPr>
                        <a:t> </a:t>
                      </a:r>
                      <a:r>
                        <a:rPr lang="sk-SK" sz="1100" u="none" strike="noStrike" dirty="0" err="1">
                          <a:effectLst/>
                        </a:rPr>
                        <a:t>managemet</a:t>
                      </a:r>
                      <a:endParaRPr lang="sk-SK" sz="11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6879868"/>
                  </a:ext>
                </a:extLst>
              </a:tr>
            </a:tbl>
          </a:graphicData>
        </a:graphic>
      </p:graphicFrame>
    </p:spTree>
    <p:extLst>
      <p:ext uri="{BB962C8B-B14F-4D97-AF65-F5344CB8AC3E}">
        <p14:creationId xmlns:p14="http://schemas.microsoft.com/office/powerpoint/2010/main" val="803605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2253</Words>
  <Application>Microsoft Office PowerPoint</Application>
  <PresentationFormat>Widescreen</PresentationFormat>
  <Paragraphs>316</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802.11 Wireless Networks</vt:lpstr>
      <vt:lpstr>Need for Wireless Networks</vt:lpstr>
      <vt:lpstr>Wireless Fundamentals</vt:lpstr>
      <vt:lpstr>Wireless Fundamentals</vt:lpstr>
      <vt:lpstr>Wireless Fundamentals</vt:lpstr>
      <vt:lpstr>Wireless Fundamentals</vt:lpstr>
      <vt:lpstr>Wireless Fundamentals</vt:lpstr>
      <vt:lpstr>Wireless Fundamentals</vt:lpstr>
      <vt:lpstr>Wireless Fundamentals</vt:lpstr>
      <vt:lpstr>Regulatory Bodies</vt:lpstr>
      <vt:lpstr>Regulatory Bodies</vt:lpstr>
      <vt:lpstr>Regulatory Bodies</vt:lpstr>
      <vt:lpstr>Wireless Network Types (Standards)</vt:lpstr>
      <vt:lpstr>Wireless Network Types (Standards)</vt:lpstr>
      <vt:lpstr>Antenna Characteristics</vt:lpstr>
      <vt:lpstr>Antenna Types</vt:lpstr>
      <vt:lpstr>Antenna Types</vt:lpstr>
      <vt:lpstr>Antenna Types</vt:lpstr>
      <vt:lpstr>Wireless LAN topologies</vt:lpstr>
      <vt:lpstr>Wireless LAN topologies</vt:lpstr>
      <vt:lpstr>Wireless LAN topologies</vt:lpstr>
      <vt:lpstr>Wireless LAN topologies</vt:lpstr>
      <vt:lpstr>Wireless LAN Topologies</vt:lpstr>
      <vt:lpstr>Wireless Network Standards features</vt:lpstr>
      <vt:lpstr>Wireless Network Standards features</vt:lpstr>
      <vt:lpstr>Wireless Network Standards features</vt:lpstr>
      <vt:lpstr>Wireless Network Standards features</vt:lpstr>
      <vt:lpstr>Wireless Network Standards features</vt:lpstr>
      <vt:lpstr>802.11 Frame and CSMA/CA</vt:lpstr>
      <vt:lpstr>802.11 Frame and CSMA/CA</vt:lpstr>
      <vt:lpstr>802.11 Frame and CSMA/CA</vt:lpstr>
      <vt:lpstr>Cisco Wireless Network Architecture</vt:lpstr>
      <vt:lpstr>Autonomous Architecture</vt:lpstr>
      <vt:lpstr>Controller-based Architecture</vt:lpstr>
      <vt:lpstr>Wireless LAN Controller Models</vt:lpstr>
      <vt:lpstr>Access Point models</vt:lpstr>
      <vt:lpstr>Client mobility (Roaming)</vt:lpstr>
      <vt:lpstr>Client mobility (Roaming)</vt:lpstr>
      <vt:lpstr>Client mobility (Roaming)</vt:lpstr>
      <vt:lpstr>Client mobility (Roaming)</vt:lpstr>
      <vt:lpstr>Client mobility (Roaming)</vt:lpstr>
      <vt:lpstr>Wireless LAN Security</vt:lpstr>
      <vt:lpstr>Wireless LAN Security</vt:lpstr>
      <vt:lpstr>Wireless LAN Security</vt:lpstr>
      <vt:lpstr>Wireless LAN Security</vt:lpstr>
    </vt:vector>
  </TitlesOfParts>
  <Company>T-Systems Slovakia s.r.o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802.11 Wireless Networks</dc:title>
  <dc:creator>jratica</dc:creator>
  <cp:lastModifiedBy>Ratica, Jozef</cp:lastModifiedBy>
  <cp:revision>80</cp:revision>
  <dcterms:created xsi:type="dcterms:W3CDTF">2020-02-06T13:44:45Z</dcterms:created>
  <dcterms:modified xsi:type="dcterms:W3CDTF">2024-10-14T06:41:07Z</dcterms:modified>
  <cp:category>OPEN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systems-DocumentTagging.ClassificationMark.P00">
    <vt:lpwstr>&lt;ClassificationMark xmlns:xsi="http://www.w3.org/2001/XMLSchema-instance" xmlns:xsd="http://www.w3.org/2001/XMLSchema" margin="NaN" class="C0" owner="jratica" position="BottomRight" marginX="0" marginY="0" classifiedOn="2020-02-06T16:10:48.790297+01:</vt:lpwstr>
  </property>
  <property fmtid="{D5CDD505-2E9C-101B-9397-08002B2CF9AE}" pid="3" name="tsystems-DocumentTagging.ClassificationMark.P01">
    <vt:lpwstr>00" showPrintedBy="false" showPrintDate="false" language="en" ApplicationVersion="Microsoft PowerPoint, 16.0" addinVersion="5.10.4.12" template="Default"&gt;&lt;history bulk="false" class="OPEN " code="C0" user="SK-KOSICE\jratica" date="2020-02-06T16:10:48</vt:lpwstr>
  </property>
  <property fmtid="{D5CDD505-2E9C-101B-9397-08002B2CF9AE}" pid="4" name="tsystems-DocumentTagging.ClassificationMark.P02">
    <vt:lpwstr>.8778599+01:00" /&gt;&lt;recipients /&gt;&lt;documentOwners /&gt;&lt;/ClassificationMark&gt;</vt:lpwstr>
  </property>
  <property fmtid="{D5CDD505-2E9C-101B-9397-08002B2CF9AE}" pid="5" name="tsystems-DocumentTagging.ClassificationMark">
    <vt:lpwstr>￼PARTS:3</vt:lpwstr>
  </property>
  <property fmtid="{D5CDD505-2E9C-101B-9397-08002B2CF9AE}" pid="6" name="tsystems-DocumentClasification">
    <vt:lpwstr>OPEN </vt:lpwstr>
  </property>
  <property fmtid="{D5CDD505-2E9C-101B-9397-08002B2CF9AE}" pid="7" name="tsystems-DLP">
    <vt:lpwstr>tsystems-DLP:TAG_SEC_C0</vt:lpwstr>
  </property>
</Properties>
</file>