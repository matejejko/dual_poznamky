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  <p:sldId id="272" r:id="rId17"/>
    <p:sldId id="260" r:id="rId18"/>
    <p:sldId id="273" r:id="rId19"/>
    <p:sldId id="274" r:id="rId20"/>
    <p:sldId id="275" r:id="rId21"/>
    <p:sldId id="277" r:id="rId22"/>
    <p:sldId id="278" r:id="rId23"/>
    <p:sldId id="279" r:id="rId24"/>
    <p:sldId id="276" r:id="rId25"/>
    <p:sldId id="281" r:id="rId26"/>
    <p:sldId id="282" r:id="rId27"/>
    <p:sldId id="280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cak, Lubos" userId="a20b6fc6-f9da-474e-b069-505f3feab77a" providerId="ADAL" clId="{9D2D4FDA-1F1E-40EE-B387-656EE84AEBA2}"/>
    <pc:docChg chg="undo custSel modSld">
      <pc:chgData name="Simcak, Lubos" userId="a20b6fc6-f9da-474e-b069-505f3feab77a" providerId="ADAL" clId="{9D2D4FDA-1F1E-40EE-B387-656EE84AEBA2}" dt="2021-10-27T07:35:23.215" v="9" actId="6549"/>
      <pc:docMkLst>
        <pc:docMk/>
      </pc:docMkLst>
      <pc:sldChg chg="modSp mod">
        <pc:chgData name="Simcak, Lubos" userId="a20b6fc6-f9da-474e-b069-505f3feab77a" providerId="ADAL" clId="{9D2D4FDA-1F1E-40EE-B387-656EE84AEBA2}" dt="2021-10-27T07:35:23.215" v="9" actId="6549"/>
        <pc:sldMkLst>
          <pc:docMk/>
          <pc:sldMk cId="3261126498" sldId="284"/>
        </pc:sldMkLst>
        <pc:spChg chg="mod">
          <ac:chgData name="Simcak, Lubos" userId="a20b6fc6-f9da-474e-b069-505f3feab77a" providerId="ADAL" clId="{9D2D4FDA-1F1E-40EE-B387-656EE84AEBA2}" dt="2021-10-27T07:35:23.215" v="9" actId="6549"/>
          <ac:spMkLst>
            <pc:docMk/>
            <pc:sldMk cId="3261126498" sldId="28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10/26/2021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Backup a restore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Jana Vaňková</a:t>
            </a:r>
          </a:p>
          <a:p>
            <a:r>
              <a:rPr lang="sk-SK" sz="1600" dirty="0">
                <a:latin typeface="Arial" panose="020B0604020202020204" pitchFamily="34" charset="0"/>
                <a:cs typeface="Arial" panose="020B0604020202020204" pitchFamily="34" charset="0"/>
              </a:rPr>
              <a:t>Ľ</a:t>
            </a:r>
            <a:r>
              <a:rPr lang="sk-SK" dirty="0"/>
              <a:t>uboš Simčák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241" y="6014136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337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Na čo slúži backup a restore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dirty="0"/>
              <a:t>Zálohovanie dát je nevyhnutnou súčasťou práce databázového administrátora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Vždy existuje riziko straty/poškodenia dát alebo celých systémov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Backup dát je najjednoduchším riešením tohto problému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Na vrátenie dát alebo celej databázy sa využíva Restore a Recovery</a:t>
            </a:r>
          </a:p>
        </p:txBody>
      </p:sp>
    </p:spTree>
    <p:extLst>
      <p:ext uri="{BB962C8B-B14F-4D97-AF65-F5344CB8AC3E}">
        <p14:creationId xmlns:p14="http://schemas.microsoft.com/office/powerpoint/2010/main" val="398391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</a:t>
            </a:r>
            <a:r>
              <a:rPr lang="sk-SK" dirty="0"/>
              <a:t>ôsoby zálohovania a obnovy dát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114135" cy="4260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 </a:t>
            </a:r>
            <a:r>
              <a:rPr lang="sk-SK" sz="2000" dirty="0"/>
              <a:t>Zálohovanie (Backup) a obnovu (Restore) dát v Oracle môžeme rozdeliť na 2 základné kategórie: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b="1" i="1" dirty="0"/>
              <a:t> Logický - </a:t>
            </a:r>
            <a:r>
              <a:rPr lang="sk-SK" sz="1600" dirty="0"/>
              <a:t>funguje na báze zálohovania a obnovy dát z databázy</a:t>
            </a:r>
            <a:endParaRPr lang="sk-SK" sz="1600" b="1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Data Pump Export/Import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Flashback 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Flashback Drop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b="1" i="1" dirty="0"/>
              <a:t> Fyzický - </a:t>
            </a:r>
            <a:r>
              <a:rPr lang="sk-SK" sz="1600" dirty="0"/>
              <a:t>funguje na báze zálohovania a obnovy databázových súborov</a:t>
            </a:r>
            <a:endParaRPr lang="sk-SK" sz="1600" b="1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Full a incremental backup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Backup archívnych logov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Backup tablespace-ov a datafile-ov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Flashback Database</a:t>
            </a:r>
          </a:p>
          <a:p>
            <a:pPr marL="1225296" lvl="8" indent="0">
              <a:buNone/>
            </a:pPr>
            <a:endParaRPr lang="sk-SK" sz="2000" dirty="0"/>
          </a:p>
        </p:txBody>
      </p:sp>
    </p:spTree>
    <p:extLst>
      <p:ext uri="{BB962C8B-B14F-4D97-AF65-F5344CB8AC3E}">
        <p14:creationId xmlns:p14="http://schemas.microsoft.com/office/powerpoint/2010/main" val="2587595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Data pump je utilita od Oracle, ktorá slúži na exportovanie a importovanie špecifických dát z DB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Data pump môžu využiť aj iní užívatelia ako DB admin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Vďaka rôznym parametrom sa dajú exportovať/importovať buď len konkrétne dáta alebo aj celá databáza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Príklady: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Full export 	– vyexportuje celú databázu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Schema export 	– vyexportuje len konkrétnu schému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Table export 	– vyexportuje len konkrétnu tabuľku</a:t>
            </a:r>
          </a:p>
        </p:txBody>
      </p:sp>
    </p:spTree>
    <p:extLst>
      <p:ext uri="{BB962C8B-B14F-4D97-AF65-F5344CB8AC3E}">
        <p14:creationId xmlns:p14="http://schemas.microsoft.com/office/powerpoint/2010/main" val="336612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Na spustenie Data Pump exportu a importu slúžia nasledujúce 2 príkazy: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expdp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impdp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Požiadavky na spustenie: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Mať prístup na užívateľa s právom na pripojenie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Musí byť vytvorený DIRECTORY v databáze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sk-SK" dirty="0"/>
              <a:t>CREATE DIRECTORY data_pump AS </a:t>
            </a:r>
            <a:r>
              <a:rPr lang="en-US" dirty="0"/>
              <a:t>‘</a:t>
            </a:r>
            <a:r>
              <a:rPr lang="sk-SK" dirty="0"/>
              <a:t>/u01/app/oracle/datapump</a:t>
            </a:r>
            <a:r>
              <a:rPr lang="en-US" dirty="0"/>
              <a:t>’;</a:t>
            </a:r>
            <a:endParaRPr lang="sk-S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Daný užívateľ potrebuje READ a WRITE práva na danú DIRECTORY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GRANT READ, WRITE ON DIRECTORY </a:t>
            </a:r>
            <a:r>
              <a:rPr lang="en-US" dirty="0" err="1"/>
              <a:t>data_pump</a:t>
            </a:r>
            <a:r>
              <a:rPr lang="en-US" dirty="0"/>
              <a:t>;</a:t>
            </a:r>
            <a:endParaRPr lang="sk-S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V prípade FULL exportu a importu potrebuje role DATAPUMP_EXP_FULL_DATABASE a DATAPUMP_IMP_FULL_DATABASE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GRANT DATAPUMP_EXP_FULL_DATABASE TO user1;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GRANT DATAPUMP_IMP_FULL_DATABASE TO user1;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9745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Spravovať Data Pump Export a Import je možné 3 spôsobmi: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Priamo cez CLI: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expdp user/password parameter1=value1 parameter2=value2 ...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impdp user/password parameter1=value1 parameter2=value2 ...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S použitím súboru s parametrami: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expdp parfile=export.par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impdp parfile=import.par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S použitím interaktívneho command rozhrania (na už bežiaci export/import):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expdp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impdp</a:t>
            </a:r>
          </a:p>
        </p:txBody>
      </p:sp>
    </p:spTree>
    <p:extLst>
      <p:ext uri="{BB962C8B-B14F-4D97-AF65-F5344CB8AC3E}">
        <p14:creationId xmlns:p14="http://schemas.microsoft.com/office/powerpoint/2010/main" val="231052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sz="2400" dirty="0"/>
              <a:t>Zoznam dôležitých parametrov: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 dirty="0"/>
              <a:t> DIRECTORY – obsahuje meno DIRECTORY v databáze, kde sa bude nachádzať dumpfile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DIRECTORY=directory_object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 dirty="0"/>
              <a:t> DUMPFILE – obsahuje meno súboru/súborov, ktore sa vytvoria (export) alebo ktoré sa použijú (import)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DUMPFILE=[directory_object:]file_name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 dirty="0"/>
              <a:t> LOGFILE – obsahuje meno súboru, do ktorého sa uloží log z exportu/importu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LOGFILE=[directory_object:]file_name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 dirty="0"/>
              <a:t> FULL – určí, či sa má exportovať celá databáza alebo importovať celý obsah dumpfile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FULL=[YES | NO]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 dirty="0"/>
              <a:t> SCHEMAS – definuje zoznam schém, ktoré sa majú importovať/exportovať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SCHEMAS=schema_name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2000" dirty="0"/>
              <a:t> TABLES – definuje zoznam tabuliek, ktoré sa majú importovať/exportovať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TABLES=[schema_name.]table_name[:partition_name] [, ...]</a:t>
            </a:r>
          </a:p>
        </p:txBody>
      </p:sp>
    </p:spTree>
    <p:extLst>
      <p:ext uri="{BB962C8B-B14F-4D97-AF65-F5344CB8AC3E}">
        <p14:creationId xmlns:p14="http://schemas.microsoft.com/office/powerpoint/2010/main" val="201480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Zoznam vedľajších parametrov: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 USERID – obsahuje informácie o DB užívateľovi, pod ktorým sa export/import spustí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USERID=username/password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CONTENT – určuje, aký typ dát sa má exportovať/importovať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CONTENT=[ALL | DATA_ONLY | METADATA_ONLY]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EXCLUDE – špecifikuje objekty, ktoré sa nemajú exportovať/importovať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EXCLUDE=object_type[:name_clause]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INCLUDE – špecifikuje objekty, ktoré sa majú exportovať/importovať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INCLUDE = object_type[:name_clause] [, ...]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PARALLEL – nastaví koľko paralelných procesov sa spustí pre daný export/import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PARALLEL=integer</a:t>
            </a:r>
          </a:p>
        </p:txBody>
      </p:sp>
    </p:spTree>
    <p:extLst>
      <p:ext uri="{BB962C8B-B14F-4D97-AF65-F5344CB8AC3E}">
        <p14:creationId xmlns:p14="http://schemas.microsoft.com/office/powerpoint/2010/main" val="3031744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Zoznam vedľajších parametrov pre EXPORT: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FILESIZE – určuje maximálnu veľkosť jedného dumpfile súboru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FILESIZE=integer[B | KB | MB | GB | TB]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ESTIMATE_ONLY – vykoná len odhad veľkosti dumpfile po exporte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ESTIMATE_ONLY=[YES | NO]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Zoznam vedľajších parametrov pre IMPORT: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REMAP_SCHEMA – naimportuje danú schému do druhej schémy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REMAP_SCHEMA=source_schema:target_schema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REMAP_TABLE – naimportuje danú tabuľku do druhej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</a:t>
            </a:r>
            <a:r>
              <a:rPr lang="en-US" dirty="0"/>
              <a:t>REMAP_TABLE=[schema.]</a:t>
            </a:r>
            <a:r>
              <a:rPr lang="en-US" dirty="0" err="1"/>
              <a:t>old_tablename</a:t>
            </a:r>
            <a:r>
              <a:rPr lang="en-US" dirty="0"/>
              <a:t>[.partition]:</a:t>
            </a:r>
            <a:r>
              <a:rPr lang="en-US" dirty="0" err="1"/>
              <a:t>new_tablename</a:t>
            </a:r>
            <a:endParaRPr lang="sk-S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REMAP_TABLESPACE – naimportuje dáta z daného tablespace do druhého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REMAP_TABLESPACE=source_tablespace:target_tablespace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TABLE_EXISTS_ACTION – určí, ako sa má vyhodnotiť import tabuľky, ak už existuje na databáze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</a:t>
            </a:r>
            <a:r>
              <a:rPr lang="en-US" dirty="0"/>
              <a:t>TABLE_EXISTS_ACTION=[SKIP | APPEND | TRUNCATE | REPLACE]</a:t>
            </a:r>
            <a:endParaRPr lang="sk-SK" dirty="0"/>
          </a:p>
          <a:p>
            <a:pPr lvl="1">
              <a:buFont typeface="Courier New" panose="02070309020205020404" pitchFamily="49" charset="0"/>
              <a:buChar char="o"/>
            </a:pPr>
            <a:endParaRPr lang="sk-SK" dirty="0"/>
          </a:p>
          <a:p>
            <a:pPr lvl="2"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53184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Data pump export/import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sz="2600" dirty="0"/>
              <a:t>Príklady:</a:t>
            </a:r>
          </a:p>
          <a:p>
            <a:pPr marL="0" indent="0">
              <a:buNone/>
            </a:pPr>
            <a:r>
              <a:rPr lang="sk-SK" dirty="0"/>
              <a:t>expdp DIRECTORY=dpumpdir DUMPFILE=test.dmp LOGFILE=test.log FULL=YES</a:t>
            </a:r>
          </a:p>
          <a:p>
            <a:pPr marL="0" indent="0">
              <a:buNone/>
            </a:pPr>
            <a:r>
              <a:rPr lang="sk-SK" dirty="0"/>
              <a:t>expdp DIRECTORY=dpumpdir DUMPFILE=test.dmp LOGFILE=test.log SCHEMAS=hr</a:t>
            </a:r>
          </a:p>
          <a:p>
            <a:pPr marL="0" indent="0">
              <a:buNone/>
            </a:pPr>
            <a:r>
              <a:rPr lang="sk-SK" dirty="0"/>
              <a:t>expdp DIRECTORY=dpumpdir DUMPFILE=test.dmp LOGFILE=test.log TABLES=employees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expdp DIRECTORY=dpumpdir DUMPFILE=test.dmp FULL=YES CONTENT=METADATA_ONLY</a:t>
            </a:r>
          </a:p>
          <a:p>
            <a:pPr marL="0" indent="0">
              <a:buNone/>
            </a:pPr>
            <a:r>
              <a:rPr lang="sk-SK" dirty="0"/>
              <a:t>expdp DIRECTORY=dpumpdir DUMPFILE=test.dmp FULL=YES EXCLUDE=SCHEMA:"='HR'"</a:t>
            </a:r>
          </a:p>
          <a:p>
            <a:pPr marL="0" indent="0">
              <a:buNone/>
            </a:pPr>
            <a:r>
              <a:rPr lang="sk-SK" dirty="0"/>
              <a:t>expdp DIRECTORY=dpumpdir DUMPFILE=test_%U.dmp FULL=YES PARALLEL=4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impdp DIRECTORY=dpumpdir DUMPFILE=test.dmp SCHEMAS=hr REMAP_SCHEMA=hr:hr_copy</a:t>
            </a:r>
          </a:p>
          <a:p>
            <a:pPr marL="0" indent="0">
              <a:buNone/>
            </a:pPr>
            <a:r>
              <a:rPr lang="sk-SK" dirty="0"/>
              <a:t>impdp DIRECTORY=dpumpdir DUMPFILE=test.dmp FULL=YES TABLE_EXISTS_ACTION=REPLACE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8804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en-US" dirty="0"/>
              <a:t>Oracle Flashback je </a:t>
            </a:r>
            <a:r>
              <a:rPr lang="en-US" dirty="0" err="1"/>
              <a:t>technol</a:t>
            </a:r>
            <a:r>
              <a:rPr lang="sk-SK" dirty="0"/>
              <a:t>ógia, vďaka ktorej, sa vieme vrátiť do predošlého stavu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Môže to byť predošlý stav tabuľky alebo aj celej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Taktiež vieme vrátiť aj dropnutú tabuľku</a:t>
            </a:r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Na použitie flashback sa využíva info z UNDO tablespace a z flashback logov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Flashback logy sa nachádzajú v ceste zadefinovanej v parametri db_recovery_file_dest</a:t>
            </a:r>
          </a:p>
        </p:txBody>
      </p:sp>
    </p:spTree>
    <p:extLst>
      <p:ext uri="{BB962C8B-B14F-4D97-AF65-F5344CB8AC3E}">
        <p14:creationId xmlns:p14="http://schemas.microsoft.com/office/powerpoint/2010/main" val="1730596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sz="2000" dirty="0"/>
              <a:t>Flashback </a:t>
            </a:r>
            <a:r>
              <a:rPr lang="en-US" sz="2000" dirty="0" err="1"/>
              <a:t>datab</a:t>
            </a:r>
            <a:r>
              <a:rPr lang="sk-SK" sz="2000" dirty="0"/>
              <a:t>á</a:t>
            </a:r>
            <a:r>
              <a:rPr lang="en-US" sz="2000" dirty="0" err="1"/>
              <a:t>zy</a:t>
            </a:r>
            <a:endParaRPr lang="sk-SK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Flashback celej databázy vie vykonať len užívateľ, ktorý vie vypnúť a zapnúť databázu – SYS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Datafile-y nesmú byť poškodené alebo zmazané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Flashback nesmie byť do času pred vytvorením controlfile-u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</a:t>
            </a:r>
            <a:r>
              <a:rPr lang="en-US" sz="2000" dirty="0" err="1"/>
              <a:t>Existuj</a:t>
            </a:r>
            <a:r>
              <a:rPr lang="sk-SK" sz="2000" dirty="0"/>
              <a:t>ú 2 metódy: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Flashback do Restore Pointu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Flashback do času</a:t>
            </a:r>
          </a:p>
          <a:p>
            <a:pPr marL="310896" lvl="2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011633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 fontScale="92500"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Flashback do restore point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Restore point (RP) je bod v čase, ku ktorému sa dá vykonať flashback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Rozoznávame 2 typy – garantovaný a negarantovaný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</a:t>
            </a:r>
            <a:r>
              <a:rPr lang="sk-SK" sz="1600" dirty="0"/>
              <a:t>Garantovaný RP nám garantuje, že sa budeme vedieť vrátiť do tohto bodu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Pri garantovanom RP musíme sledovať veľkosť Recovery destination, pri zaplnení sa hangne databáza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Negarantovaný RP nám dovoľuje dostať sa do daného bodu len dovtedy, kým sa nezaplní Recovery destination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Po zaplnení Recovery destination sa začnú prepisovať flashback logy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500" dirty="0"/>
              <a:t> </a:t>
            </a:r>
            <a:r>
              <a:rPr lang="sk-SK" sz="1600" dirty="0"/>
              <a:t>CREATE RESTORE POINT rp1 GUARANTEE FLASHBACK DATABASE</a:t>
            </a:r>
            <a:r>
              <a:rPr lang="en-US" sz="1600" dirty="0"/>
              <a:t>;</a:t>
            </a:r>
            <a:endParaRPr lang="sk-SK" sz="160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CREATE RESTORE POINT rp1</a:t>
            </a:r>
            <a:r>
              <a:rPr lang="en-US" sz="1600" dirty="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sz="1600" dirty="0"/>
              <a:t>SHUTDOWN IMMEDIATE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 STARTUP MOUNT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 FLASHBACK DATABASE TO RESTORE POINT rp1;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 ALTER DATABASE OPEN RESETLOGS;</a:t>
            </a:r>
            <a:endParaRPr lang="sk-SK" sz="1600" dirty="0"/>
          </a:p>
        </p:txBody>
      </p:sp>
    </p:spTree>
    <p:extLst>
      <p:ext uri="{BB962C8B-B14F-4D97-AF65-F5344CB8AC3E}">
        <p14:creationId xmlns:p14="http://schemas.microsoft.com/office/powerpoint/2010/main" val="350141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26218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sz="2000" dirty="0"/>
              <a:t>Flashback do času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Túto metódu je možné kombinovať aj s vytvoreným Restore Pointom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Je potrebné mať zapnutý flashback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</a:t>
            </a:r>
            <a:r>
              <a:rPr lang="sk-SK" sz="1600" dirty="0"/>
              <a:t>ALTER DATABASE FLASHBACK ON</a:t>
            </a:r>
            <a:r>
              <a:rPr lang="en-US" sz="1600" dirty="0"/>
              <a:t>;</a:t>
            </a:r>
            <a:endParaRPr lang="sk-SK" sz="1600" dirty="0"/>
          </a:p>
          <a:p>
            <a:pPr lvl="2">
              <a:buFont typeface="Courier New" panose="02070309020205020404" pitchFamily="49" charset="0"/>
              <a:buChar char="o"/>
            </a:pPr>
            <a:endParaRPr lang="sk-SK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sz="1600" dirty="0"/>
              <a:t>SHUTDOWN IMMEDIATE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 STARTUP MOUNT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 FLASHBACK DATABASE TO SCN 46963;</a:t>
            </a:r>
            <a:endParaRPr lang="sk-SK" sz="160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</a:t>
            </a:r>
            <a:r>
              <a:rPr lang="en-US" sz="1600" dirty="0"/>
              <a:t>FLASHBACK DATABASE TO TIME "TO_DATE('09/20/12','MM/DD/YY')";</a:t>
            </a:r>
            <a:endParaRPr lang="sk-SK" sz="1600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* </a:t>
            </a:r>
            <a:r>
              <a:rPr lang="en-US" sz="1600" dirty="0"/>
              <a:t>ALTER DATABASE OPEN READ ONLY;</a:t>
            </a:r>
            <a:r>
              <a:rPr lang="sk-SK" sz="1600" dirty="0"/>
              <a:t> * -- Pre overenie správnych dát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sz="1600" dirty="0"/>
              <a:t> </a:t>
            </a:r>
            <a:r>
              <a:rPr lang="en-US" sz="1600" dirty="0"/>
              <a:t>ALTER DATABASE OPEN RESETLOGS;</a:t>
            </a:r>
            <a:endParaRPr lang="sk-SK" sz="1600" dirty="0"/>
          </a:p>
        </p:txBody>
      </p:sp>
    </p:spTree>
    <p:extLst>
      <p:ext uri="{BB962C8B-B14F-4D97-AF65-F5344CB8AC3E}">
        <p14:creationId xmlns:p14="http://schemas.microsoft.com/office/powerpoint/2010/main" val="348450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262181" cy="424542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Flashback tabuľky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Podmienky: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Mať právo FLASHBACK ANY TABLE alebo FLASHBACK na konkrétnu tabuľku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Mať READ alebo SELECT, INSERT, UPDATE, DELETE a ALTER práva na tabuľku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Pri FLASHBACK tabuľky do RESTORE POINT musíte mať SELECT_CATALOG_ROLE alebo SELECT ANY DICTIONARY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UNDO data musia siahať dostatočne ďaleko dozadu v čase, do ktorého sa chceme vrátiť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Je potrebné mať zapnutý flashback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sk-SK" dirty="0"/>
              <a:t>ALTER TABLE employees ENABLE ROW MOVEMENT</a:t>
            </a:r>
            <a:r>
              <a:rPr lang="en-US" dirty="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FLASHBACK TABLE employees TO TIMESTAMP TO_TIMESTAMP('2013-10-17 09:30:00', 'YYYY-MM-DD HH:MI:SS');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ALTER TABLE </a:t>
            </a:r>
            <a:r>
              <a:rPr lang="sk-SK" dirty="0"/>
              <a:t>employees </a:t>
            </a:r>
            <a:r>
              <a:rPr lang="en-US" dirty="0"/>
              <a:t>DISA</a:t>
            </a:r>
            <a:r>
              <a:rPr lang="sk-SK" dirty="0"/>
              <a:t>BLE ROW MOVEMENT</a:t>
            </a:r>
            <a:r>
              <a:rPr lang="en-US" dirty="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FLASHBACK TABLE employees TO SCN 123456;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FLASHBACK TABLE employees TO RESTORE POINT </a:t>
            </a:r>
            <a:r>
              <a:rPr lang="sk-SK" dirty="0"/>
              <a:t>rp1</a:t>
            </a:r>
            <a:r>
              <a:rPr lang="en-US" dirty="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08015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FLASHBACK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262181" cy="424542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b="1" i="1" dirty="0"/>
              <a:t> </a:t>
            </a:r>
            <a:r>
              <a:rPr lang="sk-SK" dirty="0"/>
              <a:t>Flashback dropnutej tabuľky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Podmienky: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Mať právo na DROP na konkrétnu tabuľku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Mať READ alebo SELECT a FLASHBACK práva na objekt v recycle bin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Objekt nesmel byť zmazaný z recycle bin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sk-SK" dirty="0"/>
              <a:t> Je potrebné mať zapnutý flashback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Postup: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FLASHBACK TABLE employees TO </a:t>
            </a:r>
            <a:r>
              <a:rPr lang="sk-SK" dirty="0"/>
              <a:t>BEFORE DROP</a:t>
            </a:r>
            <a:r>
              <a:rPr lang="en-US" dirty="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 FLASHBACK TABLE employees TO </a:t>
            </a:r>
            <a:r>
              <a:rPr lang="sk-SK" dirty="0"/>
              <a:t>BEFORE DROP RENAM</a:t>
            </a:r>
            <a:r>
              <a:rPr lang="en-US" dirty="0"/>
              <a:t>E</a:t>
            </a:r>
            <a:r>
              <a:rPr lang="sk-SK" dirty="0"/>
              <a:t> TO employees_old</a:t>
            </a:r>
            <a:r>
              <a:rPr lang="en-US" dirty="0"/>
              <a:t>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49587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Fyzický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dirty="0"/>
              <a:t>Fyzický backup funguje na báze zálohovania databázových súborov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Na backup slúži utilita RMAN (Recovery Manager)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RMAN automatizuje viacero procesov kvoli zaisteniu konzistencie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Môžeme rozlíšiť niekoľko druhov backupov: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Full a incremental backup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Backup archívnych logov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Backup tablespace-ov a datafile-ov</a:t>
            </a:r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40102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Recovery manager - RMAN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dirty="0"/>
              <a:t>je ho možné spustiť lokálne alebo vzdialene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vytvára si session na databáze do ktorej sa pripája pomocou kanálov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Pri pripájaní je možné zadefinovať viac kanálov pre paralelné spracovanie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vie spolupracovať s rôznymi Media manažérmi tretích strán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spolupracuje s Recovery katalógom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má možnosť nastavenia default konfigurácie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786" y="4297680"/>
            <a:ext cx="45148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15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Recovery manager - RMAN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Prihlásenie</a:t>
            </a:r>
          </a:p>
          <a:p>
            <a:pPr marL="0" indent="0">
              <a:buNone/>
            </a:pPr>
            <a:endParaRPr lang="sk-SK" dirty="0"/>
          </a:p>
          <a:p>
            <a:pPr marL="128016" lvl="1" indent="0">
              <a:buNone/>
            </a:pPr>
            <a:r>
              <a:rPr lang="sk-SK" dirty="0"/>
              <a:t>% </a:t>
            </a:r>
            <a:r>
              <a:rPr lang="sk-SK" b="1" dirty="0"/>
              <a:t>rman</a:t>
            </a:r>
          </a:p>
          <a:p>
            <a:pPr marL="128016" lvl="1" indent="0">
              <a:buNone/>
            </a:pPr>
            <a:r>
              <a:rPr lang="en-US" dirty="0"/>
              <a:t>Recovery Manager: Release 12.1.0.2.0 - Production on Mon Nov 2 18:22:04 2020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/>
              <a:t>Copyright (c) 1982, 2014, Oracle and/or its affiliates.  All rights reserved.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/>
              <a:t>RMAN&gt; </a:t>
            </a:r>
            <a:r>
              <a:rPr lang="en-US" b="1" dirty="0"/>
              <a:t>connect target /</a:t>
            </a:r>
          </a:p>
          <a:p>
            <a:pPr marL="128016" lvl="1" indent="0">
              <a:buNone/>
            </a:pPr>
            <a:endParaRPr lang="en-US" dirty="0"/>
          </a:p>
          <a:p>
            <a:pPr marL="128016" lvl="1" indent="0">
              <a:buNone/>
            </a:pPr>
            <a:r>
              <a:rPr lang="en-US" dirty="0"/>
              <a:t>connected to target database: ADUAL1 (DBID=3871038538)</a:t>
            </a:r>
            <a:endParaRPr lang="sk-SK" dirty="0"/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0796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Recovery manager - RMAN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10053175" cy="4410891"/>
          </a:xfrm>
        </p:spPr>
        <p:txBody>
          <a:bodyPr>
            <a:normAutofit fontScale="77500" lnSpcReduction="20000"/>
          </a:bodyPr>
          <a:lstStyle/>
          <a:p>
            <a:pPr marL="128016" lvl="1" indent="0">
              <a:buNone/>
            </a:pPr>
            <a:r>
              <a:rPr lang="sk-SK" dirty="0"/>
              <a:t>RMAN&gt; show all;</a:t>
            </a:r>
          </a:p>
          <a:p>
            <a:pPr marL="128016" lvl="1" indent="0">
              <a:buNone/>
            </a:pPr>
            <a:endParaRPr lang="sk-SK" dirty="0"/>
          </a:p>
          <a:p>
            <a:pPr marL="128016" lvl="1" indent="0">
              <a:buNone/>
            </a:pPr>
            <a:r>
              <a:rPr lang="sk-SK" dirty="0"/>
              <a:t>using target database control file instead of recovery catalog</a:t>
            </a:r>
          </a:p>
          <a:p>
            <a:pPr marL="128016" lvl="1" indent="0">
              <a:buNone/>
            </a:pPr>
            <a:r>
              <a:rPr lang="sk-SK" dirty="0"/>
              <a:t>RMAN configuration parameters for database with db_unique_name ADUAL1 are:</a:t>
            </a:r>
          </a:p>
          <a:p>
            <a:pPr marL="128016" lvl="1" indent="0">
              <a:buNone/>
            </a:pPr>
            <a:r>
              <a:rPr lang="sk-SK" dirty="0"/>
              <a:t>CONFIGURE RETENTION POLICY TO REDUNDANCY 1; # default</a:t>
            </a:r>
          </a:p>
          <a:p>
            <a:pPr marL="128016" lvl="1" indent="0">
              <a:buNone/>
            </a:pPr>
            <a:r>
              <a:rPr lang="sk-SK" dirty="0"/>
              <a:t>CONFIGURE BACKUP OPTIMIZATION OFF; # default</a:t>
            </a:r>
          </a:p>
          <a:p>
            <a:pPr marL="128016" lvl="1" indent="0">
              <a:buNone/>
            </a:pPr>
            <a:r>
              <a:rPr lang="sk-SK" dirty="0"/>
              <a:t>CONFIGURE DEFAULT DEVICE TYPE TO DISK; # default</a:t>
            </a:r>
          </a:p>
          <a:p>
            <a:pPr marL="128016" lvl="1" indent="0">
              <a:buNone/>
            </a:pPr>
            <a:r>
              <a:rPr lang="sk-SK" dirty="0"/>
              <a:t>CONFIGURE CONTROLFILE AUTOBACKUP OFF; # default</a:t>
            </a:r>
          </a:p>
          <a:p>
            <a:pPr marL="128016" lvl="1" indent="0">
              <a:buNone/>
            </a:pPr>
            <a:r>
              <a:rPr lang="sk-SK" dirty="0"/>
              <a:t>CONFIGURE CONTROLFILE AUTOBACKUP FORMAT FOR DEVICE TYPE DISK TO '%F'; # default</a:t>
            </a:r>
          </a:p>
          <a:p>
            <a:pPr marL="128016" lvl="1" indent="0">
              <a:buNone/>
            </a:pPr>
            <a:r>
              <a:rPr lang="sk-SK" dirty="0"/>
              <a:t>CONFIGURE DEVICE TYPE DISK PARALLELISM 1 BACKUP TYPE TO BACKUPSET; # default</a:t>
            </a:r>
          </a:p>
          <a:p>
            <a:pPr marL="128016" lvl="1" indent="0">
              <a:buNone/>
            </a:pPr>
            <a:r>
              <a:rPr lang="sk-SK" dirty="0"/>
              <a:t>CONFIGURE DATAFILE BACKUP COPIES FOR DEVICE TYPE DISK TO 1; # default</a:t>
            </a:r>
          </a:p>
          <a:p>
            <a:pPr marL="128016" lvl="1" indent="0">
              <a:buNone/>
            </a:pPr>
            <a:r>
              <a:rPr lang="sk-SK" dirty="0"/>
              <a:t>CONFIGURE ARCHIVELOG BACKUP COPIES FOR DEVICE TYPE DISK TO 1; # default</a:t>
            </a:r>
          </a:p>
          <a:p>
            <a:pPr marL="128016" lvl="1" indent="0">
              <a:buNone/>
            </a:pPr>
            <a:r>
              <a:rPr lang="sk-SK" dirty="0"/>
              <a:t>CONFIGURE MAXSETSIZE TO UNLIMITED; # default</a:t>
            </a:r>
          </a:p>
          <a:p>
            <a:pPr marL="128016" lvl="1" indent="0">
              <a:buNone/>
            </a:pPr>
            <a:r>
              <a:rPr lang="sk-SK" dirty="0"/>
              <a:t>CONFIGURE ENCRYPTION FOR DATABASE OFF; # default</a:t>
            </a:r>
          </a:p>
          <a:p>
            <a:pPr marL="128016" lvl="1" indent="0">
              <a:buNone/>
            </a:pPr>
            <a:r>
              <a:rPr lang="sk-SK" dirty="0"/>
              <a:t>CONFIGURE ENCRYPTION ALGORITHM 'AES128'; # default</a:t>
            </a:r>
          </a:p>
          <a:p>
            <a:pPr marL="128016" lvl="1" indent="0">
              <a:buNone/>
            </a:pPr>
            <a:r>
              <a:rPr lang="sk-SK" dirty="0"/>
              <a:t>CONFIGURE COMPRESSION ALGORITHM 'BASIC' AS OF RELEASE 'DEFAULT' OPTIMIZE FOR LOAD TRUE ; # default</a:t>
            </a:r>
          </a:p>
          <a:p>
            <a:pPr marL="128016" lvl="1" indent="0">
              <a:buNone/>
            </a:pPr>
            <a:r>
              <a:rPr lang="sk-SK" dirty="0"/>
              <a:t>CONFIGURE RMAN OUTPUT TO KEEP FOR 7 DAYS; # default</a:t>
            </a:r>
          </a:p>
          <a:p>
            <a:pPr marL="128016" lvl="1" indent="0">
              <a:buNone/>
            </a:pPr>
            <a:r>
              <a:rPr lang="sk-SK" dirty="0"/>
              <a:t>CONFIGURE ARCHIVELOG DELETION POLICY TO NONE; # default</a:t>
            </a:r>
          </a:p>
          <a:p>
            <a:pPr marL="128016" lvl="1" indent="0">
              <a:buNone/>
            </a:pPr>
            <a:r>
              <a:rPr lang="sk-SK" dirty="0"/>
              <a:t>CONFIGURE SNAPSHOT CONTROLFILE NAME TO '/pkg/moip/mo9988/oracle/product/12.1.0.2/dbs/snapcf_aDUAL1.f'; # default</a:t>
            </a:r>
          </a:p>
        </p:txBody>
      </p:sp>
    </p:spTree>
    <p:extLst>
      <p:ext uri="{BB962C8B-B14F-4D97-AF65-F5344CB8AC3E}">
        <p14:creationId xmlns:p14="http://schemas.microsoft.com/office/powerpoint/2010/main" val="557132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FULL a Incremental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dirty="0"/>
              <a:t>Pri backupe rozoznávame full a inkrementálny backup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Full backup (L0)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obsahuje zálohu celej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Incremental backup (L1)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obsahuje všetky zmeny na databáze od posledného backupu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rozlišujeme diferenciálny a kumulatívny backup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96963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FULL a Incremental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dirty="0"/>
              <a:t>Diferenciálny backup obsahuje zmeny ku poslednému backupu (L1 alebo L0)</a:t>
            </a:r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066" y="3080385"/>
            <a:ext cx="57150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3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FULL a Incremental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dirty="0"/>
              <a:t>Kumulatívny backup obsahuje zmeny ku poslednému full backupu (L0)</a:t>
            </a:r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688" y="3026228"/>
            <a:ext cx="57150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79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k-SK" dirty="0"/>
              <a:t>onzistencia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en-US" dirty="0"/>
              <a:t>p</a:t>
            </a:r>
            <a:r>
              <a:rPr lang="sk-SK" dirty="0"/>
              <a:t>omocou</a:t>
            </a:r>
            <a:r>
              <a:rPr lang="en-US" b="1" i="1" dirty="0"/>
              <a:t> </a:t>
            </a:r>
            <a:r>
              <a:rPr lang="en-US" dirty="0"/>
              <a:t>RMAN v</a:t>
            </a:r>
            <a:r>
              <a:rPr lang="sk-SK" dirty="0"/>
              <a:t>ieme</a:t>
            </a:r>
            <a:r>
              <a:rPr lang="en-US" dirty="0"/>
              <a:t> </a:t>
            </a:r>
            <a:r>
              <a:rPr lang="sk-SK" dirty="0"/>
              <a:t>vytvoriť konzistentný alebo nekonzistentný backup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Konzistentný backup (Cold backup)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Je potrebné ho vykonať keď je databáza v konzistentnom stave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To je možné docieliť štandardným vypnutím databázy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 restore databázy je databáza pripravená na použitie</a:t>
            </a:r>
          </a:p>
          <a:p>
            <a:pPr marL="128016" lvl="1" indent="0">
              <a:buNone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Nekonzistentný backup (Hot backup)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Backup je vytvorený v nekonzistentnom stave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To je možné docieliť neštandardným vypnutím (shutdown abort) alebo spravením backupu kým je databáza otvorená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Po restore z nekonzistentného backupu je potrebné spraviť ešte recovery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dirty="0"/>
              <a:t> Musí byť zapnutý archívny mód</a:t>
            </a:r>
          </a:p>
          <a:p>
            <a:pPr marL="128016" lvl="1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13620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FULL a Incremental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Spustenie Full backupu - Konzistentný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sz="2000" dirty="0"/>
              <a:t>rman target /</a:t>
            </a:r>
          </a:p>
          <a:p>
            <a:pPr marL="0" indent="0">
              <a:buNone/>
            </a:pPr>
            <a:r>
              <a:rPr lang="sk-SK" sz="2000" dirty="0"/>
              <a:t>SHUTDOWN IMMEDIATE</a:t>
            </a:r>
            <a:r>
              <a:rPr lang="en-US" sz="2000" dirty="0"/>
              <a:t>;</a:t>
            </a:r>
            <a:endParaRPr lang="sk-SK" sz="2000" dirty="0"/>
          </a:p>
          <a:p>
            <a:pPr marL="0" indent="0">
              <a:buNone/>
            </a:pPr>
            <a:r>
              <a:rPr lang="sk-SK" sz="2000" dirty="0"/>
              <a:t>STARTUP MOUNT</a:t>
            </a:r>
            <a:r>
              <a:rPr lang="en-US" sz="2000" dirty="0"/>
              <a:t>;</a:t>
            </a:r>
            <a:endParaRPr lang="sk-SK" sz="2000" dirty="0"/>
          </a:p>
          <a:p>
            <a:pPr marL="0" indent="0">
              <a:buNone/>
            </a:pPr>
            <a:r>
              <a:rPr lang="sk-SK" sz="2000" dirty="0"/>
              <a:t>BACKUP DATABASE</a:t>
            </a:r>
            <a:r>
              <a:rPr lang="en-US" sz="2000" dirty="0"/>
              <a:t>;</a:t>
            </a:r>
            <a:endParaRPr lang="sk-SK" sz="2000" dirty="0"/>
          </a:p>
          <a:p>
            <a:pPr marL="0" indent="0">
              <a:buNone/>
            </a:pPr>
            <a:r>
              <a:rPr lang="sk-SK" sz="2000" dirty="0"/>
              <a:t>ALTER DATABASE OPEN</a:t>
            </a:r>
            <a:r>
              <a:rPr lang="en-US" sz="2000" dirty="0"/>
              <a:t>;</a:t>
            </a:r>
            <a:endParaRPr lang="sk-SK" sz="2000" dirty="0"/>
          </a:p>
          <a:p>
            <a:pPr marL="0" indent="0">
              <a:buNone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60121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FULL a Incremental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sk-SK" dirty="0"/>
              <a:t> Spustenie Full backupu - Nekonzistentný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sz="2000" dirty="0"/>
              <a:t>rman target /</a:t>
            </a:r>
          </a:p>
          <a:p>
            <a:pPr marL="0" indent="0">
              <a:buNone/>
            </a:pPr>
            <a:r>
              <a:rPr lang="sk-SK" sz="2000" dirty="0"/>
              <a:t>BACKUP DATABASE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sk-SK" sz="2000" dirty="0"/>
              <a:t>BACKUP DATABASE</a:t>
            </a:r>
            <a:r>
              <a:rPr lang="en-US" sz="2000" dirty="0"/>
              <a:t> PLUS ARCHIVELOG;</a:t>
            </a:r>
          </a:p>
          <a:p>
            <a:pPr marL="0" indent="0">
              <a:buNone/>
            </a:pPr>
            <a:endParaRPr lang="sk-SK" dirty="0"/>
          </a:p>
          <a:p>
            <a:pPr>
              <a:buFont typeface="Courier New" panose="02070309020205020404" pitchFamily="49" charset="0"/>
              <a:buChar char="o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29594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ARCHIVELOG 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01834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sz="2000" dirty="0"/>
              <a:t>Pre potreby recovery nekonzistentného backupu je potrebné mať dostupné archívne redo logy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Preto jednou z požiadaviek je mať zapnutý archívny mód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Pri recovery sa naaplikujú zmeny z archívnych redo logov aby sa stala databáza konzistentná</a:t>
            </a:r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  <a:p>
            <a:pPr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0" indent="0">
              <a:buNone/>
            </a:pPr>
            <a:r>
              <a:rPr lang="sk-SK" sz="2000" dirty="0"/>
              <a:t>rman target /</a:t>
            </a:r>
          </a:p>
          <a:p>
            <a:pPr marL="0" indent="0">
              <a:buNone/>
            </a:pPr>
            <a:r>
              <a:rPr lang="sk-SK" sz="2000" dirty="0"/>
              <a:t>BACKUP </a:t>
            </a:r>
            <a:r>
              <a:rPr lang="en-US" sz="2000" dirty="0"/>
              <a:t>ARCHIVELOG ALL;</a:t>
            </a:r>
          </a:p>
          <a:p>
            <a:pPr marL="0" indent="0">
              <a:buNone/>
            </a:pPr>
            <a:endParaRPr lang="sk-SK" sz="2000" dirty="0"/>
          </a:p>
        </p:txBody>
      </p:sp>
    </p:spTree>
    <p:extLst>
      <p:ext uri="{BB962C8B-B14F-4D97-AF65-F5344CB8AC3E}">
        <p14:creationId xmlns:p14="http://schemas.microsoft.com/office/powerpoint/2010/main" val="3403605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autobackup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018341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i="1" dirty="0"/>
              <a:t> </a:t>
            </a:r>
            <a:r>
              <a:rPr lang="sk-SK" sz="2000" dirty="0"/>
              <a:t>Keby prišli nielen o dáta, ale aj o všetky ďalšie databázové súbory mohli by sme mať problém spraviť restore databázy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Aby sme tomu predišli je dobré nastaviť v RMAN konfigurácii autobackup na controlfile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sk-SK" sz="1600" dirty="0"/>
              <a:t> CONFIGURE CONTROLFILE AUTOBACKUP 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Týmto nastavením sa vždy po vykonaní backupu vykoná aj autobackup pre controlfile a spfile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Tie sú dôležité na to, aby sme vedeli naštartovať databázu (spfile, controlfile)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Taktiež, ak nie je databáza zaregistrovaná do Recovery katalógu, všetky informácie o backupoch sú uložené v controlfile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sk-SK" sz="2000" dirty="0"/>
              <a:t> Tým, že autobackup sa vykoná až po backupe, obsahuje controlfile informáciu už aj tomto najaktuálnejšom backupe</a:t>
            </a:r>
          </a:p>
        </p:txBody>
      </p:sp>
    </p:spTree>
    <p:extLst>
      <p:ext uri="{BB962C8B-B14F-4D97-AF65-F5344CB8AC3E}">
        <p14:creationId xmlns:p14="http://schemas.microsoft.com/office/powerpoint/2010/main" val="3241140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restore a RECOVERY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018341" cy="42367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sz="2000" dirty="0"/>
              <a:t>rman target /</a:t>
            </a:r>
          </a:p>
          <a:p>
            <a:pPr marL="0" indent="0">
              <a:buNone/>
            </a:pPr>
            <a:r>
              <a:rPr lang="sk-SK" sz="2000" dirty="0"/>
              <a:t>SHUTDOWN IMMEDIATE</a:t>
            </a:r>
            <a:r>
              <a:rPr lang="en-US" sz="2000" dirty="0"/>
              <a:t>;</a:t>
            </a:r>
            <a:endParaRPr lang="sk-SK" sz="2000" dirty="0"/>
          </a:p>
          <a:p>
            <a:pPr marL="0" indent="0">
              <a:buNone/>
            </a:pPr>
            <a:r>
              <a:rPr lang="sk-SK" sz="2000" dirty="0"/>
              <a:t>STARTUP NOMOUNT</a:t>
            </a:r>
            <a:r>
              <a:rPr lang="en-US" sz="2000" dirty="0"/>
              <a:t>;</a:t>
            </a:r>
            <a:endParaRPr lang="sk-SK" sz="2000" dirty="0"/>
          </a:p>
          <a:p>
            <a:pPr marL="0" indent="0">
              <a:buNone/>
            </a:pPr>
            <a:r>
              <a:rPr lang="sk-SK" sz="2000" dirty="0"/>
              <a:t>run {</a:t>
            </a:r>
          </a:p>
          <a:p>
            <a:pPr marL="0" indent="0">
              <a:buNone/>
            </a:pPr>
            <a:r>
              <a:rPr lang="sk-SK" sz="2000" dirty="0"/>
              <a:t>set DBID=2633193818</a:t>
            </a:r>
          </a:p>
          <a:p>
            <a:pPr marL="0" indent="0">
              <a:buNone/>
            </a:pPr>
            <a:r>
              <a:rPr lang="sk-SK" sz="2000" dirty="0"/>
              <a:t>set until time "to_date('2019-08-15:10:00:00', 'yyyy-mm-dd:hh24:mi:ss')";</a:t>
            </a:r>
          </a:p>
          <a:p>
            <a:pPr marL="0" indent="0">
              <a:buNone/>
            </a:pPr>
            <a:r>
              <a:rPr lang="sk-SK" sz="2000" dirty="0"/>
              <a:t>restore controlfile from autobackup;</a:t>
            </a:r>
          </a:p>
          <a:p>
            <a:pPr marL="0" indent="0">
              <a:buNone/>
            </a:pPr>
            <a:r>
              <a:rPr lang="sk-SK" sz="2000" dirty="0"/>
              <a:t>alter database mount;</a:t>
            </a:r>
          </a:p>
          <a:p>
            <a:pPr marL="0" indent="0">
              <a:buNone/>
            </a:pPr>
            <a:r>
              <a:rPr lang="sk-SK" sz="2000" dirty="0"/>
              <a:t>restore database;</a:t>
            </a:r>
          </a:p>
          <a:p>
            <a:pPr marL="0" indent="0">
              <a:buNone/>
            </a:pPr>
            <a:r>
              <a:rPr lang="sk-SK" sz="2000" dirty="0"/>
              <a:t>recover database;</a:t>
            </a:r>
          </a:p>
          <a:p>
            <a:pPr marL="0" indent="0">
              <a:buNone/>
            </a:pPr>
            <a:r>
              <a:rPr lang="sk-SK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1126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2358</Words>
  <Application>Microsoft Office PowerPoint</Application>
  <PresentationFormat>Widescreen</PresentationFormat>
  <Paragraphs>291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Tw Cen MT</vt:lpstr>
      <vt:lpstr>Tw Cen MT Condensed</vt:lpstr>
      <vt:lpstr>Wingdings 3</vt:lpstr>
      <vt:lpstr>Integral</vt:lpstr>
      <vt:lpstr>Backup a restore</vt:lpstr>
      <vt:lpstr>Na čo slúži backup a restore</vt:lpstr>
      <vt:lpstr>Spôsoby zálohovania a obnovy dát</vt:lpstr>
      <vt:lpstr>Data pump export/import</vt:lpstr>
      <vt:lpstr>Data pump export/import</vt:lpstr>
      <vt:lpstr>Data pump export/import</vt:lpstr>
      <vt:lpstr>Data pump export/import</vt:lpstr>
      <vt:lpstr>Data pump export/import</vt:lpstr>
      <vt:lpstr>Data pump export/import</vt:lpstr>
      <vt:lpstr>Data pump export/import</vt:lpstr>
      <vt:lpstr>FLASHBACK</vt:lpstr>
      <vt:lpstr>FLASHBACK</vt:lpstr>
      <vt:lpstr>FLASHBACK</vt:lpstr>
      <vt:lpstr>FLASHBACK</vt:lpstr>
      <vt:lpstr>FLASHBACK</vt:lpstr>
      <vt:lpstr>FLASHBACK</vt:lpstr>
      <vt:lpstr>Fyzický backup</vt:lpstr>
      <vt:lpstr>Recovery manager - RMAN</vt:lpstr>
      <vt:lpstr>Recovery manager - RMAN</vt:lpstr>
      <vt:lpstr>Recovery manager - RMAN</vt:lpstr>
      <vt:lpstr>FULL a Incremental backup</vt:lpstr>
      <vt:lpstr>FULL a Incremental backup</vt:lpstr>
      <vt:lpstr>FULL a Incremental backup</vt:lpstr>
      <vt:lpstr>Konzistencia</vt:lpstr>
      <vt:lpstr>FULL a Incremental backup</vt:lpstr>
      <vt:lpstr>FULL a Incremental backup</vt:lpstr>
      <vt:lpstr>ARCHIVELOG backup</vt:lpstr>
      <vt:lpstr>autobackup</vt:lpstr>
      <vt:lpstr>restore a RECOVERY</vt:lpstr>
    </vt:vector>
  </TitlesOfParts>
  <Company>T-Systesms Slovakia s.r.o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MANAžment</dc:title>
  <dc:creator>Vankova, Jana</dc:creator>
  <cp:lastModifiedBy>Simcak, Lubos</cp:lastModifiedBy>
  <cp:revision>76</cp:revision>
  <dcterms:created xsi:type="dcterms:W3CDTF">2020-05-08T16:37:31Z</dcterms:created>
  <dcterms:modified xsi:type="dcterms:W3CDTF">2021-10-27T07:35:33Z</dcterms:modified>
  <cp:category>OPEN 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class="C0" owner="Vankova, Jana" position="BottomRight" marginX="0" marginY="0" classifiedOn="2020-05-08T19:54:10.3501</vt:lpwstr>
  </property>
  <property fmtid="{D5CDD505-2E9C-101B-9397-08002B2CF9AE}" pid="3" name="tsystems-DocumentTagging.ClassificationMark.P01">
    <vt:lpwstr>751+02:00" showPrintedBy="false" showPrintDate="false" language="en" ApplicationVersion="Microsoft PowerPoint, 15.0" addinVersion="5.10.4.12" template="Default"&gt;&lt;history bulk="false" class="OPEN " code="C0" user="SK-KOSICE\jivanisk" date="2020-05-08T</vt:lpwstr>
  </property>
  <property fmtid="{D5CDD505-2E9C-101B-9397-08002B2CF9AE}" pid="4" name="tsystems-DocumentTagging.ClassificationMark.P02">
    <vt:lpwstr>19:54:10.3941889+02:00"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OPEN </vt:lpwstr>
  </property>
  <property fmtid="{D5CDD505-2E9C-101B-9397-08002B2CF9AE}" pid="7" name="tsystems-DLP">
    <vt:lpwstr>tsystems-DLP:TAG_SEC_C0</vt:lpwstr>
  </property>
</Properties>
</file>