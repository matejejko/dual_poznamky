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4" r:id="rId6"/>
    <p:sldId id="260" r:id="rId7"/>
    <p:sldId id="269" r:id="rId8"/>
    <p:sldId id="261" r:id="rId9"/>
    <p:sldId id="262" r:id="rId10"/>
    <p:sldId id="263" r:id="rId11"/>
    <p:sldId id="264" r:id="rId12"/>
    <p:sldId id="265" r:id="rId13"/>
    <p:sldId id="268" r:id="rId14"/>
    <p:sldId id="267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26" autoAdjust="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cak, Lubos" userId="a20b6fc6-f9da-474e-b069-505f3feab77a" providerId="ADAL" clId="{1BE89A02-181E-4A18-BC74-358AB697CB3B}"/>
    <pc:docChg chg="undo custSel addSld delSld modSld">
      <pc:chgData name="Simcak, Lubos" userId="a20b6fc6-f9da-474e-b069-505f3feab77a" providerId="ADAL" clId="{1BE89A02-181E-4A18-BC74-358AB697CB3B}" dt="2022-04-25T07:21:51.564" v="650" actId="20577"/>
      <pc:docMkLst>
        <pc:docMk/>
      </pc:docMkLst>
      <pc:sldChg chg="modSp mod">
        <pc:chgData name="Simcak, Lubos" userId="a20b6fc6-f9da-474e-b069-505f3feab77a" providerId="ADAL" clId="{1BE89A02-181E-4A18-BC74-358AB697CB3B}" dt="2022-04-25T07:13:10.769" v="0" actId="14100"/>
        <pc:sldMkLst>
          <pc:docMk/>
          <pc:sldMk cId="3591138657" sldId="257"/>
        </pc:sldMkLst>
        <pc:spChg chg="mod">
          <ac:chgData name="Simcak, Lubos" userId="a20b6fc6-f9da-474e-b069-505f3feab77a" providerId="ADAL" clId="{1BE89A02-181E-4A18-BC74-358AB697CB3B}" dt="2022-04-25T07:13:10.769" v="0" actId="14100"/>
          <ac:spMkLst>
            <pc:docMk/>
            <pc:sldMk cId="3591138657" sldId="257"/>
            <ac:spMk id="15363" creationId="{00000000-0000-0000-0000-000000000000}"/>
          </ac:spMkLst>
        </pc:spChg>
      </pc:sldChg>
      <pc:sldChg chg="modSp mod">
        <pc:chgData name="Simcak, Lubos" userId="a20b6fc6-f9da-474e-b069-505f3feab77a" providerId="ADAL" clId="{1BE89A02-181E-4A18-BC74-358AB697CB3B}" dt="2022-04-25T07:21:12.401" v="616" actId="20577"/>
        <pc:sldMkLst>
          <pc:docMk/>
          <pc:sldMk cId="2467088029" sldId="258"/>
        </pc:sldMkLst>
        <pc:spChg chg="mod">
          <ac:chgData name="Simcak, Lubos" userId="a20b6fc6-f9da-474e-b069-505f3feab77a" providerId="ADAL" clId="{1BE89A02-181E-4A18-BC74-358AB697CB3B}" dt="2022-04-25T07:21:12.401" v="616" actId="20577"/>
          <ac:spMkLst>
            <pc:docMk/>
            <pc:sldMk cId="2467088029" sldId="258"/>
            <ac:spMk id="3" creationId="{00000000-0000-0000-0000-000000000000}"/>
          </ac:spMkLst>
        </pc:spChg>
      </pc:sldChg>
      <pc:sldChg chg="new del">
        <pc:chgData name="Simcak, Lubos" userId="a20b6fc6-f9da-474e-b069-505f3feab77a" providerId="ADAL" clId="{1BE89A02-181E-4A18-BC74-358AB697CB3B}" dt="2022-04-25T07:15:01.668" v="8" actId="680"/>
        <pc:sldMkLst>
          <pc:docMk/>
          <pc:sldMk cId="145962755" sldId="274"/>
        </pc:sldMkLst>
      </pc:sldChg>
      <pc:sldChg chg="modSp new mod">
        <pc:chgData name="Simcak, Lubos" userId="a20b6fc6-f9da-474e-b069-505f3feab77a" providerId="ADAL" clId="{1BE89A02-181E-4A18-BC74-358AB697CB3B}" dt="2022-04-25T07:21:51.564" v="650" actId="20577"/>
        <pc:sldMkLst>
          <pc:docMk/>
          <pc:sldMk cId="1531184080" sldId="274"/>
        </pc:sldMkLst>
        <pc:spChg chg="mod">
          <ac:chgData name="Simcak, Lubos" userId="a20b6fc6-f9da-474e-b069-505f3feab77a" providerId="ADAL" clId="{1BE89A02-181E-4A18-BC74-358AB697CB3B}" dt="2022-04-25T07:15:21.780" v="25" actId="20577"/>
          <ac:spMkLst>
            <pc:docMk/>
            <pc:sldMk cId="1531184080" sldId="274"/>
            <ac:spMk id="2" creationId="{B898FA36-9D24-48E3-8E15-5057FD373D7C}"/>
          </ac:spMkLst>
        </pc:spChg>
        <pc:spChg chg="mod">
          <ac:chgData name="Simcak, Lubos" userId="a20b6fc6-f9da-474e-b069-505f3feab77a" providerId="ADAL" clId="{1BE89A02-181E-4A18-BC74-358AB697CB3B}" dt="2022-04-25T07:21:51.564" v="650" actId="20577"/>
          <ac:spMkLst>
            <pc:docMk/>
            <pc:sldMk cId="1531184080" sldId="274"/>
            <ac:spMk id="3" creationId="{5E6E03C9-AADF-4643-BD71-6C7EB5960A9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ABAE7-122C-4ADC-B3A7-1FD1EEDAA4CB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99809-0E63-4CF1-BEEC-FCCA4247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5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9344D-2E24-4321-9570-B49863BF7C10}" type="slidenum">
              <a:rPr lang="sk-SK" altLang="en-US"/>
              <a:pPr>
                <a:defRPr/>
              </a:pPr>
              <a:t>‹#›</a:t>
            </a:fld>
            <a:endParaRPr lang="sk-SK" altLang="en-US"/>
          </a:p>
        </p:txBody>
      </p:sp>
    </p:spTree>
    <p:extLst>
      <p:ext uri="{BB962C8B-B14F-4D97-AF65-F5344CB8AC3E}">
        <p14:creationId xmlns:p14="http://schemas.microsoft.com/office/powerpoint/2010/main" val="93286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database/121/ADMQS/GUID-434BA586-DDFC-4C37-B442-C9348C2853AE.htm#ADMQS07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database/121/ADMQS/GUID-289A4BF6-F703-4ED5-8357-89F651A6D1DE.htm#ADMQS12001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Spr</a:t>
            </a:r>
            <a:r>
              <a:rPr lang="sk-SK" dirty="0"/>
              <a:t>áva užívateľov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Jana Vaňková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52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Zabezpečeenie DBS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3485" y="2206375"/>
            <a:ext cx="9416041" cy="4066409"/>
          </a:xfrm>
        </p:spPr>
        <p:txBody>
          <a:bodyPr/>
          <a:lstStyle/>
          <a:p>
            <a:r>
              <a:rPr lang="sk-SK" sz="2600" dirty="0"/>
              <a:t>zabezpečenie =  bezpečnosť systému(DBA) + bezpečnosť dát</a:t>
            </a:r>
          </a:p>
          <a:p>
            <a:r>
              <a:rPr lang="sk-SK" sz="2600" dirty="0"/>
              <a:t>bezpečnosť dát úzko súvisí so správou užívateľov</a:t>
            </a:r>
          </a:p>
          <a:p>
            <a:r>
              <a:rPr lang="sk-SK" sz="2600" dirty="0"/>
              <a:t> nástroje a mechanizmy zabezpečenia dát (pred poškodením, zneužitím, ..):</a:t>
            </a:r>
          </a:p>
          <a:p>
            <a:pPr lvl="1"/>
            <a:r>
              <a:rPr lang="sk-SK" sz="2400" b="1" i="1" dirty="0"/>
              <a:t>autentifikácia:</a:t>
            </a:r>
            <a:r>
              <a:rPr lang="sk-SK" sz="2400" dirty="0"/>
              <a:t>  zahŕňa všetky metódy na overenie identity užívateľov</a:t>
            </a:r>
          </a:p>
          <a:p>
            <a:pPr lvl="1"/>
            <a:r>
              <a:rPr lang="sk-SK" sz="2400" b="1" i="1" dirty="0"/>
              <a:t>autorizácia:</a:t>
            </a:r>
            <a:r>
              <a:rPr lang="sk-SK" sz="2400" dirty="0"/>
              <a:t> umožňuje prístup k objektom DB  </a:t>
            </a:r>
          </a:p>
          <a:p>
            <a:pPr lvl="1"/>
            <a:r>
              <a:rPr lang="sk-SK" sz="2400" b="1" i="1" dirty="0"/>
              <a:t>audit:</a:t>
            </a:r>
            <a:r>
              <a:rPr lang="sk-SK" sz="2400" dirty="0"/>
              <a:t> sledovanie DB ako úspešné/neúspešné prihlásenie, štatistika prístupu k objektom, realizácia konkrétnych akcií, ...</a:t>
            </a:r>
          </a:p>
        </p:txBody>
      </p:sp>
    </p:spTree>
    <p:extLst>
      <p:ext uri="{BB962C8B-B14F-4D97-AF65-F5344CB8AC3E}">
        <p14:creationId xmlns:p14="http://schemas.microsoft.com/office/powerpoint/2010/main" val="3591138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7" descr="Description of create_user.gif follow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860" y="1335024"/>
            <a:ext cx="6396760" cy="464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Vytvorenie užívateľa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6733" y="6426294"/>
            <a:ext cx="12055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https://docs.oracle.com/database/121/ADMQS/GUID-434BA586-DDFC-4C37-B442-C9348C2853AE.htm#ADMQS071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11850" y="2196269"/>
            <a:ext cx="39310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u</a:t>
            </a:r>
            <a:r>
              <a:rPr lang="sk-SK" dirty="0" err="1"/>
              <a:t>žívateľ</a:t>
            </a:r>
            <a:r>
              <a:rPr lang="en-US" dirty="0"/>
              <a:t> </a:t>
            </a:r>
            <a:r>
              <a:rPr lang="sk-SK" dirty="0"/>
              <a:t>(user)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sk-SK" dirty="0"/>
              <a:t>abáze je identikovaný svojim menom a sú mu pridelené nasledovné atribúty: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metóda autentifikácie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heslo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predvolené tablespacy pre trvalé a dočasné ukladanie údajov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kvóta na tablespace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stav účtu (lock/unlock)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stav hesla (expire/not expire)</a:t>
            </a:r>
          </a:p>
        </p:txBody>
      </p:sp>
    </p:spTree>
    <p:extLst>
      <p:ext uri="{BB962C8B-B14F-4D97-AF65-F5344CB8AC3E}">
        <p14:creationId xmlns:p14="http://schemas.microsoft.com/office/powerpoint/2010/main" val="2467088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Vytvorenie užívateľa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600"/>
              <a:t>Príklad: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600"/>
              <a:t>CREATE USER janko IDENTIFIED BY hrasko321;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600"/>
              <a:t>CREATE USER janko IDENTIFIED BY hrasko321 DEFAULT TABLESPACE users;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600"/>
              <a:t>CREATE USER janko IDENTIFIED BY hrasko321 DEFAULT TABLESPACE users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600"/>
              <a:t>	ACCOUNT LOCK PASSWORD EXPIRED;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600" b="1"/>
              <a:t>Prihlásenie: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600"/>
              <a:t>OS: s</a:t>
            </a:r>
            <a:r>
              <a:rPr lang="sk-SK" sz="2600"/>
              <a:t>qlplus </a:t>
            </a:r>
            <a:r>
              <a:rPr lang="en-US" sz="2600"/>
              <a:t>&lt;username&gt;/&lt;password&gt;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600"/>
              <a:t>sqlplus: connect &lt;username&gt;/&lt;password&gt;</a:t>
            </a:r>
            <a:endParaRPr lang="sk-SK" sz="2600"/>
          </a:p>
        </p:txBody>
      </p:sp>
    </p:spTree>
    <p:extLst>
      <p:ext uri="{BB962C8B-B14F-4D97-AF65-F5344CB8AC3E}">
        <p14:creationId xmlns:p14="http://schemas.microsoft.com/office/powerpoint/2010/main" val="2995968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FA36-9D24-48E3-8E15-5057FD373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Užívateľ </a:t>
            </a:r>
            <a:r>
              <a:rPr lang="sk-SK" dirty="0" err="1"/>
              <a:t>vs</a:t>
            </a:r>
            <a:r>
              <a:rPr lang="sk-SK" dirty="0"/>
              <a:t> schéma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E03C9-AADF-4643-BD71-6C7EB5960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v Oracle </a:t>
            </a:r>
            <a:r>
              <a:rPr lang="sk-SK" dirty="0" err="1"/>
              <a:t>DBs</a:t>
            </a:r>
            <a:r>
              <a:rPr lang="sk-SK" dirty="0"/>
              <a:t> sa rozoznávajú 2 pojmy – užívateľ (user) a schéma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užívateľ slúži na prihlásenie do databázy a dopytovanie sa na dáta v nej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schéma je užívateľ, ktorý vlastní objekty (tabuľky</a:t>
            </a:r>
            <a:r>
              <a:rPr lang="sk-SK"/>
              <a:t>, indexy, ...)</a:t>
            </a: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v odbornej literatúre sa bežne zvyknú tieto pojmy voľne obmieňať, keďže nie je potrebný žiaden úkon na premenu užívateľa na schému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po zmazaní užívateľa sa zmaže aj schéma</a:t>
            </a:r>
          </a:p>
          <a:p>
            <a:pPr>
              <a:buFont typeface="Arial" panose="020B0604020202020204" pitchFamily="34" charset="0"/>
              <a:buChar char="•"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531184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Správa používateľov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8039" y="2084832"/>
            <a:ext cx="8713787" cy="441166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sk-SK" sz="2600" dirty="0"/>
              <a:t>zmazanie používateľa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600" dirty="0"/>
              <a:t>	</a:t>
            </a:r>
            <a:r>
              <a:rPr lang="sk-SK" sz="2600" b="1" dirty="0">
                <a:latin typeface="Consolas" panose="020B0609020204030204" pitchFamily="49" charset="0"/>
              </a:rPr>
              <a:t>DROP USER </a:t>
            </a:r>
            <a:r>
              <a:rPr lang="en-US" sz="2600" b="1" dirty="0">
                <a:latin typeface="Consolas" panose="020B0609020204030204" pitchFamily="49" charset="0"/>
              </a:rPr>
              <a:t>&lt;</a:t>
            </a:r>
            <a:r>
              <a:rPr lang="sk-SK" sz="2600" b="1" dirty="0">
                <a:latin typeface="Consolas" panose="020B0609020204030204" pitchFamily="49" charset="0"/>
              </a:rPr>
              <a:t>meno používateľa</a:t>
            </a:r>
            <a:r>
              <a:rPr lang="en-US" sz="2600" b="1" dirty="0">
                <a:latin typeface="Consolas" panose="020B0609020204030204" pitchFamily="49" charset="0"/>
              </a:rPr>
              <a:t>&gt;</a:t>
            </a:r>
            <a:r>
              <a:rPr lang="sk-SK" sz="2600" b="1" dirty="0">
                <a:latin typeface="Consolas" panose="020B0609020204030204" pitchFamily="49" charset="0"/>
              </a:rPr>
              <a:t> [CASCADE];</a:t>
            </a:r>
            <a:r>
              <a:rPr lang="sk-SK" sz="2600" dirty="0"/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600" dirty="0"/>
              <a:t>	Príklad: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600" dirty="0"/>
              <a:t>	</a:t>
            </a:r>
            <a:r>
              <a:rPr lang="sk-SK" sz="2600" dirty="0">
                <a:latin typeface="Consolas" panose="020B0609020204030204" pitchFamily="49" charset="0"/>
              </a:rPr>
              <a:t>DROP USER janko;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600" dirty="0">
                <a:latin typeface="Consolas" panose="020B0609020204030204" pitchFamily="49" charset="0"/>
              </a:rPr>
              <a:t>	DROP USER oe CASCADE;</a:t>
            </a:r>
          </a:p>
          <a:p>
            <a:pPr>
              <a:lnSpc>
                <a:spcPct val="90000"/>
              </a:lnSpc>
            </a:pPr>
            <a:r>
              <a:rPr lang="sk-SK" sz="2600" dirty="0"/>
              <a:t>úprava používateľa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600" dirty="0"/>
              <a:t>	</a:t>
            </a:r>
            <a:r>
              <a:rPr lang="sk-SK" sz="2600" b="1" dirty="0"/>
              <a:t>ALTER USER </a:t>
            </a:r>
            <a:r>
              <a:rPr lang="en-US" sz="2600" b="1" dirty="0"/>
              <a:t>&lt;</a:t>
            </a:r>
            <a:r>
              <a:rPr lang="sk-SK" sz="2600" b="1" dirty="0"/>
              <a:t>meno používateľa</a:t>
            </a:r>
            <a:r>
              <a:rPr lang="en-US" sz="2600" b="1" dirty="0"/>
              <a:t>&gt;</a:t>
            </a:r>
            <a:r>
              <a:rPr lang="sk-SK" sz="2600" b="1" dirty="0"/>
              <a:t> [OPTIONS];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600" dirty="0"/>
              <a:t>	Príklad: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600" dirty="0"/>
              <a:t>	ALTER USER janko IDENTIFIED BY hrasko123;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600" dirty="0"/>
              <a:t> 	ALTER USER janko PASSWORD EXPIRE;</a:t>
            </a:r>
          </a:p>
        </p:txBody>
      </p:sp>
    </p:spTree>
    <p:extLst>
      <p:ext uri="{BB962C8B-B14F-4D97-AF65-F5344CB8AC3E}">
        <p14:creationId xmlns:p14="http://schemas.microsoft.com/office/powerpoint/2010/main" val="123809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</a:t>
            </a:r>
            <a:r>
              <a:rPr lang="sk-SK" dirty="0"/>
              <a:t>émoví užívatelia a PRIVILégia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sk-SK" dirty="0"/>
              <a:t> </a:t>
            </a:r>
            <a:r>
              <a:rPr lang="sk-SK" b="1" i="1" dirty="0"/>
              <a:t>SYS</a:t>
            </a:r>
            <a:r>
              <a:rPr lang="sk-SK" dirty="0"/>
              <a:t>: môže vykonávať všetky administratívne funkcie. Všetky tabuľky a pohľady pre databázový dátový slovník sú uložené v schéme SYS. V schéme SYS nesmiete vytvárať ani upravovať žiadne tabuľky. Užívateľovi SYS sa udeľuje privilégium SYSDBA, ktoré mu umožňuje vykonávať administratívne úlohy na vysokej úrovni, napríklad zálohovanie a obnovenie.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k-SK" dirty="0"/>
              <a:t> </a:t>
            </a:r>
            <a:r>
              <a:rPr lang="sk-SK" b="1" i="1" dirty="0"/>
              <a:t>SYSTEM</a:t>
            </a:r>
            <a:r>
              <a:rPr lang="sk-SK" dirty="0"/>
              <a:t>: môže vykonávať všetky administratívne funkcie okrem nasledujúcich: zálohovanie a obnova, upgrade databázy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k-SK" b="1" i="1" dirty="0"/>
              <a:t>SYSDBA a SYSOPER</a:t>
            </a:r>
            <a:r>
              <a:rPr lang="sk-SK" dirty="0"/>
              <a:t>: administrátorské privilégiá potrebné na vykonávanie administratívnych operácií na vysokej úrovni, ako je vytváranie, spúšťanie, vypínanie, zálohovanie alebo obnova databázy. Systémové privilégium SYSDBA je určené pre správcov databáz s úplným oprávnením a systémové privilégium SYSOPER umožňuje užívateľovi vykonávať základné operačné úlohy, ale bez možnosti prezerania užívateľských údajov.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170720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Privilégia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084832"/>
            <a:ext cx="10534650" cy="3563493"/>
          </a:xfrm>
        </p:spPr>
        <p:txBody>
          <a:bodyPr/>
          <a:lstStyle/>
          <a:p>
            <a:pPr>
              <a:buFont typeface="Tw Cen MT" panose="020B0602020104020603" pitchFamily="34" charset="0"/>
              <a:buChar char="-"/>
            </a:pPr>
            <a:r>
              <a:rPr lang="sk-SK" sz="2600" dirty="0"/>
              <a:t> riadia prístup k DB, objektom DB a na manipuláciu s dátami</a:t>
            </a:r>
          </a:p>
          <a:p>
            <a:pPr>
              <a:buFont typeface="Tw Cen MT" panose="020B0602020104020603" pitchFamily="34" charset="0"/>
              <a:buChar char="-"/>
            </a:pPr>
            <a:r>
              <a:rPr lang="sk-SK" sz="2600" dirty="0"/>
              <a:t> priradenie privilégia: GRANT, odobratie: REVOKE </a:t>
            </a:r>
          </a:p>
          <a:p>
            <a:pPr>
              <a:buFont typeface="Tw Cen MT" panose="020B0602020104020603" pitchFamily="34" charset="0"/>
              <a:buChar char="-"/>
            </a:pPr>
            <a:r>
              <a:rPr lang="sk-SK" sz="2600" dirty="0"/>
              <a:t> typy privilégií:</a:t>
            </a:r>
          </a:p>
          <a:p>
            <a:pPr lvl="1"/>
            <a:r>
              <a:rPr lang="sk-SK" sz="2200" b="1" i="1" dirty="0"/>
              <a:t>objektové: </a:t>
            </a:r>
            <a:r>
              <a:rPr lang="sk-SK" sz="2200" dirty="0"/>
              <a:t>umožňujú užívateľom vykonávať operácie nad konkrétnymi objektmi</a:t>
            </a:r>
            <a:br>
              <a:rPr lang="sk-SK" sz="2200" dirty="0"/>
            </a:br>
            <a:r>
              <a:rPr lang="sk-SK" sz="2200" dirty="0"/>
              <a:t>napr: select nad tabuľkou Employees </a:t>
            </a:r>
          </a:p>
          <a:p>
            <a:pPr lvl="1"/>
            <a:r>
              <a:rPr lang="sk-SK" sz="2200" b="1" i="1" dirty="0"/>
              <a:t>systémové:</a:t>
            </a:r>
            <a:r>
              <a:rPr lang="sk-SK" sz="2200" dirty="0"/>
              <a:t> umožňujú užívateľom vykonávať operácie nad DB</a:t>
            </a:r>
            <a:br>
              <a:rPr lang="sk-SK" sz="2200" dirty="0"/>
            </a:br>
            <a:r>
              <a:rPr lang="sk-SK" sz="2200" dirty="0"/>
              <a:t>napr.: prihlásenie do DB, vytvoriť/odstrániť DB, vytvoriť/odstrániť objekt, zmeniť objekt,...</a:t>
            </a:r>
          </a:p>
        </p:txBody>
      </p:sp>
    </p:spTree>
    <p:extLst>
      <p:ext uri="{BB962C8B-B14F-4D97-AF65-F5344CB8AC3E}">
        <p14:creationId xmlns:p14="http://schemas.microsoft.com/office/powerpoint/2010/main" val="1357447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68363" y="647700"/>
            <a:ext cx="7543800" cy="1295400"/>
          </a:xfrm>
        </p:spPr>
        <p:txBody>
          <a:bodyPr/>
          <a:lstStyle/>
          <a:p>
            <a:r>
              <a:rPr lang="sk-SK" dirty="0"/>
              <a:t>Systémové privilégia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2600"/>
              <a:t>Syntax: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2600">
                <a:latin typeface="Consolas" panose="020B0609020204030204" pitchFamily="49" charset="0"/>
              </a:rPr>
              <a:t>GRANT </a:t>
            </a:r>
            <a:r>
              <a:rPr lang="en-US" sz="2600">
                <a:latin typeface="Consolas" panose="020B0609020204030204" pitchFamily="49" charset="0"/>
              </a:rPr>
              <a:t>&lt;privilege&gt; TO &lt;grantee&gt;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600">
                <a:latin typeface="Consolas" panose="020B0609020204030204" pitchFamily="49" charset="0"/>
              </a:rPr>
              <a:t>	[WITH ADMIN OPTION];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600">
                <a:latin typeface="Consolas" panose="020B0609020204030204" pitchFamily="49" charset="0"/>
              </a:rPr>
              <a:t>REVOKE &lt;privilege&gt; FROM &lt;grantee&gt; ;</a:t>
            </a:r>
            <a:endParaRPr lang="sk-SK" sz="260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sk-SK" sz="260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sk-SK" sz="2600"/>
              <a:t>p</a:t>
            </a:r>
            <a:r>
              <a:rPr lang="en-US" sz="2600"/>
              <a:t>r</a:t>
            </a:r>
            <a:r>
              <a:rPr lang="sk-SK" sz="2600"/>
              <a:t>íklady privilégií</a:t>
            </a:r>
          </a:p>
          <a:p>
            <a:pPr>
              <a:lnSpc>
                <a:spcPct val="80000"/>
              </a:lnSpc>
              <a:buFont typeface="Impact" panose="020B0806030902050204" pitchFamily="34" charset="0"/>
              <a:buChar char="-"/>
            </a:pPr>
            <a:r>
              <a:rPr lang="en-US" sz="2000"/>
              <a:t>CREATE SESSION</a:t>
            </a:r>
          </a:p>
          <a:p>
            <a:pPr>
              <a:lnSpc>
                <a:spcPct val="80000"/>
              </a:lnSpc>
              <a:buFont typeface="Impact" panose="020B0806030902050204" pitchFamily="34" charset="0"/>
              <a:buChar char="-"/>
            </a:pPr>
            <a:r>
              <a:rPr lang="en-US" sz="2000"/>
              <a:t>CREATE TABLE</a:t>
            </a:r>
          </a:p>
          <a:p>
            <a:pPr>
              <a:lnSpc>
                <a:spcPct val="80000"/>
              </a:lnSpc>
              <a:buFont typeface="Impact" panose="020B0806030902050204" pitchFamily="34" charset="0"/>
              <a:buChar char="-"/>
            </a:pPr>
            <a:r>
              <a:rPr lang="en-US" sz="2000"/>
              <a:t>ALTER ANY INDEX</a:t>
            </a:r>
          </a:p>
          <a:p>
            <a:pPr>
              <a:lnSpc>
                <a:spcPct val="80000"/>
              </a:lnSpc>
              <a:buFont typeface="Impact" panose="020B0806030902050204" pitchFamily="34" charset="0"/>
              <a:buChar char="-"/>
            </a:pPr>
            <a:r>
              <a:rPr lang="en-US" sz="2000"/>
              <a:t>DROP ANY SEQUENCE</a:t>
            </a:r>
          </a:p>
          <a:p>
            <a:pPr>
              <a:lnSpc>
                <a:spcPct val="80000"/>
              </a:lnSpc>
              <a:buFont typeface="Impact" panose="020B0806030902050204" pitchFamily="34" charset="0"/>
              <a:buChar char="-"/>
            </a:pPr>
            <a:r>
              <a:rPr lang="en-US" sz="2000"/>
              <a:t>EXECUTE ANY PROCEDURE</a:t>
            </a:r>
          </a:p>
          <a:p>
            <a:pPr>
              <a:lnSpc>
                <a:spcPct val="80000"/>
              </a:lnSpc>
              <a:buFont typeface="Impact" panose="020B0806030902050204" pitchFamily="34" charset="0"/>
              <a:buChar char="-"/>
            </a:pPr>
            <a:r>
              <a:rPr lang="en-US" sz="2000"/>
              <a:t>ALTER SESSION</a:t>
            </a:r>
            <a:endParaRPr lang="sk-SK" sz="2000"/>
          </a:p>
        </p:txBody>
      </p:sp>
    </p:spTree>
    <p:extLst>
      <p:ext uri="{BB962C8B-B14F-4D97-AF65-F5344CB8AC3E}">
        <p14:creationId xmlns:p14="http://schemas.microsoft.com/office/powerpoint/2010/main" val="3571940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Objektov</a:t>
            </a:r>
            <a:r>
              <a:rPr lang="sk-SK"/>
              <a:t>é privilégia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4" y="2090739"/>
            <a:ext cx="11134725" cy="476726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2100" dirty="0"/>
              <a:t>Syntax: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2400" dirty="0">
                <a:latin typeface="Consolas" panose="020B0609020204030204" pitchFamily="49" charset="0"/>
              </a:rPr>
              <a:t>GRANT </a:t>
            </a:r>
            <a:r>
              <a:rPr lang="en-US" sz="2400" dirty="0">
                <a:latin typeface="Consolas" panose="020B0609020204030204" pitchFamily="49" charset="0"/>
              </a:rPr>
              <a:t>&lt;privilege&gt; ON &lt;object name&gt; TO &lt;grantee&gt; [WITH GRANT OPTION];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400" dirty="0">
                <a:latin typeface="Consolas" panose="020B0609020204030204" pitchFamily="49" charset="0"/>
              </a:rPr>
              <a:t>REVOKE &lt;privilege&gt; ON &lt;object name&gt; FROM &lt;grantee&gt; 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1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sk-SK" sz="2100" dirty="0"/>
              <a:t>p</a:t>
            </a:r>
            <a:r>
              <a:rPr lang="en-US" sz="2100" dirty="0"/>
              <a:t>r</a:t>
            </a:r>
            <a:r>
              <a:rPr lang="sk-SK" sz="2100" dirty="0"/>
              <a:t>íklady privilégií:</a:t>
            </a:r>
          </a:p>
          <a:p>
            <a:pPr>
              <a:lnSpc>
                <a:spcPct val="80000"/>
              </a:lnSpc>
              <a:buFont typeface="Batang" pitchFamily="18" charset="-127"/>
              <a:buChar char="-"/>
            </a:pPr>
            <a:r>
              <a:rPr lang="sk-SK" sz="2100" dirty="0">
                <a:latin typeface="Consolas" panose="020B0609020204030204" pitchFamily="49" charset="0"/>
              </a:rPr>
              <a:t>SELECT</a:t>
            </a:r>
          </a:p>
          <a:p>
            <a:pPr>
              <a:lnSpc>
                <a:spcPct val="80000"/>
              </a:lnSpc>
              <a:buFont typeface="Batang" pitchFamily="18" charset="-127"/>
              <a:buChar char="-"/>
            </a:pPr>
            <a:r>
              <a:rPr lang="sk-SK" sz="2100" dirty="0">
                <a:latin typeface="Consolas" panose="020B0609020204030204" pitchFamily="49" charset="0"/>
              </a:rPr>
              <a:t>INSERT</a:t>
            </a:r>
            <a:r>
              <a:rPr lang="en-US" sz="2100" dirty="0">
                <a:latin typeface="Consolas" panose="020B0609020204030204" pitchFamily="49" charset="0"/>
              </a:rPr>
              <a:t>[column]</a:t>
            </a:r>
            <a:endParaRPr lang="sk-SK" sz="21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Batang" pitchFamily="18" charset="-127"/>
              <a:buChar char="-"/>
            </a:pPr>
            <a:r>
              <a:rPr lang="sk-SK" sz="2100" dirty="0">
                <a:latin typeface="Consolas" panose="020B0609020204030204" pitchFamily="49" charset="0"/>
              </a:rPr>
              <a:t>UPDATE</a:t>
            </a:r>
            <a:r>
              <a:rPr lang="en-US" sz="2100" dirty="0">
                <a:latin typeface="Consolas" panose="020B0609020204030204" pitchFamily="49" charset="0"/>
              </a:rPr>
              <a:t>[column]</a:t>
            </a:r>
          </a:p>
          <a:p>
            <a:pPr>
              <a:lnSpc>
                <a:spcPct val="80000"/>
              </a:lnSpc>
              <a:buFont typeface="Batang" pitchFamily="18" charset="-127"/>
              <a:buChar char="-"/>
            </a:pPr>
            <a:r>
              <a:rPr lang="en-US" sz="2100" dirty="0">
                <a:latin typeface="Consolas" panose="020B0609020204030204" pitchFamily="49" charset="0"/>
              </a:rPr>
              <a:t>REFERENCES[column]</a:t>
            </a:r>
            <a:endParaRPr lang="sk-SK" sz="21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Batang" pitchFamily="18" charset="-127"/>
              <a:buChar char="-"/>
            </a:pPr>
            <a:r>
              <a:rPr lang="sk-SK" sz="2100" dirty="0">
                <a:latin typeface="Consolas" panose="020B0609020204030204" pitchFamily="49" charset="0"/>
              </a:rPr>
              <a:t>DELETE</a:t>
            </a:r>
          </a:p>
          <a:p>
            <a:pPr>
              <a:lnSpc>
                <a:spcPct val="80000"/>
              </a:lnSpc>
              <a:buFont typeface="Batang" pitchFamily="18" charset="-127"/>
              <a:buChar char="-"/>
            </a:pPr>
            <a:r>
              <a:rPr lang="sk-SK" sz="2100" dirty="0">
                <a:latin typeface="Consolas" panose="020B0609020204030204" pitchFamily="49" charset="0"/>
              </a:rPr>
              <a:t>ALTER</a:t>
            </a:r>
          </a:p>
          <a:p>
            <a:pPr>
              <a:lnSpc>
                <a:spcPct val="80000"/>
              </a:lnSpc>
              <a:buFont typeface="Batang" pitchFamily="18" charset="-127"/>
              <a:buChar char="-"/>
            </a:pPr>
            <a:r>
              <a:rPr lang="sk-SK" sz="2100" dirty="0">
                <a:latin typeface="Consolas" panose="020B0609020204030204" pitchFamily="49" charset="0"/>
              </a:rPr>
              <a:t>DROP</a:t>
            </a:r>
          </a:p>
          <a:p>
            <a:pPr>
              <a:lnSpc>
                <a:spcPct val="80000"/>
              </a:lnSpc>
              <a:buFont typeface="Batang" pitchFamily="18" charset="-127"/>
              <a:buChar char="-"/>
            </a:pPr>
            <a:r>
              <a:rPr lang="sk-SK" sz="2100" dirty="0">
                <a:latin typeface="Consolas" panose="020B0609020204030204" pitchFamily="49" charset="0"/>
              </a:rPr>
              <a:t>EXECUTE</a:t>
            </a:r>
            <a:endParaRPr lang="en-US" sz="21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sk-SK" sz="2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549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Quota</a:t>
            </a:r>
            <a:endParaRPr lang="sk-SK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slúži na umožnenie zápisu do daného  tabuľkového priestoru(tablespace) </a:t>
            </a:r>
          </a:p>
          <a:p>
            <a:pPr>
              <a:buFont typeface="Wingdings" panose="05000000000000000000" pitchFamily="2" charset="2"/>
              <a:buNone/>
            </a:pPr>
            <a:endParaRPr lang="sk-SK" dirty="0"/>
          </a:p>
          <a:p>
            <a:pPr>
              <a:buFont typeface="Wingdings" panose="05000000000000000000" pitchFamily="2" charset="2"/>
              <a:buNone/>
            </a:pPr>
            <a:r>
              <a:rPr lang="sk-SK" dirty="0">
                <a:latin typeface="Consolas" panose="020B0609020204030204" pitchFamily="49" charset="0"/>
              </a:rPr>
              <a:t>ALTER USER &lt;user_name&gt; QUOTA UNLIMITED ON &lt;tablespace_name&gt;; </a:t>
            </a:r>
            <a:endParaRPr lang="en-US" dirty="0"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sk-SK" dirty="0">
                <a:latin typeface="Consolas" panose="020B0609020204030204" pitchFamily="49" charset="0"/>
              </a:rPr>
              <a:t>ALTER USER &lt;user_name&gt; QUOTA 1M ON &lt;tablespace_name&gt;; </a:t>
            </a:r>
          </a:p>
          <a:p>
            <a:endParaRPr lang="sk-SK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779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ROLE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9151" y="1985964"/>
            <a:ext cx="10887074" cy="466248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množina privilégií</a:t>
            </a:r>
          </a:p>
          <a:p>
            <a:pPr>
              <a:buFont typeface="Wingdings" panose="05000000000000000000" pitchFamily="2" charset="2"/>
              <a:buNone/>
            </a:pPr>
            <a:r>
              <a:rPr lang="sk-SK" sz="2600" dirty="0"/>
              <a:t>SYNTAX:</a:t>
            </a:r>
          </a:p>
          <a:p>
            <a:pPr>
              <a:buFont typeface="Wingdings" panose="05000000000000000000" pitchFamily="2" charset="2"/>
              <a:buNone/>
            </a:pPr>
            <a:r>
              <a:rPr lang="sk-SK" sz="2600" dirty="0"/>
              <a:t>CREATE </a:t>
            </a:r>
            <a:r>
              <a:rPr lang="en-US" sz="2600" dirty="0"/>
              <a:t>ROLE &lt;role </a:t>
            </a:r>
            <a:r>
              <a:rPr lang="en-US" sz="2600" dirty="0" err="1"/>
              <a:t>nam</a:t>
            </a:r>
            <a:r>
              <a:rPr lang="en-US" sz="2600" dirty="0"/>
              <a:t>&gt;;</a:t>
            </a:r>
          </a:p>
          <a:p>
            <a:pPr>
              <a:buFont typeface="Wingdings" panose="05000000000000000000" pitchFamily="2" charset="2"/>
              <a:buNone/>
            </a:pPr>
            <a:endParaRPr lang="en-US" sz="2600" dirty="0"/>
          </a:p>
          <a:p>
            <a:pPr>
              <a:buFont typeface="Wingdings" panose="05000000000000000000" pitchFamily="2" charset="2"/>
              <a:buNone/>
            </a:pPr>
            <a:r>
              <a:rPr lang="en-US" sz="2600" dirty="0" err="1"/>
              <a:t>Pr</a:t>
            </a:r>
            <a:r>
              <a:rPr lang="sk-SK" sz="2600" dirty="0"/>
              <a:t>íklad:</a:t>
            </a:r>
          </a:p>
          <a:p>
            <a:pPr>
              <a:buFont typeface="Wingdings" panose="05000000000000000000" pitchFamily="2" charset="2"/>
              <a:buNone/>
            </a:pPr>
            <a:r>
              <a:rPr lang="sk-SK" sz="2600" dirty="0">
                <a:latin typeface="Consolas" panose="020B0609020204030204" pitchFamily="49" charset="0"/>
              </a:rPr>
              <a:t>CREATE ROLE create_object;</a:t>
            </a:r>
          </a:p>
          <a:p>
            <a:pPr>
              <a:buFont typeface="Wingdings" panose="05000000000000000000" pitchFamily="2" charset="2"/>
              <a:buNone/>
            </a:pPr>
            <a:r>
              <a:rPr lang="sk-SK" sz="2600" dirty="0">
                <a:latin typeface="Consolas" panose="020B0609020204030204" pitchFamily="49" charset="0"/>
              </a:rPr>
              <a:t>GRANT</a:t>
            </a:r>
            <a:r>
              <a:rPr lang="en-US" sz="2600" dirty="0">
                <a:latin typeface="Consolas" panose="020B0609020204030204" pitchFamily="49" charset="0"/>
              </a:rPr>
              <a:t> </a:t>
            </a:r>
            <a:r>
              <a:rPr lang="sk-SK" sz="2600" dirty="0">
                <a:latin typeface="Consolas" panose="020B0609020204030204" pitchFamily="49" charset="0"/>
              </a:rPr>
              <a:t>create table, create view, create sequence, alter any table TO create_object;</a:t>
            </a:r>
          </a:p>
          <a:p>
            <a:pPr>
              <a:buFont typeface="Wingdings" panose="05000000000000000000" pitchFamily="2" charset="2"/>
              <a:buNone/>
            </a:pPr>
            <a:r>
              <a:rPr lang="sk-SK" sz="2600" dirty="0">
                <a:latin typeface="Consolas" panose="020B0609020204030204" pitchFamily="49" charset="0"/>
              </a:rPr>
              <a:t>REVOKE alter any table FROM create_object;</a:t>
            </a:r>
          </a:p>
        </p:txBody>
      </p:sp>
    </p:spTree>
    <p:extLst>
      <p:ext uri="{BB962C8B-B14F-4D97-AF65-F5344CB8AC3E}">
        <p14:creationId xmlns:p14="http://schemas.microsoft.com/office/powerpoint/2010/main" val="2378766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ROLE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363663" y="2600325"/>
            <a:ext cx="1255712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>
            <a:spAutoFit/>
          </a:bodyPr>
          <a:lstStyle>
            <a:lvl1pPr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3000"/>
              </a:lnSpc>
              <a:spcBef>
                <a:spcPct val="50000"/>
              </a:spcBef>
              <a:buSzPct val="100000"/>
            </a:pPr>
            <a:r>
              <a:rPr lang="en-US">
                <a:ea typeface="Microsoft YaHei" panose="020B0503020204020204" pitchFamily="34" charset="-122"/>
              </a:rPr>
              <a:t>Users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363664" y="5048250"/>
            <a:ext cx="196532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>
            <a:spAutoFit/>
          </a:bodyPr>
          <a:lstStyle>
            <a:lvl1pPr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3000"/>
              </a:lnSpc>
              <a:spcBef>
                <a:spcPct val="50000"/>
              </a:spcBef>
              <a:buSzPct val="100000"/>
            </a:pPr>
            <a:r>
              <a:rPr lang="en-US">
                <a:ea typeface="Microsoft YaHei" panose="020B0503020204020204" pitchFamily="34" charset="-122"/>
              </a:rPr>
              <a:t>Privileges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363663" y="3897314"/>
            <a:ext cx="1287462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>
            <a:spAutoFit/>
          </a:bodyPr>
          <a:lstStyle>
            <a:lvl1pPr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3000"/>
              </a:lnSpc>
              <a:spcBef>
                <a:spcPct val="50000"/>
              </a:spcBef>
              <a:buSzPct val="100000"/>
            </a:pPr>
            <a:r>
              <a:rPr lang="en-US">
                <a:ea typeface="Microsoft YaHei" panose="020B0503020204020204" pitchFamily="34" charset="-122"/>
              </a:rPr>
              <a:t>Roles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blackWhite">
          <a:xfrm>
            <a:off x="6010275" y="3849688"/>
            <a:ext cx="2438400" cy="354012"/>
          </a:xfrm>
          <a:prstGeom prst="rect">
            <a:avLst/>
          </a:prstGeom>
          <a:solidFill>
            <a:srgbClr val="CC99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6038" tIns="46038" rIns="46038" bIns="46038" anchor="ctr"/>
          <a:lstStyle>
            <a:lvl1pPr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buSzPct val="100000"/>
            </a:pPr>
            <a:r>
              <a:rPr lang="en-US">
                <a:latin typeface="Courier New" panose="02070309020205020404" pitchFamily="49" charset="0"/>
                <a:ea typeface="Microsoft YaHei" panose="020B0503020204020204" pitchFamily="34" charset="-122"/>
              </a:rPr>
              <a:t>HR_CLERK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blackWhite">
          <a:xfrm>
            <a:off x="3495675" y="3856038"/>
            <a:ext cx="1739900" cy="354012"/>
          </a:xfrm>
          <a:prstGeom prst="rect">
            <a:avLst/>
          </a:prstGeom>
          <a:solidFill>
            <a:srgbClr val="FFFF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6038" tIns="46038" rIns="46038" bIns="46038" anchor="ctr"/>
          <a:lstStyle>
            <a:lvl1pPr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2232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buSzPct val="100000"/>
            </a:pPr>
            <a:r>
              <a:rPr lang="en-US">
                <a:latin typeface="Courier New" panose="02070309020205020404" pitchFamily="49" charset="0"/>
                <a:ea typeface="Microsoft YaHei" panose="020B0503020204020204" pitchFamily="34" charset="-122"/>
              </a:rPr>
              <a:t>HR_MGR</a:t>
            </a:r>
          </a:p>
        </p:txBody>
      </p:sp>
      <p:pic>
        <p:nvPicPr>
          <p:cNvPr id="10" name="Picture 8" descr="People: Person, User, Bl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3648075" y="1998664"/>
            <a:ext cx="13335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9" descr="People: Person, User, Yello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553075" y="1998664"/>
            <a:ext cx="13335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0" descr="People: Person, User, Yello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7229475" y="1998664"/>
            <a:ext cx="13335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724275" y="2838450"/>
            <a:ext cx="1143000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3000"/>
              </a:lnSpc>
              <a:spcBef>
                <a:spcPct val="5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>
                <a:ea typeface="Microsoft YaHei" panose="020B0503020204020204" pitchFamily="34" charset="-122"/>
              </a:rPr>
              <a:t>Jenny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5705475" y="2838450"/>
            <a:ext cx="1143000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3000"/>
              </a:lnSpc>
              <a:spcBef>
                <a:spcPct val="5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>
                <a:ea typeface="Microsoft YaHei" panose="020B0503020204020204" pitchFamily="34" charset="-122"/>
              </a:rPr>
              <a:t>David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7381875" y="2838450"/>
            <a:ext cx="1143000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3000"/>
              </a:lnSpc>
              <a:spcBef>
                <a:spcPct val="5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>
                <a:ea typeface="Microsoft YaHei" panose="020B0503020204020204" pitchFamily="34" charset="-122"/>
              </a:rPr>
              <a:t>Rachel</a:t>
            </a: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 flipH="1">
            <a:off x="5248275" y="3981450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blackWhite">
          <a:xfrm>
            <a:off x="3038475" y="4848225"/>
            <a:ext cx="1752600" cy="9144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dirty="0">
                <a:ea typeface="Microsoft YaHei" panose="020B0503020204020204" pitchFamily="34" charset="-122"/>
              </a:rPr>
              <a:t>Delete</a:t>
            </a:r>
          </a:p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dirty="0">
                <a:ea typeface="Microsoft YaHei" panose="020B0503020204020204" pitchFamily="34" charset="-122"/>
              </a:rPr>
              <a:t>employees.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blackWhite">
          <a:xfrm>
            <a:off x="5400675" y="4848225"/>
            <a:ext cx="1752600" cy="914400"/>
          </a:xfrm>
          <a:prstGeom prst="ellipse">
            <a:avLst/>
          </a:prstGeom>
          <a:solidFill>
            <a:srgbClr val="CC99FF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dirty="0">
                <a:ea typeface="Microsoft YaHei" panose="020B0503020204020204" pitchFamily="34" charset="-122"/>
              </a:rPr>
              <a:t>Select</a:t>
            </a:r>
          </a:p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dirty="0">
                <a:ea typeface="Microsoft YaHei" panose="020B0503020204020204" pitchFamily="34" charset="-122"/>
              </a:rPr>
              <a:t>employees.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blackWhite">
          <a:xfrm>
            <a:off x="7229475" y="4848225"/>
            <a:ext cx="1752600" cy="914400"/>
          </a:xfrm>
          <a:prstGeom prst="ellipse">
            <a:avLst/>
          </a:prstGeom>
          <a:solidFill>
            <a:srgbClr val="CC99FF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>
                <a:ea typeface="Microsoft YaHei" panose="020B0503020204020204" pitchFamily="34" charset="-122"/>
              </a:rPr>
              <a:t>Update</a:t>
            </a:r>
          </a:p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>
                <a:ea typeface="Microsoft YaHei" panose="020B0503020204020204" pitchFamily="34" charset="-122"/>
              </a:rPr>
              <a:t>employees.</a:t>
            </a:r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 flipV="1">
            <a:off x="4181475" y="4210051"/>
            <a:ext cx="0" cy="638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 flipV="1">
            <a:off x="8067675" y="4210051"/>
            <a:ext cx="0" cy="638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flipV="1">
            <a:off x="6238875" y="4210051"/>
            <a:ext cx="0" cy="638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 flipV="1">
            <a:off x="4181475" y="3294064"/>
            <a:ext cx="0" cy="561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 flipV="1">
            <a:off x="7762875" y="3294064"/>
            <a:ext cx="0" cy="561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6315075" y="3294064"/>
            <a:ext cx="0" cy="561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blackWhite">
          <a:xfrm>
            <a:off x="3952875" y="5686425"/>
            <a:ext cx="1752600" cy="9144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>
                <a:ea typeface="Microsoft YaHei" panose="020B0503020204020204" pitchFamily="34" charset="-122"/>
              </a:rPr>
              <a:t>Insert</a:t>
            </a:r>
          </a:p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>
                <a:ea typeface="Microsoft YaHei" panose="020B0503020204020204" pitchFamily="34" charset="-122"/>
              </a:rPr>
              <a:t>employees.</a:t>
            </a:r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 flipV="1">
            <a:off x="4867275" y="4210051"/>
            <a:ext cx="0" cy="1476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47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4"/>
          <p:cNvSpPr>
            <a:spLocks noGrp="1" noChangeArrowheads="1"/>
          </p:cNvSpPr>
          <p:nvPr>
            <p:ph type="title"/>
          </p:nvPr>
        </p:nvSpPr>
        <p:spPr>
          <a:xfrm>
            <a:off x="819150" y="646113"/>
            <a:ext cx="10058400" cy="1295400"/>
          </a:xfrm>
        </p:spPr>
        <p:txBody>
          <a:bodyPr/>
          <a:lstStyle/>
          <a:p>
            <a:r>
              <a:rPr lang="en-US" dirty="0" err="1"/>
              <a:t>Pred</a:t>
            </a:r>
            <a:r>
              <a:rPr lang="sk-SK" dirty="0"/>
              <a:t>D</a:t>
            </a:r>
            <a:r>
              <a:rPr lang="en-US" dirty="0" err="1"/>
              <a:t>efinovan</a:t>
            </a:r>
            <a:r>
              <a:rPr lang="sk-SK" dirty="0"/>
              <a:t>é</a:t>
            </a:r>
            <a:r>
              <a:rPr lang="en-US" dirty="0"/>
              <a:t> role</a:t>
            </a:r>
            <a:endParaRPr lang="sk-SK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39" y="2202230"/>
            <a:ext cx="10524132" cy="29491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2030" y="5896598"/>
            <a:ext cx="10665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https://docs.oracle.com/database/121/ADMQS/GUID-289A4BF6-F703-4ED5-8357-89F651A6D1DE.htm#ADMQS12001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62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212" y="2084832"/>
            <a:ext cx="9720073" cy="730665"/>
          </a:xfrm>
        </p:spPr>
        <p:txBody>
          <a:bodyPr>
            <a:normAutofit/>
          </a:bodyPr>
          <a:lstStyle/>
          <a:p>
            <a:r>
              <a:rPr lang="sk-SK" dirty="0"/>
              <a:t>- </a:t>
            </a:r>
            <a:r>
              <a:rPr lang="en-US" dirty="0" err="1"/>
              <a:t>skupina</a:t>
            </a:r>
            <a:r>
              <a:rPr lang="en-US" dirty="0"/>
              <a:t> </a:t>
            </a:r>
            <a:r>
              <a:rPr lang="en-US" dirty="0" err="1"/>
              <a:t>obmedzení</a:t>
            </a:r>
            <a:r>
              <a:rPr lang="en-US" dirty="0"/>
              <a:t> </a:t>
            </a:r>
            <a:r>
              <a:rPr lang="en-US" dirty="0" err="1"/>
              <a:t>zdrojov</a:t>
            </a:r>
            <a:r>
              <a:rPr lang="en-US" dirty="0"/>
              <a:t> </a:t>
            </a:r>
            <a:r>
              <a:rPr lang="en-US" dirty="0" err="1"/>
              <a:t>databázy</a:t>
            </a:r>
            <a:r>
              <a:rPr lang="en-US" dirty="0"/>
              <a:t> a </a:t>
            </a:r>
            <a:r>
              <a:rPr lang="en-US" dirty="0" err="1"/>
              <a:t>prístupu</a:t>
            </a:r>
            <a:r>
              <a:rPr lang="en-US" dirty="0"/>
              <a:t> k </a:t>
            </a:r>
            <a:r>
              <a:rPr lang="en-US" dirty="0" err="1"/>
              <a:t>databáze</a:t>
            </a:r>
            <a:r>
              <a:rPr lang="en-US" dirty="0"/>
              <a:t> </a:t>
            </a:r>
            <a:r>
              <a:rPr lang="en-US" dirty="0" err="1"/>
              <a:t>pomocou</a:t>
            </a:r>
            <a:r>
              <a:rPr lang="en-US" dirty="0"/>
              <a:t> </a:t>
            </a:r>
            <a:r>
              <a:rPr lang="en-US" dirty="0" err="1"/>
              <a:t>hesla</a:t>
            </a:r>
            <a:r>
              <a:rPr lang="en-US" dirty="0"/>
              <a:t>. </a:t>
            </a:r>
            <a:r>
              <a:rPr lang="en-US" dirty="0" err="1"/>
              <a:t>Ak</a:t>
            </a:r>
            <a:r>
              <a:rPr lang="en-US" dirty="0"/>
              <a:t> </a:t>
            </a:r>
            <a:r>
              <a:rPr lang="en-US" dirty="0" err="1"/>
              <a:t>nie</a:t>
            </a:r>
            <a:r>
              <a:rPr lang="en-US" dirty="0"/>
              <a:t> je </a:t>
            </a:r>
            <a:r>
              <a:rPr lang="en-US" dirty="0" err="1"/>
              <a:t>zadaný</a:t>
            </a:r>
            <a:r>
              <a:rPr lang="en-US" dirty="0"/>
              <a:t> </a:t>
            </a:r>
            <a:r>
              <a:rPr lang="en-US" dirty="0" err="1"/>
              <a:t>žiadny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en-US" dirty="0"/>
              <a:t>, </a:t>
            </a:r>
            <a:r>
              <a:rPr lang="en-US" dirty="0" err="1"/>
              <a:t>používateľovi</a:t>
            </a:r>
            <a:r>
              <a:rPr lang="en-US" dirty="0"/>
              <a:t> je </a:t>
            </a:r>
            <a:r>
              <a:rPr lang="en-US" dirty="0" err="1"/>
              <a:t>pridelený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sk-SK" dirty="0"/>
              <a:t> Default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63" y="3137092"/>
            <a:ext cx="7869730" cy="328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692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295400" y="2209800"/>
            <a:ext cx="7506768" cy="2926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sk-SK" dirty="0">
                <a:solidFill>
                  <a:schemeClr val="tx1"/>
                </a:solidFill>
                <a:latin typeface="Consolas" panose="020B0609020204030204" pitchFamily="49" charset="0"/>
              </a:rPr>
              <a:t>SQL&gt; CREATE PROFILE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profile_name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r>
              <a:rPr lang="sk-SK" dirty="0">
                <a:solidFill>
                  <a:schemeClr val="tx1"/>
                </a:solidFill>
                <a:latin typeface="Consolas" panose="020B0609020204030204" pitchFamily="49" charset="0"/>
              </a:rPr>
              <a:t> LIMIT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sk-SK" dirty="0">
                <a:solidFill>
                  <a:schemeClr val="tx1"/>
                </a:solidFill>
                <a:latin typeface="Consolas" panose="020B0609020204030204" pitchFamily="49" charset="0"/>
              </a:rPr>
              <a:t> SESSIONS_PER_USER 2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sk-SK" dirty="0">
                <a:solidFill>
                  <a:schemeClr val="tx1"/>
                </a:solidFill>
                <a:latin typeface="Consolas" panose="020B0609020204030204" pitchFamily="49" charset="0"/>
              </a:rPr>
              <a:t> IDLE_TIME 5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sk-SK" dirty="0">
                <a:solidFill>
                  <a:schemeClr val="tx1"/>
                </a:solidFill>
                <a:latin typeface="Consolas" panose="020B0609020204030204" pitchFamily="49" charset="0"/>
              </a:rPr>
              <a:t> CONNECT_TIME 10;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sk-SK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sk-SK" dirty="0">
                <a:solidFill>
                  <a:schemeClr val="tx1"/>
                </a:solidFill>
                <a:latin typeface="Consolas" panose="020B0609020204030204" pitchFamily="49" charset="0"/>
              </a:rPr>
              <a:t>SQL&gt; ALTER PROFILE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profile_name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r>
              <a:rPr lang="sk-SK" dirty="0">
                <a:solidFill>
                  <a:schemeClr val="tx1"/>
                </a:solidFill>
                <a:latin typeface="Consolas" panose="020B0609020204030204" pitchFamily="49" charset="0"/>
              </a:rPr>
              <a:t> LIMIT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sk-SK" dirty="0">
                <a:solidFill>
                  <a:schemeClr val="tx1"/>
                </a:solidFill>
                <a:latin typeface="Consolas" panose="020B0609020204030204" pitchFamily="49" charset="0"/>
              </a:rPr>
              <a:t> CPU_PER_CALL default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sk-SK" dirty="0">
                <a:solidFill>
                  <a:schemeClr val="tx1"/>
                </a:solidFill>
                <a:latin typeface="Consolas" panose="020B0609020204030204" pitchFamily="49" charset="0"/>
              </a:rPr>
              <a:t> LOGICAL_READS_PER_SESSION 20000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sk-SK" dirty="0">
                <a:solidFill>
                  <a:schemeClr val="tx1"/>
                </a:solidFill>
                <a:latin typeface="Consolas" panose="020B0609020204030204" pitchFamily="49" charset="0"/>
              </a:rPr>
              <a:t> SESSIONS_PER_USER 1;</a:t>
            </a:r>
            <a:r>
              <a:rPr lang="sk-SK" dirty="0">
                <a:latin typeface="Consolas" panose="020B0609020204030204" pitchFamily="49" charset="0"/>
              </a:rPr>
              <a:t> </a:t>
            </a:r>
            <a:endParaRPr lang="en-US" dirty="0">
              <a:latin typeface="Consolas" panose="020B06090202040302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dirty="0">
                <a:latin typeface="Consolas" panose="020B0609020204030204" pitchFamily="49" charset="0"/>
              </a:rPr>
              <a:t>SQL&gt; ALTER USER student PROFILE </a:t>
            </a:r>
            <a:r>
              <a:rPr lang="en-US" dirty="0" err="1">
                <a:latin typeface="Consolas" panose="020B0609020204030204" pitchFamily="49" charset="0"/>
              </a:rPr>
              <a:t>profile_base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sk-SK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385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Spr</a:t>
            </a:r>
            <a:r>
              <a:rPr lang="sk-SK" dirty="0"/>
              <a:t>áva užívateľov</a:t>
            </a:r>
            <a:r>
              <a:rPr lang="en-US" dirty="0"/>
              <a:t>- data dictionary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dba_roles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dba_sys_privs</a:t>
            </a:r>
            <a:endParaRPr lang="sk-SK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dba_tab_privs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dba_role_privs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dba_col_privs</a:t>
            </a:r>
            <a:endParaRPr lang="sk-SK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dba_ts_quotas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dba_profiles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8171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919</Words>
  <Application>Microsoft Office PowerPoint</Application>
  <PresentationFormat>Widescreen</PresentationFormat>
  <Paragraphs>137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Batang</vt:lpstr>
      <vt:lpstr>Arial</vt:lpstr>
      <vt:lpstr>Calibri</vt:lpstr>
      <vt:lpstr>Consolas</vt:lpstr>
      <vt:lpstr>Courier New</vt:lpstr>
      <vt:lpstr>Impact</vt:lpstr>
      <vt:lpstr>Times New Roman</vt:lpstr>
      <vt:lpstr>Tw Cen MT</vt:lpstr>
      <vt:lpstr>Tw Cen MT Condensed</vt:lpstr>
      <vt:lpstr>Wingdings</vt:lpstr>
      <vt:lpstr>Wingdings 3</vt:lpstr>
      <vt:lpstr>Integral</vt:lpstr>
      <vt:lpstr>Správa užívateľov</vt:lpstr>
      <vt:lpstr>Zabezpečeenie DBS</vt:lpstr>
      <vt:lpstr>Vytvorenie užívateľa</vt:lpstr>
      <vt:lpstr>Vytvorenie užívateľa</vt:lpstr>
      <vt:lpstr>Užívateľ vs schéma</vt:lpstr>
      <vt:lpstr>Správa používateľov</vt:lpstr>
      <vt:lpstr>Systémoví užívatelia a PRIVILégia</vt:lpstr>
      <vt:lpstr>Privilégia</vt:lpstr>
      <vt:lpstr>Systémové privilégia</vt:lpstr>
      <vt:lpstr>Objektové privilégia</vt:lpstr>
      <vt:lpstr>Quota</vt:lpstr>
      <vt:lpstr>ROLE</vt:lpstr>
      <vt:lpstr>ROLE</vt:lpstr>
      <vt:lpstr>PredDefinované role</vt:lpstr>
      <vt:lpstr>Profile</vt:lpstr>
      <vt:lpstr>Profile</vt:lpstr>
      <vt:lpstr>Správa užívateľov- data dictionary</vt:lpstr>
    </vt:vector>
  </TitlesOfParts>
  <Company>T-Systesms Slovakia s.r.o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Správa užívateľov</dc:title>
  <dc:creator>Vankova, Jana</dc:creator>
  <cp:lastModifiedBy>Simcak, Lubos</cp:lastModifiedBy>
  <cp:revision>8</cp:revision>
  <dcterms:created xsi:type="dcterms:W3CDTF">2020-05-11T13:35:33Z</dcterms:created>
  <dcterms:modified xsi:type="dcterms:W3CDTF">2022-04-25T07:21:52Z</dcterms:modified>
  <cp:category>OPEN 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systems-DocumentTagging.ClassificationMark.P00">
    <vt:lpwstr>&lt;ClassificationMark xmlns:xsi="http://www.w3.org/2001/XMLSchema-instance" xmlns:xsd="http://www.w3.org/2001/XMLSchema" margin="NaN" class="C0" owner="Vankova, Jana" position="BottomRight" marginX="0" marginY="0" classifiedOn="2020-05-11T15:43:36.8193</vt:lpwstr>
  </property>
  <property fmtid="{D5CDD505-2E9C-101B-9397-08002B2CF9AE}" pid="3" name="tsystems-DocumentTagging.ClassificationMark.P01">
    <vt:lpwstr>49+02:00" showPrintedBy="false" showPrintDate="false" language="en" ApplicationVersion="Microsoft PowerPoint, 15.0" addinVersion="5.10.4.12" template="Default"&gt;&lt;history bulk="false" class="OPEN " code="C0" user="SK-KOSICE\jivanisk" date="2020-05-11T1</vt:lpwstr>
  </property>
  <property fmtid="{D5CDD505-2E9C-101B-9397-08002B2CF9AE}" pid="4" name="tsystems-DocumentTagging.ClassificationMark.P02">
    <vt:lpwstr>5:43:36.8824769+02:00" /&gt;&lt;recipients /&gt;&lt;documentOwners /&gt;&lt;/ClassificationMark&gt;</vt:lpwstr>
  </property>
  <property fmtid="{D5CDD505-2E9C-101B-9397-08002B2CF9AE}" pid="5" name="tsystems-DocumentTagging.ClassificationMark">
    <vt:lpwstr>￼PARTS:3</vt:lpwstr>
  </property>
  <property fmtid="{D5CDD505-2E9C-101B-9397-08002B2CF9AE}" pid="6" name="tsystems-DocumentClasification">
    <vt:lpwstr>OPEN </vt:lpwstr>
  </property>
  <property fmtid="{D5CDD505-2E9C-101B-9397-08002B2CF9AE}" pid="7" name="tsystems-DLP">
    <vt:lpwstr>tsystems-DLP:TAG_SEC_C0</vt:lpwstr>
  </property>
</Properties>
</file>