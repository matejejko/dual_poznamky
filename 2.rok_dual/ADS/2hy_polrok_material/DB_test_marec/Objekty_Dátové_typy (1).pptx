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62" r:id="rId6"/>
    <p:sldId id="272" r:id="rId7"/>
    <p:sldId id="275" r:id="rId8"/>
    <p:sldId id="274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Database-Objects.html#GUID-31BE00A7-7FF9-41CB-852A-F1416912CA9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hyperlink" Target="https://docs.oracle.com/en/database/oracle/oracle-database/19/sqlrf/CREATE-TABLE.html#GUID-F9CE0CC3-13AE-4744-A43C-EAC7A71AAAB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19/sqlrf/CREATE-MATERIALIZED-VIEW.html#GUID-EE262CA4-01E5-4618-B659-6165D993CA1B" TargetMode="External"/><Relationship Id="rId2" Type="http://schemas.openxmlformats.org/officeDocument/2006/relationships/hyperlink" Target="https://docs.oracle.com/en/database/oracle/oracle-database/19/sqlrf/CREATE-VIEW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REATE-PROCEDURE.html#GUID-771879D8-BBFD-4D87-8A6C-290102142DA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REATE-SEQUENCE.html#GUID-E9C78A8C-615A-4757-B2A8-5E6EFB13057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REATE-SYNONYM.html#GUID-A806C82F-1171-478E-A910-F9C6C42739B2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REATE-INDEX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onstraint.html#GUID-1055EA97-BA6F-4764-A15F-1024FD5B6DF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REATE-TRIGGER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CREATE-DATABASE-LINK.html#GUID-D966642A-B19E-449D-9968-1121AF06D793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Data-Types.html#GUID-A3C0D836-BADB-44E5-A5D4-265BA596848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9/sqlrf/Data-Types.html#GUID-1BABC478-FB47-4962-9B0C-8B8BD059E733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19/sqlrf/Data-Types.html#GUID-9401BC04-81C4-4CD5-99E7-C5E25C83F608" TargetMode="External"/><Relationship Id="rId2" Type="http://schemas.openxmlformats.org/officeDocument/2006/relationships/hyperlink" Target="https://docs.oracle.com/en/database/oracle/oracle-database/19/sqlrf/Data-Types.html#GUID-1BABC478-FB47-4962-9B0C-8B8BD059E733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19/sqlrf/Data-Types.html#GUID-7690645A-0EE3-46CA-90DE-C96DF5A01F8F" TargetMode="External"/><Relationship Id="rId2" Type="http://schemas.openxmlformats.org/officeDocument/2006/relationships/hyperlink" Target="https://docs.oracle.com/en/database/oracle/oracle-database/19/sqlrf/Data-Types.html#GUID-1BABC478-FB47-4962-9B0C-8B8BD059E733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19/sqlrf/Data-Types.html#GUID-1A71C635-188E-4EC9-B821-1DBEC2B45451" TargetMode="External"/><Relationship Id="rId2" Type="http://schemas.openxmlformats.org/officeDocument/2006/relationships/hyperlink" Target="https://docs.oracle.com/en/database/oracle/oracle-database/19/sqlrf/Data-Types.html#GUID-1BABC478-FB47-4962-9B0C-8B8BD059E733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Objekty</a:t>
            </a:r>
            <a:r>
              <a:rPr lang="en-US"/>
              <a:t> a D</a:t>
            </a:r>
            <a:r>
              <a:rPr lang="sk-SK" err="1"/>
              <a:t>átové</a:t>
            </a:r>
            <a:r>
              <a:rPr lang="sk-SK"/>
              <a:t> typy</a:t>
            </a:r>
            <a:endParaRPr lang="en-US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Jana </a:t>
            </a:r>
            <a:r>
              <a:rPr lang="en-US" err="1"/>
              <a:t>Va</a:t>
            </a:r>
            <a:r>
              <a:rPr lang="sk-SK"/>
              <a:t>ňková</a:t>
            </a:r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879" y="5817583"/>
            <a:ext cx="261154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310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Databázové objekty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V Oracle </a:t>
            </a:r>
            <a:r>
              <a:rPr lang="sk-SK" err="1"/>
              <a:t>Database</a:t>
            </a:r>
            <a:r>
              <a:rPr lang="sk-SK"/>
              <a:t> existuje viacero typov objektov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Môžeme ich rozdeliť na 2 základne druhy: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err="1"/>
              <a:t>Schema</a:t>
            </a:r>
            <a:r>
              <a:rPr lang="sk-SK"/>
              <a:t> objekty – Objekty, ktoré sú viazané na schému, ktorá je ich vlastníkom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err="1"/>
              <a:t>Non-Schema</a:t>
            </a:r>
            <a:r>
              <a:rPr lang="sk-SK"/>
              <a:t> objekty – Objekty, ktoré nemajú vlastníka, sú spoločné pre celú DB</a:t>
            </a:r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marL="128016" lvl="1" indent="0">
              <a:buNone/>
            </a:pPr>
            <a:r>
              <a:rPr lang="sk-SK">
                <a:hlinkClick r:id="rId2"/>
              </a:rPr>
              <a:t>https://docs.oracle.com/en/database/oracle/oracle-database/19/sqlrf/Database-Objects.html#GUID-31BE00A7-7FF9-41CB-852A-F1416912CA9E</a:t>
            </a:r>
            <a:endParaRPr lang="sk-SK"/>
          </a:p>
          <a:p>
            <a:pPr marL="128016" lvl="1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0970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Schema</a:t>
            </a:r>
            <a:r>
              <a:rPr lang="sk-SK"/>
              <a:t> objekty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F21685-F0D7-4C15-B95A-8DF13902D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8" y="2286000"/>
            <a:ext cx="9720072" cy="4022725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Tabuľky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Pohľady, Materializované pohľady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Procedúry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Funkcie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Sekvencie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Synonymá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Indexy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</a:t>
            </a:r>
            <a:r>
              <a:rPr lang="sk-SK" err="1"/>
              <a:t>Constrainty</a:t>
            </a:r>
            <a:endParaRPr lang="sk-SK"/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</a:t>
            </a:r>
            <a:r>
              <a:rPr lang="sk-SK" err="1"/>
              <a:t>Triggery</a:t>
            </a:r>
            <a:endParaRPr lang="sk-SK"/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Databázové linky</a:t>
            </a:r>
          </a:p>
        </p:txBody>
      </p:sp>
    </p:spTree>
    <p:extLst>
      <p:ext uri="{BB962C8B-B14F-4D97-AF65-F5344CB8AC3E}">
        <p14:creationId xmlns:p14="http://schemas.microsoft.com/office/powerpoint/2010/main" val="48240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Tabuľka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F21685-F0D7-4C15-B95A-8DF13902D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8" y="2286000"/>
            <a:ext cx="9720072" cy="4022725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Základná štruktúra, ktorá slúži na uloženie dát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Je zložená zo stĺpcov, ktoré definujú aké typy dát môže obsahovať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Na tabuľku je viazaných niekoľko ďalších typov objektov</a:t>
            </a:r>
          </a:p>
          <a:p>
            <a:pPr>
              <a:buFont typeface="Arial" panose="020B0604020202020204" pitchFamily="34" charset="0"/>
              <a:buChar char="•"/>
            </a:pPr>
            <a:endParaRPr lang="sk-SK"/>
          </a:p>
          <a:p>
            <a:pPr>
              <a:buFont typeface="Arial" panose="020B0604020202020204" pitchFamily="34" charset="0"/>
              <a:buChar char="•"/>
            </a:pPr>
            <a:endParaRPr lang="sk-SK"/>
          </a:p>
          <a:p>
            <a:pPr>
              <a:buFont typeface="Arial" panose="020B0604020202020204" pitchFamily="34" charset="0"/>
              <a:buChar char="•"/>
            </a:pPr>
            <a:endParaRPr lang="sk-SK"/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endParaRPr lang="sk-SK"/>
          </a:p>
          <a:p>
            <a:pPr marL="0" indent="0">
              <a:buNone/>
            </a:pPr>
            <a:r>
              <a:rPr lang="sk-SK">
                <a:hlinkClick r:id="rId2"/>
              </a:rPr>
              <a:t>https://docs.oracle.com/en/database/oracle/oracle-database/19/sqlrf/CREATE-TABLE.html#GUID-F9CE0CC3-13AE-4744-A43C-EAC7A71AAAB6</a:t>
            </a:r>
            <a:endParaRPr lang="sk-SK"/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ED35D8BE-3284-4657-8541-938DDA9B3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38" y="3526653"/>
            <a:ext cx="537210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46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Pohľady a materializované pohľady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Pohľad je logická tabuľka založená na jednej alebo viacerých tabuľkách-pohľadoch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Pohľad neobsahuje žiadne dáta ani nezaberá žiadne miesto v databáze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Obsahom je výsledok SELECT </a:t>
            </a:r>
            <a:r>
              <a:rPr lang="sk-SK" err="1"/>
              <a:t>statementu</a:t>
            </a:r>
            <a:r>
              <a:rPr lang="sk-SK"/>
              <a:t>, ktorý sa definuje pri vytvorení pohľadu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Pri zmene dát na zdrojovej tabuľke sa zmení aj obsah pohľadu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Materializovaný pohľad neobsahuje aktuálne dáta, ale dáta od vytvorenia alebo od posledného </a:t>
            </a:r>
            <a:r>
              <a:rPr lang="sk-SK" err="1"/>
              <a:t>refresh</a:t>
            </a:r>
            <a:r>
              <a:rPr lang="sk-SK"/>
              <a:t>-u pohľadu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Materializovaný pohľad tým pádom musí mať dané dáta zapísané v databáze a zaberá miesto a aktualizujú sa až po spustení </a:t>
            </a:r>
            <a:r>
              <a:rPr lang="sk-SK" err="1"/>
              <a:t>refresh</a:t>
            </a:r>
            <a:r>
              <a:rPr lang="sk-SK"/>
              <a:t>-u</a:t>
            </a:r>
          </a:p>
          <a:p>
            <a:pPr>
              <a:buFont typeface="Arial" panose="020B0604020202020204" pitchFamily="34" charset="0"/>
              <a:buChar char="•"/>
            </a:pPr>
            <a:endParaRPr lang="sk-SK"/>
          </a:p>
          <a:p>
            <a:pPr marL="0" indent="0">
              <a:buNone/>
            </a:pPr>
            <a:r>
              <a:rPr lang="sk-SK">
                <a:hlinkClick r:id="rId2"/>
              </a:rPr>
              <a:t>https://docs.oracle.com/en/database/oracle/oracle-database/19/sqlrf/CREATE-VIEW.html</a:t>
            </a:r>
            <a:endParaRPr lang="sk-SK"/>
          </a:p>
          <a:p>
            <a:pPr marL="0" indent="0">
              <a:buNone/>
            </a:pPr>
            <a:r>
              <a:rPr lang="sk-SK">
                <a:hlinkClick r:id="rId3"/>
              </a:rPr>
              <a:t>https://docs.oracle.com/en/database/oracle/oracle-database/19/sqlrf/CREATE-MATERIALIZED-VIEW.html#GUID-EE262CA4-01E5-4618-B659-6165D993CA1B</a:t>
            </a:r>
            <a:endParaRPr lang="sk-SK"/>
          </a:p>
          <a:p>
            <a:pPr marL="0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8691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procedúry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Procedúra je skupina PL/SQL príkazov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Jedná sa o kód, ktorý má za úlohu vykonať istú funkcionalitu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Daný kód môže obsahovať SQL príkazy, </a:t>
            </a:r>
            <a:r>
              <a:rPr lang="sk-SK" err="1"/>
              <a:t>java</a:t>
            </a:r>
            <a:r>
              <a:rPr lang="sk-SK"/>
              <a:t> metódy </a:t>
            </a:r>
            <a:r>
              <a:rPr lang="sk-SK" err="1"/>
              <a:t>a.i</a:t>
            </a:r>
            <a:r>
              <a:rPr lang="sk-SK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Procedúra je spustiteľná</a:t>
            </a:r>
          </a:p>
          <a:p>
            <a:pPr>
              <a:buFont typeface="Arial" panose="020B0604020202020204" pitchFamily="34" charset="0"/>
              <a:buChar char="•"/>
            </a:pPr>
            <a:endParaRPr lang="sk-SK"/>
          </a:p>
          <a:p>
            <a:pPr marL="0" indent="0">
              <a:buNone/>
            </a:pPr>
            <a:r>
              <a:rPr lang="sk-SK">
                <a:hlinkClick r:id="rId2"/>
              </a:rPr>
              <a:t>https://docs.oracle.com/en/database/oracle/oracle-database/19/sqlrf/CREATE-PROCEDURE.html#GUID-771879D8-BBFD-4D87-8A6C-290102142DA3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63662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Sekvencie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Sekvencia je objekt, ktorý slúži na generovanie jedinečných </a:t>
            </a:r>
            <a:r>
              <a:rPr lang="sk-SK" err="1"/>
              <a:t>integer</a:t>
            </a:r>
            <a:r>
              <a:rPr lang="sk-SK"/>
              <a:t> hodnôt, ktoré je možné použiť na vkladanie jedinečných hodnôt do </a:t>
            </a:r>
            <a:r>
              <a:rPr lang="sk-SK" err="1"/>
              <a:t>unique</a:t>
            </a:r>
            <a:r>
              <a:rPr lang="sk-SK"/>
              <a:t> stĺpcov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Je to akési skryté počítadlo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Podľa toho ako bola vytvorená sa </a:t>
            </a:r>
            <a:r>
              <a:rPr lang="sk-SK" err="1"/>
              <a:t>inkrementuje</a:t>
            </a:r>
            <a:r>
              <a:rPr lang="sk-SK"/>
              <a:t> hodnota o konkrétnu hodnotu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Príklad: nastavíme </a:t>
            </a:r>
            <a:r>
              <a:rPr lang="sk-SK" err="1"/>
              <a:t>inkrement</a:t>
            </a:r>
            <a:r>
              <a:rPr lang="sk-SK"/>
              <a:t> o 2, takže hodnoty budú 2,4,6,8,...</a:t>
            </a:r>
          </a:p>
          <a:p>
            <a:pPr>
              <a:buFont typeface="Arial" panose="020B0604020202020204" pitchFamily="34" charset="0"/>
              <a:buChar char="•"/>
            </a:pPr>
            <a:endParaRPr lang="sk-SK"/>
          </a:p>
          <a:p>
            <a:pPr marL="0" indent="0">
              <a:buNone/>
            </a:pPr>
            <a:r>
              <a:rPr lang="sk-SK">
                <a:hlinkClick r:id="rId2"/>
              </a:rPr>
              <a:t>https://docs.oracle.com/en/database/oracle/oracle-database/19/sqlrf/CREATE-SEQUENCE.html#GUID-E9C78A8C-615A-4757-B2A8-5E6EFB130571</a:t>
            </a:r>
            <a:endParaRPr lang="sk-SK"/>
          </a:p>
          <a:p>
            <a:pPr marL="0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5006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Synonym</a:t>
            </a:r>
            <a:r>
              <a:rPr lang="sk-SK"/>
              <a:t>á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Synonymum</a:t>
            </a:r>
            <a:r>
              <a:rPr lang="en-US"/>
              <a:t> </a:t>
            </a:r>
            <a:r>
              <a:rPr lang="sk-SK"/>
              <a:t>je</a:t>
            </a:r>
            <a:r>
              <a:rPr lang="en-US"/>
              <a:t> </a:t>
            </a:r>
            <a:r>
              <a:rPr lang="sk-SK"/>
              <a:t>alternatívne meno pre rôzne objekty (napr. tabuľku, pohľad, procedúru, iné synonymum, ...)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Je to v podstate alias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Existujú </a:t>
            </a:r>
            <a:r>
              <a:rPr lang="sk-SK" err="1"/>
              <a:t>private</a:t>
            </a:r>
            <a:r>
              <a:rPr lang="sk-SK"/>
              <a:t> a </a:t>
            </a:r>
            <a:r>
              <a:rPr lang="sk-SK" err="1"/>
              <a:t>public</a:t>
            </a:r>
            <a:r>
              <a:rPr lang="sk-SK"/>
              <a:t> synonymá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</a:t>
            </a:r>
            <a:r>
              <a:rPr lang="sk-SK" err="1"/>
              <a:t>Public</a:t>
            </a:r>
            <a:r>
              <a:rPr lang="sk-SK"/>
              <a:t> synonymum je zdieľané pre všetkých užívateľov v databáze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</a:t>
            </a:r>
            <a:r>
              <a:rPr lang="sk-SK" err="1"/>
              <a:t>Private</a:t>
            </a:r>
            <a:r>
              <a:rPr lang="sk-SK"/>
              <a:t> synonymum je platné len pre vlastníka</a:t>
            </a:r>
          </a:p>
          <a:p>
            <a:pPr marL="0" indent="0">
              <a:buNone/>
            </a:pPr>
            <a:r>
              <a:rPr lang="sk-SK">
                <a:hlinkClick r:id="rId2"/>
              </a:rPr>
              <a:t>https://docs.oracle.com/en/database/oracle/oracle-database/19/sqlrf/CREATE-SYNONYM.html#GUID-A806C82F-1171-478E-A910-F9C6C42739B2</a:t>
            </a:r>
            <a:endParaRPr lang="en-US"/>
          </a:p>
          <a:p>
            <a:pPr marL="310896" lvl="2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75419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Indexy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Index je objekt, ktorý obsahuje záznam o každej hodnote v stĺpci/stĺpcoch, nad ktorým/i je vytvorený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Slúži na urýchlenie prístupu ku záznamom v tabuľke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V prípade podmienky v SQL príkaze ukazujúcej na stĺpec s indexom by sa mal využiť daný index namiesto </a:t>
            </a:r>
            <a:r>
              <a:rPr lang="sk-SK" err="1"/>
              <a:t>full</a:t>
            </a:r>
            <a:r>
              <a:rPr lang="sk-SK"/>
              <a:t> table </a:t>
            </a:r>
            <a:r>
              <a:rPr lang="sk-SK" err="1"/>
              <a:t>scan</a:t>
            </a:r>
            <a:r>
              <a:rPr lang="sk-SK"/>
              <a:t> – plného čítania z tabuľky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Toto urýchľuje čítanie, keďže sa číta menšie množstvo dát na upresnenie výsledku</a:t>
            </a:r>
          </a:p>
          <a:p>
            <a:pPr marL="0" indent="0">
              <a:buNone/>
            </a:pPr>
            <a:r>
              <a:rPr lang="sk-SK">
                <a:hlinkClick r:id="rId2"/>
              </a:rPr>
              <a:t>https://docs.oracle.com/en/database/oracle/oracle-database/19/sqlrf/CREATE-INDEX.html</a:t>
            </a:r>
            <a:endParaRPr lang="sk-SK"/>
          </a:p>
          <a:p>
            <a:pPr marL="0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374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Constraint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</a:t>
            </a:r>
            <a:r>
              <a:rPr lang="sk-SK" err="1"/>
              <a:t>Constraint</a:t>
            </a:r>
            <a:r>
              <a:rPr lang="sk-SK"/>
              <a:t> je obmedzenie pre hodnoty v stĺpci kvôli zabezpečeniu integrity dát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Rozlišujeme nasledovné: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NOT NULL – stĺpec nemôže obsahovať nulové hodnoty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err="1"/>
              <a:t>Unique</a:t>
            </a:r>
            <a:r>
              <a:rPr lang="sk-SK"/>
              <a:t> – hodnoty v stĺpci musia byť jedinečné, nesmú sa opakovať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err="1"/>
              <a:t>Primary</a:t>
            </a:r>
            <a:r>
              <a:rPr lang="sk-SK"/>
              <a:t> </a:t>
            </a:r>
            <a:r>
              <a:rPr lang="sk-SK" err="1"/>
              <a:t>key</a:t>
            </a:r>
            <a:r>
              <a:rPr lang="sk-SK"/>
              <a:t> – je to skombinovaný NOT NULL a </a:t>
            </a:r>
            <a:r>
              <a:rPr lang="sk-SK" err="1"/>
              <a:t>Unique</a:t>
            </a:r>
            <a:r>
              <a:rPr lang="sk-SK"/>
              <a:t> </a:t>
            </a:r>
            <a:r>
              <a:rPr lang="sk-SK" err="1"/>
              <a:t>constraint</a:t>
            </a: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r>
              <a:rPr lang="sk-SK" err="1"/>
              <a:t>Foreign</a:t>
            </a:r>
            <a:r>
              <a:rPr lang="sk-SK"/>
              <a:t> </a:t>
            </a:r>
            <a:r>
              <a:rPr lang="sk-SK" err="1"/>
              <a:t>key</a:t>
            </a:r>
            <a:r>
              <a:rPr lang="sk-SK"/>
              <a:t> – hodnoty v stĺpci musia byť prítomné v stĺpci na inej tabuľke, na ktorý ukazuje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err="1"/>
              <a:t>Check</a:t>
            </a:r>
            <a:r>
              <a:rPr lang="sk-SK"/>
              <a:t> – hodnoty v danom stĺpci musia spĺňať istú podmienku, napr. musí byť väčšie ako 0, môže byť len jedna z dvoch konkrétnych hodnôt a pod.</a:t>
            </a:r>
          </a:p>
          <a:p>
            <a:pPr marL="0" indent="0">
              <a:buNone/>
            </a:pPr>
            <a:r>
              <a:rPr lang="sk-SK">
                <a:hlinkClick r:id="rId2"/>
              </a:rPr>
              <a:t>https://docs.oracle.com/en/database/oracle/oracle-database/19/sqlrf/constraint.html#GUID-1055EA97-BA6F-4764-A15F-1024FD5B6DFE</a:t>
            </a:r>
            <a:endParaRPr lang="sk-SK"/>
          </a:p>
          <a:p>
            <a:pPr marL="0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92878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Trigger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</a:t>
            </a:r>
            <a:r>
              <a:rPr lang="sk-SK" err="1"/>
              <a:t>Trigger</a:t>
            </a:r>
            <a:r>
              <a:rPr lang="sk-SK"/>
              <a:t> je spúšťač, ktorým sa vykoná istá preddefinovaná akcia na základe splnenia istej spúšťacej podmienky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Spúšťačom môže byť napríklad vytvorenie tabuľky, vloženie dát, zmazanie objektu a pod.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Obsahom </a:t>
            </a:r>
            <a:r>
              <a:rPr lang="sk-SK" err="1"/>
              <a:t>triggeru</a:t>
            </a:r>
            <a:r>
              <a:rPr lang="sk-SK"/>
              <a:t> je PL/SQL kód, takže funkcionalita závisí od našich potrieb</a:t>
            </a:r>
          </a:p>
          <a:p>
            <a:pPr marL="0" indent="0">
              <a:buNone/>
            </a:pPr>
            <a:endParaRPr lang="sk-SK"/>
          </a:p>
          <a:p>
            <a:pPr marL="0" indent="0">
              <a:buNone/>
            </a:pPr>
            <a:r>
              <a:rPr lang="sk-SK">
                <a:hlinkClick r:id="rId2"/>
              </a:rPr>
              <a:t>https://docs.oracle.com/en/database/oracle/oracle-database/19/sqlrf/CREATE-TRIGGER.html</a:t>
            </a:r>
            <a:endParaRPr lang="sk-SK"/>
          </a:p>
          <a:p>
            <a:pPr marL="0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08880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Datab</a:t>
            </a:r>
            <a:r>
              <a:rPr lang="sk-SK" err="1"/>
              <a:t>ázová</a:t>
            </a:r>
            <a:r>
              <a:rPr lang="sk-SK"/>
              <a:t> linka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Databázová linka slúži na prístup do inej Oracle databázy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Pri vytváraní sa definuje užívateľ a heslo na vzdialenej databáze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Taktiež sa definuje </a:t>
            </a:r>
            <a:r>
              <a:rPr lang="sk-SK" err="1"/>
              <a:t>connection</a:t>
            </a:r>
            <a:r>
              <a:rPr lang="sk-SK"/>
              <a:t> </a:t>
            </a:r>
            <a:r>
              <a:rPr lang="sk-SK" err="1"/>
              <a:t>string</a:t>
            </a:r>
            <a:r>
              <a:rPr lang="sk-SK"/>
              <a:t> na vzdialenú databázu, ktorý môže byť definovaný priamo alebo pomocou záznamu v </a:t>
            </a:r>
            <a:r>
              <a:rPr lang="sk-SK" err="1"/>
              <a:t>tnsnames.ora</a:t>
            </a:r>
            <a:endParaRPr lang="sk-SK"/>
          </a:p>
          <a:p>
            <a:pPr marL="0" indent="0">
              <a:buNone/>
            </a:pPr>
            <a:r>
              <a:rPr lang="sk-SK">
                <a:hlinkClick r:id="rId2"/>
              </a:rPr>
              <a:t>https://docs.oracle.com/en/database/oracle/oracle-database/19/sqlrf/CREATE-DATABASE-LINK.html#GUID-D966642A-B19E-449D-9968-1121AF06D793</a:t>
            </a:r>
            <a:endParaRPr lang="sk-SK"/>
          </a:p>
          <a:p>
            <a:pPr marL="0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604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Dátové typy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Dátové typy nám určujú aké typy dát môže obsahovať daný stĺpec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Dátové typy môžeme rozdeliť na niekoľko základných skupín: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err="1"/>
              <a:t>Character</a:t>
            </a:r>
            <a:r>
              <a:rPr lang="sk-SK"/>
              <a:t> dátové typy – CHAR, VARCHAR2, NCHAR, NVARCHAR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Numerické dátové typy – NUMBER, FLOAT, BINARY_FLO</a:t>
            </a:r>
            <a:r>
              <a:rPr lang="en-US"/>
              <a:t>A</a:t>
            </a:r>
            <a:r>
              <a:rPr lang="sk-SK"/>
              <a:t>T, BINARY_DOUBLE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Dátumové dátové typy – DATE, TIMESTAMP, INTERVAL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Dátové typy veľkých objektov – CLOB, BLOB, NCLOB, BFILE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marL="128016" lvl="1" indent="0">
              <a:buNone/>
            </a:pPr>
            <a:r>
              <a:rPr lang="sk-SK">
                <a:hlinkClick r:id="rId2"/>
              </a:rPr>
              <a:t>https://docs.oracle.com/en/database/oracle/oracle-database/19/sqlrf/Data-Types.html#GUID-A3C0D836-BADB-44E5-A5D4-265BA5968483</a:t>
            </a: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057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Character</a:t>
            </a:r>
            <a:r>
              <a:rPr lang="sk-SK"/>
              <a:t> dátové typy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CHAR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Špecifikuje maximálnu fixnú dĺžku </a:t>
            </a:r>
            <a:r>
              <a:rPr lang="sk-SK" err="1"/>
              <a:t>character</a:t>
            </a:r>
            <a:r>
              <a:rPr lang="sk-SK"/>
              <a:t> </a:t>
            </a:r>
            <a:r>
              <a:rPr lang="sk-SK" err="1"/>
              <a:t>stringu</a:t>
            </a: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Dĺžka môže byť definovaná v počte znakov alebo v byte-och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Maximálna možná veľkosť je 2000 byte-</a:t>
            </a:r>
            <a:r>
              <a:rPr lang="sk-SK" err="1"/>
              <a:t>ov</a:t>
            </a:r>
            <a:r>
              <a:rPr lang="sk-SK"/>
              <a:t> alebo 2000 znakov (reálne 2000 byte-</a:t>
            </a:r>
            <a:r>
              <a:rPr lang="sk-SK" err="1"/>
              <a:t>ov</a:t>
            </a:r>
            <a:r>
              <a:rPr lang="sk-SK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Hodnoty v CHAR stĺpcoch vždy obsadzujú dané miesto na disku aj v prípade kratšieho záznamu, napr. ak máme 5 znakovú hodnotu v CHAR(200) stĺpci tak bude zaberať plných 200 znakov/byte-</a:t>
            </a:r>
            <a:r>
              <a:rPr lang="sk-SK" err="1"/>
              <a:t>ov</a:t>
            </a:r>
            <a:endParaRPr lang="sk-SK"/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VARCHAR2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Špecifikuje maximálnu variabilnú dĺžku </a:t>
            </a:r>
            <a:r>
              <a:rPr lang="sk-SK" err="1"/>
              <a:t>character</a:t>
            </a:r>
            <a:r>
              <a:rPr lang="sk-SK"/>
              <a:t> </a:t>
            </a:r>
            <a:r>
              <a:rPr lang="sk-SK" err="1"/>
              <a:t>stringu</a:t>
            </a: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Dĺžka môže byť definovaná v počte znakov alebo v byte-och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Maximálna možná veľkosť je 4000 byte-</a:t>
            </a:r>
            <a:r>
              <a:rPr lang="sk-SK" err="1"/>
              <a:t>ov</a:t>
            </a:r>
            <a:r>
              <a:rPr lang="sk-SK"/>
              <a:t> alebo 32767 znakov (reálne 32767 byte-</a:t>
            </a:r>
            <a:r>
              <a:rPr lang="sk-SK" err="1"/>
              <a:t>ov</a:t>
            </a:r>
            <a:r>
              <a:rPr lang="sk-SK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Hodnoty vo VARCHAR2 zaberajú na disku len toľko miesta, aká dlhá je zapísaná hodnota</a:t>
            </a:r>
          </a:p>
          <a:p>
            <a:pPr marL="128016" lvl="1" indent="0">
              <a:buNone/>
            </a:pPr>
            <a:r>
              <a:rPr lang="sk-SK">
                <a:hlinkClick r:id="rId2"/>
              </a:rPr>
              <a:t>https://docs.oracle.com/en/database/oracle/oracle-database/19/sqlrf/Data-Types.html#GUID-1BABC478-FB47-4962-9B0C-8B8BD059E733</a:t>
            </a:r>
            <a:endParaRPr lang="sk-SK"/>
          </a:p>
          <a:p>
            <a:pPr marL="128016" lvl="1" indent="0">
              <a:buNone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marL="128016" lvl="1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30566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Numerické dátové typy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NUMBER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Ekvivalent </a:t>
            </a:r>
            <a:r>
              <a:rPr lang="sk-SK" err="1"/>
              <a:t>integer</a:t>
            </a:r>
            <a:r>
              <a:rPr lang="sk-SK"/>
              <a:t> dátového typu z iných SQL databázových systémov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Obsahom môžu byť len číselné hodnoty s danou precíznosťou a škálou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Definujeme teda počet desatinných miest a na ktorú pozíciu sa ma zaokrúhľovať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Príklad: Pri hodnote 123.89 a NUMBER(6,1) dostaneme hodnotu 123.9</a:t>
            </a:r>
          </a:p>
          <a:p>
            <a:pPr marL="128016" lvl="1" indent="0">
              <a:buNone/>
            </a:pPr>
            <a:endParaRPr lang="sk-SK">
              <a:hlinkClick r:id="rId2"/>
            </a:endParaRPr>
          </a:p>
          <a:p>
            <a:pPr marL="128016" lvl="1" indent="0">
              <a:buNone/>
            </a:pPr>
            <a:r>
              <a:rPr lang="sk-SK">
                <a:hlinkClick r:id="rId3"/>
              </a:rPr>
              <a:t>https://docs.oracle.com/en/database/oracle/oracle-database/19/sqlrf/Data-Types.html#GUID-9401BC04-81C4-4CD5-99E7-C5E25C83F608</a:t>
            </a:r>
            <a:endParaRPr lang="sk-SK"/>
          </a:p>
          <a:p>
            <a:pPr marL="128016" lvl="1" indent="0">
              <a:buNone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marL="128016" lvl="1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5629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Dátumové dátové typy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814448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DATE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Obsahuje dátumové hodnoty od roku až po sekundy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Zobrazenie hodnoty závisí od nastavení NLS premenných, ktoré určujú formát výstupu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Príklad: ten istý záznam nám môže zobraziť dáta ako 01-MAY-09 alebo ako 01/05/2009 00:00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TIMESTAMP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Obsahuje časové hodnoty od roku až po zlomkové sekundy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V závislosti od zadefinovanej precíznosti môžeme mať hodnotu po nanosekundy (default je 6 – </a:t>
            </a:r>
            <a:r>
              <a:rPr lang="sk-SK" err="1"/>
              <a:t>mikrosekundy</a:t>
            </a:r>
            <a:r>
              <a:rPr lang="sk-SK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Príklad: 	</a:t>
            </a:r>
            <a:r>
              <a:rPr lang="en-US"/>
              <a:t>TIMESTAMP</a:t>
            </a:r>
            <a:r>
              <a:rPr lang="sk-SK"/>
              <a:t>(6)</a:t>
            </a:r>
            <a:r>
              <a:rPr lang="en-US"/>
              <a:t> </a:t>
            </a:r>
            <a:r>
              <a:rPr lang="sk-SK"/>
              <a:t>	</a:t>
            </a:r>
            <a:r>
              <a:rPr lang="en-US"/>
              <a:t>24-JAN-2012 08.00.05.993847 AM</a:t>
            </a:r>
          </a:p>
          <a:p>
            <a:pPr marL="128016" lvl="1" indent="0">
              <a:buNone/>
            </a:pPr>
            <a:r>
              <a:rPr lang="sk-SK"/>
              <a:t>		</a:t>
            </a:r>
            <a:r>
              <a:rPr lang="en-US"/>
              <a:t>TIMESTAMP(0) </a:t>
            </a:r>
            <a:r>
              <a:rPr lang="sk-SK"/>
              <a:t>	</a:t>
            </a:r>
            <a:r>
              <a:rPr lang="en-US"/>
              <a:t>24-JAN-2012 08.00.05 AM</a:t>
            </a: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>
              <a:hlinkClick r:id="rId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sk-SK">
              <a:hlinkClick r:id="rId2"/>
            </a:endParaRPr>
          </a:p>
          <a:p>
            <a:pPr marL="128016" lvl="1" indent="0">
              <a:buNone/>
            </a:pPr>
            <a:r>
              <a:rPr lang="sk-SK">
                <a:hlinkClick r:id="rId3"/>
              </a:rPr>
              <a:t>https://docs.oracle.com/en/database/oracle/oracle-database/19/sqlrf/Data-Types.html#GUID-7690645A-0EE3-46CA-90DE-C96DF5A01F8F</a:t>
            </a:r>
            <a:endParaRPr lang="sk-SK"/>
          </a:p>
          <a:p>
            <a:pPr marL="128016" lvl="1" indent="0">
              <a:buNone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marL="128016" lvl="1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8874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Dátové typy veľkých objektov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814448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BLOB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Obsahuje binárne </a:t>
            </a:r>
            <a:r>
              <a:rPr lang="sk-SK" err="1"/>
              <a:t>large</a:t>
            </a:r>
            <a:r>
              <a:rPr lang="sk-SK"/>
              <a:t> objekty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Jedná sa hlavne o binárne dáta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Sú to napríklad obrázky, videá, audio súbory a pod.</a:t>
            </a:r>
          </a:p>
          <a:p>
            <a:pPr marL="128016" lvl="1" indent="0">
              <a:buNone/>
            </a:pPr>
            <a:endParaRPr lang="sk-SK"/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CLOB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Obsahuje </a:t>
            </a:r>
            <a:r>
              <a:rPr lang="sk-SK" err="1"/>
              <a:t>character</a:t>
            </a:r>
            <a:r>
              <a:rPr lang="sk-SK"/>
              <a:t> </a:t>
            </a:r>
            <a:r>
              <a:rPr lang="sk-SK" err="1"/>
              <a:t>large</a:t>
            </a:r>
            <a:r>
              <a:rPr lang="sk-SK"/>
              <a:t> objekty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Jedná sa o textové dáta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/>
              <a:t>Sú to napríklad textové dokumenty, PDF súbory a pod.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>
              <a:hlinkClick r:id="rId2"/>
            </a:endParaRPr>
          </a:p>
          <a:p>
            <a:pPr marL="128016" lvl="1" indent="0">
              <a:buNone/>
            </a:pPr>
            <a:r>
              <a:rPr lang="sk-SK">
                <a:hlinkClick r:id="rId3"/>
              </a:rPr>
              <a:t>https://docs.oracle.com/en/database/oracle/oracle-database/19/sqlrf/Data-Types.html#GUID-1A71C635-188E-4EC9-B821-1DBEC2B45451</a:t>
            </a:r>
            <a:endParaRPr lang="sk-SK"/>
          </a:p>
          <a:p>
            <a:pPr marL="128016" lvl="1" indent="0">
              <a:buNone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marL="128016" lvl="1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01931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Reorganizácia dát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29A0CA0-2FA0-4480-80A0-18FD2311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814448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/>
              <a:t> Dáta v tabuľkách sa môžu často meniť a tým spôsobiť fragmentáciu tabuliek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Fragmentácia môže spôsobiť spomalenie a väčšiu obsadenosť na disku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Na opravenie tohto stavu nám slúži reorganizácia dát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/>
              <a:t> Možnosti reorganizácie: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err="1"/>
              <a:t>Rebuild</a:t>
            </a:r>
            <a:r>
              <a:rPr lang="sk-SK"/>
              <a:t> indexov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sk-SK"/>
              <a:t>Môže byť online alebo </a:t>
            </a:r>
            <a:r>
              <a:rPr lang="sk-SK" err="1"/>
              <a:t>offline</a:t>
            </a:r>
            <a:r>
              <a:rPr lang="sk-SK"/>
              <a:t> a vykoná prerobenie indexov podľa súčasných dát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err="1"/>
              <a:t>Shrink</a:t>
            </a:r>
            <a:r>
              <a:rPr lang="sk-SK"/>
              <a:t> table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sk-SK"/>
              <a:t>Riadky v tabuľke sa preorganizujú na začiatok zabratého miesta a uvoľní koncové voľné miest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err="1"/>
              <a:t>Move</a:t>
            </a:r>
            <a:r>
              <a:rPr lang="sk-SK"/>
              <a:t> table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sk-SK"/>
              <a:t>Presunie celú tabuľku na iný </a:t>
            </a:r>
            <a:r>
              <a:rPr lang="sk-SK" err="1"/>
              <a:t>tablespace</a:t>
            </a:r>
            <a:r>
              <a:rPr lang="sk-SK"/>
              <a:t>, kde bude zaberať len reálnu veľkosť, keďže bude zapisovať dáta zaradom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err="1"/>
              <a:t>Data</a:t>
            </a:r>
            <a:r>
              <a:rPr lang="sk-SK"/>
              <a:t> </a:t>
            </a:r>
            <a:r>
              <a:rPr lang="sk-SK" err="1"/>
              <a:t>Pump</a:t>
            </a:r>
            <a:r>
              <a:rPr lang="sk-SK"/>
              <a:t> Export/Import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sk-SK"/>
              <a:t>Pri </a:t>
            </a:r>
            <a:r>
              <a:rPr lang="sk-SK" err="1"/>
              <a:t>Data</a:t>
            </a:r>
            <a:r>
              <a:rPr lang="sk-SK"/>
              <a:t> </a:t>
            </a:r>
            <a:r>
              <a:rPr lang="sk-SK" err="1"/>
              <a:t>Pump</a:t>
            </a:r>
            <a:r>
              <a:rPr lang="sk-SK"/>
              <a:t> Export/Import sa dáta zapisujú zaradom na disk a tým pádom sú zreorganizované</a:t>
            </a:r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lvl="1">
              <a:buFont typeface="Arial" panose="020B0604020202020204" pitchFamily="34" charset="0"/>
              <a:buChar char="•"/>
            </a:pPr>
            <a:endParaRPr lang="sk-SK"/>
          </a:p>
          <a:p>
            <a:pPr marL="128016" lvl="1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23450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Integral</vt:lpstr>
      <vt:lpstr>Objekty a Dátové typy</vt:lpstr>
      <vt:lpstr>Databázové objekty</vt:lpstr>
      <vt:lpstr>Schema objekty</vt:lpstr>
      <vt:lpstr>Tabuľka</vt:lpstr>
      <vt:lpstr>Pohľady a materializované pohľady</vt:lpstr>
      <vt:lpstr>procedúry</vt:lpstr>
      <vt:lpstr>Sekvencie</vt:lpstr>
      <vt:lpstr>Synonymá</vt:lpstr>
      <vt:lpstr>Indexy</vt:lpstr>
      <vt:lpstr>Constraint</vt:lpstr>
      <vt:lpstr>Trigger</vt:lpstr>
      <vt:lpstr>Databázová linka</vt:lpstr>
      <vt:lpstr>Dátové typy</vt:lpstr>
      <vt:lpstr>Character dátové typy</vt:lpstr>
      <vt:lpstr>Numerické dátové typy</vt:lpstr>
      <vt:lpstr>Dátumové dátové typy</vt:lpstr>
      <vt:lpstr>Dátové typy veľkých objektov</vt:lpstr>
      <vt:lpstr>Reorganizácia dát</vt:lpstr>
    </vt:vector>
  </TitlesOfParts>
  <Company>T-Systesms Slovakia s.r.o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databáza</dc:title>
  <dc:creator>Vankova, Jana</dc:creator>
  <cp:revision>1</cp:revision>
  <dcterms:created xsi:type="dcterms:W3CDTF">2020-05-06T16:01:29Z</dcterms:created>
  <dcterms:modified xsi:type="dcterms:W3CDTF">2026-02-12T09:52:09Z</dcterms:modified>
  <cp:category>OPEN 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systems-DocumentTagging.ClassificationMark.P00">
    <vt:lpwstr>&lt;ClassificationMark xmlns:xsi="http://www.w3.org/2001/XMLSchema-instance" xmlns:xsd="http://www.w3.org/2001/XMLSchema" margin="NaN" class="C0" owner="Vankova, Jana" position="BottomRight" marginX="0" marginY="0" classifiedOn="2020-05-06T20:40:45.5137</vt:lpwstr>
  </property>
  <property fmtid="{D5CDD505-2E9C-101B-9397-08002B2CF9AE}" pid="3" name="tsystems-DocumentTagging.ClassificationMark.P01">
    <vt:lpwstr>592+02:00" showPrintedBy="false" showPrintDate="false" language="en" ApplicationVersion="Microsoft PowerPoint, 15.0" addinVersion="5.10.4.12" template="Default"&gt;&lt;history bulk="false" class="OPEN " code="C0" user="SK-KOSICE\jivanisk" date="2020-05-06T</vt:lpwstr>
  </property>
  <property fmtid="{D5CDD505-2E9C-101B-9397-08002B2CF9AE}" pid="4" name="tsystems-DocumentTagging.ClassificationMark.P02">
    <vt:lpwstr>20:40:45.5911439+02:00" /&gt;&lt;recipients /&gt;&lt;documentOwners /&gt;&lt;/ClassificationMark&gt;</vt:lpwstr>
  </property>
  <property fmtid="{D5CDD505-2E9C-101B-9397-08002B2CF9AE}" pid="5" name="tsystems-DocumentTagging.ClassificationMark">
    <vt:lpwstr>￼PARTS:3</vt:lpwstr>
  </property>
  <property fmtid="{D5CDD505-2E9C-101B-9397-08002B2CF9AE}" pid="6" name="tsystems-DocumentClasification">
    <vt:lpwstr>OPEN </vt:lpwstr>
  </property>
  <property fmtid="{D5CDD505-2E9C-101B-9397-08002B2CF9AE}" pid="7" name="tsystems-DLP">
    <vt:lpwstr>tsystems-DLP:TAG_SEC_C0</vt:lpwstr>
  </property>
</Properties>
</file>