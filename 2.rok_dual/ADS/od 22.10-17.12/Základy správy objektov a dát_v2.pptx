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81" r:id="rId3"/>
    <p:sldId id="282" r:id="rId4"/>
    <p:sldId id="275" r:id="rId5"/>
    <p:sldId id="276" r:id="rId6"/>
    <p:sldId id="277" r:id="rId7"/>
    <p:sldId id="278" r:id="rId8"/>
    <p:sldId id="279" r:id="rId9"/>
    <p:sldId id="283" r:id="rId10"/>
    <p:sldId id="285" r:id="rId11"/>
    <p:sldId id="286" r:id="rId12"/>
    <p:sldId id="284" r:id="rId13"/>
    <p:sldId id="287" r:id="rId14"/>
    <p:sldId id="288" r:id="rId15"/>
    <p:sldId id="289" r:id="rId16"/>
    <p:sldId id="290" r:id="rId17"/>
    <p:sldId id="291" r:id="rId18"/>
    <p:sldId id="292" r:id="rId19"/>
    <p:sldId id="293" r:id="rId20"/>
    <p:sldId id="294" r:id="rId21"/>
    <p:sldId id="295" r:id="rId22"/>
    <p:sldId id="296" r:id="rId23"/>
    <p:sldId id="297" r:id="rId24"/>
    <p:sldId id="298" r:id="rId25"/>
    <p:sldId id="299" r:id="rId26"/>
    <p:sldId id="300" r:id="rId27"/>
    <p:sldId id="301" r:id="rId28"/>
    <p:sldId id="302" r:id="rId29"/>
    <p:sldId id="274" r:id="rId3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>
        <p:scale>
          <a:sx n="100" d="100"/>
          <a:sy n="100" d="100"/>
        </p:scale>
        <p:origin x="58" y="-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blipFill dpi="0" rotWithShape="1"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12" name="Straight Connector 11"/>
          <p:cNvCxnSpPr/>
          <p:nvPr/>
        </p:nvCxnSpPr>
        <p:spPr>
          <a:xfrm flipV="1">
            <a:off x="8386842" y="5264106"/>
            <a:ext cx="0" cy="914400"/>
          </a:xfrm>
          <a:prstGeom prst="line">
            <a:avLst/>
          </a:prstGeom>
          <a:ln w="19050"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0" y="-1"/>
            <a:ext cx="12192000" cy="4572000"/>
          </a:xfrm>
          <a:prstGeom prst="rect">
            <a:avLst/>
          </a:prstGeom>
          <a:blipFill dpi="0" rotWithShape="1"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srcRect/>
            <a:tile tx="-133350" ty="-6350" sx="50000" sy="5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719263"/>
            <a:ext cx="10972800" cy="4411662"/>
          </a:xfrm>
        </p:spPr>
        <p:txBody>
          <a:bodyPr/>
          <a:lstStyle/>
          <a:p>
            <a:pPr lvl="0"/>
            <a:endParaRPr lang="en-US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6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A56EB8-8FAA-48A6-ACE6-F5C5E7496833}" type="slidenum">
              <a:rPr lang="sk-SK" altLang="en-US"/>
              <a:pPr>
                <a:defRPr/>
              </a:pPr>
              <a:t>‹#›</a:t>
            </a:fld>
            <a:endParaRPr lang="sk-SK" altLang="en-US"/>
          </a:p>
        </p:txBody>
      </p:sp>
    </p:spTree>
    <p:extLst>
      <p:ext uri="{BB962C8B-B14F-4D97-AF65-F5344CB8AC3E}">
        <p14:creationId xmlns:p14="http://schemas.microsoft.com/office/powerpoint/2010/main" val="298964100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22238"/>
            <a:ext cx="10058400" cy="12954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719263"/>
            <a:ext cx="53848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719263"/>
            <a:ext cx="5384800" cy="44116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sk-SK" altLang="en-US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EEF680E-580B-4468-A4F0-94C19E518FC3}" type="slidenum">
              <a:rPr lang="sk-SK" altLang="en-US"/>
              <a:pPr>
                <a:defRPr/>
              </a:pPr>
              <a:t>‹#›</a:t>
            </a:fld>
            <a:endParaRPr lang="sk-SK" altLang="en-US"/>
          </a:p>
        </p:txBody>
      </p:sp>
    </p:spTree>
    <p:extLst>
      <p:ext uri="{BB962C8B-B14F-4D97-AF65-F5344CB8AC3E}">
        <p14:creationId xmlns:p14="http://schemas.microsoft.com/office/powerpoint/2010/main" val="38513448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4/21/2020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  <p:sldLayoutId id="2147483662" r:id="rId13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cd/E11882_01/server.112/e41084/functions049.htm#SQLRF00631" TargetMode="External"/><Relationship Id="rId2" Type="http://schemas.openxmlformats.org/officeDocument/2006/relationships/hyperlink" Target="https://docs.oracle.com/cd/E11882_01/server.112/e41084/functions002.htm#SQLRF51178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cd/E11882_01/server.112/e41084/functions002.htm#SQLRF51180" TargetMode="External"/><Relationship Id="rId2" Type="http://schemas.openxmlformats.org/officeDocument/2006/relationships/hyperlink" Target="https://docs.oracle.com/cd/E11882_01/server.112/e41084/functions002.htm#SQLRF20032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cd/E11882_01/server.112/e41084/functions002.htm#SQLRF51179" TargetMode="Externa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oracle.com/cd/E11882_01/server.112/e41084/functions002.htm#SQLRF20034" TargetMode="Externa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database/121/SQLRF/statements_7002.htm" TargetMode="External"/><Relationship Id="rId2" Type="http://schemas.openxmlformats.org/officeDocument/2006/relationships/hyperlink" Target="https://docs.oracle.com/en/database/oracle/oracle-database/12.2/lnoci/data-types.html#GUID-7DA48B90-07C7-41A7-BC57-D8F358A4EEBE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en/database/oracle/oracle-database/12.2/sqlrf/constraint.html#GUID-1055EA97-BA6F-4764-A15F-1024FD5B6DF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Z</a:t>
            </a:r>
            <a:r>
              <a:rPr lang="sk-SK" dirty="0" smtClean="0"/>
              <a:t>áklady SPRávy objektov a dát2 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r>
              <a:rPr lang="sk-SK" dirty="0" smtClean="0"/>
              <a:t>Jana Vaňková</a:t>
            </a:r>
          </a:p>
          <a:p>
            <a:r>
              <a:rPr lang="sk-SK" dirty="0" smtClean="0"/>
              <a:t>Ľuboš </a:t>
            </a:r>
            <a:r>
              <a:rPr lang="en-US" dirty="0" smtClean="0"/>
              <a:t>S</a:t>
            </a:r>
            <a:r>
              <a:rPr lang="sk-SK" dirty="0" smtClean="0"/>
              <a:t>imčák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21695" y="4879441"/>
            <a:ext cx="2611548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28968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Opakovanie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sk-SK" sz="2400" b="1"/>
              <a:t>Dátové typy:</a:t>
            </a:r>
          </a:p>
          <a:p>
            <a:pPr lvl="1" eaLnBrk="1" hangingPunct="1">
              <a:lnSpc>
                <a:spcPct val="90000"/>
              </a:lnSpc>
            </a:pPr>
            <a:r>
              <a:rPr lang="sk-SK" sz="2400"/>
              <a:t>znakové dátové typy : CHAR, VARCHAR2</a:t>
            </a:r>
          </a:p>
          <a:p>
            <a:pPr lvl="1" eaLnBrk="1" hangingPunct="1">
              <a:lnSpc>
                <a:spcPct val="90000"/>
              </a:lnSpc>
            </a:pPr>
            <a:r>
              <a:rPr lang="sk-SK" sz="2400"/>
              <a:t>číselné dátové typy : NUMBER</a:t>
            </a:r>
          </a:p>
          <a:p>
            <a:pPr lvl="1" eaLnBrk="1" hangingPunct="1">
              <a:lnSpc>
                <a:spcPct val="90000"/>
              </a:lnSpc>
            </a:pPr>
            <a:r>
              <a:rPr lang="sk-SK" sz="2400"/>
              <a:t>dátové typy pre kalendárne a časové hodnoty: DATE, TIMESTAMP</a:t>
            </a:r>
          </a:p>
          <a:p>
            <a:pPr lvl="1" eaLnBrk="1" hangingPunct="1">
              <a:lnSpc>
                <a:spcPct val="90000"/>
              </a:lnSpc>
            </a:pPr>
            <a:r>
              <a:rPr lang="sk-SK" sz="2400"/>
              <a:t>dátové typy pre objemné dáta: CLOB, BLOB</a:t>
            </a:r>
          </a:p>
          <a:p>
            <a:pPr lvl="1" eaLnBrk="1" hangingPunct="1">
              <a:lnSpc>
                <a:spcPct val="90000"/>
              </a:lnSpc>
            </a:pPr>
            <a:r>
              <a:rPr lang="sk-SK" sz="2400"/>
              <a:t>rowid</a:t>
            </a:r>
          </a:p>
          <a:p>
            <a:pPr eaLnBrk="1" hangingPunct="1">
              <a:lnSpc>
                <a:spcPct val="90000"/>
              </a:lnSpc>
            </a:pPr>
            <a:r>
              <a:rPr lang="sk-SK" sz="2400" b="1"/>
              <a:t>Integritné obmedzenia</a:t>
            </a:r>
          </a:p>
          <a:p>
            <a:pPr lvl="1" eaLnBrk="1" hangingPunct="1">
              <a:lnSpc>
                <a:spcPct val="90000"/>
              </a:lnSpc>
            </a:pPr>
            <a:r>
              <a:rPr lang="sk-SK" sz="2400"/>
              <a:t>Entitná integrita: PRIMARY KEY, UNIQUE</a:t>
            </a:r>
          </a:p>
          <a:p>
            <a:pPr lvl="1" eaLnBrk="1" hangingPunct="1">
              <a:lnSpc>
                <a:spcPct val="90000"/>
              </a:lnSpc>
            </a:pPr>
            <a:r>
              <a:rPr lang="sk-SK" sz="2400"/>
              <a:t>Doménova integrita: NOT NULL, CHECK</a:t>
            </a:r>
          </a:p>
          <a:p>
            <a:pPr lvl="1" eaLnBrk="1" hangingPunct="1">
              <a:lnSpc>
                <a:spcPct val="90000"/>
              </a:lnSpc>
            </a:pPr>
            <a:r>
              <a:rPr lang="sk-SK" sz="2400"/>
              <a:t>Referenčná integrita: FOREIGN KEY</a:t>
            </a:r>
          </a:p>
        </p:txBody>
      </p:sp>
    </p:spTree>
    <p:extLst>
      <p:ext uri="{BB962C8B-B14F-4D97-AF65-F5344CB8AC3E}">
        <p14:creationId xmlns:p14="http://schemas.microsoft.com/office/powerpoint/2010/main" val="19674000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Jazyk SQL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k-SK" dirty="0" smtClean="0"/>
              <a:t>- </a:t>
            </a:r>
            <a:r>
              <a:rPr lang="en-US" dirty="0" err="1" smtClean="0"/>
              <a:t>ka</a:t>
            </a:r>
            <a:r>
              <a:rPr lang="sk-SK" dirty="0" smtClean="0"/>
              <a:t>ždý objekt databázy môžme vytvoriť (CREATE), meniť jeho vlastnosti (ALTER) a zmazať ho (DROP)</a:t>
            </a:r>
          </a:p>
          <a:p>
            <a:r>
              <a:rPr lang="sk-SK" dirty="0" smtClean="0"/>
              <a:t>-</a:t>
            </a:r>
            <a:r>
              <a:rPr lang="sk-SK" dirty="0"/>
              <a:t> </a:t>
            </a:r>
            <a:r>
              <a:rPr lang="sk-SK" dirty="0" smtClean="0"/>
              <a:t>práca s dátami:</a:t>
            </a:r>
            <a:r>
              <a:rPr lang="sk-SK" dirty="0"/>
              <a:t> </a:t>
            </a:r>
            <a:r>
              <a:rPr lang="sk-SK" dirty="0" smtClean="0"/>
              <a:t>vloženie nového údaju, aktualizácia údaju a zmazanie údaju</a:t>
            </a:r>
          </a:p>
          <a:p>
            <a:r>
              <a:rPr lang="sk-SK" dirty="0" smtClean="0"/>
              <a:t>UPOZORNENIE: </a:t>
            </a:r>
          </a:p>
          <a:p>
            <a:pPr lvl="1"/>
            <a:r>
              <a:rPr lang="sk-SK" dirty="0" smtClean="0"/>
              <a:t>po každej zmene dát je potrebné túto zmenu potvrdiť príkazom COMMIT alebo sa vrátiť k pôvodnému stavu príkazom ROLLBACK</a:t>
            </a:r>
          </a:p>
          <a:p>
            <a:pPr lvl="1"/>
            <a:r>
              <a:rPr lang="sk-SK" dirty="0"/>
              <a:t>n</a:t>
            </a:r>
            <a:r>
              <a:rPr lang="sk-SK" dirty="0" smtClean="0"/>
              <a:t>epotvrdené zmeny vidíte iba vo svojej session, až keď ich potvrdíte stanú sa viditeľnými aj pre iné spojenia. Viac vám prezradíme neskôr.</a:t>
            </a:r>
          </a:p>
          <a:p>
            <a:pPr marL="0" indent="0">
              <a:buNone/>
            </a:pPr>
            <a:endParaRPr lang="sk-SK" dirty="0" smtClean="0"/>
          </a:p>
        </p:txBody>
      </p:sp>
    </p:spTree>
    <p:extLst>
      <p:ext uri="{BB962C8B-B14F-4D97-AF65-F5344CB8AC3E}">
        <p14:creationId xmlns:p14="http://schemas.microsoft.com/office/powerpoint/2010/main" val="12237777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SQL – vkladanie dát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solidFill>
                  <a:srgbClr val="92D050"/>
                </a:solidFill>
                <a:latin typeface="Consolas" panose="020B0609020204030204" pitchFamily="49" charset="0"/>
              </a:rPr>
              <a:t>INSERT</a:t>
            </a:r>
            <a:r>
              <a:rPr lang="sk-SK" sz="2000" dirty="0">
                <a:latin typeface="Consolas" panose="020B0609020204030204" pitchFamily="49" charset="0"/>
              </a:rPr>
              <a:t> INTO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meno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tabu</a:t>
            </a:r>
            <a:r>
              <a:rPr lang="sk-SK" sz="2000" dirty="0">
                <a:latin typeface="Consolas" panose="020B0609020204030204" pitchFamily="49" charset="0"/>
              </a:rPr>
              <a:t>ľky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	VALUES (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zoznam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hodn</a:t>
            </a:r>
            <a:r>
              <a:rPr lang="sk-SK" sz="2000" dirty="0">
                <a:latin typeface="Consolas" panose="020B0609020204030204" pitchFamily="49" charset="0"/>
              </a:rPr>
              <a:t>ô</a:t>
            </a:r>
            <a:r>
              <a:rPr lang="en-US" sz="2000" dirty="0">
                <a:latin typeface="Consolas" panose="020B0609020204030204" pitchFamily="49" charset="0"/>
              </a:rPr>
              <a:t>t&gt;</a:t>
            </a:r>
            <a:r>
              <a:rPr lang="sk-SK" sz="2000" dirty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solidFill>
                  <a:srgbClr val="92D050"/>
                </a:solidFill>
                <a:latin typeface="Consolas" panose="020B0609020204030204" pitchFamily="49" charset="0"/>
              </a:rPr>
              <a:t>INSERT</a:t>
            </a:r>
            <a:r>
              <a:rPr lang="sk-SK" sz="2000" dirty="0">
                <a:latin typeface="Consolas" panose="020B0609020204030204" pitchFamily="49" charset="0"/>
              </a:rPr>
              <a:t> INTO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en-US" sz="2000" dirty="0" err="1">
                <a:latin typeface="Consolas" panose="020B0609020204030204" pitchFamily="49" charset="0"/>
              </a:rPr>
              <a:t>meno</a:t>
            </a:r>
            <a:r>
              <a:rPr lang="en-US" sz="2000" dirty="0">
                <a:latin typeface="Consolas" panose="020B0609020204030204" pitchFamily="49" charset="0"/>
              </a:rPr>
              <a:t> </a:t>
            </a:r>
            <a:r>
              <a:rPr lang="en-US" sz="2000" dirty="0" err="1">
                <a:latin typeface="Consolas" panose="020B0609020204030204" pitchFamily="49" charset="0"/>
              </a:rPr>
              <a:t>tabu</a:t>
            </a:r>
            <a:r>
              <a:rPr lang="sk-SK" sz="2000" dirty="0">
                <a:latin typeface="Consolas" panose="020B0609020204030204" pitchFamily="49" charset="0"/>
              </a:rPr>
              <a:t>ľky</a:t>
            </a:r>
            <a:r>
              <a:rPr lang="en-US" sz="2000" dirty="0">
                <a:latin typeface="Consolas" panose="020B0609020204030204" pitchFamily="49" charset="0"/>
              </a:rPr>
              <a:t>&gt; </a:t>
            </a:r>
            <a:r>
              <a:rPr lang="sk-SK" sz="2000" dirty="0">
                <a:latin typeface="Consolas" panose="020B0609020204030204" pitchFamily="49" charset="0"/>
              </a:rPr>
              <a:t>(zoznam vybratých stĺpcov)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	VALUES (hodnoty pre vybratý zoznam</a:t>
            </a:r>
            <a:r>
              <a:rPr lang="sk-SK" sz="2000" dirty="0" smtClean="0">
                <a:latin typeface="Consolas" panose="020B0609020204030204" pitchFamily="49" charset="0"/>
              </a:rPr>
              <a:t>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k-SK" sz="2000" dirty="0" smtClean="0"/>
              <a:t>pridanie </a:t>
            </a:r>
            <a:r>
              <a:rPr lang="sk-SK" sz="2000" dirty="0"/>
              <a:t>každého záznamu je cez INSERT</a:t>
            </a:r>
          </a:p>
          <a:p>
            <a:pPr eaLnBrk="1" hangingPunct="1">
              <a:lnSpc>
                <a:spcPct val="90000"/>
              </a:lnSpc>
              <a:buFont typeface="Arial" panose="020B0604020202020204" pitchFamily="34" charset="0"/>
              <a:buChar char="•"/>
            </a:pPr>
            <a:r>
              <a:rPr lang="sk-SK" sz="2000" dirty="0"/>
              <a:t>jednotlivé hodnoty musia byť uvedené v poradí ako sú zadefinované </a:t>
            </a:r>
            <a:r>
              <a:rPr lang="sk-SK" sz="2000" dirty="0" smtClean="0"/>
              <a:t>stĺpce tabuľky alebo v poradí ako ich vymenujeme</a:t>
            </a:r>
            <a:endParaRPr lang="sk-SK" sz="2000" dirty="0"/>
          </a:p>
          <a:p>
            <a:pPr marL="0" indent="0">
              <a:buNone/>
            </a:pPr>
            <a:r>
              <a:rPr lang="sk-SK" sz="2000" dirty="0">
                <a:latin typeface="Consolas" panose="020B0609020204030204" pitchFamily="49" charset="0"/>
              </a:rPr>
              <a:t>INSERT INTO zame</a:t>
            </a:r>
            <a:r>
              <a:rPr lang="en-US" sz="2000" dirty="0">
                <a:latin typeface="Consolas" panose="020B0609020204030204" pitchFamily="49" charset="0"/>
              </a:rPr>
              <a:t>s</a:t>
            </a:r>
            <a:r>
              <a:rPr lang="sk-SK" sz="2000" dirty="0">
                <a:latin typeface="Consolas" panose="020B0609020204030204" pitchFamily="49" charset="0"/>
              </a:rPr>
              <a:t>tnanec VALUES (12345, </a:t>
            </a:r>
            <a:r>
              <a:rPr lang="en-US" sz="2000" dirty="0">
                <a:latin typeface="Consolas" panose="020B0609020204030204" pitchFamily="49" charset="0"/>
              </a:rPr>
              <a:t>‘J</a:t>
            </a:r>
            <a:r>
              <a:rPr lang="sk-SK" sz="2000" dirty="0">
                <a:latin typeface="Consolas" panose="020B0609020204030204" pitchFamily="49" charset="0"/>
              </a:rPr>
              <a:t>án</a:t>
            </a:r>
            <a:r>
              <a:rPr lang="en-US" sz="2000" dirty="0">
                <a:latin typeface="Consolas" panose="020B0609020204030204" pitchFamily="49" charset="0"/>
              </a:rPr>
              <a:t>’,’Mal</a:t>
            </a:r>
            <a:r>
              <a:rPr lang="sk-SK" sz="2000" dirty="0">
                <a:latin typeface="Consolas" panose="020B0609020204030204" pitchFamily="49" charset="0"/>
              </a:rPr>
              <a:t>ý</a:t>
            </a:r>
            <a:r>
              <a:rPr lang="en-US" sz="2000" dirty="0">
                <a:latin typeface="Consolas" panose="020B0609020204030204" pitchFamily="49" charset="0"/>
              </a:rPr>
              <a:t>’ ‘</a:t>
            </a:r>
            <a:r>
              <a:rPr lang="en-US" sz="2000" dirty="0" err="1">
                <a:latin typeface="Consolas" panose="020B0609020204030204" pitchFamily="49" charset="0"/>
              </a:rPr>
              <a:t>Ko</a:t>
            </a:r>
            <a:r>
              <a:rPr lang="sk-SK" sz="2000" dirty="0">
                <a:latin typeface="Consolas" panose="020B0609020204030204" pitchFamily="49" charset="0"/>
              </a:rPr>
              <a:t>š</a:t>
            </a:r>
            <a:r>
              <a:rPr lang="en-US" sz="2000" dirty="0">
                <a:latin typeface="Consolas" panose="020B0609020204030204" pitchFamily="49" charset="0"/>
              </a:rPr>
              <a:t>ice’, ’11-mar-1978’, </a:t>
            </a:r>
            <a:r>
              <a:rPr lang="sk-SK" sz="2000" dirty="0">
                <a:latin typeface="Consolas" panose="020B0609020204030204" pitchFamily="49" charset="0"/>
              </a:rPr>
              <a:t>700, </a:t>
            </a:r>
            <a:r>
              <a:rPr lang="en-US" sz="2000" dirty="0">
                <a:latin typeface="Consolas" panose="020B0609020204030204" pitchFamily="49" charset="0"/>
              </a:rPr>
              <a:t>22, 5</a:t>
            </a:r>
            <a:r>
              <a:rPr lang="en-US" sz="2000" dirty="0" smtClean="0">
                <a:latin typeface="Consolas" panose="020B0609020204030204" pitchFamily="49" charset="0"/>
              </a:rPr>
              <a:t>);</a:t>
            </a:r>
            <a:endParaRPr lang="sk-SK" sz="2000" dirty="0"/>
          </a:p>
          <a:p>
            <a:pPr eaLnBrk="1" hangingPunct="1">
              <a:lnSpc>
                <a:spcPct val="90000"/>
              </a:lnSpc>
              <a:buFontTx/>
              <a:buNone/>
            </a:pPr>
            <a:r>
              <a:rPr lang="en-US" sz="2000" dirty="0" smtClean="0">
                <a:latin typeface="Consolas" panose="020B0609020204030204" pitchFamily="49" charset="0"/>
              </a:rPr>
              <a:t>INSERT </a:t>
            </a:r>
            <a:r>
              <a:rPr lang="en-US" sz="2000" dirty="0">
                <a:latin typeface="Consolas" panose="020B0609020204030204" pitchFamily="49" charset="0"/>
              </a:rPr>
              <a:t>INTO </a:t>
            </a:r>
            <a:r>
              <a:rPr lang="en-US" sz="2000" dirty="0" err="1">
                <a:latin typeface="Consolas" panose="020B0609020204030204" pitchFamily="49" charset="0"/>
              </a:rPr>
              <a:t>zamestnanec</a:t>
            </a:r>
            <a:r>
              <a:rPr lang="en-US" sz="2000" dirty="0">
                <a:latin typeface="Consolas" panose="020B0609020204030204" pitchFamily="49" charset="0"/>
              </a:rPr>
              <a:t> (</a:t>
            </a:r>
            <a:r>
              <a:rPr lang="en-US" sz="2000" dirty="0" err="1">
                <a:latin typeface="Consolas" panose="020B0609020204030204" pitchFamily="49" charset="0"/>
              </a:rPr>
              <a:t>ev_cislo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meno</a:t>
            </a:r>
            <a:r>
              <a:rPr lang="en-US" sz="2000" dirty="0">
                <a:latin typeface="Consolas" panose="020B0609020204030204" pitchFamily="49" charset="0"/>
              </a:rPr>
              <a:t>, </a:t>
            </a:r>
            <a:r>
              <a:rPr lang="en-US" sz="2000" dirty="0" err="1">
                <a:latin typeface="Consolas" panose="020B0609020204030204" pitchFamily="49" charset="0"/>
              </a:rPr>
              <a:t>id_odd</a:t>
            </a:r>
            <a:r>
              <a:rPr lang="en-US" sz="2000" dirty="0">
                <a:latin typeface="Consolas" panose="020B0609020204030204" pitchFamily="49" charset="0"/>
              </a:rPr>
              <a:t>) VALUES (12378,’Pavel’,2); 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k-SK" dirty="0" smtClean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Tx/>
              <a:buNone/>
            </a:pPr>
            <a:endParaRPr lang="sk-SK" dirty="0" smtClean="0"/>
          </a:p>
        </p:txBody>
      </p:sp>
    </p:spTree>
    <p:extLst>
      <p:ext uri="{BB962C8B-B14F-4D97-AF65-F5344CB8AC3E}">
        <p14:creationId xmlns:p14="http://schemas.microsoft.com/office/powerpoint/2010/main" val="2464682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SQL – aktualizácia dát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sk-SK" sz="2000" dirty="0">
                <a:solidFill>
                  <a:srgbClr val="92D050"/>
                </a:solidFill>
                <a:latin typeface="Consolas" panose="020B0609020204030204" pitchFamily="49" charset="0"/>
              </a:rPr>
              <a:t>UPDATE</a:t>
            </a:r>
            <a:r>
              <a:rPr lang="sk-SK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meno tabuľky</a:t>
            </a:r>
            <a:r>
              <a:rPr lang="en-US" sz="2000" dirty="0">
                <a:latin typeface="Consolas" panose="020B0609020204030204" pitchFamily="49" charset="0"/>
              </a:rPr>
              <a:t>&gt; 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SET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meno stĺpca1</a:t>
            </a:r>
            <a:r>
              <a:rPr lang="en-US" sz="2000" dirty="0">
                <a:latin typeface="Consolas" panose="020B0609020204030204" pitchFamily="49" charset="0"/>
              </a:rPr>
              <a:t>&gt; =</a:t>
            </a:r>
            <a:r>
              <a:rPr lang="sk-SK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výraz1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sk-SK" sz="2000" dirty="0">
                <a:latin typeface="Consolas" panose="020B0609020204030204" pitchFamily="49" charset="0"/>
              </a:rPr>
              <a:t>,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meno stĺpca2</a:t>
            </a:r>
            <a:r>
              <a:rPr lang="en-US" sz="2000" dirty="0">
                <a:latin typeface="Consolas" panose="020B0609020204030204" pitchFamily="49" charset="0"/>
              </a:rPr>
              <a:t>&gt; =</a:t>
            </a:r>
            <a:r>
              <a:rPr lang="sk-SK" sz="2000" dirty="0">
                <a:latin typeface="Consolas" panose="020B0609020204030204" pitchFamily="49" charset="0"/>
              </a:rPr>
              <a:t> </a:t>
            </a:r>
            <a:r>
              <a:rPr lang="en-US" sz="2000" dirty="0">
                <a:latin typeface="Consolas" panose="020B0609020204030204" pitchFamily="49" charset="0"/>
              </a:rPr>
              <a:t>&lt;</a:t>
            </a:r>
            <a:r>
              <a:rPr lang="sk-SK" sz="2000" dirty="0">
                <a:latin typeface="Consolas" panose="020B0609020204030204" pitchFamily="49" charset="0"/>
              </a:rPr>
              <a:t>výraz2</a:t>
            </a:r>
            <a:r>
              <a:rPr lang="en-US" sz="2000" dirty="0">
                <a:latin typeface="Consolas" panose="020B0609020204030204" pitchFamily="49" charset="0"/>
              </a:rPr>
              <a:t>&gt;</a:t>
            </a:r>
            <a:r>
              <a:rPr lang="sk-SK" sz="2000" dirty="0">
                <a:latin typeface="Consolas" panose="020B0609020204030204" pitchFamily="49" charset="0"/>
              </a:rPr>
              <a:t> ...</a:t>
            </a:r>
            <a:r>
              <a:rPr lang="en-US" sz="2000" dirty="0">
                <a:latin typeface="Consolas" panose="020B0609020204030204" pitchFamily="49" charset="0"/>
              </a:rPr>
              <a:t>]</a:t>
            </a:r>
            <a:endParaRPr lang="sk-SK" sz="20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000" dirty="0">
                <a:latin typeface="Consolas" panose="020B0609020204030204" pitchFamily="49" charset="0"/>
              </a:rPr>
              <a:t>[</a:t>
            </a:r>
            <a:r>
              <a:rPr lang="sk-SK" sz="2000" dirty="0">
                <a:latin typeface="Consolas" panose="020B0609020204030204" pitchFamily="49" charset="0"/>
              </a:rPr>
              <a:t>WHERE </a:t>
            </a:r>
            <a:r>
              <a:rPr lang="en-US" sz="2000" dirty="0">
                <a:latin typeface="Consolas" panose="020B0609020204030204" pitchFamily="49" charset="0"/>
              </a:rPr>
              <a:t> &lt;</a:t>
            </a:r>
            <a:r>
              <a:rPr lang="sk-SK" sz="2000" dirty="0">
                <a:latin typeface="Consolas" panose="020B0609020204030204" pitchFamily="49" charset="0"/>
              </a:rPr>
              <a:t>podmienka</a:t>
            </a:r>
            <a:r>
              <a:rPr lang="en-US" sz="2000" dirty="0">
                <a:latin typeface="Consolas" panose="020B0609020204030204" pitchFamily="49" charset="0"/>
              </a:rPr>
              <a:t>&gt;];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US" sz="20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rgbClr val="92D050"/>
                </a:solidFill>
              </a:rPr>
              <a:t>!</a:t>
            </a:r>
            <a:r>
              <a:rPr lang="en-US" dirty="0" smtClean="0"/>
              <a:t> </a:t>
            </a:r>
            <a:r>
              <a:rPr lang="en-US" sz="1800" dirty="0" err="1"/>
              <a:t>Podmienka</a:t>
            </a:r>
            <a:r>
              <a:rPr lang="en-US" sz="1800" dirty="0"/>
              <a:t> WHERE je </a:t>
            </a:r>
            <a:r>
              <a:rPr lang="en-US" sz="1800" dirty="0" err="1"/>
              <a:t>nepovinn</a:t>
            </a:r>
            <a:r>
              <a:rPr lang="sk-SK" sz="1800" dirty="0"/>
              <a:t>á, ale jej nezadanie vedie k zmene všetkých hodnot v prisluhajúcom stĺpci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sk-SK" sz="18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>
                <a:latin typeface="Consolas" panose="020B0609020204030204" pitchFamily="49" charset="0"/>
              </a:rPr>
              <a:t>UPDATE zamestnanec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>
                <a:latin typeface="Consolas" panose="020B0609020204030204" pitchFamily="49" charset="0"/>
              </a:rPr>
              <a:t>SET mzda = mzda+100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>
                <a:latin typeface="Consolas" panose="020B0609020204030204" pitchFamily="49" charset="0"/>
              </a:rPr>
              <a:t>WHERE UPPER(mesto) </a:t>
            </a:r>
            <a:r>
              <a:rPr lang="en-US" sz="1800" dirty="0">
                <a:latin typeface="Consolas" panose="020B0609020204030204" pitchFamily="49" charset="0"/>
              </a:rPr>
              <a:t>&lt;&gt; ‘KOSICE’</a:t>
            </a:r>
            <a:r>
              <a:rPr lang="sk-SK" sz="18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6730674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SQL – </a:t>
            </a:r>
            <a:r>
              <a:rPr lang="en-US" smtClean="0"/>
              <a:t>odstr</a:t>
            </a:r>
            <a:r>
              <a:rPr lang="sk-SK" smtClean="0"/>
              <a:t>á</a:t>
            </a:r>
            <a:r>
              <a:rPr lang="en-US" smtClean="0"/>
              <a:t>nenie</a:t>
            </a:r>
            <a:r>
              <a:rPr lang="sk-SK" smtClean="0"/>
              <a:t> dát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Wingdings" panose="05000000000000000000" pitchFamily="2" charset="2"/>
              <a:buNone/>
            </a:pPr>
            <a:r>
              <a:rPr lang="sk-SK" sz="2400" dirty="0">
                <a:solidFill>
                  <a:srgbClr val="92D050"/>
                </a:solidFill>
                <a:latin typeface="Consolas" panose="020B0609020204030204" pitchFamily="49" charset="0"/>
              </a:rPr>
              <a:t>DELETE</a:t>
            </a: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FROM</a:t>
            </a:r>
            <a:r>
              <a:rPr lang="sk-SK" sz="2400" dirty="0">
                <a:latin typeface="Consolas" panose="020B0609020204030204" pitchFamily="49" charset="0"/>
              </a:rPr>
              <a:t> </a:t>
            </a:r>
            <a:r>
              <a:rPr lang="en-US" sz="2400" dirty="0">
                <a:latin typeface="Consolas" panose="020B0609020204030204" pitchFamily="49" charset="0"/>
              </a:rPr>
              <a:t>&lt;</a:t>
            </a:r>
            <a:r>
              <a:rPr lang="sk-SK" sz="2400" dirty="0">
                <a:latin typeface="Consolas" panose="020B0609020204030204" pitchFamily="49" charset="0"/>
              </a:rPr>
              <a:t>meno tabuľky</a:t>
            </a:r>
            <a:r>
              <a:rPr lang="en-US" sz="2400" dirty="0">
                <a:latin typeface="Consolas" panose="020B0609020204030204" pitchFamily="49" charset="0"/>
              </a:rPr>
              <a:t>&gt; </a:t>
            </a:r>
            <a:endParaRPr lang="sk-SK" sz="24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</a:rPr>
              <a:t>[</a:t>
            </a:r>
            <a:r>
              <a:rPr lang="sk-SK" sz="2400" dirty="0">
                <a:latin typeface="Consolas" panose="020B0609020204030204" pitchFamily="49" charset="0"/>
              </a:rPr>
              <a:t>WHERE </a:t>
            </a:r>
            <a:r>
              <a:rPr lang="en-US" sz="2400" dirty="0">
                <a:latin typeface="Consolas" panose="020B0609020204030204" pitchFamily="49" charset="0"/>
              </a:rPr>
              <a:t> &lt;</a:t>
            </a:r>
            <a:r>
              <a:rPr lang="sk-SK" sz="2400" dirty="0">
                <a:latin typeface="Consolas" panose="020B0609020204030204" pitchFamily="49" charset="0"/>
              </a:rPr>
              <a:t>podmienka</a:t>
            </a:r>
            <a:r>
              <a:rPr lang="en-US" sz="2400" dirty="0">
                <a:latin typeface="Consolas" panose="020B0609020204030204" pitchFamily="49" charset="0"/>
              </a:rPr>
              <a:t>&gt;];</a:t>
            </a:r>
          </a:p>
          <a:p>
            <a:pPr eaLnBrk="1" hangingPunct="1"/>
            <a:endParaRPr lang="sk-SK" sz="2400" dirty="0">
              <a:latin typeface="Consolas" panose="020B0609020204030204" pitchFamily="49" charset="0"/>
            </a:endParaRP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b="1" dirty="0" smtClean="0">
                <a:solidFill>
                  <a:srgbClr val="92D050"/>
                </a:solidFill>
              </a:rPr>
              <a:t>!</a:t>
            </a:r>
            <a:r>
              <a:rPr lang="sk-SK" b="1" dirty="0" smtClean="0">
                <a:solidFill>
                  <a:srgbClr val="92D050"/>
                </a:solidFill>
              </a:rPr>
              <a:t> </a:t>
            </a:r>
            <a:r>
              <a:rPr lang="en-US" sz="2400" dirty="0" smtClean="0"/>
              <a:t>ne</a:t>
            </a:r>
            <a:r>
              <a:rPr lang="sk-SK" sz="2400" dirty="0"/>
              <a:t>zadanie klauzuly WHERE vedie k zmazaniu všetkých dát v tabuľke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sk-SK" sz="2400" dirty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2400" dirty="0">
                <a:latin typeface="Consolas" panose="020B0609020204030204" pitchFamily="49" charset="0"/>
              </a:rPr>
              <a:t>DELETE FROM zamestnanec WHERE priezvisko=</a:t>
            </a:r>
            <a:r>
              <a:rPr lang="en-US" sz="2400" dirty="0">
                <a:latin typeface="Consolas" panose="020B0609020204030204" pitchFamily="49" charset="0"/>
              </a:rPr>
              <a:t>‘Mal</a:t>
            </a:r>
            <a:r>
              <a:rPr lang="sk-SK" sz="2400" dirty="0">
                <a:latin typeface="Consolas" panose="020B0609020204030204" pitchFamily="49" charset="0"/>
              </a:rPr>
              <a:t>ý</a:t>
            </a:r>
            <a:r>
              <a:rPr lang="en-US" sz="2400" dirty="0">
                <a:latin typeface="Consolas" panose="020B0609020204030204" pitchFamily="49" charset="0"/>
              </a:rPr>
              <a:t>’ AND </a:t>
            </a:r>
            <a:r>
              <a:rPr lang="en-US" sz="2400" dirty="0" err="1">
                <a:latin typeface="Consolas" panose="020B0609020204030204" pitchFamily="49" charset="0"/>
              </a:rPr>
              <a:t>meno</a:t>
            </a:r>
            <a:r>
              <a:rPr lang="en-US" sz="2400" dirty="0">
                <a:latin typeface="Consolas" panose="020B0609020204030204" pitchFamily="49" charset="0"/>
              </a:rPr>
              <a:t>=‘J</a:t>
            </a:r>
            <a:r>
              <a:rPr lang="sk-SK" sz="2400" dirty="0">
                <a:latin typeface="Consolas" panose="020B0609020204030204" pitchFamily="49" charset="0"/>
              </a:rPr>
              <a:t>án</a:t>
            </a:r>
            <a:r>
              <a:rPr lang="en-US" sz="2400" dirty="0">
                <a:latin typeface="Consolas" panose="020B0609020204030204" pitchFamily="49" charset="0"/>
              </a:rPr>
              <a:t>’</a:t>
            </a:r>
            <a:r>
              <a:rPr lang="sk-SK" sz="2400" dirty="0">
                <a:latin typeface="Consolas" panose="020B06090202040302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059788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SQL – </a:t>
            </a:r>
            <a:r>
              <a:rPr lang="en-US" smtClean="0"/>
              <a:t>odstr</a:t>
            </a:r>
            <a:r>
              <a:rPr lang="sk-SK" smtClean="0"/>
              <a:t>á</a:t>
            </a:r>
            <a:r>
              <a:rPr lang="en-US" smtClean="0"/>
              <a:t>nenie</a:t>
            </a:r>
            <a:r>
              <a:rPr lang="sk-SK" smtClean="0"/>
              <a:t> dát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sk-SK" dirty="0" smtClean="0">
                <a:solidFill>
                  <a:srgbClr val="92D050"/>
                </a:solidFill>
              </a:rPr>
              <a:t>TRUNCATE – DDL príkaz</a:t>
            </a:r>
          </a:p>
          <a:p>
            <a:pPr marL="0" indent="0" eaLnBrk="1" hangingPunct="1">
              <a:buNone/>
            </a:pPr>
            <a:r>
              <a:rPr lang="sk-SK" b="1" dirty="0" smtClean="0">
                <a:solidFill>
                  <a:srgbClr val="92D050"/>
                </a:solidFill>
              </a:rPr>
              <a:t>-</a:t>
            </a:r>
            <a:r>
              <a:rPr lang="sk-SK" dirty="0" smtClean="0"/>
              <a:t> odstráni všetky riadky z tabuľky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dirty="0" smtClean="0">
                <a:latin typeface="Consolas" panose="020B0609020204030204" pitchFamily="49" charset="0"/>
              </a:rPr>
              <a:t>TRUNCATE TABLE </a:t>
            </a:r>
            <a:r>
              <a:rPr lang="en-US" sz="2800" dirty="0">
                <a:latin typeface="Consolas" panose="020B0609020204030204" pitchFamily="49" charset="0"/>
              </a:rPr>
              <a:t>&lt;</a:t>
            </a:r>
            <a:r>
              <a:rPr lang="sk-SK" sz="2800" dirty="0">
                <a:latin typeface="Consolas" panose="020B0609020204030204" pitchFamily="49" charset="0"/>
              </a:rPr>
              <a:t>meno tabuľky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  <a:r>
              <a:rPr lang="sk-SK" sz="2800" dirty="0">
                <a:latin typeface="Consolas" panose="020B0609020204030204" pitchFamily="49" charset="0"/>
              </a:rPr>
              <a:t>;</a:t>
            </a:r>
          </a:p>
          <a:p>
            <a:pPr marL="0" indent="0" eaLnBrk="1" hangingPunct="1">
              <a:buNone/>
            </a:pPr>
            <a:r>
              <a:rPr lang="sk-SK" b="1" dirty="0" smtClean="0">
                <a:solidFill>
                  <a:srgbClr val="92D050"/>
                </a:solidFill>
              </a:rPr>
              <a:t>-</a:t>
            </a:r>
            <a:r>
              <a:rPr lang="sk-SK" dirty="0" smtClean="0"/>
              <a:t> rovnaký výsledok je možné dosiahnuť použitím (TRUNCATE však nie je transakčná operácia, je automaticky potrvrdená/commit-nutá, viac neskôr)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dirty="0" smtClean="0">
                <a:latin typeface="Consolas" panose="020B0609020204030204" pitchFamily="49" charset="0"/>
              </a:rPr>
              <a:t>DELETE FROM </a:t>
            </a:r>
            <a:r>
              <a:rPr lang="en-US" sz="2800" dirty="0">
                <a:latin typeface="Consolas" panose="020B0609020204030204" pitchFamily="49" charset="0"/>
              </a:rPr>
              <a:t>&lt;</a:t>
            </a:r>
            <a:r>
              <a:rPr lang="sk-SK" sz="2800" dirty="0">
                <a:latin typeface="Consolas" panose="020B0609020204030204" pitchFamily="49" charset="0"/>
              </a:rPr>
              <a:t>meno tabuľky</a:t>
            </a:r>
            <a:r>
              <a:rPr lang="en-US" sz="2800" dirty="0">
                <a:latin typeface="Consolas" panose="020B0609020204030204" pitchFamily="49" charset="0"/>
              </a:rPr>
              <a:t>&gt;</a:t>
            </a:r>
            <a:r>
              <a:rPr lang="sk-SK" dirty="0" smtClean="0">
                <a:latin typeface="Consolas" panose="020B0609020204030204" pitchFamily="49" charset="0"/>
              </a:rPr>
              <a:t>; COMMIT;</a:t>
            </a:r>
            <a:r>
              <a:rPr lang="sk-SK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70413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dirty="0" smtClean="0"/>
              <a:t>SQL – zobrazenie dát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07812" y="2084832"/>
            <a:ext cx="9253138" cy="4411663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</a:pPr>
            <a:r>
              <a:rPr lang="sk-SK" dirty="0" smtClean="0"/>
              <a:t>- zobrazí údaje </a:t>
            </a:r>
            <a:r>
              <a:rPr lang="sk-SK" dirty="0"/>
              <a:t>z tabuľky: </a:t>
            </a:r>
            <a:r>
              <a:rPr lang="sk-SK" dirty="0">
                <a:latin typeface="Consolas" panose="020B0609020204030204" pitchFamily="49" charset="0"/>
              </a:rPr>
              <a:t>	</a:t>
            </a:r>
            <a:endParaRPr lang="sk-SK" dirty="0" smtClean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sk-SK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SELECT</a:t>
            </a:r>
            <a:r>
              <a:rPr lang="sk-SK" dirty="0" smtClean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sk-SK" dirty="0">
                <a:latin typeface="Consolas" panose="020B0609020204030204" pitchFamily="49" charset="0"/>
              </a:rPr>
              <a:t>zoznam stĺpcov v projekcii</a:t>
            </a:r>
            <a:r>
              <a:rPr lang="en-US" dirty="0" smtClean="0">
                <a:latin typeface="Consolas" panose="020B0609020204030204" pitchFamily="49" charset="0"/>
              </a:rPr>
              <a:t>&gt;</a:t>
            </a:r>
            <a:r>
              <a:rPr lang="sk-SK" dirty="0" smtClean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/</a:t>
            </a:r>
            <a:r>
              <a:rPr lang="sk-SK" dirty="0" smtClean="0">
                <a:latin typeface="Consolas" panose="020B0609020204030204" pitchFamily="49" charset="0"/>
              </a:rPr>
              <a:t> </a:t>
            </a:r>
            <a:r>
              <a:rPr lang="en-US" dirty="0" smtClean="0">
                <a:latin typeface="Consolas" panose="020B0609020204030204" pitchFamily="49" charset="0"/>
              </a:rPr>
              <a:t>*</a:t>
            </a:r>
            <a:endParaRPr lang="sk-SK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200" b="1" dirty="0">
                <a:solidFill>
                  <a:schemeClr val="accent1"/>
                </a:solidFill>
                <a:latin typeface="Consolas" panose="020B0609020204030204" pitchFamily="49" charset="0"/>
              </a:rPr>
              <a:t>FROM</a:t>
            </a:r>
            <a:r>
              <a:rPr lang="sk-SK" sz="2200" dirty="0">
                <a:latin typeface="Consolas" panose="020B0609020204030204" pitchFamily="49" charset="0"/>
              </a:rPr>
              <a:t> </a:t>
            </a:r>
            <a:r>
              <a:rPr lang="en-US" sz="2200" dirty="0">
                <a:latin typeface="Consolas" panose="020B0609020204030204" pitchFamily="49" charset="0"/>
              </a:rPr>
              <a:t>&lt;</a:t>
            </a:r>
            <a:r>
              <a:rPr lang="en-US" sz="2200" dirty="0" err="1">
                <a:latin typeface="Consolas" panose="020B0609020204030204" pitchFamily="49" charset="0"/>
              </a:rPr>
              <a:t>meno</a:t>
            </a:r>
            <a:r>
              <a:rPr lang="en-US" sz="2200" dirty="0">
                <a:latin typeface="Consolas" panose="020B0609020204030204" pitchFamily="49" charset="0"/>
              </a:rPr>
              <a:t> </a:t>
            </a:r>
            <a:r>
              <a:rPr lang="en-US" sz="2200" dirty="0" err="1">
                <a:latin typeface="Consolas" panose="020B0609020204030204" pitchFamily="49" charset="0"/>
              </a:rPr>
              <a:t>tabu</a:t>
            </a:r>
            <a:r>
              <a:rPr lang="sk-SK" sz="2200" dirty="0">
                <a:latin typeface="Consolas" panose="020B0609020204030204" pitchFamily="49" charset="0"/>
              </a:rPr>
              <a:t>ľky</a:t>
            </a:r>
            <a:r>
              <a:rPr lang="en-US" sz="2200" dirty="0" smtClean="0">
                <a:latin typeface="Consolas" panose="020B0609020204030204" pitchFamily="49" charset="0"/>
              </a:rPr>
              <a:t>&gt;</a:t>
            </a:r>
            <a:r>
              <a:rPr lang="sk-SK" sz="2200" dirty="0">
                <a:latin typeface="Consolas" panose="020B0609020204030204" pitchFamily="49" charset="0"/>
              </a:rPr>
              <a:t>;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200" dirty="0">
                <a:latin typeface="Consolas" panose="020B0609020204030204" pitchFamily="49" charset="0"/>
              </a:rPr>
              <a:t>SELECT * FROM zamestnanec</a:t>
            </a:r>
            <a:r>
              <a:rPr lang="sk-SK" sz="2200" dirty="0" smtClean="0">
                <a:latin typeface="Consolas" panose="020B0609020204030204" pitchFamily="49" charset="0"/>
              </a:rPr>
              <a:t>; </a:t>
            </a:r>
          </a:p>
          <a:p>
            <a:pPr lvl="1"/>
            <a:r>
              <a:rPr lang="sk-SK" sz="2200" dirty="0" smtClean="0">
                <a:latin typeface="Consolas" panose="020B0609020204030204" pitchFamily="49" charset="0"/>
              </a:rPr>
              <a:t>zobrazí všetky stĺpce a všetky riadky z tabuľky zamestnanec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200" dirty="0">
                <a:latin typeface="Consolas" panose="020B0609020204030204" pitchFamily="49" charset="0"/>
              </a:rPr>
              <a:t>SELECT meno, priezvisko FROM </a:t>
            </a:r>
            <a:r>
              <a:rPr lang="sk-SK" sz="2200" dirty="0" smtClean="0">
                <a:latin typeface="Consolas" panose="020B0609020204030204" pitchFamily="49" charset="0"/>
              </a:rPr>
              <a:t>zamestnanec;</a:t>
            </a:r>
          </a:p>
          <a:p>
            <a:pPr lvl="1"/>
            <a:r>
              <a:rPr lang="sk-SK" sz="2200" dirty="0" smtClean="0">
                <a:latin typeface="Consolas" panose="020B0609020204030204" pitchFamily="49" charset="0"/>
              </a:rPr>
              <a:t>pre každý riadok tabuľky zamestnanec zobrazí iba údaje zo stĺpcov meno a priezvisko</a:t>
            </a: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>
              <a:latin typeface="Consolas" panose="020B0609020204030204" pitchFamily="49" charset="0"/>
            </a:endParaRPr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1600" dirty="0"/>
          </a:p>
          <a:p>
            <a:pPr lvl="1"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sz="2200" dirty="0"/>
          </a:p>
        </p:txBody>
      </p:sp>
    </p:spTree>
    <p:extLst>
      <p:ext uri="{BB962C8B-B14F-4D97-AF65-F5344CB8AC3E}">
        <p14:creationId xmlns:p14="http://schemas.microsoft.com/office/powerpoint/2010/main" val="1960172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/>
              <a:t>SQL – zobrazenie dát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sk-SK" dirty="0" smtClean="0"/>
              <a:t>- pomocou príkazu DISTINCT vieme odstrániť duplikáty z výsledku t.j. každá hodnota z daného stĺpca sa zobrazí iba raz </a:t>
            </a:r>
          </a:p>
          <a:p>
            <a:pPr>
              <a:buNone/>
            </a:pPr>
            <a:r>
              <a:rPr lang="sk-SK" dirty="0" smtClean="0">
                <a:latin typeface="Consolas" panose="020B0609020204030204" pitchFamily="49" charset="0"/>
              </a:rPr>
              <a:t>  SELECT </a:t>
            </a:r>
            <a:r>
              <a:rPr lang="sk-SK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DISTINCT </a:t>
            </a:r>
            <a:r>
              <a:rPr lang="sk-SK" dirty="0" smtClean="0">
                <a:latin typeface="Consolas" panose="020B0609020204030204" pitchFamily="49" charset="0"/>
              </a:rPr>
              <a:t>mesto FROM zamestnanec;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sk-SK" dirty="0" smtClean="0">
                <a:latin typeface="Consolas" panose="020B0609020204030204" pitchFamily="49" charset="0"/>
              </a:rPr>
              <a:t> výsledkom tohto príkazu bude zoznam miest, v ktorých žijú zamestnanci a každé mesto tam bude iba raz 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sk-SK" sz="2200" dirty="0" smtClean="0">
                <a:latin typeface="Consolas" panose="020B0609020204030204" pitchFamily="49" charset="0"/>
              </a:rPr>
              <a:t>	- vymenovaním stĺpcov v SELECT príkaze vieme filtrovať stĺpce, ktoré sa majú zobraziť, pomocou klauzuly WHERE vieme zobraziť iba požadované riadky tabuľky</a:t>
            </a:r>
          </a:p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None/>
            </a:pPr>
            <a:r>
              <a:rPr lang="sk-SK" sz="2200" dirty="0" smtClean="0">
                <a:latin typeface="Consolas" panose="020B0609020204030204" pitchFamily="49" charset="0"/>
              </a:rPr>
              <a:t>SELECT meno, priezvisko FROM zamestnanec </a:t>
            </a:r>
            <a:r>
              <a:rPr lang="sk-SK" sz="2200" b="1" dirty="0" smtClean="0">
                <a:solidFill>
                  <a:schemeClr val="accent1"/>
                </a:solidFill>
                <a:latin typeface="Consolas" panose="020B0609020204030204" pitchFamily="49" charset="0"/>
              </a:rPr>
              <a:t>WHERE</a:t>
            </a:r>
            <a:r>
              <a:rPr lang="sk-SK" sz="2200" dirty="0" smtClean="0">
                <a:latin typeface="Consolas" panose="020B0609020204030204" pitchFamily="49" charset="0"/>
              </a:rPr>
              <a:t> UPPER(mesto)=´KOŠICE´;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sk-SK" dirty="0"/>
              <a:t>v</a:t>
            </a:r>
            <a:r>
              <a:rPr lang="sk-SK" dirty="0" smtClean="0"/>
              <a:t>ýsledkom bude zoznam mien zamestnancov, ktorý žijú v Košiciach</a:t>
            </a:r>
          </a:p>
          <a:p>
            <a:pPr lvl="1">
              <a:buNone/>
            </a:pPr>
            <a:endParaRPr lang="sk-SK" sz="1600" dirty="0" smtClean="0"/>
          </a:p>
          <a:p>
            <a:pPr lvl="1">
              <a:buNone/>
            </a:pPr>
            <a:r>
              <a:rPr lang="sk-SK" sz="1900" dirty="0" smtClean="0"/>
              <a:t>Poznámka</a:t>
            </a:r>
            <a:r>
              <a:rPr lang="sk-SK" sz="1900" dirty="0"/>
              <a:t>:</a:t>
            </a:r>
          </a:p>
          <a:p>
            <a:pPr lvl="1">
              <a:buNone/>
            </a:pPr>
            <a:r>
              <a:rPr lang="sk-SK" sz="1900" dirty="0"/>
              <a:t>Jazyk SQL je insensitive- jednotlivé klauzuly môžeme písať akýmikoľvek </a:t>
            </a:r>
            <a:r>
              <a:rPr lang="sk-SK" sz="1900" dirty="0" smtClean="0"/>
              <a:t>písmenami (SELECT=select=SelecT). </a:t>
            </a:r>
            <a:r>
              <a:rPr lang="sk-SK" sz="1900" dirty="0"/>
              <a:t>To neplatí ak porovnávame hodnoty stĺpca.</a:t>
            </a:r>
          </a:p>
          <a:p>
            <a:pPr>
              <a:buNone/>
            </a:pPr>
            <a:endParaRPr lang="sk-SK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0752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SQL – základné operátory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L="91440" lvl="1" indent="-91440">
              <a:spcBef>
                <a:spcPts val="1200"/>
              </a:spcBef>
              <a:spcAft>
                <a:spcPts val="200"/>
              </a:spcAft>
              <a:buSzPct val="100000"/>
              <a:buFont typeface="Tw Cen MT" panose="020B0602020104020603" pitchFamily="34" charset="0"/>
              <a:buChar char=" "/>
            </a:pPr>
            <a:r>
              <a:rPr lang="sk-SK" dirty="0" smtClean="0"/>
              <a:t>- pri </a:t>
            </a:r>
            <a:r>
              <a:rPr lang="sk-SK" dirty="0"/>
              <a:t>filtrovaní riadkov tabuľky na porovnavanie hodnôt používame operátory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 smtClean="0"/>
              <a:t> relačné operátory</a:t>
            </a:r>
            <a:r>
              <a:rPr lang="en-US" dirty="0" smtClean="0"/>
              <a:t>:</a:t>
            </a:r>
            <a:r>
              <a:rPr lang="sk-SK" dirty="0" smtClean="0"/>
              <a:t>  = , </a:t>
            </a:r>
            <a:r>
              <a:rPr lang="en-US" dirty="0" smtClean="0"/>
              <a:t>&gt;, &lt;</a:t>
            </a:r>
            <a:r>
              <a:rPr lang="sk-SK" dirty="0" smtClean="0"/>
              <a:t>, &lt;&gt;, !=, &lt;=, &gt;= 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sk-SK" dirty="0" smtClean="0"/>
              <a:t> aritmetické operátory</a:t>
            </a:r>
            <a:r>
              <a:rPr lang="en-US" dirty="0" smtClean="0"/>
              <a:t>:</a:t>
            </a:r>
            <a:r>
              <a:rPr lang="sk-SK" dirty="0" smtClean="0"/>
              <a:t>  +, -, * , /, MOD(a,b)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sk-SK" dirty="0" smtClean="0"/>
              <a:t> || - spojenie dvoch reťazcov (konkatenácia)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sk-SK" dirty="0" smtClean="0"/>
              <a:t> IS [NOT] NULL - test na hodnotu NULL </a:t>
            </a:r>
            <a:endParaRPr lang="en-US" dirty="0" smtClean="0"/>
          </a:p>
          <a:p>
            <a:pPr>
              <a:buFont typeface="Wingdings" panose="05000000000000000000" pitchFamily="2" charset="2"/>
              <a:buChar char="§"/>
            </a:pPr>
            <a:r>
              <a:rPr lang="sk-SK" dirty="0" smtClean="0"/>
              <a:t> l</a:t>
            </a:r>
            <a:r>
              <a:rPr lang="en-US" dirty="0" err="1" smtClean="0"/>
              <a:t>ogick</a:t>
            </a:r>
            <a:r>
              <a:rPr lang="sk-SK" dirty="0" smtClean="0"/>
              <a:t>é operátory: AND, OR, NOT</a:t>
            </a:r>
          </a:p>
          <a:p>
            <a:pPr eaLnBrk="1" hangingPunct="1"/>
            <a:endParaRPr lang="sk-SK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3300" dirty="0">
                <a:latin typeface="Consolas" panose="020B0609020204030204" pitchFamily="49" charset="0"/>
              </a:rPr>
              <a:t>SELECT * FROM zamestnanec WHERE meno=´Ján´ AND priezvisko=´Malý´;</a:t>
            </a:r>
          </a:p>
        </p:txBody>
      </p:sp>
    </p:spTree>
    <p:extLst>
      <p:ext uri="{BB962C8B-B14F-4D97-AF65-F5344CB8AC3E}">
        <p14:creationId xmlns:p14="http://schemas.microsoft.com/office/powerpoint/2010/main" val="26859671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SQL – základné operátory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64022" y="2283286"/>
            <a:ext cx="9998580" cy="4805362"/>
          </a:xfrm>
        </p:spPr>
        <p:txBody>
          <a:bodyPr>
            <a:normAutofit/>
          </a:bodyPr>
          <a:lstStyle/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k-SK" sz="2100" b="1" i="1" dirty="0" smtClean="0"/>
              <a:t>BETWEEN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sk-SK" sz="2300" dirty="0" smtClean="0">
                <a:latin typeface="Consolas" panose="020B0609020204030204" pitchFamily="49" charset="0"/>
              </a:rPr>
              <a:t>SELECT </a:t>
            </a:r>
            <a:r>
              <a:rPr lang="sk-SK" sz="2300" dirty="0">
                <a:latin typeface="Consolas" panose="020B0609020204030204" pitchFamily="49" charset="0"/>
              </a:rPr>
              <a:t>* FROM zamestnanec </a:t>
            </a:r>
            <a:r>
              <a:rPr lang="sk-SK" sz="2300" dirty="0" smtClean="0">
                <a:latin typeface="Consolas" panose="020B0609020204030204" pitchFamily="49" charset="0"/>
              </a:rPr>
              <a:t>WHERE </a:t>
            </a:r>
            <a:r>
              <a:rPr lang="sk-SK" sz="2300" dirty="0">
                <a:latin typeface="Consolas" panose="020B0609020204030204" pitchFamily="49" charset="0"/>
              </a:rPr>
              <a:t>mzda </a:t>
            </a:r>
            <a:r>
              <a:rPr lang="sk-SK" sz="2300" dirty="0">
                <a:solidFill>
                  <a:schemeClr val="accent1"/>
                </a:solidFill>
                <a:latin typeface="Consolas" panose="020B0609020204030204" pitchFamily="49" charset="0"/>
              </a:rPr>
              <a:t>BETWEEN</a:t>
            </a:r>
            <a:r>
              <a:rPr lang="sk-SK" sz="2300" dirty="0">
                <a:latin typeface="Consolas" panose="020B0609020204030204" pitchFamily="49" charset="0"/>
              </a:rPr>
              <a:t> 500 AND 1000;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k-SK" sz="2100" b="1" i="1" dirty="0"/>
              <a:t>IN </a:t>
            </a:r>
            <a:endParaRPr lang="sk-SK" sz="2100" b="1" i="1" dirty="0" smtClean="0"/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sk-SK" sz="2400" dirty="0" smtClean="0">
                <a:latin typeface="Consolas" panose="020B0609020204030204" pitchFamily="49" charset="0"/>
              </a:rPr>
              <a:t>SELECT </a:t>
            </a:r>
            <a:r>
              <a:rPr lang="sk-SK" sz="2400" dirty="0">
                <a:latin typeface="Consolas" panose="020B0609020204030204" pitchFamily="49" charset="0"/>
              </a:rPr>
              <a:t>* FROM </a:t>
            </a:r>
            <a:r>
              <a:rPr lang="sk-SK" sz="2400" dirty="0" smtClean="0">
                <a:latin typeface="Consolas" panose="020B0609020204030204" pitchFamily="49" charset="0"/>
              </a:rPr>
              <a:t>zamestnanec WHERE </a:t>
            </a:r>
            <a:r>
              <a:rPr lang="sk-SK" sz="2400" dirty="0">
                <a:latin typeface="Consolas" panose="020B0609020204030204" pitchFamily="49" charset="0"/>
              </a:rPr>
              <a:t>mzda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IN</a:t>
            </a:r>
            <a:r>
              <a:rPr lang="sk-SK" sz="2400" dirty="0">
                <a:latin typeface="Consolas" panose="020B0609020204030204" pitchFamily="49" charset="0"/>
              </a:rPr>
              <a:t> (500, 550, 600);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sk-SK" sz="2100" b="1" i="1" dirty="0" smtClean="0"/>
              <a:t>LIKE</a:t>
            </a:r>
          </a:p>
          <a:p>
            <a:pPr marL="0" indent="0" eaLnBrk="1" hangingPunct="1">
              <a:lnSpc>
                <a:spcPct val="90000"/>
              </a:lnSpc>
              <a:buNone/>
            </a:pPr>
            <a:r>
              <a:rPr lang="sk-SK" sz="2400" dirty="0" smtClean="0">
                <a:latin typeface="Consolas" panose="020B0609020204030204" pitchFamily="49" charset="0"/>
              </a:rPr>
              <a:t>SELECT </a:t>
            </a:r>
            <a:r>
              <a:rPr lang="sk-SK" sz="2400" dirty="0">
                <a:latin typeface="Consolas" panose="020B0609020204030204" pitchFamily="49" charset="0"/>
              </a:rPr>
              <a:t>* FROM </a:t>
            </a:r>
            <a:r>
              <a:rPr lang="sk-SK" sz="2400" dirty="0" smtClean="0">
                <a:latin typeface="Consolas" panose="020B0609020204030204" pitchFamily="49" charset="0"/>
              </a:rPr>
              <a:t>zamestnanec WHERE </a:t>
            </a:r>
            <a:r>
              <a:rPr lang="sk-SK" sz="2400" dirty="0">
                <a:latin typeface="Consolas" panose="020B0609020204030204" pitchFamily="49" charset="0"/>
              </a:rPr>
              <a:t>priezvisko </a:t>
            </a:r>
            <a:r>
              <a:rPr lang="sk-SK" sz="2400" dirty="0">
                <a:solidFill>
                  <a:schemeClr val="accent1"/>
                </a:solidFill>
                <a:latin typeface="Consolas" panose="020B0609020204030204" pitchFamily="49" charset="0"/>
              </a:rPr>
              <a:t>LIKE</a:t>
            </a:r>
            <a:r>
              <a:rPr lang="sk-SK" sz="2400" dirty="0">
                <a:latin typeface="Consolas" panose="020B0609020204030204" pitchFamily="49" charset="0"/>
              </a:rPr>
              <a:t> ´</a:t>
            </a:r>
            <a:r>
              <a:rPr lang="en-US" sz="2400" dirty="0">
                <a:latin typeface="Consolas" panose="020B0609020204030204" pitchFamily="49" charset="0"/>
              </a:rPr>
              <a:t>%</a:t>
            </a:r>
            <a:r>
              <a:rPr lang="sk-SK" sz="2400" dirty="0">
                <a:latin typeface="Consolas" panose="020B0609020204030204" pitchFamily="49" charset="0"/>
              </a:rPr>
              <a:t>ová´;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1800" dirty="0" smtClean="0"/>
              <a:t>Poznámka</a:t>
            </a:r>
            <a:r>
              <a:rPr lang="sk-SK" sz="1800" dirty="0"/>
              <a:t>: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1800" dirty="0"/>
              <a:t>%</a:t>
            </a:r>
            <a:r>
              <a:rPr lang="sk-SK" sz="1800" dirty="0"/>
              <a:t> - skupina ľubovoľných znakov dĺžky 0 až n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1800" dirty="0"/>
              <a:t>_  - jeden ľubovoľný znak</a:t>
            </a:r>
          </a:p>
          <a:p>
            <a:pPr eaLnBrk="1" hangingPunct="1">
              <a:lnSpc>
                <a:spcPct val="90000"/>
              </a:lnSpc>
            </a:pPr>
            <a:endParaRPr lang="sk-SK" sz="1800" dirty="0"/>
          </a:p>
        </p:txBody>
      </p:sp>
    </p:spTree>
    <p:extLst>
      <p:ext uri="{BB962C8B-B14F-4D97-AF65-F5344CB8AC3E}">
        <p14:creationId xmlns:p14="http://schemas.microsoft.com/office/powerpoint/2010/main" val="40497773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SQL – ORDER BY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61701" y="2206374"/>
            <a:ext cx="8362950" cy="4446587"/>
          </a:xfrm>
        </p:spPr>
        <p:txBody>
          <a:bodyPr/>
          <a:lstStyle/>
          <a:p>
            <a:pPr eaLnBrk="1" hangingPunct="1">
              <a:buFontTx/>
              <a:buChar char="-"/>
            </a:pPr>
            <a:r>
              <a:rPr lang="sk-SK" dirty="0" smtClean="0"/>
              <a:t>triedenie/zoradenie záznamov podľa hodnôt niektorého stĺpca resp. Stĺpcov</a:t>
            </a:r>
          </a:p>
          <a:p>
            <a:pPr lvl="1" eaLnBrk="1" hangingPunct="1"/>
            <a:r>
              <a:rPr lang="sk-SK" dirty="0" smtClean="0"/>
              <a:t>ASC – vzostupne, defaultná triedenie</a:t>
            </a:r>
          </a:p>
          <a:p>
            <a:pPr lvl="1" eaLnBrk="1" hangingPunct="1"/>
            <a:r>
              <a:rPr lang="sk-SK" dirty="0" smtClean="0"/>
              <a:t>DESC – zostupne </a:t>
            </a:r>
          </a:p>
          <a:p>
            <a:pPr eaLnBrk="1" hangingPunct="1"/>
            <a:endParaRPr lang="sk-SK" dirty="0" smtClean="0"/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dirty="0" smtClean="0"/>
              <a:t> </a:t>
            </a:r>
            <a:r>
              <a:rPr lang="sk-SK" sz="2000" dirty="0">
                <a:latin typeface="Consolas" panose="020B0609020204030204" pitchFamily="49" charset="0"/>
              </a:rPr>
              <a:t>SELECT priezvisko, meno FROM zamestnanec ORDER BY priezvisko; 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2000" dirty="0">
                <a:latin typeface="Consolas" panose="020B0609020204030204" pitchFamily="49" charset="0"/>
              </a:rPr>
              <a:t>SELECT priezvisko, meno FROM zamestnanec ORDER BY 1, 2 DESC;</a:t>
            </a:r>
            <a:r>
              <a:rPr lang="sk-SK" dirty="0" smtClean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882331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Vstavané funkcie</a:t>
            </a: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  <a:defRPr/>
            </a:pPr>
            <a:r>
              <a:rPr lang="sk-SK" sz="2400" dirty="0"/>
              <a:t>- </a:t>
            </a:r>
            <a:r>
              <a:rPr lang="en-US" sz="2400" dirty="0" err="1"/>
              <a:t>pri</a:t>
            </a:r>
            <a:r>
              <a:rPr lang="en-US" sz="2400" dirty="0"/>
              <a:t> </a:t>
            </a:r>
            <a:r>
              <a:rPr lang="en-US" sz="2400" dirty="0" err="1"/>
              <a:t>zobrazovan</a:t>
            </a:r>
            <a:r>
              <a:rPr lang="sk-SK" sz="2400" dirty="0"/>
              <a:t>í dát využívame aj množstvo už „predvytvorených“ – vstavaných funkcií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en-US" sz="2400" b="1" dirty="0"/>
              <a:t>j</a:t>
            </a:r>
            <a:r>
              <a:rPr lang="sk-SK" sz="2400" b="1" dirty="0" smtClean="0"/>
              <a:t>ednozáznamové </a:t>
            </a:r>
            <a:r>
              <a:rPr lang="sk-SK" sz="2400" b="1" dirty="0" smtClean="0"/>
              <a:t>funkcie </a:t>
            </a:r>
            <a:r>
              <a:rPr lang="sk-SK" sz="2400" b="1" dirty="0"/>
              <a:t>(</a:t>
            </a:r>
            <a:r>
              <a:rPr lang="en-US" sz="2400" b="1" dirty="0"/>
              <a:t>1 </a:t>
            </a:r>
            <a:r>
              <a:rPr lang="sk-SK" sz="2400" b="1" dirty="0"/>
              <a:t>záznam -</a:t>
            </a:r>
            <a:r>
              <a:rPr lang="en-US" sz="2400" b="1" dirty="0"/>
              <a:t>&gt; </a:t>
            </a:r>
            <a:r>
              <a:rPr lang="sk-SK" sz="2400" b="1" dirty="0"/>
              <a:t>1 hodnota)</a:t>
            </a:r>
          </a:p>
          <a:p>
            <a:pPr lvl="1" eaLnBrk="1" hangingPunct="1">
              <a:defRPr/>
            </a:pPr>
            <a:r>
              <a:rPr lang="sk-SK" sz="2000" dirty="0" smtClean="0"/>
              <a:t>aritmetické funkcie</a:t>
            </a:r>
          </a:p>
          <a:p>
            <a:pPr lvl="1" eaLnBrk="1" hangingPunct="1">
              <a:defRPr/>
            </a:pPr>
            <a:r>
              <a:rPr lang="sk-SK" sz="2000" dirty="0" smtClean="0"/>
              <a:t>reťazcové funkcie</a:t>
            </a:r>
          </a:p>
          <a:p>
            <a:pPr lvl="2" eaLnBrk="1" hangingPunct="1">
              <a:defRPr/>
            </a:pPr>
            <a:r>
              <a:rPr lang="sk-SK" sz="1600" dirty="0" smtClean="0"/>
              <a:t>vracajúce reťazec</a:t>
            </a:r>
          </a:p>
          <a:p>
            <a:pPr lvl="2" eaLnBrk="1" hangingPunct="1">
              <a:defRPr/>
            </a:pPr>
            <a:r>
              <a:rPr lang="sk-SK" sz="1600" dirty="0" smtClean="0"/>
              <a:t>vracajúce numerické hodnoty</a:t>
            </a:r>
          </a:p>
          <a:p>
            <a:pPr lvl="1" eaLnBrk="1" hangingPunct="1">
              <a:defRPr/>
            </a:pPr>
            <a:r>
              <a:rPr lang="sk-SK" sz="2000" dirty="0" smtClean="0"/>
              <a:t>dátumové funkcie</a:t>
            </a:r>
          </a:p>
          <a:p>
            <a:pPr lvl="1" eaLnBrk="1" hangingPunct="1">
              <a:defRPr/>
            </a:pPr>
            <a:r>
              <a:rPr lang="sk-SK" sz="2000" dirty="0" smtClean="0"/>
              <a:t>funkcie pre konverziu dátových typov</a:t>
            </a:r>
          </a:p>
          <a:p>
            <a:pPr eaLnBrk="1" hangingPunct="1">
              <a:buFont typeface="Wingdings" panose="05000000000000000000" pitchFamily="2" charset="2"/>
              <a:buChar char="Ø"/>
              <a:defRPr/>
            </a:pPr>
            <a:r>
              <a:rPr lang="sk-SK" sz="2400" b="1" dirty="0" smtClean="0"/>
              <a:t>agregované funkcie </a:t>
            </a:r>
            <a:r>
              <a:rPr lang="sk-SK" sz="2400" b="1" dirty="0"/>
              <a:t>(množina záznamov -</a:t>
            </a:r>
            <a:r>
              <a:rPr lang="en-US" sz="2400" b="1" dirty="0"/>
              <a:t>&gt; </a:t>
            </a:r>
            <a:r>
              <a:rPr lang="sk-SK" sz="2400" b="1" dirty="0"/>
              <a:t>1 hodnota)</a:t>
            </a:r>
          </a:p>
          <a:p>
            <a:pPr eaLnBrk="1" hangingPunct="1">
              <a:buFont typeface="Wingdings" panose="05000000000000000000" pitchFamily="2" charset="2"/>
              <a:buNone/>
              <a:defRPr/>
            </a:pPr>
            <a:endParaRPr lang="sk-SK" sz="2000" dirty="0"/>
          </a:p>
        </p:txBody>
      </p:sp>
    </p:spTree>
    <p:extLst>
      <p:ext uri="{BB962C8B-B14F-4D97-AF65-F5344CB8AC3E}">
        <p14:creationId xmlns:p14="http://schemas.microsoft.com/office/powerpoint/2010/main" val="30497638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Aritmetické funkcie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14266" y="1947863"/>
            <a:ext cx="10560050" cy="4411662"/>
          </a:xfrm>
        </p:spPr>
        <p:txBody>
          <a:bodyPr/>
          <a:lstStyle/>
          <a:p>
            <a:pPr eaLnBrk="1" hangingPunct="1"/>
            <a:r>
              <a:rPr lang="sk-SK" sz="2400" dirty="0"/>
              <a:t>numerický vstup </a:t>
            </a:r>
            <a:r>
              <a:rPr lang="en-US" sz="2400" dirty="0"/>
              <a:t>-&gt; </a:t>
            </a:r>
            <a:r>
              <a:rPr lang="sk-SK" sz="2400" dirty="0"/>
              <a:t>numerická hodnota (NUMBER)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ABS(-15) </a:t>
            </a:r>
            <a:r>
              <a:rPr lang="en-US" sz="1800" dirty="0"/>
              <a:t>-&gt;</a:t>
            </a:r>
            <a:r>
              <a:rPr lang="sk-SK" sz="1800" dirty="0"/>
              <a:t>15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CEIL(2,7) </a:t>
            </a:r>
            <a:r>
              <a:rPr lang="en-US" sz="1800" dirty="0"/>
              <a:t>-&gt;</a:t>
            </a:r>
            <a:r>
              <a:rPr lang="sk-SK" sz="1800" dirty="0"/>
              <a:t> 3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FLOOR(2.8) </a:t>
            </a:r>
            <a:r>
              <a:rPr lang="en-US" sz="1800" dirty="0"/>
              <a:t>-&gt;</a:t>
            </a:r>
            <a:r>
              <a:rPr lang="sk-SK" sz="1800" dirty="0"/>
              <a:t> 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ROUND(10.589) </a:t>
            </a:r>
            <a:r>
              <a:rPr lang="en-US" sz="1800" dirty="0"/>
              <a:t>-&gt;</a:t>
            </a:r>
            <a:r>
              <a:rPr lang="sk-SK" sz="1800" dirty="0"/>
              <a:t> 10.6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MOD(8, 3) </a:t>
            </a:r>
            <a:r>
              <a:rPr lang="en-US" sz="1800" dirty="0"/>
              <a:t>-&gt;</a:t>
            </a:r>
            <a:r>
              <a:rPr lang="sk-SK" sz="1800" dirty="0"/>
              <a:t> 2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sk-SK" sz="1800" dirty="0"/>
              <a:t>viac </a:t>
            </a:r>
            <a:r>
              <a:rPr lang="sk-SK" sz="1800" dirty="0" smtClean="0"/>
              <a:t>info:</a:t>
            </a:r>
            <a:r>
              <a:rPr lang="en-US" sz="1600" dirty="0" smtClean="0">
                <a:latin typeface="Consolas" panose="020B0609020204030204" pitchFamily="49" charset="0"/>
                <a:hlinkClick r:id="rId2"/>
              </a:rPr>
              <a:t>https</a:t>
            </a:r>
            <a:r>
              <a:rPr lang="en-US" sz="1600" dirty="0">
                <a:latin typeface="Consolas" panose="020B0609020204030204" pitchFamily="49" charset="0"/>
                <a:hlinkClick r:id="rId2"/>
              </a:rPr>
              <a:t>://docs.oracle.com/cd/E11882_01/server.112/e41084/functions002.htm#SQLRF51178</a:t>
            </a:r>
            <a:endParaRPr lang="sk-SK" sz="1600" dirty="0">
              <a:latin typeface="Consolas" panose="020B0609020204030204" pitchFamily="49" charset="0"/>
            </a:endParaRPr>
          </a:p>
        </p:txBody>
      </p:sp>
      <p:sp>
        <p:nvSpPr>
          <p:cNvPr id="24580" name="Text Box 6"/>
          <p:cNvSpPr txBox="1">
            <a:spLocks noChangeArrowheads="1"/>
          </p:cNvSpPr>
          <p:nvPr/>
        </p:nvSpPr>
        <p:spPr bwMode="auto">
          <a:xfrm>
            <a:off x="5356348" y="2411757"/>
            <a:ext cx="4105275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lvl="1" eaLnBrk="1" hangingPunct="1">
              <a:lnSpc>
                <a:spcPct val="150000"/>
              </a:lnSpc>
            </a:pPr>
            <a:r>
              <a:rPr lang="sk-SK" dirty="0"/>
              <a:t>POWER(2, 3) </a:t>
            </a:r>
            <a:r>
              <a:rPr lang="en-US" dirty="0"/>
              <a:t>-&gt;</a:t>
            </a:r>
            <a:r>
              <a:rPr lang="sk-SK" dirty="0"/>
              <a:t> 8</a:t>
            </a:r>
          </a:p>
          <a:p>
            <a:pPr lvl="1" eaLnBrk="1" hangingPunct="1">
              <a:lnSpc>
                <a:spcPct val="150000"/>
              </a:lnSpc>
            </a:pPr>
            <a:r>
              <a:rPr lang="sk-SK" dirty="0"/>
              <a:t>SQRT(25) </a:t>
            </a:r>
            <a:r>
              <a:rPr lang="en-US" dirty="0"/>
              <a:t>-&gt;</a:t>
            </a:r>
            <a:r>
              <a:rPr lang="sk-SK" dirty="0"/>
              <a:t> 5 </a:t>
            </a:r>
          </a:p>
          <a:p>
            <a:pPr lvl="1" eaLnBrk="1" hangingPunct="1">
              <a:lnSpc>
                <a:spcPct val="150000"/>
              </a:lnSpc>
            </a:pPr>
            <a:r>
              <a:rPr lang="sk-SK" dirty="0"/>
              <a:t>SIGN (-15) </a:t>
            </a:r>
            <a:r>
              <a:rPr lang="en-US" dirty="0"/>
              <a:t>-&gt;</a:t>
            </a:r>
            <a:r>
              <a:rPr lang="sk-SK" dirty="0"/>
              <a:t> -1</a:t>
            </a:r>
          </a:p>
          <a:p>
            <a:pPr lvl="1" eaLnBrk="1" hangingPunct="1">
              <a:lnSpc>
                <a:spcPct val="150000"/>
              </a:lnSpc>
            </a:pPr>
            <a:r>
              <a:rPr lang="sk-SK" dirty="0"/>
              <a:t>GREATEST(105, 23, -85) </a:t>
            </a:r>
            <a:r>
              <a:rPr lang="en-US" dirty="0"/>
              <a:t>-&gt;</a:t>
            </a:r>
            <a:r>
              <a:rPr lang="sk-SK" dirty="0"/>
              <a:t> 105</a:t>
            </a:r>
          </a:p>
          <a:p>
            <a:pPr lvl="1" eaLnBrk="1" hangingPunct="1">
              <a:lnSpc>
                <a:spcPct val="150000"/>
              </a:lnSpc>
            </a:pPr>
            <a:r>
              <a:rPr lang="sk-SK" dirty="0"/>
              <a:t>LEAST(105, 23, -85) </a:t>
            </a:r>
            <a:r>
              <a:rPr lang="en-US" dirty="0"/>
              <a:t>-&gt;</a:t>
            </a:r>
            <a:r>
              <a:rPr lang="sk-SK" dirty="0"/>
              <a:t> -85</a:t>
            </a:r>
          </a:p>
          <a:p>
            <a:pPr eaLnBrk="1" hangingPunct="1">
              <a:spcBef>
                <a:spcPct val="50000"/>
              </a:spcBef>
            </a:pPr>
            <a:endParaRPr lang="sk-SK" dirty="0"/>
          </a:p>
        </p:txBody>
      </p:sp>
      <p:sp>
        <p:nvSpPr>
          <p:cNvPr id="24581" name="Text Box 7"/>
          <p:cNvSpPr txBox="1">
            <a:spLocks noChangeArrowheads="1"/>
          </p:cNvSpPr>
          <p:nvPr/>
        </p:nvSpPr>
        <p:spPr bwMode="auto">
          <a:xfrm>
            <a:off x="763345" y="4595842"/>
            <a:ext cx="9383224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dirty="0"/>
          </a:p>
          <a:p>
            <a:pPr eaLnBrk="1" hangingPunct="1">
              <a:spcBef>
                <a:spcPct val="50000"/>
              </a:spcBef>
            </a:pPr>
            <a:r>
              <a:rPr lang="sk-SK" sz="1600" dirty="0">
                <a:latin typeface="Consolas" panose="020B0609020204030204" pitchFamily="49" charset="0"/>
              </a:rPr>
              <a:t>SELECT  meno, priezvisko, DECODE (predvoľba, 420, ´Česko´,                                                                 421, ´Slovensko´, 43, ´Rakúsko´) AS „Krajina“ FROM hovory;</a:t>
            </a:r>
            <a:endParaRPr lang="en-US" sz="1600" dirty="0">
              <a:latin typeface="Consolas" panose="020B0609020204030204" pitchFamily="49" charset="0"/>
            </a:endParaRPr>
          </a:p>
          <a:p>
            <a:pPr eaLnBrk="1" hangingPunct="1">
              <a:spcBef>
                <a:spcPct val="50000"/>
              </a:spcBef>
            </a:pPr>
            <a:r>
              <a:rPr lang="en-US" sz="1600" dirty="0"/>
              <a:t>- </a:t>
            </a:r>
            <a:r>
              <a:rPr lang="sk-SK" sz="1600" dirty="0"/>
              <a:t>z</a:t>
            </a:r>
            <a:r>
              <a:rPr lang="en-US" sz="1600" dirty="0" err="1"/>
              <a:t>obraz</a:t>
            </a:r>
            <a:r>
              <a:rPr lang="sk-SK" sz="1600" dirty="0"/>
              <a:t>í zoznam mien (meno a priezvisko) a krajinu, kde telefonovali, pričom názov krajiny sa určí na základe predvoľby. Ak predvoľba bude iná ako vymenované, nahradí ju hodnotou NULL; viac: </a:t>
            </a:r>
            <a:r>
              <a:rPr lang="en-US" sz="1600" dirty="0">
                <a:hlinkClick r:id="rId3"/>
              </a:rPr>
              <a:t>https://docs.oracle.com/cd/E11882_01/server.112/e41084/functions049.htm#SQLRF00631</a:t>
            </a:r>
            <a:endParaRPr lang="sk-SK" sz="1600" dirty="0"/>
          </a:p>
          <a:p>
            <a:pPr eaLnBrk="1" hangingPunct="1">
              <a:spcBef>
                <a:spcPct val="50000"/>
              </a:spcBef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6710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Reťazcové funkcie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49480" y="2021882"/>
            <a:ext cx="4324172" cy="4411663"/>
          </a:xfrm>
        </p:spPr>
        <p:txBody>
          <a:bodyPr>
            <a:noAutofit/>
          </a:bodyPr>
          <a:lstStyle/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Char char="Ø"/>
            </a:pPr>
            <a:r>
              <a:rPr lang="sk-SK" sz="1800" b="1" i="1" dirty="0"/>
              <a:t>vracajúce reťazec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UPPER('A</a:t>
            </a:r>
            <a:r>
              <a:rPr lang="en-US" sz="1600" dirty="0" err="1"/>
              <a:t>bba</a:t>
            </a:r>
            <a:r>
              <a:rPr lang="sk-SK" sz="1600" dirty="0"/>
              <a:t>') </a:t>
            </a:r>
            <a:r>
              <a:rPr lang="en-US" sz="1600" dirty="0"/>
              <a:t>-&gt; ABBA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LOWER('A</a:t>
            </a:r>
            <a:r>
              <a:rPr lang="en-US" sz="1600" dirty="0" err="1"/>
              <a:t>bba</a:t>
            </a:r>
            <a:r>
              <a:rPr lang="sk-SK" sz="1600" dirty="0"/>
              <a:t>') </a:t>
            </a:r>
            <a:r>
              <a:rPr lang="en-US" sz="1600" dirty="0"/>
              <a:t>-&gt; </a:t>
            </a:r>
            <a:r>
              <a:rPr lang="en-US" sz="1600" dirty="0" err="1"/>
              <a:t>abba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SUBSTR('A</a:t>
            </a:r>
            <a:r>
              <a:rPr lang="en-US" sz="1600" dirty="0" err="1"/>
              <a:t>bba</a:t>
            </a:r>
            <a:r>
              <a:rPr lang="sk-SK" sz="1600" dirty="0"/>
              <a:t>', 2, 2) </a:t>
            </a:r>
            <a:r>
              <a:rPr lang="en-US" sz="1600" dirty="0"/>
              <a:t>-&gt; bb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TRIM(' </a:t>
            </a:r>
            <a:r>
              <a:rPr lang="en-US" sz="1600" dirty="0" err="1"/>
              <a:t>abba</a:t>
            </a:r>
            <a:r>
              <a:rPr lang="sk-SK" sz="1600" dirty="0"/>
              <a:t> ')</a:t>
            </a:r>
            <a:r>
              <a:rPr lang="en-US" sz="1600" dirty="0"/>
              <a:t> -&gt; </a:t>
            </a:r>
            <a:r>
              <a:rPr lang="en-US" sz="1600" dirty="0" err="1"/>
              <a:t>abba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INITCAP(‘</a:t>
            </a:r>
            <a:r>
              <a:rPr lang="en-US" sz="1600" dirty="0" err="1"/>
              <a:t>janko</a:t>
            </a:r>
            <a:r>
              <a:rPr lang="sk-SK" sz="1600" dirty="0"/>
              <a:t> M</a:t>
            </a:r>
            <a:r>
              <a:rPr lang="en-US" sz="1600" dirty="0"/>
              <a:t>RKVI</a:t>
            </a:r>
            <a:r>
              <a:rPr lang="sk-SK" sz="1600" dirty="0"/>
              <a:t>Č</a:t>
            </a:r>
            <a:r>
              <a:rPr lang="en-US" sz="1600" dirty="0"/>
              <a:t>KA</a:t>
            </a:r>
            <a:r>
              <a:rPr lang="sk-SK" sz="1600" dirty="0"/>
              <a:t>')</a:t>
            </a:r>
            <a:r>
              <a:rPr lang="en-US" sz="1600" dirty="0"/>
              <a:t> -&gt; </a:t>
            </a:r>
            <a:r>
              <a:rPr lang="sk-SK" sz="1600" dirty="0"/>
              <a:t>Janko Mrkvička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REPLACE('Milan','lan','chal') </a:t>
            </a:r>
            <a:r>
              <a:rPr lang="en-US" sz="1600" dirty="0"/>
              <a:t>-&gt;</a:t>
            </a:r>
            <a:r>
              <a:rPr lang="sk-SK" sz="1600" dirty="0"/>
              <a:t> Michal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CONCAT(´Anna´,´maria´) </a:t>
            </a:r>
            <a:r>
              <a:rPr lang="en-US" sz="1600" dirty="0"/>
              <a:t>-&gt; </a:t>
            </a:r>
            <a:r>
              <a:rPr lang="en-US" sz="1600" dirty="0" err="1"/>
              <a:t>Annamaria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600" dirty="0"/>
              <a:t>viac: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1600" dirty="0">
                <a:hlinkClick r:id="rId2"/>
              </a:rPr>
              <a:t>https://docs.oracle.com/cd/E11882_01/server.112/e41084/functions002.htm#SQLRF20032</a:t>
            </a:r>
            <a:endParaRPr lang="sk-SK" sz="16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endParaRPr lang="sk-SK" sz="2000" dirty="0"/>
          </a:p>
        </p:txBody>
      </p:sp>
      <p:sp>
        <p:nvSpPr>
          <p:cNvPr id="3" name="TextBox 2"/>
          <p:cNvSpPr txBox="1"/>
          <p:nvPr/>
        </p:nvSpPr>
        <p:spPr>
          <a:xfrm>
            <a:off x="5348300" y="1936424"/>
            <a:ext cx="3657600" cy="30008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Clr>
                <a:schemeClr val="accent1"/>
              </a:buClr>
              <a:buFont typeface="Wingdings" panose="05000000000000000000" pitchFamily="2" charset="2"/>
              <a:buChar char="Ø"/>
            </a:pPr>
            <a:r>
              <a:rPr lang="sk-SK" b="1" i="1" dirty="0"/>
              <a:t>vracajúce numerické </a:t>
            </a:r>
            <a:r>
              <a:rPr lang="sk-SK" b="1" i="1" dirty="0" smtClean="0"/>
              <a:t>hodnoty</a:t>
            </a:r>
            <a:endParaRPr lang="en-US" b="1" i="1" dirty="0" smtClean="0"/>
          </a:p>
          <a:p>
            <a:pPr>
              <a:lnSpc>
                <a:spcPct val="150000"/>
              </a:lnSpc>
            </a:pPr>
            <a:r>
              <a:rPr lang="sk-SK" sz="1600" dirty="0" smtClean="0"/>
              <a:t>INSTR</a:t>
            </a:r>
            <a:r>
              <a:rPr lang="sk-SK" sz="1600" dirty="0"/>
              <a:t>(´ABBA´,´B´, 2, 1) </a:t>
            </a:r>
            <a:r>
              <a:rPr lang="en-US" sz="1600" dirty="0"/>
              <a:t>-&gt; </a:t>
            </a:r>
            <a:r>
              <a:rPr lang="sk-SK" sz="1600" dirty="0"/>
              <a:t>2</a:t>
            </a:r>
          </a:p>
          <a:p>
            <a:pPr>
              <a:lnSpc>
                <a:spcPct val="150000"/>
              </a:lnSpc>
            </a:pPr>
            <a:r>
              <a:rPr lang="sk-SK" sz="1600" dirty="0"/>
              <a:t>LENGTH(´ABBA´) </a:t>
            </a:r>
            <a:r>
              <a:rPr lang="en-US" sz="1600" dirty="0"/>
              <a:t>-&gt; 4</a:t>
            </a:r>
            <a:endParaRPr lang="sk-SK" sz="1600" dirty="0"/>
          </a:p>
          <a:p>
            <a:pPr>
              <a:lnSpc>
                <a:spcPct val="150000"/>
              </a:lnSpc>
            </a:pPr>
            <a:r>
              <a:rPr lang="sk-SK" sz="1600" dirty="0"/>
              <a:t>viac: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hlinkClick r:id="rId3"/>
              </a:rPr>
              <a:t>https://docs.oracle.com/cd/E11882_01/server.112/e41084/functions002.htm#SQLRF51180</a:t>
            </a:r>
            <a:endParaRPr lang="sk-SK" sz="16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7824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D</a:t>
            </a:r>
            <a:r>
              <a:rPr lang="sk-SK" smtClean="0"/>
              <a:t>átumové funkcie</a:t>
            </a:r>
          </a:p>
        </p:txBody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683663" y="2003975"/>
            <a:ext cx="10998438" cy="4601924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sk-SK" sz="1700" dirty="0"/>
              <a:t>dátové typy: DATE a TIMESTAMP</a:t>
            </a:r>
          </a:p>
          <a:p>
            <a:pPr eaLnBrk="1" hangingPunct="1">
              <a:lnSpc>
                <a:spcPct val="80000"/>
              </a:lnSpc>
            </a:pPr>
            <a:endParaRPr lang="sk-SK" sz="1700" dirty="0"/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SYSDATE</a:t>
            </a:r>
            <a:r>
              <a:rPr lang="sk-SK" sz="1900" dirty="0">
                <a:latin typeface="Consolas" panose="020B0609020204030204" pitchFamily="49" charset="0"/>
              </a:rPr>
              <a:t> -  aktuálny dátum </a:t>
            </a:r>
            <a:r>
              <a:rPr lang="en-US" sz="1900" dirty="0">
                <a:latin typeface="Consolas" panose="020B0609020204030204" pitchFamily="49" charset="0"/>
              </a:rPr>
              <a:t>[</a:t>
            </a:r>
            <a:r>
              <a:rPr lang="sk-SK" sz="1900" dirty="0">
                <a:latin typeface="Consolas" panose="020B0609020204030204" pitchFamily="49" charset="0"/>
              </a:rPr>
              <a:t>a čas</a:t>
            </a:r>
            <a:r>
              <a:rPr lang="en-US" sz="1900" dirty="0">
                <a:latin typeface="Consolas" panose="020B0609020204030204" pitchFamily="49" charset="0"/>
              </a:rPr>
              <a:t>]</a:t>
            </a:r>
            <a:r>
              <a:rPr lang="sk-SK" sz="1900" dirty="0">
                <a:latin typeface="Consolas" panose="020B0609020204030204" pitchFamily="49" charset="0"/>
              </a:rPr>
              <a:t> dat. servra,</a:t>
            </a:r>
            <a:r>
              <a:rPr lang="en-US" sz="1900" dirty="0">
                <a:latin typeface="Consolas" panose="020B0609020204030204" pitchFamily="49" charset="0"/>
              </a:rPr>
              <a:t> form</a:t>
            </a:r>
            <a:r>
              <a:rPr lang="sk-SK" sz="1900" dirty="0">
                <a:latin typeface="Consolas" panose="020B0609020204030204" pitchFamily="49" charset="0"/>
              </a:rPr>
              <a:t>át</a:t>
            </a:r>
            <a:r>
              <a:rPr lang="en-US" sz="1900" dirty="0">
                <a:latin typeface="Consolas" panose="020B0609020204030204" pitchFamily="49" charset="0"/>
              </a:rPr>
              <a:t> ur</a:t>
            </a:r>
            <a:r>
              <a:rPr lang="sk-SK" sz="1900" dirty="0">
                <a:latin typeface="Consolas" panose="020B0609020204030204" pitchFamily="49" charset="0"/>
              </a:rPr>
              <a:t>čený parametrom NLS_DATE_FORMAT (v</a:t>
            </a:r>
            <a:r>
              <a:rPr lang="en-US" sz="1900" dirty="0">
                <a:latin typeface="Consolas" panose="020B0609020204030204" pitchFamily="49" charset="0"/>
              </a:rPr>
              <a:t>$</a:t>
            </a:r>
            <a:r>
              <a:rPr lang="en-US" sz="1900" dirty="0" err="1">
                <a:latin typeface="Consolas" panose="020B0609020204030204" pitchFamily="49" charset="0"/>
              </a:rPr>
              <a:t>nls_parameters</a:t>
            </a:r>
            <a:r>
              <a:rPr lang="en-US" sz="1900" dirty="0">
                <a:latin typeface="Consolas" panose="020B0609020204030204" pitchFamily="49" charset="0"/>
              </a:rPr>
              <a:t>)</a:t>
            </a:r>
            <a:endParaRPr lang="sk-SK" sz="19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CURRENT_DATE </a:t>
            </a:r>
            <a:r>
              <a:rPr lang="sk-SK" sz="1900" dirty="0">
                <a:latin typeface="Consolas" panose="020B0609020204030204" pitchFamily="49" charset="0"/>
              </a:rPr>
              <a:t>- aktuálny dátum v čas. pásme pripojenia klienta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CURRENT_DATE+1</a:t>
            </a:r>
            <a:r>
              <a:rPr lang="sk-SK" sz="1900" dirty="0">
                <a:latin typeface="Consolas" panose="020B0609020204030204" pitchFamily="49" charset="0"/>
              </a:rPr>
              <a:t> - nasledujúci deň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CURRENT_TIMESTAMP</a:t>
            </a:r>
            <a:r>
              <a:rPr lang="sk-SK" sz="1900" dirty="0">
                <a:latin typeface="Consolas" panose="020B0609020204030204" pitchFamily="49" charset="0"/>
              </a:rPr>
              <a:t> - akt. časová značka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MONTHS_BETWEEN(date1, date2) </a:t>
            </a:r>
            <a:r>
              <a:rPr lang="sk-SK" sz="1900" dirty="0">
                <a:latin typeface="Consolas" panose="020B0609020204030204" pitchFamily="49" charset="0"/>
              </a:rPr>
              <a:t>– vráti počet mesiacov medzi dátumami date1 a date2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EXTRACT(month FROM CURRENT_DATE) </a:t>
            </a:r>
            <a:r>
              <a:rPr lang="sk-SK" sz="1900" dirty="0">
                <a:latin typeface="Consolas" panose="020B0609020204030204" pitchFamily="49" charset="0"/>
              </a:rPr>
              <a:t>- extrahuje hodnotu z položky typu DATETIME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b="1" i="1" dirty="0">
                <a:latin typeface="Consolas" panose="020B0609020204030204" pitchFamily="49" charset="0"/>
              </a:rPr>
              <a:t>NEXT_DAY('26-7-1996', 'NEDEĽA') </a:t>
            </a:r>
            <a:r>
              <a:rPr lang="sk-SK" sz="1900" dirty="0">
                <a:latin typeface="Consolas" panose="020B0609020204030204" pitchFamily="49" charset="0"/>
              </a:rPr>
              <a:t>- najbližší daný deň po uvedenom dátume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900" dirty="0">
                <a:latin typeface="Consolas" panose="020B0609020204030204" pitchFamily="49" charset="0"/>
              </a:rPr>
              <a:t> viac:</a:t>
            </a: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sz="2000" dirty="0">
                <a:hlinkClick r:id="rId2"/>
              </a:rPr>
              <a:t>https://docs.oracle.com/cd/E11882_01/server.112/e41084/functions002.htm#SQLRF51179</a:t>
            </a:r>
            <a:endParaRPr lang="sk-SK" sz="19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sk-SK" sz="1700" dirty="0"/>
              <a:t>https://www.techonthenet.com/oracle/functions/to_date.php</a:t>
            </a:r>
          </a:p>
        </p:txBody>
      </p:sp>
    </p:spTree>
    <p:extLst>
      <p:ext uri="{BB962C8B-B14F-4D97-AF65-F5344CB8AC3E}">
        <p14:creationId xmlns:p14="http://schemas.microsoft.com/office/powerpoint/2010/main" val="24619489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>
          <a:xfrm>
            <a:off x="729241" y="643531"/>
            <a:ext cx="10058400" cy="1295400"/>
          </a:xfrm>
        </p:spPr>
        <p:txBody>
          <a:bodyPr/>
          <a:lstStyle/>
          <a:p>
            <a:pPr eaLnBrk="1" hangingPunct="1"/>
            <a:r>
              <a:rPr lang="sk-SK" dirty="0" smtClean="0"/>
              <a:t>Funkcie pre konverziu dátových typov</a:t>
            </a:r>
          </a:p>
        </p:txBody>
      </p:sp>
      <p:graphicFrame>
        <p:nvGraphicFramePr>
          <p:cNvPr id="29740" name="Group 4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5302270"/>
              </p:ext>
            </p:extLst>
          </p:nvPr>
        </p:nvGraphicFramePr>
        <p:xfrm>
          <a:off x="799789" y="2153140"/>
          <a:ext cx="8280400" cy="2211388"/>
        </p:xfrm>
        <a:graphic>
          <a:graphicData uri="http://schemas.openxmlformats.org/drawingml/2006/table">
            <a:tbl>
              <a:tblPr/>
              <a:tblGrid>
                <a:gridCol w="2070100"/>
                <a:gridCol w="2003425"/>
                <a:gridCol w="2136775"/>
                <a:gridCol w="2070100"/>
              </a:tblGrid>
              <a:tr h="7011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Z - DO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CHAR/</a:t>
                      </a:r>
                      <a:br>
                        <a:rPr kumimoji="0" lang="sk-SK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sk-SK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VARCHAR2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701141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CHAR/</a:t>
                      </a:r>
                      <a:br>
                        <a:rPr kumimoji="0" lang="sk-SK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</a:br>
                      <a:r>
                        <a:rPr kumimoji="0" lang="sk-SK" sz="2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VARCHAR2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nepotrebné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TO_NUMBER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TO_DATE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1280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TO_CHAR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nepotrebné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chybné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96297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DATE</a:t>
                      </a:r>
                    </a:p>
                  </a:txBody>
                  <a:tcPr marT="45727" marB="45727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TO_CHAR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chybné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344488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69373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989013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282700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17399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1971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6543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1115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buNone/>
                        <a:tabLst/>
                      </a:pPr>
                      <a:r>
                        <a:rPr kumimoji="0" lang="sk-SK" sz="2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nepotrebné</a:t>
                      </a:r>
                    </a:p>
                  </a:txBody>
                  <a:tcPr marT="45727" marB="45727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678" name="Text Box 45"/>
          <p:cNvSpPr txBox="1">
            <a:spLocks noChangeArrowheads="1"/>
          </p:cNvSpPr>
          <p:nvPr/>
        </p:nvSpPr>
        <p:spPr bwMode="auto">
          <a:xfrm>
            <a:off x="666572" y="4523336"/>
            <a:ext cx="9677578" cy="2169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sk-SK" dirty="0"/>
              <a:t>SELECT TO_CHAR(narodeny, ´YYYY´) FROM zamestnanec;</a:t>
            </a:r>
          </a:p>
          <a:p>
            <a:pPr eaLnBrk="1" hangingPunct="1">
              <a:spcBef>
                <a:spcPct val="50000"/>
              </a:spcBef>
            </a:pPr>
            <a:r>
              <a:rPr lang="sk-SK" dirty="0"/>
              <a:t>SELECT TO_CHAR(SYSDATE, ´DD-MON-YYYY HH:MI:SS A.M.´) FROM dual;</a:t>
            </a:r>
          </a:p>
          <a:p>
            <a:pPr eaLnBrk="1" hangingPunct="1">
              <a:spcBef>
                <a:spcPct val="50000"/>
              </a:spcBef>
            </a:pPr>
            <a:r>
              <a:rPr lang="sk-SK" dirty="0"/>
              <a:t>SELECT TO_DATE( ´Marec 11, 1978, 01:00´, ´Month dd, YYYY, HH24:MI´, ´NLS_DATE_LANGUAGE=´Slovak´) from dual;</a:t>
            </a:r>
          </a:p>
          <a:p>
            <a:pPr eaLnBrk="1" hangingPunct="1">
              <a:spcBef>
                <a:spcPct val="50000"/>
              </a:spcBef>
            </a:pPr>
            <a:r>
              <a:rPr lang="sk-SK" dirty="0"/>
              <a:t>viac:</a:t>
            </a:r>
            <a:br>
              <a:rPr lang="sk-SK" dirty="0"/>
            </a:br>
            <a:r>
              <a:rPr lang="en-US" dirty="0">
                <a:hlinkClick r:id="rId2"/>
              </a:rPr>
              <a:t>https://docs.oracle.com/cd/E11882_01/server.112/e41084/functions002.htm#SQLRF20034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36771972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sk-SK" smtClean="0"/>
              <a:t>SQL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86214" y="1999716"/>
            <a:ext cx="9957988" cy="4309644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sk-SK" sz="2400" b="1" i="1" dirty="0"/>
              <a:t>ALIAS </a:t>
            </a:r>
            <a:r>
              <a:rPr lang="sk-SK" sz="2400" dirty="0"/>
              <a:t>: dočasné pomenovanie stĺpca</a:t>
            </a:r>
            <a:r>
              <a:rPr lang="en-US" sz="2400" dirty="0"/>
              <a:t> </a:t>
            </a:r>
            <a:r>
              <a:rPr lang="en-US" sz="2400" dirty="0" err="1"/>
              <a:t>alebo</a:t>
            </a:r>
            <a:r>
              <a:rPr lang="en-US" sz="2400" dirty="0"/>
              <a:t> </a:t>
            </a:r>
            <a:r>
              <a:rPr lang="en-US" sz="2400" dirty="0" err="1"/>
              <a:t>tabu</a:t>
            </a:r>
            <a:r>
              <a:rPr lang="sk-SK" sz="2400" dirty="0"/>
              <a:t>ľ</a:t>
            </a:r>
            <a:r>
              <a:rPr lang="en-US" sz="2400" dirty="0" err="1"/>
              <a:t>ky</a:t>
            </a:r>
            <a:endParaRPr lang="sk-SK" sz="2400" dirty="0"/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400" dirty="0"/>
              <a:t>   napr: </a:t>
            </a:r>
            <a:r>
              <a:rPr lang="en-US" sz="2400" dirty="0">
                <a:latin typeface="Consolas" panose="020B0609020204030204" pitchFamily="49" charset="0"/>
              </a:rPr>
              <a:t>SELECT</a:t>
            </a:r>
            <a:r>
              <a:rPr lang="sk-SK" sz="2400" dirty="0">
                <a:latin typeface="Consolas" panose="020B0609020204030204" pitchFamily="49" charset="0"/>
              </a:rPr>
              <a:t> ulica</a:t>
            </a:r>
            <a:r>
              <a:rPr lang="en-US" sz="2400" dirty="0">
                <a:latin typeface="Consolas" panose="020B0609020204030204" pitchFamily="49" charset="0"/>
              </a:rPr>
              <a:t>||`,`||</a:t>
            </a:r>
            <a:r>
              <a:rPr lang="en-US" sz="2400" dirty="0" err="1">
                <a:latin typeface="Consolas" panose="020B0609020204030204" pitchFamily="49" charset="0"/>
              </a:rPr>
              <a:t>mesto</a:t>
            </a:r>
            <a:r>
              <a:rPr lang="en-US" sz="2400" dirty="0">
                <a:latin typeface="Consolas" panose="020B0609020204030204" pitchFamily="49" charset="0"/>
              </a:rPr>
              <a:t> AS </a:t>
            </a:r>
            <a:r>
              <a:rPr lang="en-US" sz="2400" dirty="0" err="1">
                <a:latin typeface="Consolas" panose="020B0609020204030204" pitchFamily="49" charset="0"/>
              </a:rPr>
              <a:t>adresa</a:t>
            </a:r>
            <a:r>
              <a:rPr lang="en-US" sz="2400" dirty="0">
                <a:latin typeface="Consolas" panose="020B0609020204030204" pitchFamily="49" charset="0"/>
              </a:rPr>
              <a:t> FROM </a:t>
            </a:r>
            <a:r>
              <a:rPr lang="sk-SK" sz="2400" dirty="0">
                <a:latin typeface="Consolas" panose="020B0609020204030204" pitchFamily="49" charset="0"/>
              </a:rPr>
              <a:t>zamestnanec;</a:t>
            </a:r>
            <a:endParaRPr lang="en-US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sz="2400" dirty="0">
                <a:latin typeface="Consolas" panose="020B0609020204030204" pitchFamily="49" charset="0"/>
              </a:rPr>
              <a:t>  SELECT </a:t>
            </a:r>
            <a:r>
              <a:rPr lang="en-US" sz="2400" dirty="0" err="1">
                <a:latin typeface="Consolas" panose="020B0609020204030204" pitchFamily="49" charset="0"/>
              </a:rPr>
              <a:t>z.ulica</a:t>
            </a:r>
            <a:r>
              <a:rPr lang="en-US" sz="2400" dirty="0">
                <a:latin typeface="Consolas" panose="020B0609020204030204" pitchFamily="49" charset="0"/>
              </a:rPr>
              <a:t>, </a:t>
            </a:r>
            <a:r>
              <a:rPr lang="en-US" sz="2400" dirty="0" err="1">
                <a:latin typeface="Consolas" panose="020B0609020204030204" pitchFamily="49" charset="0"/>
              </a:rPr>
              <a:t>z.mesto</a:t>
            </a:r>
            <a:r>
              <a:rPr lang="en-US" sz="2400" dirty="0">
                <a:latin typeface="Consolas" panose="020B0609020204030204" pitchFamily="49" charset="0"/>
              </a:rPr>
              <a:t> FROM </a:t>
            </a:r>
            <a:r>
              <a:rPr lang="en-US" sz="2400" dirty="0" err="1">
                <a:latin typeface="Consolas" panose="020B0609020204030204" pitchFamily="49" charset="0"/>
              </a:rPr>
              <a:t>zamestnanec</a:t>
            </a:r>
            <a:r>
              <a:rPr lang="en-US" sz="2400" dirty="0">
                <a:latin typeface="Consolas" panose="020B0609020204030204" pitchFamily="49" charset="0"/>
              </a:rPr>
              <a:t> z;</a:t>
            </a:r>
            <a:endParaRPr lang="sk-SK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sk-SK" sz="2400" b="1" i="1" dirty="0"/>
              <a:t>ROWNUM:</a:t>
            </a:r>
            <a:r>
              <a:rPr lang="sk-SK" sz="2400" dirty="0"/>
              <a:t> poradové číslo výsledku daného riadku, hodnota sa priradí po vyfiltrovaní výsledku, ale pred agregovaním alebo triedením </a:t>
            </a:r>
          </a:p>
          <a:p>
            <a:pPr eaLnBrk="1" hangingPunct="1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sk-SK" sz="2400" dirty="0"/>
              <a:t>   napr: </a:t>
            </a:r>
            <a:r>
              <a:rPr lang="sk-SK" sz="2400" dirty="0">
                <a:latin typeface="Consolas" panose="020B0609020204030204" pitchFamily="49" charset="0"/>
              </a:rPr>
              <a:t>SELECT * FROM zamestnanec WHERE rownum </a:t>
            </a:r>
            <a:r>
              <a:rPr lang="en-US" sz="2400" dirty="0">
                <a:latin typeface="Consolas" panose="020B0609020204030204" pitchFamily="49" charset="0"/>
              </a:rPr>
              <a:t>&lt; 11;</a:t>
            </a:r>
            <a:endParaRPr lang="sk-SK" sz="2400" dirty="0">
              <a:latin typeface="Consolas" panose="020B0609020204030204" pitchFamily="49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sk-SK" sz="2400" b="1" i="1" dirty="0"/>
              <a:t>DUAL:</a:t>
            </a:r>
            <a:r>
              <a:rPr lang="sk-SK" sz="2400" dirty="0"/>
              <a:t> jednoriadková a jednostĺpcová tabuľka použiteľná pri dopytoch, ktoré nepotrebujú klauzulu FROM napr:  </a:t>
            </a:r>
            <a:r>
              <a:rPr lang="sk-SK" sz="2400" dirty="0">
                <a:latin typeface="Consolas" panose="020B0609020204030204" pitchFamily="49" charset="0"/>
              </a:rPr>
              <a:t>SELECT 26564/24 FROM dual;</a:t>
            </a:r>
          </a:p>
        </p:txBody>
      </p:sp>
    </p:spTree>
    <p:extLst>
      <p:ext uri="{BB962C8B-B14F-4D97-AF65-F5344CB8AC3E}">
        <p14:creationId xmlns:p14="http://schemas.microsoft.com/office/powerpoint/2010/main" val="18772005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>
          <a:xfrm>
            <a:off x="716423" y="677715"/>
            <a:ext cx="10058400" cy="1295400"/>
          </a:xfrm>
        </p:spPr>
        <p:txBody>
          <a:bodyPr/>
          <a:lstStyle/>
          <a:p>
            <a:pPr eaLnBrk="1" hangingPunct="1"/>
            <a:r>
              <a:rPr lang="en-US" dirty="0" smtClean="0"/>
              <a:t> </a:t>
            </a:r>
            <a:r>
              <a:rPr lang="en-US" dirty="0" err="1" smtClean="0"/>
              <a:t>Trojhodnotov</a:t>
            </a:r>
            <a:r>
              <a:rPr lang="sk-SK" dirty="0" smtClean="0"/>
              <a:t>á logika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716423" y="2232010"/>
            <a:ext cx="7499350" cy="4411662"/>
          </a:xfrm>
        </p:spPr>
        <p:txBody>
          <a:bodyPr/>
          <a:lstStyle/>
          <a:p>
            <a:pPr eaLnBrk="1" hangingPunct="1"/>
            <a:r>
              <a:rPr lang="sk-SK" sz="2600" dirty="0"/>
              <a:t>NULL označuje prázdnu/nezadanú hodnotu</a:t>
            </a:r>
          </a:p>
          <a:p>
            <a:pPr eaLnBrk="1" hangingPunct="1"/>
            <a:r>
              <a:rPr lang="sk-SK" sz="2600" dirty="0"/>
              <a:t>agregované funkcie neberú NULL do úvahy</a:t>
            </a:r>
          </a:p>
          <a:p>
            <a:pPr eaLnBrk="1" hangingPunct="1"/>
            <a:r>
              <a:rPr lang="sk-SK" sz="2600" dirty="0"/>
              <a:t>pri práci používame IS </a:t>
            </a:r>
            <a:r>
              <a:rPr lang="en-US" sz="2600" dirty="0"/>
              <a:t>[NOT] NULL</a:t>
            </a:r>
            <a:endParaRPr lang="sk-SK" sz="2600" dirty="0"/>
          </a:p>
          <a:p>
            <a:pPr eaLnBrk="1" hangingPunct="1">
              <a:buFont typeface="Wingdings" panose="05000000000000000000" pitchFamily="2" charset="2"/>
              <a:buNone/>
            </a:pPr>
            <a:endParaRPr lang="sk-SK" sz="2600" dirty="0"/>
          </a:p>
        </p:txBody>
      </p:sp>
      <p:graphicFrame>
        <p:nvGraphicFramePr>
          <p:cNvPr id="21836" name="Group 332"/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1648482403"/>
              </p:ext>
            </p:extLst>
          </p:nvPr>
        </p:nvGraphicFramePr>
        <p:xfrm>
          <a:off x="2470150" y="3978258"/>
          <a:ext cx="6337300" cy="2665414"/>
        </p:xfrm>
        <a:graphic>
          <a:graphicData uri="http://schemas.openxmlformats.org/drawingml/2006/table">
            <a:tbl>
              <a:tblPr/>
              <a:tblGrid>
                <a:gridCol w="1268413"/>
                <a:gridCol w="1266825"/>
                <a:gridCol w="1266825"/>
                <a:gridCol w="1266825"/>
                <a:gridCol w="1268412"/>
              </a:tblGrid>
              <a:tr h="3540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AND B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 OR B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NOT A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558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TRUE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FALSE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2571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0000"/>
                        <a:buFont typeface="Wingdings" panose="05000000000000000000" pitchFamily="2" charset="2"/>
                        <a:defRPr sz="26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1pPr>
                      <a:lvl2pPr marL="692150" indent="-347663">
                        <a:spcBef>
                          <a:spcPct val="20000"/>
                        </a:spcBef>
                        <a:buClr>
                          <a:schemeClr val="accent2"/>
                        </a:buClr>
                        <a:buSzPct val="70000"/>
                        <a:buFont typeface="Wingdings" panose="05000000000000000000" pitchFamily="2" charset="2"/>
                        <a:defRPr sz="22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2pPr>
                      <a:lvl3pPr marL="987425" indent="-293688">
                        <a:spcBef>
                          <a:spcPct val="20000"/>
                        </a:spcBef>
                        <a:buClr>
                          <a:schemeClr val="accent1"/>
                        </a:buClr>
                        <a:buSzPct val="70000"/>
                        <a:buFont typeface="Wingdings" panose="05000000000000000000" pitchFamily="2" charset="2"/>
                        <a:defRPr sz="21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3pPr>
                      <a:lvl4pPr marL="1281113" indent="-292100">
                        <a:spcBef>
                          <a:spcPct val="20000"/>
                        </a:spcBef>
                        <a:buClr>
                          <a:schemeClr val="tx2"/>
                        </a:buClr>
                        <a:buSzPct val="75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4pPr>
                      <a:lvl5pPr marL="1598613" indent="-315913">
                        <a:spcBef>
                          <a:spcPct val="20000"/>
                        </a:spcBef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5pPr>
                      <a:lvl6pPr marL="20558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6pPr>
                      <a:lvl7pPr marL="25130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7pPr>
                      <a:lvl8pPr marL="29702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8pPr>
                      <a:lvl9pPr marL="3427413" indent="-315913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folHlink"/>
                        </a:buClr>
                        <a:buSzPct val="80000"/>
                        <a:buFont typeface="Wingdings" panose="05000000000000000000" pitchFamily="2" charset="2"/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sk-SK" sz="10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NULL</a:t>
                      </a:r>
                      <a:endParaRPr kumimoji="0" lang="sk-SK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b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281742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Transakcie - definícia</a:t>
            </a:r>
          </a:p>
        </p:txBody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sk-SK" sz="2600" dirty="0"/>
              <a:t>postupnosť jedného alebo viacerých SQL príkazov, ktoré sú prezentované ako logická a ucelená jednotka</a:t>
            </a:r>
          </a:p>
          <a:p>
            <a:r>
              <a:rPr lang="sk-SK" sz="2600" dirty="0"/>
              <a:t>Ciele transakcií:</a:t>
            </a:r>
          </a:p>
          <a:p>
            <a:pPr lvl="1"/>
            <a:r>
              <a:rPr lang="sk-SK" sz="2200" dirty="0"/>
              <a:t>zdieľaný súčasný prístup na databázu</a:t>
            </a:r>
          </a:p>
          <a:p>
            <a:pPr lvl="2"/>
            <a:r>
              <a:rPr lang="sk-SK" sz="2100" dirty="0"/>
              <a:t>databázový systém má podporovať paralelný prístup viacerých používateľov, zároveň však musí dodržať integritu a konzitenciu údajov </a:t>
            </a:r>
          </a:p>
          <a:p>
            <a:pPr lvl="1"/>
            <a:r>
              <a:rPr lang="sk-SK" sz="2200" dirty="0"/>
              <a:t>odolnosť voči systémovým zlyhaniam</a:t>
            </a:r>
          </a:p>
          <a:p>
            <a:pPr lvl="2"/>
            <a:r>
              <a:rPr lang="sk-SK" sz="2100" dirty="0"/>
              <a:t>systém má zabezpečiť konzistenciu údajov aj pri systémovom zlyhaní </a:t>
            </a:r>
          </a:p>
          <a:p>
            <a:pPr>
              <a:buFont typeface="Wingdings" panose="05000000000000000000" pitchFamily="2" charset="2"/>
              <a:buNone/>
            </a:pPr>
            <a:endParaRPr lang="sk-SK" sz="2600" dirty="0"/>
          </a:p>
          <a:p>
            <a:endParaRPr lang="sk-SK" sz="2600" dirty="0"/>
          </a:p>
        </p:txBody>
      </p:sp>
    </p:spTree>
    <p:extLst>
      <p:ext uri="{BB962C8B-B14F-4D97-AF65-F5344CB8AC3E}">
        <p14:creationId xmlns:p14="http://schemas.microsoft.com/office/powerpoint/2010/main" val="28865883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Transakcie</a:t>
            </a:r>
          </a:p>
        </p:txBody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72814" y="2093378"/>
            <a:ext cx="8229600" cy="4411662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sk-SK" sz="2600" dirty="0"/>
              <a:t>každá transakcia má začiatok a koniec a je je pridelený jednoznačný identifikátor – transaction ID</a:t>
            </a:r>
          </a:p>
          <a:p>
            <a:pPr>
              <a:lnSpc>
                <a:spcPct val="90000"/>
              </a:lnSpc>
            </a:pPr>
            <a:r>
              <a:rPr lang="sk-SK" sz="2600" dirty="0"/>
              <a:t>začiatok transakcie:</a:t>
            </a:r>
          </a:p>
          <a:p>
            <a:pPr lvl="1">
              <a:lnSpc>
                <a:spcPct val="90000"/>
              </a:lnSpc>
            </a:pPr>
            <a:r>
              <a:rPr lang="sk-SK" sz="2200" dirty="0"/>
              <a:t>DDL príkaz</a:t>
            </a:r>
          </a:p>
          <a:p>
            <a:pPr lvl="1">
              <a:lnSpc>
                <a:spcPct val="90000"/>
              </a:lnSpc>
            </a:pPr>
            <a:r>
              <a:rPr lang="sk-SK" sz="2200" dirty="0"/>
              <a:t>DML príkaz</a:t>
            </a:r>
          </a:p>
          <a:p>
            <a:pPr lvl="1">
              <a:lnSpc>
                <a:spcPct val="90000"/>
              </a:lnSpc>
            </a:pPr>
            <a:r>
              <a:rPr lang="sk-SK" sz="2200" dirty="0"/>
              <a:t>príkaz SET TRANSACTION</a:t>
            </a:r>
          </a:p>
          <a:p>
            <a:pPr>
              <a:lnSpc>
                <a:spcPct val="90000"/>
              </a:lnSpc>
            </a:pPr>
            <a:r>
              <a:rPr lang="sk-SK" sz="2600" dirty="0"/>
              <a:t>Koniec transakcie:</a:t>
            </a:r>
          </a:p>
          <a:p>
            <a:pPr lvl="1">
              <a:lnSpc>
                <a:spcPct val="90000"/>
              </a:lnSpc>
            </a:pPr>
            <a:r>
              <a:rPr lang="sk-SK" sz="2200" dirty="0"/>
              <a:t>COMMIT/ROLLBACK</a:t>
            </a:r>
          </a:p>
          <a:p>
            <a:pPr lvl="1">
              <a:lnSpc>
                <a:spcPct val="90000"/>
              </a:lnSpc>
            </a:pPr>
            <a:r>
              <a:rPr lang="sk-SK" sz="2200" dirty="0"/>
              <a:t>DDL príkaz</a:t>
            </a:r>
          </a:p>
          <a:p>
            <a:pPr lvl="1">
              <a:lnSpc>
                <a:spcPct val="90000"/>
              </a:lnSpc>
            </a:pPr>
            <a:r>
              <a:rPr lang="sk-SK" sz="2200" dirty="0"/>
              <a:t>ukončenie session používateľom</a:t>
            </a:r>
          </a:p>
          <a:p>
            <a:pPr lvl="1">
              <a:lnSpc>
                <a:spcPct val="90000"/>
              </a:lnSpc>
            </a:pPr>
            <a:r>
              <a:rPr lang="sk-SK" sz="2200" dirty="0"/>
              <a:t>neočakávané ukončenie session</a:t>
            </a:r>
          </a:p>
          <a:p>
            <a:pPr>
              <a:lnSpc>
                <a:spcPct val="90000"/>
              </a:lnSpc>
            </a:pPr>
            <a:endParaRPr lang="sk-SK" sz="2600" dirty="0"/>
          </a:p>
        </p:txBody>
      </p:sp>
    </p:spTree>
    <p:extLst>
      <p:ext uri="{BB962C8B-B14F-4D97-AF65-F5344CB8AC3E}">
        <p14:creationId xmlns:p14="http://schemas.microsoft.com/office/powerpoint/2010/main" val="151237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b="0" smtClean="0"/>
              <a:t>Transakcie</a:t>
            </a:r>
          </a:p>
        </p:txBody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80000"/>
              </a:lnSpc>
            </a:pPr>
            <a:r>
              <a:rPr lang="sk-SK" sz="2100" b="1"/>
              <a:t>Commit</a:t>
            </a:r>
            <a:endParaRPr lang="sk-SK" sz="2100"/>
          </a:p>
          <a:p>
            <a:pPr lvl="1">
              <a:lnSpc>
                <a:spcPct val="80000"/>
              </a:lnSpc>
            </a:pPr>
            <a:r>
              <a:rPr lang="sk-SK" sz="2000"/>
              <a:t>ukončí aktuálnu transakciu a vykoná všetky zmeny</a:t>
            </a:r>
          </a:p>
          <a:p>
            <a:pPr lvl="1">
              <a:lnSpc>
                <a:spcPct val="80000"/>
              </a:lnSpc>
            </a:pPr>
            <a:r>
              <a:rPr lang="sk-SK" sz="2000"/>
              <a:t>všetky savepoint-y sú zmazané a transakčné zámky uvoľnené</a:t>
            </a:r>
          </a:p>
          <a:p>
            <a:pPr>
              <a:lnSpc>
                <a:spcPct val="80000"/>
              </a:lnSpc>
            </a:pPr>
            <a:r>
              <a:rPr lang="sk-SK" sz="2100" b="1"/>
              <a:t>Rollback (to Savepoint)</a:t>
            </a:r>
            <a:endParaRPr lang="sk-SK" sz="2100"/>
          </a:p>
          <a:p>
            <a:pPr lvl="1">
              <a:lnSpc>
                <a:spcPct val="80000"/>
              </a:lnSpc>
            </a:pPr>
            <a:r>
              <a:rPr lang="sk-SK" sz="2000"/>
              <a:t>odvolá všetky zmeny dát vykonané od začiatku transakcie  resp. všetky zmeny až po SAVEPOINT určený jeho názvom</a:t>
            </a:r>
          </a:p>
          <a:p>
            <a:pPr>
              <a:lnSpc>
                <a:spcPct val="80000"/>
              </a:lnSpc>
            </a:pPr>
            <a:r>
              <a:rPr lang="sk-SK" sz="2100" b="1"/>
              <a:t>Savepoint</a:t>
            </a:r>
          </a:p>
          <a:p>
            <a:pPr lvl="1">
              <a:lnSpc>
                <a:spcPct val="80000"/>
              </a:lnSpc>
            </a:pPr>
            <a:r>
              <a:rPr lang="sk-SK" sz="2000"/>
              <a:t>označenie v transakcii, ku ktorému sa vieme vrátiť</a:t>
            </a:r>
            <a:endParaRPr lang="sk-SK" sz="2000" b="1"/>
          </a:p>
          <a:p>
            <a:pPr>
              <a:lnSpc>
                <a:spcPct val="80000"/>
              </a:lnSpc>
            </a:pPr>
            <a:r>
              <a:rPr lang="sk-SK" sz="2100" b="1"/>
              <a:t>Autocommit</a:t>
            </a:r>
          </a:p>
          <a:p>
            <a:pPr lvl="1">
              <a:lnSpc>
                <a:spcPct val="80000"/>
              </a:lnSpc>
            </a:pPr>
            <a:r>
              <a:rPr lang="sk-SK" sz="2000"/>
              <a:t>SET AUTOCOMMIT IMMEDIATE – zmeny sa vykonajú okamžite, každý príkaz je transakciou</a:t>
            </a:r>
          </a:p>
          <a:p>
            <a:pPr lvl="1">
              <a:lnSpc>
                <a:spcPct val="80000"/>
              </a:lnSpc>
            </a:pPr>
            <a:r>
              <a:rPr lang="sk-SK" sz="2000"/>
              <a:t>SET AUTOCOMMIT OFF – zmeny sa ukladajú v tzv. UNDO segmentoch a v tabuľkách sa zapíšu po zadaní príkazu COMMIT alebo po korektnom ukončení práce v konzole SQLPLUS (exit)</a:t>
            </a:r>
          </a:p>
        </p:txBody>
      </p:sp>
    </p:spTree>
    <p:extLst>
      <p:ext uri="{BB962C8B-B14F-4D97-AF65-F5344CB8AC3E}">
        <p14:creationId xmlns:p14="http://schemas.microsoft.com/office/powerpoint/2010/main" val="27883379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Transakcie – vlastnosti</a:t>
            </a:r>
          </a:p>
        </p:txBody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sk-SK" sz="2400" b="1" dirty="0" smtClean="0"/>
              <a:t>A</a:t>
            </a:r>
            <a:r>
              <a:rPr lang="sk-SK" sz="2400" dirty="0" smtClean="0"/>
              <a:t>tomicity</a:t>
            </a:r>
          </a:p>
          <a:p>
            <a:pPr lvl="1">
              <a:lnSpc>
                <a:spcPct val="90000"/>
              </a:lnSpc>
            </a:pPr>
            <a:r>
              <a:rPr lang="sk-SK" sz="2000" dirty="0" smtClean="0"/>
              <a:t>transakcia sa vykoná kompletne alebo vôbec</a:t>
            </a:r>
          </a:p>
          <a:p>
            <a:pPr lvl="1">
              <a:lnSpc>
                <a:spcPct val="90000"/>
              </a:lnSpc>
            </a:pPr>
            <a:r>
              <a:rPr lang="sk-SK" sz="2000" dirty="0" smtClean="0"/>
              <a:t>Example:  Transaction update (100 rows) -&gt; system fails after 20 updates -&gt; DB rolls back changes.</a:t>
            </a:r>
          </a:p>
          <a:p>
            <a:pPr>
              <a:lnSpc>
                <a:spcPct val="90000"/>
              </a:lnSpc>
            </a:pPr>
            <a:r>
              <a:rPr lang="sk-SK" sz="2400" b="1" dirty="0" smtClean="0"/>
              <a:t>C</a:t>
            </a:r>
            <a:r>
              <a:rPr lang="sk-SK" sz="2400" dirty="0" smtClean="0"/>
              <a:t>onsistency</a:t>
            </a:r>
          </a:p>
          <a:p>
            <a:pPr lvl="1">
              <a:lnSpc>
                <a:spcPct val="90000"/>
              </a:lnSpc>
            </a:pPr>
            <a:r>
              <a:rPr lang="sk-SK" sz="2000" dirty="0" smtClean="0"/>
              <a:t>transakcia prevedie databázu z jedného konzistentného stavu do druhého t.j. pred jej začatím aj po ukončení sú dodržané všetky obmedzenia </a:t>
            </a:r>
          </a:p>
          <a:p>
            <a:pPr lvl="1">
              <a:lnSpc>
                <a:spcPct val="90000"/>
              </a:lnSpc>
              <a:buFont typeface="Wingdings" panose="05000000000000000000" pitchFamily="2" charset="2"/>
              <a:buNone/>
            </a:pPr>
            <a:endParaRPr lang="sk-SK" dirty="0" smtClean="0"/>
          </a:p>
          <a:p>
            <a:pPr>
              <a:lnSpc>
                <a:spcPct val="90000"/>
              </a:lnSpc>
            </a:pPr>
            <a:endParaRPr lang="sk-SK" dirty="0" smtClean="0"/>
          </a:p>
        </p:txBody>
      </p:sp>
    </p:spTree>
    <p:extLst>
      <p:ext uri="{BB962C8B-B14F-4D97-AF65-F5344CB8AC3E}">
        <p14:creationId xmlns:p14="http://schemas.microsoft.com/office/powerpoint/2010/main" val="39497799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Transakcie – vlastnosti</a:t>
            </a:r>
          </a:p>
        </p:txBody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sk-SK" sz="2400" b="1" dirty="0" smtClean="0"/>
              <a:t>I</a:t>
            </a:r>
            <a:r>
              <a:rPr lang="sk-SK" sz="2400" dirty="0" smtClean="0"/>
              <a:t>solation</a:t>
            </a:r>
          </a:p>
          <a:p>
            <a:pPr lvl="1">
              <a:lnSpc>
                <a:spcPct val="90000"/>
              </a:lnSpc>
            </a:pPr>
            <a:r>
              <a:rPr lang="sk-SK" sz="2000" dirty="0" smtClean="0"/>
              <a:t>výsledok transakcie nie je viditeľný kým ju  používateľ nepotvrdí</a:t>
            </a:r>
          </a:p>
          <a:p>
            <a:pPr lvl="1">
              <a:lnSpc>
                <a:spcPct val="90000"/>
              </a:lnSpc>
            </a:pPr>
            <a:r>
              <a:rPr lang="sk-SK" sz="2000" dirty="0" smtClean="0"/>
              <a:t>dve transakcie sa nemôžu navzájom ovplyvniť </a:t>
            </a:r>
          </a:p>
          <a:p>
            <a:pPr lvl="1">
              <a:lnSpc>
                <a:spcPct val="90000"/>
              </a:lnSpc>
            </a:pPr>
            <a:r>
              <a:rPr lang="sk-SK" sz="2000" dirty="0" smtClean="0"/>
              <a:t>Example: Two users updating different files will not see uncommitted changes until done.</a:t>
            </a:r>
          </a:p>
          <a:p>
            <a:pPr>
              <a:lnSpc>
                <a:spcPct val="90000"/>
              </a:lnSpc>
            </a:pPr>
            <a:r>
              <a:rPr lang="sk-SK" sz="2400" b="1" dirty="0" smtClean="0"/>
              <a:t>D</a:t>
            </a:r>
            <a:r>
              <a:rPr lang="sk-SK" sz="2400" dirty="0" smtClean="0"/>
              <a:t>urability</a:t>
            </a:r>
          </a:p>
          <a:p>
            <a:pPr lvl="1">
              <a:lnSpc>
                <a:spcPct val="90000"/>
              </a:lnSpc>
            </a:pPr>
            <a:r>
              <a:rPr lang="sk-SK" sz="2000" dirty="0" smtClean="0"/>
              <a:t>po commite sa všetky zmeny stavajú trvalými</a:t>
            </a:r>
          </a:p>
          <a:p>
            <a:pPr lvl="1">
              <a:lnSpc>
                <a:spcPct val="90000"/>
              </a:lnSpc>
            </a:pPr>
            <a:r>
              <a:rPr lang="sk-SK" sz="2000" dirty="0" smtClean="0"/>
              <a:t>ukončenú transakciu už nie je možné prerušiť alebo zmeniť </a:t>
            </a:r>
          </a:p>
          <a:p>
            <a:pPr>
              <a:lnSpc>
                <a:spcPct val="90000"/>
              </a:lnSpc>
            </a:pPr>
            <a:endParaRPr lang="sk-SK" sz="2400" dirty="0" smtClean="0"/>
          </a:p>
        </p:txBody>
      </p:sp>
    </p:spTree>
    <p:extLst>
      <p:ext uri="{BB962C8B-B14F-4D97-AF65-F5344CB8AC3E}">
        <p14:creationId xmlns:p14="http://schemas.microsoft.com/office/powerpoint/2010/main" val="1547294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Transakcie - príklad</a:t>
            </a:r>
          </a:p>
        </p:txBody>
      </p:sp>
      <p:pic>
        <p:nvPicPr>
          <p:cNvPr id="32771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95700" y="2171700"/>
            <a:ext cx="4800600" cy="3505200"/>
          </a:xfrm>
          <a:noFill/>
        </p:spPr>
      </p:pic>
    </p:spTree>
    <p:extLst>
      <p:ext uri="{BB962C8B-B14F-4D97-AF65-F5344CB8AC3E}">
        <p14:creationId xmlns:p14="http://schemas.microsoft.com/office/powerpoint/2010/main" val="2935435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Transakcie - príklad</a:t>
            </a:r>
          </a:p>
        </p:txBody>
      </p:sp>
      <p:pic>
        <p:nvPicPr>
          <p:cNvPr id="33795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470151" y="1719263"/>
            <a:ext cx="7250113" cy="4411662"/>
          </a:xfrm>
          <a:noFill/>
        </p:spPr>
      </p:pic>
    </p:spTree>
    <p:extLst>
      <p:ext uri="{BB962C8B-B14F-4D97-AF65-F5344CB8AC3E}">
        <p14:creationId xmlns:p14="http://schemas.microsoft.com/office/powerpoint/2010/main" val="2246001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Transakcie - príklad</a:t>
            </a:r>
          </a:p>
        </p:txBody>
      </p:sp>
      <p:pic>
        <p:nvPicPr>
          <p:cNvPr id="34819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30500" y="1719263"/>
            <a:ext cx="6731000" cy="4411662"/>
          </a:xfrm>
          <a:noFill/>
        </p:spPr>
      </p:pic>
    </p:spTree>
    <p:extLst>
      <p:ext uri="{BB962C8B-B14F-4D97-AF65-F5344CB8AC3E}">
        <p14:creationId xmlns:p14="http://schemas.microsoft.com/office/powerpoint/2010/main" val="2229882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sk-SK" smtClean="0"/>
              <a:t>Transakcie - deadlock</a:t>
            </a:r>
          </a:p>
        </p:txBody>
      </p:sp>
      <p:pic>
        <p:nvPicPr>
          <p:cNvPr id="35843" name="Picture 4"/>
          <p:cNvPicPr>
            <a:picLocks noChangeAspect="1" noChangeArrowheads="1"/>
          </p:cNvPicPr>
          <p:nvPr>
            <p:ph type="body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494089" y="1719263"/>
            <a:ext cx="5203825" cy="4411662"/>
          </a:xfrm>
          <a:noFill/>
        </p:spPr>
      </p:pic>
    </p:spTree>
    <p:extLst>
      <p:ext uri="{BB962C8B-B14F-4D97-AF65-F5344CB8AC3E}">
        <p14:creationId xmlns:p14="http://schemas.microsoft.com/office/powerpoint/2010/main" val="1021973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smtClean="0"/>
              <a:t>Odporučaná literatúra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</a:t>
            </a:r>
            <a:r>
              <a:rPr lang="en-US" dirty="0" smtClean="0">
                <a:hlinkClick r:id="rId2"/>
              </a:rPr>
              <a:t>docs.oracle.com/en/database/oracle/oracle-database/12.2/lnoci/data-types.html#GUID-7DA48B90-07C7-41A7-BC57-D8F358A4EEBE</a:t>
            </a:r>
            <a:endParaRPr lang="sk-SK" dirty="0" smtClean="0"/>
          </a:p>
          <a:p>
            <a:r>
              <a:rPr lang="en-US" dirty="0">
                <a:hlinkClick r:id="rId3"/>
              </a:rPr>
              <a:t>https://</a:t>
            </a:r>
            <a:r>
              <a:rPr lang="en-US" dirty="0" smtClean="0">
                <a:hlinkClick r:id="rId3"/>
              </a:rPr>
              <a:t>docs.oracle.com/database/121/SQLRF/statements_7002.htm</a:t>
            </a:r>
            <a:endParaRPr lang="sk-SK" dirty="0" smtClean="0"/>
          </a:p>
          <a:p>
            <a:r>
              <a:rPr lang="en-US" dirty="0">
                <a:hlinkClick r:id="rId4"/>
              </a:rPr>
              <a:t>https://docs.oracle.com/en/database/oracle/oracle-database/12.2/sqlrf/constraint.html#GUID-1055EA97-BA6F-4764-A15F-1024FD5B6DFE</a:t>
            </a:r>
            <a:endParaRPr lang="sk-SK" dirty="0" smtClean="0"/>
          </a:p>
          <a:p>
            <a:endParaRPr lang="sk-SK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013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99CB38"/>
      </a:accent1>
      <a:accent2>
        <a:srgbClr val="63A537"/>
      </a:accent2>
      <a:accent3>
        <a:srgbClr val="E6D024"/>
      </a:accent3>
      <a:accent4>
        <a:srgbClr val="CC9700"/>
      </a:accent4>
      <a:accent5>
        <a:srgbClr val="4EB3CF"/>
      </a:accent5>
      <a:accent6>
        <a:srgbClr val="378DA6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29F68FFC-748B-4FC3-BF39-7F84A6D5840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5664</TotalTime>
  <Words>1525</Words>
  <Application>Microsoft Office PowerPoint</Application>
  <PresentationFormat>Widescreen</PresentationFormat>
  <Paragraphs>291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Consolas</vt:lpstr>
      <vt:lpstr>Tw Cen MT</vt:lpstr>
      <vt:lpstr>Tw Cen MT Condensed</vt:lpstr>
      <vt:lpstr>Wingdings</vt:lpstr>
      <vt:lpstr>Wingdings 3</vt:lpstr>
      <vt:lpstr>Integral</vt:lpstr>
      <vt:lpstr>Základy SPRávy objektov a dát2 </vt:lpstr>
      <vt:lpstr>Opakovanie</vt:lpstr>
      <vt:lpstr>Jazyk SQL</vt:lpstr>
      <vt:lpstr>SQL – vkladanie dát</vt:lpstr>
      <vt:lpstr>SQL – aktualizácia dát</vt:lpstr>
      <vt:lpstr>SQL – odstránenie dát</vt:lpstr>
      <vt:lpstr>SQL – odstránenie dát</vt:lpstr>
      <vt:lpstr>SQL – zobrazenie dát</vt:lpstr>
      <vt:lpstr>SQL – zobrazenie dát</vt:lpstr>
      <vt:lpstr>SQL – základné operátory</vt:lpstr>
      <vt:lpstr>SQL – základné operátory</vt:lpstr>
      <vt:lpstr>SQL – ORDER BY</vt:lpstr>
      <vt:lpstr>Vstavané funkcie</vt:lpstr>
      <vt:lpstr>Aritmetické funkcie</vt:lpstr>
      <vt:lpstr>Reťazcové funkcie</vt:lpstr>
      <vt:lpstr>Dátumové funkcie</vt:lpstr>
      <vt:lpstr>Funkcie pre konverziu dátových typov</vt:lpstr>
      <vt:lpstr>SQL</vt:lpstr>
      <vt:lpstr> Trojhodnotová logika</vt:lpstr>
      <vt:lpstr>Transakcie - definícia</vt:lpstr>
      <vt:lpstr>Transakcie</vt:lpstr>
      <vt:lpstr>Transakcie</vt:lpstr>
      <vt:lpstr>Transakcie – vlastnosti</vt:lpstr>
      <vt:lpstr>Transakcie – vlastnosti</vt:lpstr>
      <vt:lpstr>Transakcie - príklad</vt:lpstr>
      <vt:lpstr>Transakcie - príklad</vt:lpstr>
      <vt:lpstr>Transakcie - príklad</vt:lpstr>
      <vt:lpstr>Transakcie - deadlock</vt:lpstr>
      <vt:lpstr>Odporučaná literatúra</vt:lpstr>
    </vt:vector>
  </TitlesOfParts>
  <Company>T-Systesms Slovakia s.r.o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Základy SPRávy objektov a dát</dc:title>
  <dc:creator>Vankova, Jana</dc:creator>
  <cp:lastModifiedBy>Vankova, Jana</cp:lastModifiedBy>
  <cp:revision>32</cp:revision>
  <dcterms:created xsi:type="dcterms:W3CDTF">2020-03-27T13:12:10Z</dcterms:created>
  <dcterms:modified xsi:type="dcterms:W3CDTF">2020-04-22T04:39:07Z</dcterms:modified>
  <cp:category>INTERNAL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systems-DocumentTagging.ClassificationMark.P00">
    <vt:lpwstr>&lt;ClassificationMark xmlns:xsi="http://www.w3.org/2001/XMLSchema-instance" xmlns:xsd="http://www.w3.org/2001/XMLSchema" margin="NaN" class="C1" owner="Vankova, Jana" position="BottomRight" marginX="0" marginY="0" classifiedOn="2020-03-27T20:59:05.7302</vt:lpwstr>
  </property>
  <property fmtid="{D5CDD505-2E9C-101B-9397-08002B2CF9AE}" pid="3" name="tsystems-DocumentTagging.ClassificationMark.P01">
    <vt:lpwstr>151+01:00" showPrintedBy="false" showPrintDate="false" language="en" ApplicationVersion="Microsoft PowerPoint, 15.0" addinVersion="5.10.4.12" template="Default"&gt;&lt;history bulk="false" class="INTERNAL" code="C1" user="Vankova, Jana" date="2020-03-27T20</vt:lpwstr>
  </property>
  <property fmtid="{D5CDD505-2E9C-101B-9397-08002B2CF9AE}" pid="4" name="tsystems-DocumentTagging.ClassificationMark.P02">
    <vt:lpwstr>:59:05.7818529+01:00" /&gt;&lt;recipients /&gt;&lt;documentOwners /&gt;&lt;/ClassificationMark&gt;</vt:lpwstr>
  </property>
  <property fmtid="{D5CDD505-2E9C-101B-9397-08002B2CF9AE}" pid="5" name="tsystems-DocumentTagging.ClassificationMark">
    <vt:lpwstr>￼PARTS:3</vt:lpwstr>
  </property>
  <property fmtid="{D5CDD505-2E9C-101B-9397-08002B2CF9AE}" pid="6" name="tsystems-DocumentClasification">
    <vt:lpwstr>INTERNAL</vt:lpwstr>
  </property>
  <property fmtid="{D5CDD505-2E9C-101B-9397-08002B2CF9AE}" pid="7" name="tsystems-DLP">
    <vt:lpwstr>tsystems-DLP:TAG_SEC_C1</vt:lpwstr>
  </property>
</Properties>
</file>