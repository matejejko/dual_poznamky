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282" r:id="rId4"/>
    <p:sldId id="28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3E212D-EAD7-4494-A8C5-6894DDFABA62}" v="1" dt="2022-04-25T07:28:33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AC3E212D-EAD7-4494-A8C5-6894DDFABA62}"/>
    <pc:docChg chg="modSld">
      <pc:chgData name="Simcak, Lubos" userId="a20b6fc6-f9da-474e-b069-505f3feab77a" providerId="ADAL" clId="{AC3E212D-EAD7-4494-A8C5-6894DDFABA62}" dt="2022-04-25T07:28:36.832" v="4" actId="20577"/>
      <pc:docMkLst>
        <pc:docMk/>
      </pc:docMkLst>
      <pc:sldChg chg="modSp mod">
        <pc:chgData name="Simcak, Lubos" userId="a20b6fc6-f9da-474e-b069-505f3feab77a" providerId="ADAL" clId="{AC3E212D-EAD7-4494-A8C5-6894DDFABA62}" dt="2022-04-25T07:28:13.514" v="2" actId="14100"/>
        <pc:sldMkLst>
          <pc:docMk/>
          <pc:sldMk cId="4247818848" sldId="272"/>
        </pc:sldMkLst>
        <pc:spChg chg="mod">
          <ac:chgData name="Simcak, Lubos" userId="a20b6fc6-f9da-474e-b069-505f3feab77a" providerId="ADAL" clId="{AC3E212D-EAD7-4494-A8C5-6894DDFABA62}" dt="2022-04-25T07:28:13.514" v="2" actId="14100"/>
          <ac:spMkLst>
            <pc:docMk/>
            <pc:sldMk cId="4247818848" sldId="272"/>
            <ac:spMk id="16387" creationId="{00000000-0000-0000-0000-000000000000}"/>
          </ac:spMkLst>
        </pc:spChg>
      </pc:sldChg>
      <pc:sldChg chg="modSp mod">
        <pc:chgData name="Simcak, Lubos" userId="a20b6fc6-f9da-474e-b069-505f3feab77a" providerId="ADAL" clId="{AC3E212D-EAD7-4494-A8C5-6894DDFABA62}" dt="2022-04-25T07:28:36.832" v="4" actId="20577"/>
        <pc:sldMkLst>
          <pc:docMk/>
          <pc:sldMk cId="177020879" sldId="275"/>
        </pc:sldMkLst>
        <pc:spChg chg="mod">
          <ac:chgData name="Simcak, Lubos" userId="a20b6fc6-f9da-474e-b069-505f3feab77a" providerId="ADAL" clId="{AC3E212D-EAD7-4494-A8C5-6894DDFABA62}" dt="2022-04-25T07:28:36.832" v="4" actId="20577"/>
          <ac:spMkLst>
            <pc:docMk/>
            <pc:sldMk cId="177020879" sldId="275"/>
            <ac:spMk id="2458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56EB8-8FAA-48A6-ACE6-F5C5E7496833}" type="slidenum">
              <a:rPr lang="sk-SK" altLang="en-US"/>
              <a:pPr>
                <a:defRPr/>
              </a:pPr>
              <a:t>‹#›</a:t>
            </a:fld>
            <a:endParaRPr lang="sk-SK" altLang="en-US"/>
          </a:p>
        </p:txBody>
      </p:sp>
    </p:spTree>
    <p:extLst>
      <p:ext uri="{BB962C8B-B14F-4D97-AF65-F5344CB8AC3E}">
        <p14:creationId xmlns:p14="http://schemas.microsoft.com/office/powerpoint/2010/main" val="18726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F680E-580B-4468-A4F0-94C19E518FC3}" type="slidenum">
              <a:rPr lang="sk-SK" altLang="en-US"/>
              <a:pPr>
                <a:defRPr/>
              </a:pPr>
              <a:t>‹#›</a:t>
            </a:fld>
            <a:endParaRPr lang="sk-SK" altLang="en-US"/>
          </a:p>
        </p:txBody>
      </p:sp>
    </p:spTree>
    <p:extLst>
      <p:ext uri="{BB962C8B-B14F-4D97-AF65-F5344CB8AC3E}">
        <p14:creationId xmlns:p14="http://schemas.microsoft.com/office/powerpoint/2010/main" val="181062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E11882_01/server.112/e41084/functions049.htm#SQLRF00631" TargetMode="External"/><Relationship Id="rId2" Type="http://schemas.openxmlformats.org/officeDocument/2006/relationships/hyperlink" Target="https://docs.oracle.com/cd/E11882_01/server.112/e41084/functions002.htm#SQLRF51178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E11882_01/server.112/e41084/functions002.htm#SQLRF51180" TargetMode="External"/><Relationship Id="rId2" Type="http://schemas.openxmlformats.org/officeDocument/2006/relationships/hyperlink" Target="https://docs.oracle.com/cd/E11882_01/server.112/e41084/functions002.htm#SQLRF20032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E11882_01/server.112/e41084/functions002.htm#SQLRF51179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E11882_01/server.112/e41084/functions002.htm#SQLRF20034" TargetMode="Externa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</a:t>
            </a:r>
            <a:r>
              <a:rPr lang="sk-SK" dirty="0"/>
              <a:t>áklady SPRávy objektov a dát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Jana </a:t>
            </a:r>
            <a:r>
              <a:rPr lang="en-US" dirty="0" err="1"/>
              <a:t>Va</a:t>
            </a:r>
            <a:r>
              <a:rPr lang="sk-SK" dirty="0"/>
              <a:t>ňková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6033124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4616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Dátový slovník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systémový katalóg (system catalog) pre databázu Oracle sa nazýva Dátový slovník = Data Dictionary </a:t>
            </a:r>
          </a:p>
          <a:p>
            <a:pPr lvl="1"/>
            <a:r>
              <a:rPr lang="sk-SK" dirty="0"/>
              <a:t>centralizované úložisko obsahujúce informácie o štruktúre a objektoch databázy </a:t>
            </a:r>
          </a:p>
          <a:p>
            <a:pPr lvl="1"/>
            <a:r>
              <a:rPr lang="sk-SK" dirty="0"/>
              <a:t>údaje uložené v systémovom katalógu sú meta údaje (metadata), teda údaje o údajoch</a:t>
            </a:r>
          </a:p>
          <a:p>
            <a:pPr lvl="1"/>
            <a:r>
              <a:rPr lang="sk-SK" dirty="0"/>
              <a:t>zoznamy tabuliek, stĺpcov, užívateľov, privilégií, štatistické údaje, údaje o výkone DB </a:t>
            </a:r>
            <a:endParaRPr lang="en-US" dirty="0"/>
          </a:p>
          <a:p>
            <a:pPr lvl="1"/>
            <a:endParaRPr lang="en-US" dirty="0"/>
          </a:p>
          <a:p>
            <a:pPr marL="128016" lvl="1" indent="0">
              <a:buNone/>
            </a:pPr>
            <a:r>
              <a:rPr lang="sk-SK" dirty="0"/>
              <a:t>Tieto základné tabuľky a zobrazenia sú rozhodujúce pre fungovanie Oracle Database. Aby sa zachovala integrita dátového slovníka, sú tabuľky v schéme SYS spracovávané iba databázou. Nikdy by ich nemal upravovať žiadny užívateľ ani správca databázy.</a:t>
            </a:r>
          </a:p>
        </p:txBody>
      </p:sp>
    </p:spTree>
    <p:extLst>
      <p:ext uri="{BB962C8B-B14F-4D97-AF65-F5344CB8AC3E}">
        <p14:creationId xmlns:p14="http://schemas.microsoft.com/office/powerpoint/2010/main" val="755118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Pohľady dátového slovníka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sk-SK" sz="2600" b="1" dirty="0"/>
              <a:t>dynamické – </a:t>
            </a:r>
            <a:r>
              <a:rPr lang="sk-SK" sz="2600" b="1" i="1" dirty="0"/>
              <a:t>v</a:t>
            </a:r>
            <a:r>
              <a:rPr lang="en-US" sz="2600" b="1" i="1" dirty="0"/>
              <a:t>$</a:t>
            </a:r>
            <a:endParaRPr lang="sk-SK" sz="2600" b="1" i="1" dirty="0"/>
          </a:p>
          <a:p>
            <a:pPr lvl="1">
              <a:lnSpc>
                <a:spcPct val="80000"/>
              </a:lnSpc>
            </a:pPr>
            <a:r>
              <a:rPr lang="sk-SK" sz="2200" b="1" i="1" dirty="0"/>
              <a:t> </a:t>
            </a:r>
            <a:r>
              <a:rPr lang="sk-SK" sz="2200" dirty="0"/>
              <a:t>údaje súvisiace s výkonom inštancie</a:t>
            </a:r>
            <a:endParaRPr lang="sk-SK" sz="2200" b="1" i="1" dirty="0"/>
          </a:p>
          <a:p>
            <a:pPr>
              <a:lnSpc>
                <a:spcPct val="80000"/>
              </a:lnSpc>
            </a:pPr>
            <a:r>
              <a:rPr lang="sk-SK" sz="2600" b="1" dirty="0"/>
              <a:t>statické</a:t>
            </a:r>
            <a:r>
              <a:rPr lang="sk-SK" sz="2600" dirty="0"/>
              <a:t> </a:t>
            </a:r>
          </a:p>
          <a:p>
            <a:pPr lvl="1">
              <a:lnSpc>
                <a:spcPct val="80000"/>
              </a:lnSpc>
            </a:pPr>
            <a:r>
              <a:rPr lang="sk-SK" sz="2200" b="1" i="1" dirty="0"/>
              <a:t>USER_ </a:t>
            </a:r>
            <a:r>
              <a:rPr lang="sk-SK" sz="2200" dirty="0"/>
              <a:t>- zobrazuje informácie o privátnom prostredí daného užívateľa, teda o jeho objektoch, privilégiách, ktoré pridelil atď.</a:t>
            </a:r>
            <a:endParaRPr lang="sk-SK" sz="2200" b="1" i="1" dirty="0"/>
          </a:p>
          <a:p>
            <a:pPr lvl="1">
              <a:lnSpc>
                <a:spcPct val="80000"/>
              </a:lnSpc>
            </a:pPr>
            <a:r>
              <a:rPr lang="sk-SK" sz="2200" b="1" i="1" dirty="0"/>
              <a:t>ALL_ </a:t>
            </a:r>
            <a:r>
              <a:rPr lang="sk-SK" sz="2200" dirty="0"/>
              <a:t>- zobrazuje informácie o objektoch pripojeného užívateľa, o objektoch, na ktoré mu boli pridelené práva a o objektoch, ktoré sú prístupné verejne (cez užívateľa PUBLIC)</a:t>
            </a:r>
            <a:endParaRPr lang="sk-SK" sz="2200" b="1" i="1" dirty="0"/>
          </a:p>
          <a:p>
            <a:pPr lvl="1">
              <a:lnSpc>
                <a:spcPct val="80000"/>
              </a:lnSpc>
            </a:pPr>
            <a:r>
              <a:rPr lang="sk-SK" sz="2200" b="1" i="1" dirty="0"/>
              <a:t>DBA_ </a:t>
            </a:r>
            <a:r>
              <a:rPr lang="sk-SK" sz="2200" dirty="0"/>
              <a:t>- zobrazuje informácie o všetkých objektoch databázy </a:t>
            </a:r>
          </a:p>
          <a:p>
            <a:pPr lvl="2">
              <a:lnSpc>
                <a:spcPct val="80000"/>
              </a:lnSpc>
            </a:pPr>
            <a:r>
              <a:rPr lang="sk-SK" sz="1200" dirty="0"/>
              <a:t>DBA_ pohľady sú sprístupnené iba užívateľovi SYS(vlastník) alebo tým užívateľom, ktorý majú pridelenú rolu SELECT_CATALOG_ROLE alebo privilégium SELECT ANY DICTIONARY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sk-SK" sz="2100" b="1" i="1" dirty="0"/>
          </a:p>
        </p:txBody>
      </p:sp>
    </p:spTree>
    <p:extLst>
      <p:ext uri="{BB962C8B-B14F-4D97-AF65-F5344CB8AC3E}">
        <p14:creationId xmlns:p14="http://schemas.microsoft.com/office/powerpoint/2010/main" val="277650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Pohľady dátového slovníka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2030" y="2033215"/>
            <a:ext cx="9544228" cy="458084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sk-SK" sz="2000" dirty="0"/>
              <a:t>user_objects, all_objects, dba_objects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user_objects zobrazí iba objekty, ktoré vytvoril užívateľ, pod ktorým ste prihlasení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all_objects zobrazí objekty, ktoré vlastníte, ale aj tie, na ktoré máte práva napr. HR.EMPLOYEES</a:t>
            </a:r>
          </a:p>
          <a:p>
            <a:pPr lvl="1">
              <a:lnSpc>
                <a:spcPct val="90000"/>
              </a:lnSpc>
            </a:pPr>
            <a:r>
              <a:rPr lang="sk-SK" dirty="0"/>
              <a:t>dba_objects obsahuje zoznam všetkých objektov databázy</a:t>
            </a:r>
          </a:p>
          <a:p>
            <a:pPr>
              <a:lnSpc>
                <a:spcPct val="90000"/>
              </a:lnSpc>
            </a:pPr>
            <a:r>
              <a:rPr lang="sk-SK" sz="2000" dirty="0"/>
              <a:t>user_tables, all_tables, dba_tables</a:t>
            </a:r>
          </a:p>
          <a:p>
            <a:pPr>
              <a:lnSpc>
                <a:spcPct val="90000"/>
              </a:lnSpc>
            </a:pPr>
            <a:r>
              <a:rPr lang="sk-SK" sz="2000" dirty="0"/>
              <a:t>user_views, all_views, dba_views</a:t>
            </a:r>
          </a:p>
          <a:p>
            <a:pPr>
              <a:lnSpc>
                <a:spcPct val="90000"/>
              </a:lnSpc>
            </a:pPr>
            <a:r>
              <a:rPr lang="sk-SK" sz="2000" dirty="0"/>
              <a:t>dba_users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1200" dirty="0"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1200" dirty="0"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SELECT</a:t>
            </a:r>
            <a:r>
              <a:rPr lang="en-US" sz="2000" dirty="0">
                <a:latin typeface="Consolas" panose="020B0609020204030204" pitchFamily="49" charset="0"/>
              </a:rPr>
              <a:t> * </a:t>
            </a:r>
            <a:r>
              <a:rPr lang="sk-SK" sz="2000" dirty="0">
                <a:latin typeface="Consolas" panose="020B0609020204030204" pitchFamily="49" charset="0"/>
              </a:rPr>
              <a:t>FROM</a:t>
            </a:r>
            <a:r>
              <a:rPr lang="en-US" sz="2000" dirty="0">
                <a:latin typeface="Consolas" panose="020B0609020204030204" pitchFamily="49" charset="0"/>
              </a:rPr>
              <a:t> dictionary </a:t>
            </a:r>
            <a:r>
              <a:rPr lang="sk-SK" sz="2000" dirty="0">
                <a:latin typeface="Consolas" panose="020B0609020204030204" pitchFamily="49" charset="0"/>
              </a:rPr>
              <a:t>WHERE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table_name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sk-SK" sz="2000" dirty="0">
                <a:latin typeface="Consolas" panose="020B0609020204030204" pitchFamily="49" charset="0"/>
              </a:rPr>
              <a:t>LIKE</a:t>
            </a:r>
            <a:r>
              <a:rPr lang="en-US" sz="2000" dirty="0">
                <a:latin typeface="Consolas" panose="020B0609020204030204" pitchFamily="49" charset="0"/>
              </a:rPr>
              <a:t> '%ALL%COLUMNS%';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sk-SK" sz="1400" dirty="0">
                <a:latin typeface="Consolas" panose="020B0609020204030204" pitchFamily="49" charset="0"/>
              </a:rPr>
              <a:t>p</a:t>
            </a:r>
            <a:r>
              <a:rPr lang="en-US" sz="1400" dirty="0">
                <a:latin typeface="Consolas" panose="020B0609020204030204" pitchFamily="49" charset="0"/>
              </a:rPr>
              <a:t>om</a:t>
            </a:r>
            <a:r>
              <a:rPr lang="sk-SK" sz="1400" dirty="0">
                <a:latin typeface="Consolas" panose="020B0609020204030204" pitchFamily="49" charset="0"/>
              </a:rPr>
              <a:t>ôcka, ak neviete aký presne pohľad hľadáte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sk-SK" sz="1400" dirty="0">
                <a:latin typeface="Consolas" panose="020B0609020204030204" pitchFamily="49" charset="0"/>
              </a:rPr>
              <a:t>zobrazí názvy všetkých tabuliek a pohľadov z dátového slovníka, ktoré majú v názve slová ALL a COLUMNS (v takomto poradí)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sk-SK" sz="1400" dirty="0">
                <a:latin typeface="Consolas" panose="020B0609020204030204" pitchFamily="49" charset="0"/>
              </a:rPr>
              <a:t>Poznámka: údaje v dátovom slovníku sú uložené veľkými písmenami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05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Databázový jazyk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sk-SK" sz="2400" dirty="0"/>
              <a:t> databázový jazyk </a:t>
            </a:r>
            <a:r>
              <a:rPr lang="sk-SK" sz="2400" b="1" i="1" dirty="0"/>
              <a:t>SQL (Structured Query Language)</a:t>
            </a:r>
            <a:r>
              <a:rPr lang="sk-SK" sz="2400" dirty="0"/>
              <a:t> je počítačový jazyk primárne určený na manipuláciu a definíciu dát.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sz="2400" dirty="0"/>
              <a:t> vznikol na základe projektu spoločnosti IBM (</a:t>
            </a:r>
            <a:r>
              <a:rPr lang="sk-SK" sz="2400" dirty="0"/>
              <a:t>70-te roky 20.stor. 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400" dirty="0"/>
              <a:t> 1979 - komerčne uviedenie do praxe spoločnosťou SDL(Oracle Corporation)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400" dirty="0"/>
              <a:t> pracuje s relačnými DB (IBM DB2, Oracle, Informix, MySQL, MS Access, ...)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400" dirty="0"/>
              <a:t> deklaratívny jazyk</a:t>
            </a:r>
          </a:p>
        </p:txBody>
      </p:sp>
    </p:spTree>
    <p:extLst>
      <p:ext uri="{BB962C8B-B14F-4D97-AF65-F5344CB8AC3E}">
        <p14:creationId xmlns:p14="http://schemas.microsoft.com/office/powerpoint/2010/main" val="345909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00050" indent="-400050">
              <a:lnSpc>
                <a:spcPct val="80000"/>
              </a:lnSpc>
              <a:buNone/>
            </a:pPr>
            <a:r>
              <a:rPr lang="sk-SK" sz="2100" dirty="0"/>
              <a:t>Základné syntaktické konštrukcie jazyka SQL sa rozdeľujú do 4 zákl. skupín:</a:t>
            </a:r>
          </a:p>
          <a:p>
            <a:pPr marL="400050" indent="-40005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sk-SK" sz="2100" b="1" dirty="0"/>
              <a:t>DML (Data Manipulation Language) 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príkazy určené na manipuláciu s dátami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SELECT, INSERT, DELETE, UPDATE</a:t>
            </a:r>
          </a:p>
          <a:p>
            <a:pPr marL="400050" indent="-40005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sk-SK" sz="2100" b="1" dirty="0"/>
              <a:t>DDL (Data Definition Language)</a:t>
            </a:r>
            <a:r>
              <a:rPr lang="sk-SK" sz="2100" dirty="0"/>
              <a:t> 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príkazy určené na definíciu dát, prácu s objektmi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 CREATE, ALTER, DROP, TRUNCATE, COMMENT, RENAME</a:t>
            </a:r>
          </a:p>
          <a:p>
            <a:pPr marL="400050" indent="-40005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sk-SK" sz="2100" b="1" dirty="0"/>
              <a:t>DCL (Data Control Language)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určené na riadenie prístupu k objektom a dátam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GRANT, REVOKE</a:t>
            </a:r>
          </a:p>
          <a:p>
            <a:pPr marL="400050" indent="-40005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sk-SK" sz="2100" b="1" dirty="0"/>
              <a:t>TCL (Transaction Control Language)</a:t>
            </a:r>
            <a:r>
              <a:rPr lang="sk-SK" sz="2100" dirty="0"/>
              <a:t> 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určené na riadenie zmien zrealizovaných DML príkazmi</a:t>
            </a:r>
          </a:p>
          <a:p>
            <a:pPr marL="725488" lvl="1" indent="-381000">
              <a:lnSpc>
                <a:spcPct val="80000"/>
              </a:lnSpc>
            </a:pPr>
            <a:r>
              <a:rPr lang="sk-SK" sz="2000" dirty="0"/>
              <a:t>COMMIT(potvrdenie zmien), SAVEPOINT, ROLLBACK(vrátenie sa do pôvodného stavu), SET TRANSACTION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01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Dátové typy databázy Oracle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982624"/>
            <a:ext cx="9720073" cy="487537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k-SK" sz="2000" b="1" i="1" dirty="0"/>
              <a:t>znakové dátové typy</a:t>
            </a:r>
            <a:r>
              <a:rPr lang="sk-SK" sz="1700" dirty="0"/>
              <a:t> </a:t>
            </a:r>
          </a:p>
          <a:p>
            <a:pPr lvl="1">
              <a:lnSpc>
                <a:spcPct val="80000"/>
              </a:lnSpc>
            </a:pPr>
            <a:r>
              <a:rPr lang="sk-SK" sz="1500" dirty="0"/>
              <a:t>CHAR(veľkosť):reťazec znakov s pevnou dĺžkou, min.dĺžka 1, max 2000 bajtov</a:t>
            </a:r>
            <a:endParaRPr lang="en-US" sz="1500" dirty="0"/>
          </a:p>
          <a:p>
            <a:pPr lvl="1">
              <a:lnSpc>
                <a:spcPct val="80000"/>
              </a:lnSpc>
            </a:pPr>
            <a:r>
              <a:rPr lang="sk-SK" sz="1500" dirty="0"/>
              <a:t>VARCHAR(veľkosť):reťazec znakov s premenlivou dĺžkou o maximálnej dĺžke 4000bajtov</a:t>
            </a:r>
          </a:p>
          <a:p>
            <a:pPr>
              <a:lnSpc>
                <a:spcPct val="80000"/>
              </a:lnSpc>
            </a:pPr>
            <a:r>
              <a:rPr lang="sk-SK" sz="2000" b="1" i="1" dirty="0"/>
              <a:t>číselné dátové typy</a:t>
            </a:r>
            <a:r>
              <a:rPr lang="sk-SK" sz="1700" dirty="0"/>
              <a:t> </a:t>
            </a:r>
          </a:p>
          <a:p>
            <a:pPr lvl="1">
              <a:lnSpc>
                <a:spcPct val="80000"/>
              </a:lnSpc>
            </a:pPr>
            <a:r>
              <a:rPr lang="sk-SK" sz="1500" dirty="0"/>
              <a:t>NUMBER (p,d): číslo s počtom všetkých číslic p, z čoho d číslic je za desatinnou čiarkou</a:t>
            </a:r>
            <a:endParaRPr lang="en-US" sz="1500" dirty="0"/>
          </a:p>
          <a:p>
            <a:pPr lvl="1">
              <a:lnSpc>
                <a:spcPct val="80000"/>
              </a:lnSpc>
            </a:pPr>
            <a:r>
              <a:rPr lang="sk-SK" sz="1500" dirty="0"/>
              <a:t>NUMBER(p,0) – celé číslo </a:t>
            </a:r>
          </a:p>
          <a:p>
            <a:pPr>
              <a:lnSpc>
                <a:spcPct val="80000"/>
              </a:lnSpc>
            </a:pPr>
            <a:r>
              <a:rPr lang="sk-SK" sz="2000" b="1" i="1" dirty="0"/>
              <a:t>dátové typy pre kalendárne a časové hodnoty</a:t>
            </a:r>
            <a:r>
              <a:rPr lang="sk-SK" sz="1700" dirty="0"/>
              <a:t> </a:t>
            </a:r>
          </a:p>
          <a:p>
            <a:pPr lvl="1">
              <a:lnSpc>
                <a:spcPct val="80000"/>
              </a:lnSpc>
            </a:pPr>
            <a:r>
              <a:rPr lang="sk-SK" sz="1500" dirty="0"/>
              <a:t>DATE: kalendárne dáta od dátumu 1.1.4712 p.n.l. do dátumu 31.12.9999 n.l.</a:t>
            </a:r>
            <a:endParaRPr lang="en-US" sz="1500" dirty="0"/>
          </a:p>
          <a:p>
            <a:pPr lvl="1">
              <a:lnSpc>
                <a:spcPct val="80000"/>
              </a:lnSpc>
            </a:pPr>
            <a:r>
              <a:rPr lang="sk-SK" sz="1500" dirty="0"/>
              <a:t> TIMESTAMP: presnejší dátový typ obsahuje rok, mesiac, deň, hodina, minúta, sekunda a zlomky sekúnd</a:t>
            </a:r>
          </a:p>
          <a:p>
            <a:pPr>
              <a:lnSpc>
                <a:spcPct val="80000"/>
              </a:lnSpc>
            </a:pPr>
            <a:r>
              <a:rPr lang="sk-SK" sz="2000" b="1" i="1" dirty="0"/>
              <a:t>dátové typy pre objemné dáta</a:t>
            </a:r>
            <a:r>
              <a:rPr lang="sk-SK" sz="1700" dirty="0"/>
              <a:t> </a:t>
            </a:r>
          </a:p>
          <a:p>
            <a:pPr lvl="1">
              <a:lnSpc>
                <a:spcPct val="80000"/>
              </a:lnSpc>
            </a:pPr>
            <a:r>
              <a:rPr lang="sk-SK" sz="1500" dirty="0"/>
              <a:t>BLOB: typ pre ukladanie binárnych dát max. veľkosť (4GB-1)*DB_BLOCK_SIZE</a:t>
            </a:r>
            <a:endParaRPr lang="en-US" sz="1500" dirty="0"/>
          </a:p>
          <a:p>
            <a:pPr lvl="1">
              <a:lnSpc>
                <a:spcPct val="80000"/>
              </a:lnSpc>
            </a:pPr>
            <a:r>
              <a:rPr lang="sk-SK" sz="1500" dirty="0"/>
              <a:t>CLOB: veľké objekty v podobe jedno alebo viacbajtových znakov, podporuje pevnú aj premenlivú dĺžku a max. veľkosť objektu je (4GB-1)*DB_BLOCK_SIZE))</a:t>
            </a:r>
          </a:p>
          <a:p>
            <a:pPr>
              <a:lnSpc>
                <a:spcPct val="80000"/>
              </a:lnSpc>
            </a:pPr>
            <a:r>
              <a:rPr lang="sk-SK" sz="2000" b="1" i="1" dirty="0"/>
              <a:t>rowid</a:t>
            </a:r>
          </a:p>
          <a:p>
            <a:pPr lvl="1">
              <a:lnSpc>
                <a:spcPct val="80000"/>
              </a:lnSpc>
            </a:pPr>
            <a:r>
              <a:rPr lang="sk-SK" sz="1500" dirty="0"/>
              <a:t>hexadecimálny reťazec reprezentujúci jedinečnú adresu riadku v tabuľke; pseudostĺpec ROWID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4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Tabu</a:t>
            </a:r>
            <a:r>
              <a:rPr lang="sk-SK" dirty="0"/>
              <a:t>ľk</a:t>
            </a:r>
            <a:r>
              <a:rPr lang="en-US" dirty="0"/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sk-SK" dirty="0"/>
              <a:t>základný objekt datábazy</a:t>
            </a:r>
          </a:p>
          <a:p>
            <a:r>
              <a:rPr lang="sk-SK" dirty="0"/>
              <a:t>- obsahuje konkrétne dáta</a:t>
            </a:r>
            <a:endParaRPr lang="en-US" dirty="0"/>
          </a:p>
          <a:p>
            <a:r>
              <a:rPr lang="en-US" dirty="0"/>
              <a:t>- je to </a:t>
            </a:r>
            <a:r>
              <a:rPr lang="en-US" dirty="0" err="1"/>
              <a:t>dvojrozmern</a:t>
            </a:r>
            <a:r>
              <a:rPr lang="sk-SK" dirty="0"/>
              <a:t>ý objekt: dáta su uložené v riadkoch a stĺpcoch</a:t>
            </a:r>
          </a:p>
          <a:p>
            <a:r>
              <a:rPr lang="sk-SK" dirty="0"/>
              <a:t>- je definovaná menom a stĺpcami,ktoré obsahuje</a:t>
            </a:r>
          </a:p>
          <a:p>
            <a:pPr lvl="2"/>
            <a:r>
              <a:rPr lang="sk-SK" sz="1600" dirty="0"/>
              <a:t> mená objektov databázy môžu obsahovať písmená, číslice a podčiarkovník, musia začínať písmenom,max. dĺžka je 30 znakov a ako identifikátory sa nesmú používať kľúčové slová (napr. Select )</a:t>
            </a:r>
          </a:p>
          <a:p>
            <a:pPr lvl="2"/>
            <a:r>
              <a:rPr lang="sk-SK" sz="1600" dirty="0"/>
              <a:t>meno objektu pozostáva z mena vlastníka a mena objektu:  student.predmety</a:t>
            </a:r>
          </a:p>
          <a:p>
            <a:pPr marL="310896" lvl="2" indent="0">
              <a:buNone/>
            </a:pPr>
            <a:r>
              <a:rPr lang="sk-SK" sz="1600" dirty="0"/>
              <a:t>   pozn. ak sa odvolávame na svoje objekty, stačí používať iba na názov objektu</a:t>
            </a:r>
          </a:p>
          <a:p>
            <a:pPr lvl="2"/>
            <a:r>
              <a:rPr lang="sk-SK" sz="1600" dirty="0"/>
              <a:t>stĺpce tabuľky sú definované menom a množinou hodnôt,ktoré môžu byť doňho vložené</a:t>
            </a:r>
          </a:p>
          <a:p>
            <a:pPr marL="310896" lvl="2" indent="0">
              <a:buNone/>
            </a:pPr>
            <a:r>
              <a:rPr lang="sk-SK" sz="1600" dirty="0"/>
              <a:t>   napr.: tabuľka predmety ma stĺpec názov, ktorý obsahuje reťazce s max. dĺžkou 30 znakov </a:t>
            </a:r>
          </a:p>
          <a:p>
            <a:pPr lvl="2"/>
            <a:endParaRPr lang="sk-SK" dirty="0"/>
          </a:p>
          <a:p>
            <a:pPr lvl="2"/>
            <a:endParaRPr lang="sk-SK" dirty="0"/>
          </a:p>
          <a:p>
            <a:pPr lvl="2"/>
            <a:endParaRPr lang="sk-SK" dirty="0"/>
          </a:p>
          <a:p>
            <a:pPr lvl="2"/>
            <a:endParaRPr lang="sk-SK" dirty="0"/>
          </a:p>
          <a:p>
            <a:pPr lvl="2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3490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Tabu</a:t>
            </a:r>
            <a:r>
              <a:rPr lang="sk-SK" dirty="0"/>
              <a:t>ľk</a:t>
            </a:r>
            <a:r>
              <a:rPr lang="en-US" dirty="0"/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439510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nad objektami databázy vieme vykonávať tieto 3 typy príkazov: CREATE, ALTER, DROP t.j. vieme ich vytvoriť, zmeniť ich vlastnosti a zmazať</a:t>
            </a:r>
          </a:p>
          <a:p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SYNTAX pre vytvorenie tabuľky:  </a:t>
            </a:r>
          </a:p>
          <a:p>
            <a:pPr>
              <a:buNone/>
            </a:pPr>
            <a:r>
              <a:rPr lang="sk-SK" sz="2000" dirty="0">
                <a:solidFill>
                  <a:schemeClr val="accent1"/>
                </a:solidFill>
                <a:latin typeface="Consolas" panose="020B0609020204030204" pitchFamily="49" charset="0"/>
              </a:rPr>
              <a:t>CREATE TABLE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tabuľky</a:t>
            </a:r>
            <a:r>
              <a:rPr lang="en-US" sz="2000" dirty="0">
                <a:latin typeface="Consolas" panose="020B0609020204030204" pitchFamily="49" charset="0"/>
              </a:rPr>
              <a:t>&gt; </a:t>
            </a:r>
          </a:p>
          <a:p>
            <a:pPr>
              <a:buNone/>
            </a:pPr>
            <a:r>
              <a:rPr lang="en-US" sz="2000" dirty="0">
                <a:latin typeface="Consolas" panose="020B0609020204030204" pitchFamily="49" charset="0"/>
              </a:rPr>
              <a:t>(&lt;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sk-SK" sz="2000" dirty="0">
                <a:latin typeface="Consolas" panose="020B0609020204030204" pitchFamily="49" charset="0"/>
              </a:rPr>
              <a:t>stĺpca1</a:t>
            </a:r>
            <a:r>
              <a:rPr lang="en-US" sz="2000" dirty="0">
                <a:latin typeface="Consolas" panose="020B0609020204030204" pitchFamily="49" charset="0"/>
              </a:rPr>
              <a:t>&gt; &lt;</a:t>
            </a:r>
            <a:r>
              <a:rPr lang="en-US" sz="2000" dirty="0" err="1">
                <a:latin typeface="Consolas" panose="020B0609020204030204" pitchFamily="49" charset="0"/>
              </a:rPr>
              <a:t>typ</a:t>
            </a:r>
            <a:r>
              <a:rPr lang="en-US" sz="2000" dirty="0">
                <a:latin typeface="Consolas" panose="020B0609020204030204" pitchFamily="49" charset="0"/>
              </a:rPr>
              <a:t>&gt;(&lt;</a:t>
            </a:r>
            <a:r>
              <a:rPr lang="sk-SK" sz="2000" dirty="0">
                <a:latin typeface="Consolas" panose="020B0609020204030204" pitchFamily="49" charset="0"/>
              </a:rPr>
              <a:t>dĺžka</a:t>
            </a:r>
            <a:r>
              <a:rPr lang="en-US" sz="2000" dirty="0">
                <a:latin typeface="Consolas" panose="020B0609020204030204" pitchFamily="49" charset="0"/>
              </a:rPr>
              <a:t>&gt;),</a:t>
            </a:r>
          </a:p>
          <a:p>
            <a:pPr>
              <a:buNone/>
            </a:pPr>
            <a:r>
              <a:rPr lang="en-US" sz="2000" dirty="0">
                <a:latin typeface="Consolas" panose="020B0609020204030204" pitchFamily="49" charset="0"/>
              </a:rPr>
              <a:t> &lt;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sk-SK" sz="2000" dirty="0">
                <a:latin typeface="Consolas" panose="020B0609020204030204" pitchFamily="49" charset="0"/>
              </a:rPr>
              <a:t>stĺpca</a:t>
            </a:r>
            <a:r>
              <a:rPr lang="en-US" sz="2000" dirty="0">
                <a:latin typeface="Consolas" panose="020B0609020204030204" pitchFamily="49" charset="0"/>
              </a:rPr>
              <a:t>2&gt; &lt;</a:t>
            </a:r>
            <a:r>
              <a:rPr lang="en-US" sz="2000" dirty="0" err="1">
                <a:latin typeface="Consolas" panose="020B0609020204030204" pitchFamily="49" charset="0"/>
              </a:rPr>
              <a:t>typ</a:t>
            </a:r>
            <a:r>
              <a:rPr lang="en-US" sz="2000" dirty="0">
                <a:latin typeface="Consolas" panose="020B0609020204030204" pitchFamily="49" charset="0"/>
              </a:rPr>
              <a:t>&gt;(&lt;</a:t>
            </a:r>
            <a:r>
              <a:rPr lang="sk-SK" sz="2000" dirty="0">
                <a:latin typeface="Consolas" panose="020B0609020204030204" pitchFamily="49" charset="0"/>
              </a:rPr>
              <a:t>dĺžka</a:t>
            </a:r>
            <a:r>
              <a:rPr lang="en-US" sz="2000" dirty="0">
                <a:latin typeface="Consolas" panose="020B0609020204030204" pitchFamily="49" charset="0"/>
              </a:rPr>
              <a:t>&gt;),</a:t>
            </a:r>
          </a:p>
          <a:p>
            <a:pPr>
              <a:buNone/>
            </a:pPr>
            <a:r>
              <a:rPr lang="en-US" sz="2000" dirty="0">
                <a:latin typeface="Consolas" panose="020B0609020204030204" pitchFamily="49" charset="0"/>
              </a:rPr>
              <a:t>…);</a:t>
            </a:r>
            <a:endParaRPr lang="sk-SK" sz="2000" dirty="0"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sk-SK" sz="2400" dirty="0"/>
            </a:br>
            <a:r>
              <a:rPr lang="en-US" sz="2400" dirty="0"/>
              <a:t> 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99902" y="3364795"/>
            <a:ext cx="44181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</a:t>
            </a:r>
            <a:r>
              <a:rPr lang="sk-SK" dirty="0"/>
              <a:t>íklad: </a:t>
            </a:r>
            <a:r>
              <a:rPr lang="en-US" dirty="0">
                <a:latin typeface="Consolas" panose="020B0609020204030204" pitchFamily="49" charset="0"/>
              </a:rPr>
              <a:t>CREATE TABLE </a:t>
            </a:r>
            <a:r>
              <a:rPr lang="en-US" dirty="0" err="1">
                <a:latin typeface="Consolas" panose="020B0609020204030204" pitchFamily="49" charset="0"/>
              </a:rPr>
              <a:t>zamestnanec</a:t>
            </a:r>
            <a:r>
              <a:rPr lang="en-US" dirty="0">
                <a:latin typeface="Consolas" panose="020B0609020204030204" pitchFamily="49" charset="0"/>
              </a:rPr>
              <a:t>(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</a:rPr>
              <a:t>id number(10)</a:t>
            </a:r>
            <a:r>
              <a:rPr lang="sk-SK" dirty="0">
                <a:latin typeface="Consolas" panose="020B0609020204030204" pitchFamily="49" charset="0"/>
              </a:rPr>
              <a:t>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meno</a:t>
            </a:r>
            <a:r>
              <a:rPr lang="en-US" dirty="0">
                <a:latin typeface="Consolas" panose="020B0609020204030204" pitchFamily="49" charset="0"/>
              </a:rPr>
              <a:t> varchar2(20),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priezvisko</a:t>
            </a:r>
            <a:r>
              <a:rPr lang="en-US" dirty="0">
                <a:latin typeface="Consolas" panose="020B0609020204030204" pitchFamily="49" charset="0"/>
              </a:rPr>
              <a:t> varchar2(30),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mesto</a:t>
            </a:r>
            <a:r>
              <a:rPr lang="en-US" dirty="0">
                <a:latin typeface="Consolas" panose="020B0609020204030204" pitchFamily="49" charset="0"/>
              </a:rPr>
              <a:t> varchar2(30),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narodeny</a:t>
            </a:r>
            <a:r>
              <a:rPr lang="en-US" dirty="0">
                <a:latin typeface="Consolas" panose="020B0609020204030204" pitchFamily="49" charset="0"/>
              </a:rPr>
              <a:t> date,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mzda</a:t>
            </a:r>
            <a:r>
              <a:rPr lang="en-US" dirty="0">
                <a:latin typeface="Consolas" panose="020B0609020204030204" pitchFamily="49" charset="0"/>
              </a:rPr>
              <a:t> number(5),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veduci</a:t>
            </a:r>
            <a:r>
              <a:rPr lang="en-US" dirty="0">
                <a:latin typeface="Consolas" panose="020B0609020204030204" pitchFamily="49" charset="0"/>
              </a:rPr>
              <a:t> number(5),</a:t>
            </a:r>
            <a:br>
              <a:rPr lang="sk-SK" dirty="0">
                <a:latin typeface="Consolas" panose="020B0609020204030204" pitchFamily="49" charset="0"/>
              </a:rPr>
            </a:br>
            <a:r>
              <a:rPr lang="sk-SK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id_oddelenia</a:t>
            </a:r>
            <a:r>
              <a:rPr lang="en-US" dirty="0">
                <a:latin typeface="Consolas" panose="020B0609020204030204" pitchFamily="49" charset="0"/>
              </a:rPr>
              <a:t> number(3));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3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Práca s Tabuľkou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54456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 pri tabuľke vieme meniť tieto vlastnosti: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 err="1"/>
              <a:t>pridanie</a:t>
            </a:r>
            <a:r>
              <a:rPr lang="en-US" sz="1600" dirty="0"/>
              <a:t> </a:t>
            </a:r>
            <a:r>
              <a:rPr lang="en-US" sz="1600" dirty="0" err="1"/>
              <a:t>stĺpca</a:t>
            </a:r>
            <a:r>
              <a:rPr lang="en-US" sz="1600" dirty="0"/>
              <a:t> do </a:t>
            </a:r>
            <a:r>
              <a:rPr lang="en-US" sz="1600" dirty="0" err="1"/>
              <a:t>tabuľky</a:t>
            </a:r>
            <a:endParaRPr lang="sk-SK" sz="1600" dirty="0"/>
          </a:p>
          <a:p>
            <a:pPr marL="310896" lvl="2" indent="0">
              <a:buNone/>
            </a:pPr>
            <a:r>
              <a:rPr lang="sk-SK" sz="1600" dirty="0">
                <a:solidFill>
                  <a:schemeClr val="accent1"/>
                </a:solidFill>
                <a:latin typeface="Consolas" panose="020B0609020204030204" pitchFamily="49" charset="0"/>
              </a:rPr>
              <a:t>ALTER TABLE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 ADD (&lt;</a:t>
            </a:r>
            <a:r>
              <a:rPr lang="sk-SK" sz="1600" dirty="0">
                <a:latin typeface="Consolas" panose="020B0609020204030204" pitchFamily="49" charset="0"/>
              </a:rPr>
              <a:t>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typ</a:t>
            </a:r>
            <a:r>
              <a:rPr lang="en-US" sz="1600" dirty="0">
                <a:latin typeface="Consolas" panose="020B0609020204030204" pitchFamily="49" charset="0"/>
              </a:rPr>
              <a:t>&gt;	[, &lt;</a:t>
            </a:r>
            <a:r>
              <a:rPr lang="sk-SK" sz="1600" dirty="0">
                <a:latin typeface="Consolas" panose="020B0609020204030204" pitchFamily="49" charset="0"/>
              </a:rPr>
              <a:t>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typ</a:t>
            </a:r>
            <a:r>
              <a:rPr lang="en-US" sz="1600" dirty="0">
                <a:latin typeface="Consolas" panose="020B0609020204030204" pitchFamily="49" charset="0"/>
              </a:rPr>
              <a:t>&gt;]…);</a:t>
            </a:r>
            <a:endParaRPr lang="sk-SK" sz="1600" dirty="0"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 err="1"/>
              <a:t>odstránenie</a:t>
            </a:r>
            <a:r>
              <a:rPr lang="en-US" sz="1600" dirty="0"/>
              <a:t> </a:t>
            </a:r>
            <a:r>
              <a:rPr lang="en-US" sz="1600" dirty="0" err="1"/>
              <a:t>stĺpca</a:t>
            </a:r>
            <a:endParaRPr lang="sk-SK" sz="1600" dirty="0"/>
          </a:p>
          <a:p>
            <a:pPr marL="310896" lvl="2" indent="0">
              <a:buNone/>
            </a:pPr>
            <a:r>
              <a:rPr lang="sk-SK" sz="1600" dirty="0">
                <a:latin typeface="Consolas" panose="020B0609020204030204" pitchFamily="49" charset="0"/>
              </a:rPr>
              <a:t>ALTER TABLE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sk-SK" sz="1600" dirty="0">
                <a:latin typeface="Consolas" panose="020B0609020204030204" pitchFamily="49" charset="0"/>
              </a:rPr>
              <a:t>DROP COLUMN</a:t>
            </a:r>
            <a:r>
              <a:rPr lang="en-US" sz="1600" dirty="0">
                <a:latin typeface="Consolas" panose="020B0609020204030204" pitchFamily="49" charset="0"/>
              </a:rPr>
              <a:t> &lt;</a:t>
            </a:r>
            <a:r>
              <a:rPr lang="sk-SK" sz="1600" dirty="0">
                <a:latin typeface="Consolas" panose="020B0609020204030204" pitchFamily="49" charset="0"/>
              </a:rPr>
              <a:t>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;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 sz="1600" dirty="0"/>
              <a:t>p</a:t>
            </a:r>
            <a:r>
              <a:rPr lang="en-US" sz="1600" dirty="0" err="1"/>
              <a:t>remenovanie</a:t>
            </a:r>
            <a:r>
              <a:rPr lang="sk-SK" sz="1600" dirty="0"/>
              <a:t> stĺpca</a:t>
            </a:r>
          </a:p>
          <a:p>
            <a:pPr marL="310896" lvl="2" indent="0">
              <a:buNone/>
            </a:pPr>
            <a:r>
              <a:rPr lang="sk-SK" sz="1600" dirty="0">
                <a:latin typeface="Consolas" panose="020B0609020204030204" pitchFamily="49" charset="0"/>
              </a:rPr>
              <a:t>ALTER TABLE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sk-SK" sz="1600" dirty="0">
                <a:latin typeface="Consolas" panose="020B0609020204030204" pitchFamily="49" charset="0"/>
              </a:rPr>
              <a:t>RENAME COLUMN</a:t>
            </a:r>
            <a:r>
              <a:rPr lang="en-US" sz="1600" dirty="0">
                <a:latin typeface="Consolas" panose="020B0609020204030204" pitchFamily="49" charset="0"/>
              </a:rPr>
              <a:t> &lt;</a:t>
            </a:r>
            <a:r>
              <a:rPr lang="sk-SK" sz="1600" dirty="0">
                <a:latin typeface="Consolas" panose="020B0609020204030204" pitchFamily="49" charset="0"/>
              </a:rPr>
              <a:t>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TO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sk-SK" sz="1600" dirty="0">
                <a:latin typeface="Consolas" panose="020B0609020204030204" pitchFamily="49" charset="0"/>
              </a:rPr>
              <a:t>nové 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 err="1"/>
              <a:t>zmena</a:t>
            </a:r>
            <a:r>
              <a:rPr lang="en-US" sz="1600" dirty="0"/>
              <a:t> </a:t>
            </a:r>
            <a:r>
              <a:rPr lang="en-US" sz="1600" dirty="0" err="1"/>
              <a:t>dátoveho</a:t>
            </a:r>
            <a:r>
              <a:rPr lang="en-US" sz="1600" dirty="0"/>
              <a:t> </a:t>
            </a:r>
            <a:r>
              <a:rPr lang="en-US" sz="1600" dirty="0" err="1"/>
              <a:t>typu</a:t>
            </a:r>
            <a:endParaRPr lang="sk-SK" sz="1600" dirty="0"/>
          </a:p>
          <a:p>
            <a:pPr marL="310896" lvl="2" indent="0">
              <a:buNone/>
            </a:pPr>
            <a:r>
              <a:rPr lang="sk-SK" sz="1600" dirty="0">
                <a:latin typeface="Consolas" panose="020B0609020204030204" pitchFamily="49" charset="0"/>
              </a:rPr>
              <a:t>ALTER TABLE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sk-SK" sz="1600" dirty="0">
                <a:latin typeface="Consolas" panose="020B0609020204030204" pitchFamily="49" charset="0"/>
              </a:rPr>
              <a:t>MODIFY</a:t>
            </a:r>
            <a:r>
              <a:rPr lang="en-US" sz="1600" dirty="0">
                <a:latin typeface="Consolas" panose="020B0609020204030204" pitchFamily="49" charset="0"/>
              </a:rPr>
              <a:t> (&lt;</a:t>
            </a:r>
            <a:r>
              <a:rPr lang="sk-SK" sz="1600" dirty="0">
                <a:latin typeface="Consolas" panose="020B0609020204030204" pitchFamily="49" charset="0"/>
              </a:rPr>
              <a:t>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typ</a:t>
            </a:r>
            <a:r>
              <a:rPr lang="en-US" sz="1600" dirty="0">
                <a:latin typeface="Consolas" panose="020B0609020204030204" pitchFamily="49" charset="0"/>
              </a:rPr>
              <a:t>&gt; &lt;</a:t>
            </a:r>
            <a:r>
              <a:rPr lang="en-US" sz="1600" dirty="0" err="1">
                <a:latin typeface="Consolas" panose="020B0609020204030204" pitchFamily="49" charset="0"/>
              </a:rPr>
              <a:t>nov</a:t>
            </a:r>
            <a:r>
              <a:rPr lang="sk-SK" sz="1600" dirty="0">
                <a:latin typeface="Consolas" panose="020B0609020204030204" pitchFamily="49" charset="0"/>
              </a:rPr>
              <a:t>ý rozmer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[, &lt;</a:t>
            </a:r>
            <a:r>
              <a:rPr lang="sk-SK" sz="1600" dirty="0">
                <a:latin typeface="Consolas" panose="020B0609020204030204" pitchFamily="49" charset="0"/>
              </a:rPr>
              <a:t>meno stĺpca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typ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nov</a:t>
            </a:r>
            <a:r>
              <a:rPr lang="sk-SK" sz="1600" dirty="0">
                <a:latin typeface="Consolas" panose="020B0609020204030204" pitchFamily="49" charset="0"/>
              </a:rPr>
              <a:t>ý rozmer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]…);</a:t>
            </a:r>
            <a:endParaRPr lang="sk-SK" sz="1600" dirty="0"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 err="1"/>
              <a:t>pridanie</a:t>
            </a:r>
            <a:r>
              <a:rPr lang="en-US" sz="1600" dirty="0"/>
              <a:t> </a:t>
            </a:r>
            <a:r>
              <a:rPr lang="en-US" sz="1600" dirty="0" err="1"/>
              <a:t>obmedzenia</a:t>
            </a:r>
            <a:r>
              <a:rPr lang="en-US" sz="1600" dirty="0"/>
              <a:t> </a:t>
            </a:r>
            <a:r>
              <a:rPr lang="en-US" sz="1600" dirty="0" err="1"/>
              <a:t>nad</a:t>
            </a:r>
            <a:r>
              <a:rPr lang="en-US" sz="1600" dirty="0"/>
              <a:t> </a:t>
            </a:r>
            <a:r>
              <a:rPr lang="en-US" sz="1600" dirty="0" err="1"/>
              <a:t>stĺpcom</a:t>
            </a:r>
            <a:r>
              <a:rPr lang="en-US" sz="1600" dirty="0"/>
              <a:t> </a:t>
            </a:r>
            <a:r>
              <a:rPr lang="en-US" sz="1600" dirty="0" err="1"/>
              <a:t>tabuľky</a:t>
            </a:r>
            <a:r>
              <a:rPr lang="sk-SK" sz="1600" dirty="0"/>
              <a:t> (bližšie info neskôr)</a:t>
            </a:r>
          </a:p>
          <a:p>
            <a:pPr marL="310896" lvl="2" indent="0">
              <a:buNone/>
            </a:pPr>
            <a:r>
              <a:rPr lang="sk-SK" sz="1600" dirty="0">
                <a:latin typeface="Consolas" panose="020B0609020204030204" pitchFamily="49" charset="0"/>
              </a:rPr>
              <a:t>ALTER TABLE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sk-SK" sz="1600" dirty="0">
                <a:latin typeface="Consolas" panose="020B0609020204030204" pitchFamily="49" charset="0"/>
              </a:rPr>
              <a:t> ADD/DROP CONSTRAINT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obmedzenia</a:t>
            </a: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sk-SK" sz="1600" dirty="0">
                <a:latin typeface="Consolas" panose="020B0609020204030204" pitchFamily="49" charset="0"/>
              </a:rPr>
              <a:t>...;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 err="1"/>
              <a:t>premenovanie</a:t>
            </a:r>
            <a:r>
              <a:rPr lang="en-US" sz="1600" dirty="0"/>
              <a:t> </a:t>
            </a:r>
            <a:r>
              <a:rPr lang="en-US" sz="1600" dirty="0" err="1"/>
              <a:t>tabuľky</a:t>
            </a:r>
            <a:endParaRPr lang="sk-SK" sz="1600" dirty="0"/>
          </a:p>
          <a:p>
            <a:pPr marL="310896" lvl="2" indent="0">
              <a:buNone/>
            </a:pPr>
            <a:r>
              <a:rPr lang="sk-SK" sz="1600" dirty="0">
                <a:latin typeface="Consolas" panose="020B0609020204030204" pitchFamily="49" charset="0"/>
              </a:rPr>
              <a:t>ALTER TABLE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sk-SK" sz="1600" dirty="0">
                <a:latin typeface="Consolas" panose="020B0609020204030204" pitchFamily="49" charset="0"/>
              </a:rPr>
              <a:t>RENAME TO 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sk-SK" sz="1600" dirty="0">
                <a:latin typeface="Consolas" panose="020B0609020204030204" pitchFamily="49" charset="0"/>
              </a:rPr>
              <a:t>nové </a:t>
            </a:r>
            <a:r>
              <a:rPr lang="en-US" sz="1600" dirty="0" err="1">
                <a:latin typeface="Consolas" panose="020B0609020204030204" pitchFamily="49" charset="0"/>
              </a:rPr>
              <a:t>meno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tabu</a:t>
            </a:r>
            <a:r>
              <a:rPr lang="sk-SK" sz="1600" dirty="0">
                <a:latin typeface="Consolas" panose="020B0609020204030204" pitchFamily="49" charset="0"/>
              </a:rPr>
              <a:t>ľky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  <a:r>
              <a:rPr lang="sk-SK" sz="1600" dirty="0">
                <a:latin typeface="Consolas" panose="020B0609020204030204" pitchFamily="49" charset="0"/>
              </a:rPr>
              <a:t>;</a:t>
            </a:r>
          </a:p>
          <a:p>
            <a:pPr marL="310896" lvl="2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82512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Práca s Tabuľkou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k-SK" sz="2400" dirty="0"/>
              <a:t> </a:t>
            </a:r>
            <a:r>
              <a:rPr lang="en-US" sz="2400" dirty="0" err="1"/>
              <a:t>odstr</a:t>
            </a:r>
            <a:r>
              <a:rPr lang="sk-SK" sz="2400" dirty="0"/>
              <a:t>ánenie tabuľky</a:t>
            </a:r>
          </a:p>
          <a:p>
            <a:pPr>
              <a:buNone/>
            </a:pPr>
            <a:r>
              <a:rPr lang="sk-SK" sz="2400" dirty="0"/>
              <a:t>  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DROP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</a:rPr>
              <a:t>meno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tabu</a:t>
            </a:r>
            <a:r>
              <a:rPr lang="sk-SK" sz="2400" dirty="0">
                <a:latin typeface="Consolas" panose="020B0609020204030204" pitchFamily="49" charset="0"/>
              </a:rPr>
              <a:t>ľky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[CASCADE CONSTRAINTS];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endParaRPr lang="sk-SK" dirty="0">
              <a:latin typeface="Consolas" panose="020B0609020204030204" pitchFamily="49" charset="0"/>
            </a:endParaRPr>
          </a:p>
          <a:p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sz="2400" dirty="0"/>
              <a:t> informácie (opis) o tabuľke predstavuje: zoznam atribútov (stĺpcov) tabuľky, </a:t>
            </a:r>
          </a:p>
          <a:p>
            <a:pPr>
              <a:buNone/>
            </a:pPr>
            <a:r>
              <a:rPr lang="sk-SK" sz="2400" dirty="0"/>
              <a:t>   ich údajové typy a ohraničenia (ak existujú). </a:t>
            </a:r>
          </a:p>
          <a:p>
            <a:pPr>
              <a:buNone/>
            </a:pP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DESC </a:t>
            </a:r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</a:rPr>
              <a:t>meno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tabu</a:t>
            </a:r>
            <a:r>
              <a:rPr lang="sk-SK" sz="2400" dirty="0">
                <a:latin typeface="Consolas" panose="020B0609020204030204" pitchFamily="49" charset="0"/>
              </a:rPr>
              <a:t>ľky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  <a:r>
              <a:rPr lang="sk-SK" sz="2400" dirty="0">
                <a:latin typeface="Consolas" panose="020B0609020204030204" pitchFamily="49" charset="0"/>
              </a:rPr>
              <a:t>;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endParaRPr lang="sk-SK" sz="2400" dirty="0">
              <a:latin typeface="Consolas" panose="020B0609020204030204" pitchFamily="49" charset="0"/>
            </a:endParaRPr>
          </a:p>
          <a:p>
            <a:pPr>
              <a:buNone/>
            </a:pP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DESCRIBE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</a:rPr>
              <a:t>meno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tabu</a:t>
            </a:r>
            <a:r>
              <a:rPr lang="sk-SK" sz="2400" dirty="0">
                <a:latin typeface="Consolas" panose="020B0609020204030204" pitchFamily="49" charset="0"/>
              </a:rPr>
              <a:t>ľky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  <a:r>
              <a:rPr lang="sk-SK" sz="2400" dirty="0">
                <a:latin typeface="Consolas" panose="020B0609020204030204" pitchFamily="49" charset="0"/>
              </a:rPr>
              <a:t>;</a:t>
            </a:r>
            <a:r>
              <a:rPr lang="sk-SK" sz="2400" dirty="0"/>
              <a:t> 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00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Jazyk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- </a:t>
            </a:r>
            <a:r>
              <a:rPr lang="en-US" dirty="0" err="1"/>
              <a:t>ka</a:t>
            </a:r>
            <a:r>
              <a:rPr lang="sk-SK" dirty="0"/>
              <a:t>ždý objekt databázy môžme vytvoriť (CREATE), meniť jeho vlastnosti (ALTER) a zmazať ho (DROP)</a:t>
            </a:r>
          </a:p>
          <a:p>
            <a:r>
              <a:rPr lang="sk-SK" dirty="0"/>
              <a:t>- práca s dátami: vloženie nového údaju, aktualizácia údaju a zmazanie údaju</a:t>
            </a:r>
          </a:p>
          <a:p>
            <a:r>
              <a:rPr lang="sk-SK" dirty="0"/>
              <a:t>UPOZORNENIE: </a:t>
            </a:r>
          </a:p>
          <a:p>
            <a:pPr lvl="1"/>
            <a:r>
              <a:rPr lang="sk-SK" dirty="0"/>
              <a:t>po každej zmene dát je potrebné túto zmenu potvrdiť príkazom COMMIT alebo sa vrátiť k pôvodnému stavu príkazom ROLLBACK</a:t>
            </a:r>
          </a:p>
          <a:p>
            <a:pPr lvl="1"/>
            <a:r>
              <a:rPr lang="sk-SK" dirty="0"/>
              <a:t>nepotvrdené zmeny vidíte iba vo svojej session, až keď ich potvrdíte stanú sa viditeľnými aj pre iné spojenia. Viac vám prezradíme neskôr.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49784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vkladanie dát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</a:t>
            </a:r>
            <a:r>
              <a:rPr lang="sk-SK" sz="2000" dirty="0">
                <a:latin typeface="Consolas" panose="020B0609020204030204" pitchFamily="49" charset="0"/>
              </a:rPr>
              <a:t> INTO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tabu</a:t>
            </a:r>
            <a:r>
              <a:rPr lang="sk-SK" sz="2000" dirty="0">
                <a:latin typeface="Consolas" panose="020B0609020204030204" pitchFamily="49" charset="0"/>
              </a:rPr>
              <a:t>ľky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	VALUES (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zoznam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hodn</a:t>
            </a:r>
            <a:r>
              <a:rPr lang="sk-SK" sz="2000" dirty="0">
                <a:latin typeface="Consolas" panose="020B0609020204030204" pitchFamily="49" charset="0"/>
              </a:rPr>
              <a:t>ô</a:t>
            </a:r>
            <a:r>
              <a:rPr lang="en-US" sz="2000" dirty="0">
                <a:latin typeface="Consolas" panose="020B0609020204030204" pitchFamily="49" charset="0"/>
              </a:rPr>
              <a:t>t&gt;</a:t>
            </a:r>
            <a:r>
              <a:rPr lang="sk-SK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</a:t>
            </a:r>
            <a:r>
              <a:rPr lang="sk-SK" sz="2000" dirty="0">
                <a:latin typeface="Consolas" panose="020B0609020204030204" pitchFamily="49" charset="0"/>
              </a:rPr>
              <a:t> INTO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tabu</a:t>
            </a:r>
            <a:r>
              <a:rPr lang="sk-SK" sz="2000" dirty="0">
                <a:latin typeface="Consolas" panose="020B0609020204030204" pitchFamily="49" charset="0"/>
              </a:rPr>
              <a:t>ľky</a:t>
            </a:r>
            <a:r>
              <a:rPr lang="en-US" sz="2000" dirty="0">
                <a:latin typeface="Consolas" panose="020B0609020204030204" pitchFamily="49" charset="0"/>
              </a:rPr>
              <a:t>&gt; </a:t>
            </a:r>
            <a:r>
              <a:rPr lang="sk-SK" sz="2000" dirty="0">
                <a:latin typeface="Consolas" panose="020B0609020204030204" pitchFamily="49" charset="0"/>
              </a:rPr>
              <a:t>(zoznam vybratých stĺpcov)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	VALUES (hodnoty pre vybratý zoznam);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k-SK" sz="2000" dirty="0"/>
              <a:t>pridanie každého záznamu je cez INSERT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k-SK" sz="2000" dirty="0"/>
              <a:t>jednotlivé hodnoty musia byť uvedené v poradí ako sú zadefinované stĺpce tabuľky alebo v poradí ako ich vymenujeme</a:t>
            </a:r>
          </a:p>
          <a:p>
            <a:pPr marL="0" indent="0">
              <a:buNone/>
            </a:pPr>
            <a:r>
              <a:rPr lang="sk-SK" sz="2000" dirty="0">
                <a:latin typeface="Consolas" panose="020B0609020204030204" pitchFamily="49" charset="0"/>
              </a:rPr>
              <a:t>INSERT INTO zame</a:t>
            </a:r>
            <a:r>
              <a:rPr lang="en-US" sz="2000" dirty="0">
                <a:latin typeface="Consolas" panose="020B0609020204030204" pitchFamily="49" charset="0"/>
              </a:rPr>
              <a:t>s</a:t>
            </a:r>
            <a:r>
              <a:rPr lang="sk-SK" sz="2000" dirty="0">
                <a:latin typeface="Consolas" panose="020B0609020204030204" pitchFamily="49" charset="0"/>
              </a:rPr>
              <a:t>tnanec VALUES (12345, </a:t>
            </a:r>
            <a:r>
              <a:rPr lang="en-US" sz="2000" dirty="0">
                <a:latin typeface="Consolas" panose="020B0609020204030204" pitchFamily="49" charset="0"/>
              </a:rPr>
              <a:t>‘J</a:t>
            </a:r>
            <a:r>
              <a:rPr lang="sk-SK" sz="2000" dirty="0">
                <a:latin typeface="Consolas" panose="020B0609020204030204" pitchFamily="49" charset="0"/>
              </a:rPr>
              <a:t>án</a:t>
            </a:r>
            <a:r>
              <a:rPr lang="en-US" sz="2000" dirty="0">
                <a:latin typeface="Consolas" panose="020B0609020204030204" pitchFamily="49" charset="0"/>
              </a:rPr>
              <a:t>’,’Mal</a:t>
            </a:r>
            <a:r>
              <a:rPr lang="sk-SK" sz="2000" dirty="0">
                <a:latin typeface="Consolas" panose="020B0609020204030204" pitchFamily="49" charset="0"/>
              </a:rPr>
              <a:t>ý</a:t>
            </a:r>
            <a:r>
              <a:rPr lang="en-US" sz="2000" dirty="0">
                <a:latin typeface="Consolas" panose="020B0609020204030204" pitchFamily="49" charset="0"/>
              </a:rPr>
              <a:t>’ ‘</a:t>
            </a:r>
            <a:r>
              <a:rPr lang="en-US" sz="2000" dirty="0" err="1">
                <a:latin typeface="Consolas" panose="020B0609020204030204" pitchFamily="49" charset="0"/>
              </a:rPr>
              <a:t>Ko</a:t>
            </a:r>
            <a:r>
              <a:rPr lang="sk-SK" sz="2000" dirty="0">
                <a:latin typeface="Consolas" panose="020B0609020204030204" pitchFamily="49" charset="0"/>
              </a:rPr>
              <a:t>š</a:t>
            </a:r>
            <a:r>
              <a:rPr lang="en-US" sz="2000" dirty="0">
                <a:latin typeface="Consolas" panose="020B0609020204030204" pitchFamily="49" charset="0"/>
              </a:rPr>
              <a:t>ice’, ’11-mar-1978’, </a:t>
            </a:r>
            <a:r>
              <a:rPr lang="sk-SK" sz="2000" dirty="0">
                <a:latin typeface="Consolas" panose="020B0609020204030204" pitchFamily="49" charset="0"/>
              </a:rPr>
              <a:t>700, </a:t>
            </a:r>
            <a:r>
              <a:rPr lang="en-US" sz="2000" dirty="0">
                <a:latin typeface="Consolas" panose="020B0609020204030204" pitchFamily="49" charset="0"/>
              </a:rPr>
              <a:t>22, 5);</a:t>
            </a:r>
            <a:endParaRPr lang="sk-SK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</a:rPr>
              <a:t>INSERT INTO </a:t>
            </a:r>
            <a:r>
              <a:rPr lang="en-US" sz="2000" dirty="0" err="1">
                <a:latin typeface="Consolas" panose="020B0609020204030204" pitchFamily="49" charset="0"/>
              </a:rPr>
              <a:t>zamestnanec</a:t>
            </a:r>
            <a:r>
              <a:rPr lang="en-US" sz="2000" dirty="0">
                <a:latin typeface="Consolas" panose="020B0609020204030204" pitchFamily="49" charset="0"/>
              </a:rPr>
              <a:t> (</a:t>
            </a:r>
            <a:r>
              <a:rPr lang="en-US" sz="2000" dirty="0" err="1">
                <a:latin typeface="Consolas" panose="020B0609020204030204" pitchFamily="49" charset="0"/>
              </a:rPr>
              <a:t>ev_cislo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id_odd</a:t>
            </a:r>
            <a:r>
              <a:rPr lang="en-US" sz="2000" dirty="0">
                <a:latin typeface="Consolas" panose="020B0609020204030204" pitchFamily="49" charset="0"/>
              </a:rPr>
              <a:t>) VALUES (12378,’Pavel’,2); 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k-SK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12670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aktualizácia dát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sk-SK" sz="2000" dirty="0">
                <a:solidFill>
                  <a:schemeClr val="accent1"/>
                </a:solidFill>
                <a:latin typeface="Consolas" panose="020B0609020204030204" pitchFamily="49" charset="0"/>
              </a:rPr>
              <a:t>UPDATE</a:t>
            </a:r>
            <a:r>
              <a:rPr lang="sk-SK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tabuľky</a:t>
            </a:r>
            <a:r>
              <a:rPr lang="en-US" sz="2000" dirty="0">
                <a:latin typeface="Consolas" panose="020B0609020204030204" pitchFamily="49" charset="0"/>
              </a:rPr>
              <a:t>&gt; 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SET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stĺpca1</a:t>
            </a:r>
            <a:r>
              <a:rPr lang="en-US" sz="2000" dirty="0">
                <a:latin typeface="Consolas" panose="020B0609020204030204" pitchFamily="49" charset="0"/>
              </a:rPr>
              <a:t>&gt; =</a:t>
            </a:r>
            <a:r>
              <a:rPr lang="sk-SK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výraz1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sk-SK" sz="2000" dirty="0">
                <a:latin typeface="Consolas" panose="020B0609020204030204" pitchFamily="49" charset="0"/>
              </a:rPr>
              <a:t>,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stĺpca2</a:t>
            </a:r>
            <a:r>
              <a:rPr lang="en-US" sz="2000" dirty="0">
                <a:latin typeface="Consolas" panose="020B0609020204030204" pitchFamily="49" charset="0"/>
              </a:rPr>
              <a:t>&gt; =</a:t>
            </a:r>
            <a:r>
              <a:rPr lang="sk-SK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výraz2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r>
              <a:rPr lang="sk-SK" sz="2000" dirty="0">
                <a:latin typeface="Consolas" panose="020B0609020204030204" pitchFamily="49" charset="0"/>
              </a:rPr>
              <a:t> ...</a:t>
            </a:r>
            <a:r>
              <a:rPr lang="en-US" sz="2000" dirty="0">
                <a:latin typeface="Consolas" panose="020B0609020204030204" pitchFamily="49" charset="0"/>
              </a:rPr>
              <a:t>]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sk-SK" sz="2000" dirty="0">
                <a:latin typeface="Consolas" panose="020B0609020204030204" pitchFamily="49" charset="0"/>
              </a:rPr>
              <a:t>WHERE </a:t>
            </a:r>
            <a:r>
              <a:rPr lang="en-US" sz="2000" dirty="0">
                <a:latin typeface="Consolas" panose="020B0609020204030204" pitchFamily="49" charset="0"/>
              </a:rPr>
              <a:t> &lt;</a:t>
            </a:r>
            <a:r>
              <a:rPr lang="sk-SK" sz="2000" dirty="0">
                <a:latin typeface="Consolas" panose="020B0609020204030204" pitchFamily="49" charset="0"/>
              </a:rPr>
              <a:t>podmienka</a:t>
            </a:r>
            <a:r>
              <a:rPr lang="en-US" sz="2000" dirty="0">
                <a:latin typeface="Consolas" panose="020B0609020204030204" pitchFamily="49" charset="0"/>
              </a:rPr>
              <a:t>&gt;];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>
                <a:solidFill>
                  <a:schemeClr val="accent1"/>
                </a:solidFill>
              </a:rPr>
              <a:t>!</a:t>
            </a:r>
            <a:r>
              <a:rPr lang="en-US" dirty="0"/>
              <a:t> </a:t>
            </a:r>
            <a:r>
              <a:rPr lang="en-US" sz="1800" dirty="0" err="1"/>
              <a:t>Podmienka</a:t>
            </a:r>
            <a:r>
              <a:rPr lang="en-US" sz="1800" dirty="0"/>
              <a:t> WHERE je </a:t>
            </a:r>
            <a:r>
              <a:rPr lang="en-US" sz="1800" dirty="0" err="1"/>
              <a:t>nepovinn</a:t>
            </a:r>
            <a:r>
              <a:rPr lang="sk-SK" sz="1800" dirty="0"/>
              <a:t>á, ale jej nezadanie vedie k zmene všetkých hodnot v prisluhajúcom stĺpci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sk-SK" sz="1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>
                <a:latin typeface="Consolas" panose="020B0609020204030204" pitchFamily="49" charset="0"/>
              </a:rPr>
              <a:t>UPDATE zamestnanec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>
                <a:latin typeface="Consolas" panose="020B0609020204030204" pitchFamily="49" charset="0"/>
              </a:rPr>
              <a:t>SET mzda = mzda+100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>
                <a:latin typeface="Consolas" panose="020B0609020204030204" pitchFamily="49" charset="0"/>
              </a:rPr>
              <a:t>WHERE UPPER(mesto) </a:t>
            </a:r>
            <a:r>
              <a:rPr lang="en-US" sz="1800" dirty="0">
                <a:latin typeface="Consolas" panose="020B0609020204030204" pitchFamily="49" charset="0"/>
              </a:rPr>
              <a:t>&lt;&gt; ‘KOSICE’</a:t>
            </a:r>
            <a:r>
              <a:rPr lang="sk-SK" sz="18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83661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</a:t>
            </a:r>
            <a:r>
              <a:rPr lang="en-US"/>
              <a:t>odstr</a:t>
            </a:r>
            <a:r>
              <a:rPr lang="sk-SK"/>
              <a:t>á</a:t>
            </a:r>
            <a:r>
              <a:rPr lang="en-US"/>
              <a:t>nenie</a:t>
            </a:r>
            <a:r>
              <a:rPr lang="sk-SK"/>
              <a:t> dát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DELETE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FROM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sk-SK" sz="2400" dirty="0">
                <a:latin typeface="Consolas" panose="020B0609020204030204" pitchFamily="49" charset="0"/>
              </a:rPr>
              <a:t>meno tabuľky</a:t>
            </a:r>
            <a:r>
              <a:rPr lang="en-US" sz="2400" dirty="0">
                <a:latin typeface="Consolas" panose="020B0609020204030204" pitchFamily="49" charset="0"/>
              </a:rPr>
              <a:t>&gt; </a:t>
            </a:r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</a:rPr>
              <a:t>[</a:t>
            </a:r>
            <a:r>
              <a:rPr lang="sk-SK" sz="2400" dirty="0">
                <a:latin typeface="Consolas" panose="020B0609020204030204" pitchFamily="49" charset="0"/>
              </a:rPr>
              <a:t>WHERE </a:t>
            </a:r>
            <a:r>
              <a:rPr lang="en-US" sz="2400" dirty="0">
                <a:latin typeface="Consolas" panose="020B0609020204030204" pitchFamily="49" charset="0"/>
              </a:rPr>
              <a:t> &lt;</a:t>
            </a:r>
            <a:r>
              <a:rPr lang="sk-SK" sz="2400" dirty="0">
                <a:latin typeface="Consolas" panose="020B0609020204030204" pitchFamily="49" charset="0"/>
              </a:rPr>
              <a:t>podmienka</a:t>
            </a:r>
            <a:r>
              <a:rPr lang="en-US" sz="2400" dirty="0">
                <a:latin typeface="Consolas" panose="020B0609020204030204" pitchFamily="49" charset="0"/>
              </a:rPr>
              <a:t>&gt;];</a:t>
            </a:r>
          </a:p>
          <a:p>
            <a:pPr eaLnBrk="1" hangingPunct="1"/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>
                <a:solidFill>
                  <a:schemeClr val="accent1"/>
                </a:solidFill>
              </a:rPr>
              <a:t>!</a:t>
            </a:r>
            <a:r>
              <a:rPr lang="sk-SK" b="1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ne</a:t>
            </a:r>
            <a:r>
              <a:rPr lang="sk-SK" sz="2400" dirty="0"/>
              <a:t>zadanie klauzuly WHERE vedie k zmazaniu všetkých dát v tabuľke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sk-SK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2400" dirty="0">
                <a:latin typeface="Consolas" panose="020B0609020204030204" pitchFamily="49" charset="0"/>
              </a:rPr>
              <a:t>DELETE FROM zamestnanec WHERE priezvisko=</a:t>
            </a:r>
            <a:r>
              <a:rPr lang="en-US" sz="2400" dirty="0">
                <a:latin typeface="Consolas" panose="020B0609020204030204" pitchFamily="49" charset="0"/>
              </a:rPr>
              <a:t>‘Mal</a:t>
            </a:r>
            <a:r>
              <a:rPr lang="sk-SK" sz="2400" dirty="0">
                <a:latin typeface="Consolas" panose="020B0609020204030204" pitchFamily="49" charset="0"/>
              </a:rPr>
              <a:t>ý</a:t>
            </a:r>
            <a:r>
              <a:rPr lang="en-US" sz="2400" dirty="0">
                <a:latin typeface="Consolas" panose="020B0609020204030204" pitchFamily="49" charset="0"/>
              </a:rPr>
              <a:t>’ AND </a:t>
            </a:r>
            <a:r>
              <a:rPr lang="en-US" sz="2400" dirty="0" err="1">
                <a:latin typeface="Consolas" panose="020B0609020204030204" pitchFamily="49" charset="0"/>
              </a:rPr>
              <a:t>meno</a:t>
            </a:r>
            <a:r>
              <a:rPr lang="en-US" sz="2400" dirty="0">
                <a:latin typeface="Consolas" panose="020B0609020204030204" pitchFamily="49" charset="0"/>
              </a:rPr>
              <a:t>=‘J</a:t>
            </a:r>
            <a:r>
              <a:rPr lang="sk-SK" sz="2400" dirty="0">
                <a:latin typeface="Consolas" panose="020B0609020204030204" pitchFamily="49" charset="0"/>
              </a:rPr>
              <a:t>án</a:t>
            </a:r>
            <a:r>
              <a:rPr lang="en-US" sz="2400" dirty="0">
                <a:latin typeface="Consolas" panose="020B0609020204030204" pitchFamily="49" charset="0"/>
              </a:rPr>
              <a:t>’</a:t>
            </a:r>
            <a:r>
              <a:rPr lang="sk-SK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3827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</a:t>
            </a:r>
            <a:r>
              <a:rPr lang="en-US"/>
              <a:t>odstr</a:t>
            </a:r>
            <a:r>
              <a:rPr lang="sk-SK"/>
              <a:t>á</a:t>
            </a:r>
            <a:r>
              <a:rPr lang="en-US"/>
              <a:t>nenie</a:t>
            </a:r>
            <a:r>
              <a:rPr lang="sk-SK"/>
              <a:t> dát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k-SK" dirty="0">
                <a:solidFill>
                  <a:schemeClr val="accent1"/>
                </a:solidFill>
              </a:rPr>
              <a:t>TRUNCATE – DDL príkaz</a:t>
            </a:r>
          </a:p>
          <a:p>
            <a:pPr marL="0" indent="0" eaLnBrk="1" hangingPunct="1">
              <a:buNone/>
            </a:pPr>
            <a:r>
              <a:rPr lang="sk-SK" b="1" dirty="0">
                <a:solidFill>
                  <a:schemeClr val="accent1"/>
                </a:solidFill>
              </a:rPr>
              <a:t>-</a:t>
            </a:r>
            <a:r>
              <a:rPr lang="sk-SK" dirty="0"/>
              <a:t> odstráni všetky riadky z tabuľky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dirty="0">
                <a:latin typeface="Consolas" panose="020B0609020204030204" pitchFamily="49" charset="0"/>
              </a:rPr>
              <a:t>TRUNCATE TABLE </a:t>
            </a:r>
            <a:r>
              <a:rPr lang="en-US" sz="2800" dirty="0">
                <a:latin typeface="Consolas" panose="020B0609020204030204" pitchFamily="49" charset="0"/>
              </a:rPr>
              <a:t>&lt;</a:t>
            </a:r>
            <a:r>
              <a:rPr lang="sk-SK" sz="2800" dirty="0">
                <a:latin typeface="Consolas" panose="020B0609020204030204" pitchFamily="49" charset="0"/>
              </a:rPr>
              <a:t>meno tabuľky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  <a:r>
              <a:rPr lang="sk-SK" sz="2800" dirty="0">
                <a:latin typeface="Consolas" panose="020B06090202040302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sk-SK" b="1" dirty="0">
                <a:solidFill>
                  <a:schemeClr val="accent1"/>
                </a:solidFill>
              </a:rPr>
              <a:t>-</a:t>
            </a:r>
            <a:r>
              <a:rPr lang="sk-SK" dirty="0"/>
              <a:t> rovnaký výsledok je možné dosiahnuť použitím (TRUNCATE však nie je transakčná operácia, je automaticky potrvrdená/commit-nutá, viac neskôr)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dirty="0">
                <a:latin typeface="Consolas" panose="020B0609020204030204" pitchFamily="49" charset="0"/>
              </a:rPr>
              <a:t>DELETE FROM </a:t>
            </a:r>
            <a:r>
              <a:rPr lang="en-US" sz="2800" dirty="0">
                <a:latin typeface="Consolas" panose="020B0609020204030204" pitchFamily="49" charset="0"/>
              </a:rPr>
              <a:t>&lt;</a:t>
            </a:r>
            <a:r>
              <a:rPr lang="sk-SK" sz="2800" dirty="0">
                <a:latin typeface="Consolas" panose="020B0609020204030204" pitchFamily="49" charset="0"/>
              </a:rPr>
              <a:t>meno tabuľky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  <a:r>
              <a:rPr lang="sk-SK" dirty="0">
                <a:latin typeface="Consolas" panose="020B0609020204030204" pitchFamily="49" charset="0"/>
              </a:rPr>
              <a:t>; COMMIT;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5262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dirty="0"/>
              <a:t>SQL – zobrazenie dát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812" y="2084832"/>
            <a:ext cx="9253138" cy="44116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k-SK" dirty="0"/>
              <a:t>- zobrazí údaje z tabuľky: </a:t>
            </a:r>
            <a:r>
              <a:rPr lang="sk-SK" dirty="0">
                <a:latin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sk-SK" b="1" dirty="0">
                <a:solidFill>
                  <a:schemeClr val="accent1"/>
                </a:solidFill>
                <a:latin typeface="Consolas" panose="020B0609020204030204" pitchFamily="49" charset="0"/>
              </a:rPr>
              <a:t>SELECT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sk-SK" dirty="0">
                <a:latin typeface="Consolas" panose="020B0609020204030204" pitchFamily="49" charset="0"/>
              </a:rPr>
              <a:t>zoznam stĺpcov v projekcii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endParaRPr lang="sk-SK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200" b="1" dirty="0">
                <a:solidFill>
                  <a:schemeClr val="accent1"/>
                </a:solidFill>
                <a:latin typeface="Consolas" panose="020B0609020204030204" pitchFamily="49" charset="0"/>
              </a:rPr>
              <a:t>FROM</a:t>
            </a:r>
            <a:r>
              <a:rPr lang="sk-SK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latin typeface="Consolas" panose="020B0609020204030204" pitchFamily="49" charset="0"/>
              </a:rPr>
              <a:t>meno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tabu</a:t>
            </a:r>
            <a:r>
              <a:rPr lang="sk-SK" sz="2200" dirty="0">
                <a:latin typeface="Consolas" panose="020B0609020204030204" pitchFamily="49" charset="0"/>
              </a:rPr>
              <a:t>ľky</a:t>
            </a:r>
            <a:r>
              <a:rPr lang="en-US" sz="2200" dirty="0">
                <a:latin typeface="Consolas" panose="020B0609020204030204" pitchFamily="49" charset="0"/>
              </a:rPr>
              <a:t>&gt;</a:t>
            </a:r>
            <a:r>
              <a:rPr lang="sk-SK" sz="2200" dirty="0">
                <a:latin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200" dirty="0">
                <a:latin typeface="Consolas" panose="020B0609020204030204" pitchFamily="49" charset="0"/>
              </a:rPr>
              <a:t>SELECT * FROM zamestnanec; </a:t>
            </a:r>
          </a:p>
          <a:p>
            <a:pPr lvl="1"/>
            <a:r>
              <a:rPr lang="sk-SK" sz="2200" dirty="0">
                <a:latin typeface="Consolas" panose="020B0609020204030204" pitchFamily="49" charset="0"/>
              </a:rPr>
              <a:t>zobrazí všetky stĺpce a všetky riadky z tabuľky zamestnanec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200" dirty="0">
                <a:latin typeface="Consolas" panose="020B0609020204030204" pitchFamily="49" charset="0"/>
              </a:rPr>
              <a:t>SELECT meno, priezvisko FROM zamestnanec;</a:t>
            </a:r>
          </a:p>
          <a:p>
            <a:pPr lvl="1"/>
            <a:r>
              <a:rPr lang="sk-SK" sz="2200" dirty="0">
                <a:latin typeface="Consolas" panose="020B0609020204030204" pitchFamily="49" charset="0"/>
              </a:rPr>
              <a:t>pre každý riadok tabuľky zamestnanec zobrazí iba údaje zo stĺpcov meno a priezvisko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16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/>
          </a:p>
        </p:txBody>
      </p:sp>
    </p:spTree>
    <p:extLst>
      <p:ext uri="{BB962C8B-B14F-4D97-AF65-F5344CB8AC3E}">
        <p14:creationId xmlns:p14="http://schemas.microsoft.com/office/powerpoint/2010/main" val="1358224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SQL – zobrazenie dát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k-SK" dirty="0"/>
              <a:t>- pomocou príkazu DISTINCT vieme odstrániť duplikáty z výsledku t.j. každá hodnota z daného stĺpca sa zobrazí iba raz </a:t>
            </a:r>
          </a:p>
          <a:p>
            <a:pPr>
              <a:buNone/>
            </a:pPr>
            <a:r>
              <a:rPr lang="sk-SK" dirty="0">
                <a:latin typeface="Consolas" panose="020B0609020204030204" pitchFamily="49" charset="0"/>
              </a:rPr>
              <a:t>  SELECT </a:t>
            </a:r>
            <a:r>
              <a:rPr lang="sk-SK" b="1" dirty="0">
                <a:solidFill>
                  <a:schemeClr val="accent1"/>
                </a:solidFill>
                <a:latin typeface="Consolas" panose="020B0609020204030204" pitchFamily="49" charset="0"/>
              </a:rPr>
              <a:t>DISTINCT </a:t>
            </a:r>
            <a:r>
              <a:rPr lang="sk-SK" dirty="0">
                <a:latin typeface="Consolas" panose="020B0609020204030204" pitchFamily="49" charset="0"/>
              </a:rPr>
              <a:t>mesto FROM zamestnanec;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sk-SK" dirty="0">
                <a:latin typeface="Consolas" panose="020B0609020204030204" pitchFamily="49" charset="0"/>
              </a:rPr>
              <a:t> výsledkom tohto príkazu bude zoznam miest, v ktorých žijú zamestnanci a každé mesto tam bude iba raz 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sk-SK" sz="2200" dirty="0">
                <a:latin typeface="Consolas" panose="020B0609020204030204" pitchFamily="49" charset="0"/>
              </a:rPr>
              <a:t>	- vymenovaním stĺpcov v SELECT príkaze vieme filtrovať stĺpce, ktoré sa majú zobraziť, pomocou klauzuly WHERE vieme zobraziť iba požadované riadky tabuľky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sk-SK" sz="2200" dirty="0">
                <a:latin typeface="Consolas" panose="020B0609020204030204" pitchFamily="49" charset="0"/>
              </a:rPr>
              <a:t>SELECT meno, priezvisko FROM zamestnanec </a:t>
            </a:r>
            <a:r>
              <a:rPr lang="sk-SK" sz="2200" b="1" dirty="0">
                <a:solidFill>
                  <a:schemeClr val="accent1"/>
                </a:solidFill>
                <a:latin typeface="Consolas" panose="020B0609020204030204" pitchFamily="49" charset="0"/>
              </a:rPr>
              <a:t>WHERE</a:t>
            </a:r>
            <a:r>
              <a:rPr lang="sk-SK" sz="2200" dirty="0">
                <a:latin typeface="Consolas" panose="020B0609020204030204" pitchFamily="49" charset="0"/>
              </a:rPr>
              <a:t> UPPER(mesto)=´KOŠICE´;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sk-SK" dirty="0"/>
              <a:t>výsledkom bude zoznam mien zamestnancov, ktorý žijú v Košiciach</a:t>
            </a:r>
          </a:p>
          <a:p>
            <a:pPr lvl="1">
              <a:buNone/>
            </a:pPr>
            <a:endParaRPr lang="sk-SK" sz="1600" dirty="0"/>
          </a:p>
          <a:p>
            <a:pPr lvl="1">
              <a:buNone/>
            </a:pPr>
            <a:r>
              <a:rPr lang="sk-SK" sz="1900" dirty="0"/>
              <a:t>Poznámka:</a:t>
            </a:r>
          </a:p>
          <a:p>
            <a:pPr lvl="1">
              <a:buNone/>
            </a:pPr>
            <a:r>
              <a:rPr lang="sk-SK" sz="1900" dirty="0"/>
              <a:t>Jazyk SQL je insensitive- jednotlivé klauzuly môžeme písať akýmikoľvek písmenami (SELECT=select=SelecT). To neplatí ak porovnávame hodnoty stĺpca.</a:t>
            </a:r>
          </a:p>
          <a:p>
            <a:pPr>
              <a:buNone/>
            </a:pPr>
            <a:endParaRPr lang="sk-SK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25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základné operátory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Tw Cen MT" panose="020B0602020104020603" pitchFamily="34" charset="0"/>
              <a:buChar char=" "/>
            </a:pPr>
            <a:r>
              <a:rPr lang="sk-SK" dirty="0"/>
              <a:t>- pri filtrovaní riadkov tabuľky na porovnavanie hodnôt používame operátory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relačné operátory</a:t>
            </a:r>
            <a:r>
              <a:rPr lang="en-US" dirty="0"/>
              <a:t>:</a:t>
            </a:r>
            <a:r>
              <a:rPr lang="sk-SK" dirty="0"/>
              <a:t>  = , </a:t>
            </a:r>
            <a:r>
              <a:rPr lang="en-US" dirty="0"/>
              <a:t>&gt;, &lt;</a:t>
            </a:r>
            <a:r>
              <a:rPr lang="sk-SK" dirty="0"/>
              <a:t>, &lt;&gt;, !=, &lt;=, &gt;=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aritmetické operátory</a:t>
            </a:r>
            <a:r>
              <a:rPr lang="en-US" dirty="0"/>
              <a:t>:</a:t>
            </a:r>
            <a:r>
              <a:rPr lang="sk-SK" dirty="0"/>
              <a:t>  +, -, * , /, MOD(a,b) 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|| - spojenie dvoch reťazcov (konkatenácia)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IS [NOT] NULL - test na hodnotu NULL 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sk-SK" dirty="0"/>
              <a:t> l</a:t>
            </a:r>
            <a:r>
              <a:rPr lang="en-US" dirty="0" err="1"/>
              <a:t>ogick</a:t>
            </a:r>
            <a:r>
              <a:rPr lang="sk-SK" dirty="0"/>
              <a:t>é operátory: AND, OR, NOT</a:t>
            </a:r>
          </a:p>
          <a:p>
            <a:pPr eaLnBrk="1" hangingPunct="1"/>
            <a:endParaRPr lang="sk-SK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3300" dirty="0">
                <a:latin typeface="Consolas" panose="020B0609020204030204" pitchFamily="49" charset="0"/>
              </a:rPr>
              <a:t>SELECT * FROM zamestnanec WHERE meno=´Ján´ AND priezvisko=´Malý´;</a:t>
            </a:r>
          </a:p>
        </p:txBody>
      </p:sp>
    </p:spTree>
    <p:extLst>
      <p:ext uri="{BB962C8B-B14F-4D97-AF65-F5344CB8AC3E}">
        <p14:creationId xmlns:p14="http://schemas.microsoft.com/office/powerpoint/2010/main" val="1237565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základné operátory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022" y="2283286"/>
            <a:ext cx="9998580" cy="441935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k-SK" sz="2100" b="1" i="1" dirty="0"/>
              <a:t>BETWEEN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sk-SK" sz="2300" dirty="0">
                <a:latin typeface="Consolas" panose="020B0609020204030204" pitchFamily="49" charset="0"/>
              </a:rPr>
              <a:t>SELECT * FROM zamestnanec WHERE mzda </a:t>
            </a:r>
            <a:r>
              <a:rPr lang="sk-SK" sz="2300" dirty="0">
                <a:solidFill>
                  <a:schemeClr val="accent1"/>
                </a:solidFill>
                <a:latin typeface="Consolas" panose="020B0609020204030204" pitchFamily="49" charset="0"/>
              </a:rPr>
              <a:t>BETWEEN</a:t>
            </a:r>
            <a:r>
              <a:rPr lang="sk-SK" sz="2300" dirty="0">
                <a:latin typeface="Consolas" panose="020B0609020204030204" pitchFamily="49" charset="0"/>
              </a:rPr>
              <a:t> 500 AND 1000;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k-SK" sz="2100" b="1" i="1" dirty="0"/>
              <a:t>IN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sk-SK" sz="2400" dirty="0">
                <a:latin typeface="Consolas" panose="020B0609020204030204" pitchFamily="49" charset="0"/>
              </a:rPr>
              <a:t>SELECT * FROM zamestnanec WHERE mzda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sk-SK" sz="2400" dirty="0">
                <a:latin typeface="Consolas" panose="020B0609020204030204" pitchFamily="49" charset="0"/>
              </a:rPr>
              <a:t> (500, 550, 600);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k-SK" sz="2100" b="1" i="1" dirty="0"/>
              <a:t>LIKE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sk-SK" sz="2400" dirty="0">
                <a:latin typeface="Consolas" panose="020B0609020204030204" pitchFamily="49" charset="0"/>
              </a:rPr>
              <a:t>SELECT * FROM zamestnanec WHERE priezvisko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LIKE</a:t>
            </a:r>
            <a:r>
              <a:rPr lang="sk-SK" sz="2400" dirty="0">
                <a:latin typeface="Consolas" panose="020B0609020204030204" pitchFamily="49" charset="0"/>
              </a:rPr>
              <a:t> ´</a:t>
            </a:r>
            <a:r>
              <a:rPr lang="en-US" sz="2400" dirty="0">
                <a:latin typeface="Consolas" panose="020B0609020204030204" pitchFamily="49" charset="0"/>
              </a:rPr>
              <a:t>%</a:t>
            </a:r>
            <a:r>
              <a:rPr lang="sk-SK" sz="2400" dirty="0">
                <a:latin typeface="Consolas" panose="020B0609020204030204" pitchFamily="49" charset="0"/>
              </a:rPr>
              <a:t>ová´;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1800" dirty="0"/>
              <a:t>Poznámka: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800" dirty="0"/>
              <a:t>%</a:t>
            </a:r>
            <a:r>
              <a:rPr lang="sk-SK" sz="1800" dirty="0"/>
              <a:t> - skupina ľubovoľných znakov dĺžky 0 až 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1800" dirty="0"/>
              <a:t>_  - jeden ľubovoľný znak</a:t>
            </a:r>
          </a:p>
        </p:txBody>
      </p:sp>
    </p:spTree>
    <p:extLst>
      <p:ext uri="{BB962C8B-B14F-4D97-AF65-F5344CB8AC3E}">
        <p14:creationId xmlns:p14="http://schemas.microsoft.com/office/powerpoint/2010/main" val="4247818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 – ORDER BY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701" y="2206374"/>
            <a:ext cx="8362950" cy="4446587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sk-SK" dirty="0"/>
              <a:t>triedenie/zoradenie záznamov podľa hodnôt niektorého stĺpca resp. Stĺpcov</a:t>
            </a:r>
          </a:p>
          <a:p>
            <a:pPr lvl="1" eaLnBrk="1" hangingPunct="1"/>
            <a:r>
              <a:rPr lang="sk-SK" dirty="0"/>
              <a:t>ASC – vzostupne, defaultná triedenie</a:t>
            </a:r>
          </a:p>
          <a:p>
            <a:pPr lvl="1" eaLnBrk="1" hangingPunct="1"/>
            <a:r>
              <a:rPr lang="sk-SK" dirty="0"/>
              <a:t>DESC – zostupne </a:t>
            </a:r>
          </a:p>
          <a:p>
            <a:pPr eaLnBrk="1" hangingPunct="1"/>
            <a:endParaRPr lang="sk-SK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dirty="0"/>
              <a:t> </a:t>
            </a:r>
            <a:r>
              <a:rPr lang="sk-SK" sz="2000" dirty="0">
                <a:latin typeface="Consolas" panose="020B0609020204030204" pitchFamily="49" charset="0"/>
              </a:rPr>
              <a:t>SELECT priezvisko, meno FROM zamestnanec ORDER BY priezvisko;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SELECT priezvisko, meno FROM zamestnanec ORDER BY 1, 2 DESC;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82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Vstavané funkcie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sk-SK" sz="2400" dirty="0"/>
              <a:t>- </a:t>
            </a:r>
            <a:r>
              <a:rPr lang="en-US" sz="2400" dirty="0" err="1"/>
              <a:t>pri</a:t>
            </a:r>
            <a:r>
              <a:rPr lang="en-US" sz="2400" dirty="0"/>
              <a:t> </a:t>
            </a:r>
            <a:r>
              <a:rPr lang="en-US" sz="2400" dirty="0" err="1"/>
              <a:t>zobrazovan</a:t>
            </a:r>
            <a:r>
              <a:rPr lang="sk-SK" sz="2400" dirty="0"/>
              <a:t>í dát využívame aj množstvo už „predvytvorených“ – vstavaných funkcií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/>
              <a:t>j</a:t>
            </a:r>
            <a:r>
              <a:rPr lang="sk-SK" sz="2400" b="1" dirty="0"/>
              <a:t>ednozáznamové funkcie (</a:t>
            </a:r>
            <a:r>
              <a:rPr lang="en-US" sz="2400" b="1" dirty="0"/>
              <a:t>1 </a:t>
            </a:r>
            <a:r>
              <a:rPr lang="sk-SK" sz="2400" b="1" dirty="0"/>
              <a:t>záznam -</a:t>
            </a:r>
            <a:r>
              <a:rPr lang="en-US" sz="2400" b="1" dirty="0"/>
              <a:t>&gt; </a:t>
            </a:r>
            <a:r>
              <a:rPr lang="sk-SK" sz="2400" b="1" dirty="0"/>
              <a:t>1 hodnota)</a:t>
            </a:r>
          </a:p>
          <a:p>
            <a:pPr lvl="1" eaLnBrk="1" hangingPunct="1">
              <a:defRPr/>
            </a:pPr>
            <a:r>
              <a:rPr lang="sk-SK" sz="2000" dirty="0"/>
              <a:t>aritmetické funkcie</a:t>
            </a:r>
          </a:p>
          <a:p>
            <a:pPr lvl="1" eaLnBrk="1" hangingPunct="1">
              <a:defRPr/>
            </a:pPr>
            <a:r>
              <a:rPr lang="sk-SK" sz="2000" dirty="0"/>
              <a:t>reťazcové funkcie</a:t>
            </a:r>
          </a:p>
          <a:p>
            <a:pPr lvl="2" eaLnBrk="1" hangingPunct="1">
              <a:defRPr/>
            </a:pPr>
            <a:r>
              <a:rPr lang="sk-SK" sz="1600" dirty="0"/>
              <a:t>vracajúce reťazec</a:t>
            </a:r>
          </a:p>
          <a:p>
            <a:pPr lvl="2" eaLnBrk="1" hangingPunct="1">
              <a:defRPr/>
            </a:pPr>
            <a:r>
              <a:rPr lang="sk-SK" sz="1600" dirty="0"/>
              <a:t>vracajúce numerické hodnoty</a:t>
            </a:r>
          </a:p>
          <a:p>
            <a:pPr lvl="1" eaLnBrk="1" hangingPunct="1">
              <a:defRPr/>
            </a:pPr>
            <a:r>
              <a:rPr lang="sk-SK" sz="2000" dirty="0"/>
              <a:t>dátumové funkcie</a:t>
            </a:r>
          </a:p>
          <a:p>
            <a:pPr lvl="1" eaLnBrk="1" hangingPunct="1">
              <a:defRPr/>
            </a:pPr>
            <a:r>
              <a:rPr lang="sk-SK" sz="2000" dirty="0"/>
              <a:t>funkcie pre konverziu dátových typov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sk-SK" sz="2400" b="1" dirty="0"/>
              <a:t>agregované funkcie (množina záznamov -</a:t>
            </a:r>
            <a:r>
              <a:rPr lang="en-US" sz="2400" b="1" dirty="0"/>
              <a:t>&gt; </a:t>
            </a:r>
            <a:r>
              <a:rPr lang="sk-SK" sz="2400" b="1" dirty="0"/>
              <a:t>1 hodnota)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sk-SK" sz="2000" dirty="0"/>
          </a:p>
        </p:txBody>
      </p:sp>
    </p:spTree>
    <p:extLst>
      <p:ext uri="{BB962C8B-B14F-4D97-AF65-F5344CB8AC3E}">
        <p14:creationId xmlns:p14="http://schemas.microsoft.com/office/powerpoint/2010/main" val="1682758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Aritmetické funkcie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266" y="1947863"/>
            <a:ext cx="10560050" cy="4411662"/>
          </a:xfrm>
        </p:spPr>
        <p:txBody>
          <a:bodyPr/>
          <a:lstStyle/>
          <a:p>
            <a:pPr eaLnBrk="1" hangingPunct="1"/>
            <a:r>
              <a:rPr lang="sk-SK" sz="2400" dirty="0"/>
              <a:t>numerický vstup </a:t>
            </a:r>
            <a:r>
              <a:rPr lang="en-US" sz="2400" dirty="0"/>
              <a:t>-&gt; </a:t>
            </a:r>
            <a:r>
              <a:rPr lang="sk-SK" sz="2400" dirty="0"/>
              <a:t>numerická hodnota (NUMBER)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ABS(-15) </a:t>
            </a:r>
            <a:r>
              <a:rPr lang="en-US" sz="1800" dirty="0"/>
              <a:t>-&gt;</a:t>
            </a:r>
            <a:r>
              <a:rPr lang="sk-SK" sz="1800" dirty="0"/>
              <a:t>15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CEIL(2,7) </a:t>
            </a:r>
            <a:r>
              <a:rPr lang="en-US" sz="1800" dirty="0"/>
              <a:t>-&gt;</a:t>
            </a:r>
            <a:r>
              <a:rPr lang="sk-SK" sz="1800" dirty="0"/>
              <a:t> 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FLOOR(2.8) </a:t>
            </a:r>
            <a:r>
              <a:rPr lang="en-US" sz="1800" dirty="0"/>
              <a:t>-&gt;</a:t>
            </a:r>
            <a:r>
              <a:rPr lang="sk-SK" sz="1800" dirty="0"/>
              <a:t> 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ROUND(10.589) </a:t>
            </a:r>
            <a:r>
              <a:rPr lang="en-US" sz="1800" dirty="0"/>
              <a:t>-&gt;</a:t>
            </a:r>
            <a:r>
              <a:rPr lang="sk-SK" sz="1800" dirty="0"/>
              <a:t> 10.6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MOD(8, 3) </a:t>
            </a:r>
            <a:r>
              <a:rPr lang="en-US" sz="1800" dirty="0"/>
              <a:t>-&gt;</a:t>
            </a:r>
            <a:r>
              <a:rPr lang="sk-SK" sz="1800" dirty="0"/>
              <a:t> 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viac info:</a:t>
            </a:r>
            <a:r>
              <a:rPr lang="en-US" sz="1600" dirty="0">
                <a:latin typeface="Consolas" panose="020B0609020204030204" pitchFamily="49" charset="0"/>
                <a:hlinkClick r:id="rId2"/>
              </a:rPr>
              <a:t>https://docs.oracle.com/cd/E11882_01/server.112/e41084/functions002.htm#SQLRF51178</a:t>
            </a:r>
            <a:endParaRPr lang="sk-SK" sz="1600" dirty="0">
              <a:latin typeface="Consolas" panose="020B0609020204030204" pitchFamily="49" charset="0"/>
            </a:endParaRP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5356348" y="2411757"/>
            <a:ext cx="410527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50000"/>
              </a:lnSpc>
            </a:pPr>
            <a:r>
              <a:rPr lang="sk-SK" dirty="0"/>
              <a:t>POWER(2, 3) </a:t>
            </a:r>
            <a:r>
              <a:rPr lang="en-US" dirty="0"/>
              <a:t>-&gt;</a:t>
            </a:r>
            <a:r>
              <a:rPr lang="sk-SK" dirty="0"/>
              <a:t> 8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SQRT(25) </a:t>
            </a:r>
            <a:r>
              <a:rPr lang="en-US" dirty="0"/>
              <a:t>-&gt;</a:t>
            </a:r>
            <a:r>
              <a:rPr lang="sk-SK" dirty="0"/>
              <a:t> 5 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SIGN (-15) </a:t>
            </a:r>
            <a:r>
              <a:rPr lang="en-US" dirty="0"/>
              <a:t>-&gt;</a:t>
            </a:r>
            <a:r>
              <a:rPr lang="sk-SK" dirty="0"/>
              <a:t> -1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GREATEST(105, 23, -85) </a:t>
            </a:r>
            <a:r>
              <a:rPr lang="en-US" dirty="0"/>
              <a:t>-&gt;</a:t>
            </a:r>
            <a:r>
              <a:rPr lang="sk-SK" dirty="0"/>
              <a:t> 105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LEAST(105, 23, -85) </a:t>
            </a:r>
            <a:r>
              <a:rPr lang="en-US" dirty="0"/>
              <a:t>-&gt;</a:t>
            </a:r>
            <a:r>
              <a:rPr lang="sk-SK" dirty="0"/>
              <a:t> -85</a:t>
            </a:r>
          </a:p>
          <a:p>
            <a:pPr eaLnBrk="1" hangingPunct="1">
              <a:spcBef>
                <a:spcPct val="50000"/>
              </a:spcBef>
            </a:pPr>
            <a:endParaRPr lang="sk-SK" dirty="0"/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744872" y="4547224"/>
            <a:ext cx="938322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</a:pPr>
            <a:r>
              <a:rPr lang="sk-SK" sz="1600" dirty="0">
                <a:latin typeface="Consolas" panose="020B0609020204030204" pitchFamily="49" charset="0"/>
              </a:rPr>
              <a:t>SELECT  meno, priezvisko, DECODE (predvoľba, 420, ´Česko´,                                                                 421, ´Slovensko´, 43, ´Rakúsko´) AS „Krajina“ FROM hovory;</a:t>
            </a:r>
            <a:endParaRPr lang="en-US" sz="16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1600" dirty="0"/>
              <a:t>- </a:t>
            </a:r>
            <a:r>
              <a:rPr lang="sk-SK" sz="1600" dirty="0"/>
              <a:t>z</a:t>
            </a:r>
            <a:r>
              <a:rPr lang="en-US" sz="1600" dirty="0" err="1"/>
              <a:t>obraz</a:t>
            </a:r>
            <a:r>
              <a:rPr lang="sk-SK" sz="1600" dirty="0"/>
              <a:t>í zoznam mien (meno a priezvisko) a krajinu, kde telefonovali, pričom názov krajiny sa určí na základe predvoľby. Ak predvoľba bude iná ako vymenované, nahradí ju hodnotou NULL; viac: </a:t>
            </a:r>
            <a:r>
              <a:rPr lang="en-US" sz="1600" dirty="0">
                <a:hlinkClick r:id="rId3"/>
              </a:rPr>
              <a:t>https://docs.oracle.com/cd/E11882_01/server.112/e41084/functions049.htm</a:t>
            </a:r>
            <a:r>
              <a:rPr lang="en-US" sz="1600">
                <a:hlinkClick r:id="rId3"/>
              </a:rPr>
              <a:t>#SQLRF00631</a:t>
            </a:r>
            <a:endParaRPr lang="sk-SK" sz="1600" dirty="0"/>
          </a:p>
        </p:txBody>
      </p:sp>
    </p:spTree>
    <p:extLst>
      <p:ext uri="{BB962C8B-B14F-4D97-AF65-F5344CB8AC3E}">
        <p14:creationId xmlns:p14="http://schemas.microsoft.com/office/powerpoint/2010/main" val="17702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Reťazcové funkcie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480" y="2021882"/>
            <a:ext cx="4324172" cy="4411663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sk-SK" sz="1800" b="1" i="1" dirty="0"/>
              <a:t>vracajúce reťazec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UPPER('A</a:t>
            </a:r>
            <a:r>
              <a:rPr lang="en-US" sz="1600" dirty="0" err="1"/>
              <a:t>bba</a:t>
            </a:r>
            <a:r>
              <a:rPr lang="sk-SK" sz="1600" dirty="0"/>
              <a:t>') </a:t>
            </a:r>
            <a:r>
              <a:rPr lang="en-US" sz="1600" dirty="0"/>
              <a:t>-&gt; ABBA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LOWER('A</a:t>
            </a:r>
            <a:r>
              <a:rPr lang="en-US" sz="1600" dirty="0" err="1"/>
              <a:t>bba</a:t>
            </a:r>
            <a:r>
              <a:rPr lang="sk-SK" sz="1600" dirty="0"/>
              <a:t>') </a:t>
            </a:r>
            <a:r>
              <a:rPr lang="en-US" sz="1600" dirty="0"/>
              <a:t>-&gt; </a:t>
            </a:r>
            <a:r>
              <a:rPr lang="en-US" sz="1600" dirty="0" err="1"/>
              <a:t>abba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SUBSTR('A</a:t>
            </a:r>
            <a:r>
              <a:rPr lang="en-US" sz="1600" dirty="0" err="1"/>
              <a:t>bba</a:t>
            </a:r>
            <a:r>
              <a:rPr lang="sk-SK" sz="1600" dirty="0"/>
              <a:t>', 2, 2) </a:t>
            </a:r>
            <a:r>
              <a:rPr lang="en-US" sz="1600" dirty="0"/>
              <a:t>-&gt; bb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TRIM(' </a:t>
            </a:r>
            <a:r>
              <a:rPr lang="en-US" sz="1600" dirty="0" err="1"/>
              <a:t>abba</a:t>
            </a:r>
            <a:r>
              <a:rPr lang="sk-SK" sz="1600" dirty="0"/>
              <a:t> ')</a:t>
            </a:r>
            <a:r>
              <a:rPr lang="en-US" sz="1600" dirty="0"/>
              <a:t> -&gt; </a:t>
            </a:r>
            <a:r>
              <a:rPr lang="en-US" sz="1600" dirty="0" err="1"/>
              <a:t>abba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INITCAP(‘</a:t>
            </a:r>
            <a:r>
              <a:rPr lang="en-US" sz="1600" dirty="0" err="1"/>
              <a:t>janko</a:t>
            </a:r>
            <a:r>
              <a:rPr lang="sk-SK" sz="1600" dirty="0"/>
              <a:t> M</a:t>
            </a:r>
            <a:r>
              <a:rPr lang="en-US" sz="1600" dirty="0"/>
              <a:t>RKVI</a:t>
            </a:r>
            <a:r>
              <a:rPr lang="sk-SK" sz="1600" dirty="0"/>
              <a:t>Č</a:t>
            </a:r>
            <a:r>
              <a:rPr lang="en-US" sz="1600" dirty="0"/>
              <a:t>KA</a:t>
            </a:r>
            <a:r>
              <a:rPr lang="sk-SK" sz="1600" dirty="0"/>
              <a:t>')</a:t>
            </a:r>
            <a:r>
              <a:rPr lang="en-US" sz="1600" dirty="0"/>
              <a:t> -&gt; </a:t>
            </a:r>
            <a:r>
              <a:rPr lang="sk-SK" sz="1600" dirty="0"/>
              <a:t>Janko Mrkvička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REPLACE('Milan','lan','chal') </a:t>
            </a:r>
            <a:r>
              <a:rPr lang="en-US" sz="1600" dirty="0"/>
              <a:t>-&gt;</a:t>
            </a:r>
            <a:r>
              <a:rPr lang="sk-SK" sz="1600" dirty="0"/>
              <a:t> Michal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CONCAT(´Anna´,´maria´) </a:t>
            </a:r>
            <a:r>
              <a:rPr lang="en-US" sz="1600" dirty="0"/>
              <a:t>-&gt; </a:t>
            </a:r>
            <a:r>
              <a:rPr lang="en-US" sz="1600" dirty="0" err="1"/>
              <a:t>Annamaria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viac: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hlinkClick r:id="rId2"/>
              </a:rPr>
              <a:t>https://docs.oracle.com/cd/E11882_01/server.112/e41084/functions002.htm#SQLRF20032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sk-SK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348300" y="1936424"/>
            <a:ext cx="36576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sk-SK" b="1" i="1" dirty="0"/>
              <a:t>vracajúce numerické hodnoty</a:t>
            </a:r>
            <a:endParaRPr lang="en-US" b="1" i="1" dirty="0"/>
          </a:p>
          <a:p>
            <a:pPr>
              <a:lnSpc>
                <a:spcPct val="150000"/>
              </a:lnSpc>
            </a:pPr>
            <a:r>
              <a:rPr lang="sk-SK" sz="1600" dirty="0"/>
              <a:t>INSTR(´ABBA´,´B´, 2, 1) </a:t>
            </a:r>
            <a:r>
              <a:rPr lang="en-US" sz="1600" dirty="0"/>
              <a:t>-&gt; </a:t>
            </a:r>
            <a:r>
              <a:rPr lang="sk-SK" sz="1600" dirty="0"/>
              <a:t>2</a:t>
            </a:r>
          </a:p>
          <a:p>
            <a:pPr>
              <a:lnSpc>
                <a:spcPct val="150000"/>
              </a:lnSpc>
            </a:pPr>
            <a:r>
              <a:rPr lang="sk-SK" sz="1600" dirty="0"/>
              <a:t>LENGTH(´ABBA´) </a:t>
            </a:r>
            <a:r>
              <a:rPr lang="en-US" sz="1600" dirty="0"/>
              <a:t>-&gt; 4</a:t>
            </a:r>
            <a:endParaRPr lang="sk-SK" sz="1600" dirty="0"/>
          </a:p>
          <a:p>
            <a:pPr>
              <a:lnSpc>
                <a:spcPct val="150000"/>
              </a:lnSpc>
            </a:pPr>
            <a:r>
              <a:rPr lang="sk-SK" sz="1600" dirty="0"/>
              <a:t>viac: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linkClick r:id="rId3"/>
              </a:rPr>
              <a:t>https://docs.oracle.com/cd/E11882_01/server.112/e41084/functions002.htm#SQLRF51180</a:t>
            </a:r>
            <a:endParaRPr lang="sk-SK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752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</a:t>
            </a:r>
            <a:r>
              <a:rPr lang="sk-SK"/>
              <a:t>átumové funkcie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663" y="2003975"/>
            <a:ext cx="10998438" cy="460192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sk-SK" sz="1700" dirty="0"/>
              <a:t>dátové typy: DATE a TIMESTAMP</a:t>
            </a:r>
          </a:p>
          <a:p>
            <a:pPr eaLnBrk="1" hangingPunct="1">
              <a:lnSpc>
                <a:spcPct val="80000"/>
              </a:lnSpc>
            </a:pPr>
            <a:endParaRPr lang="sk-SK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SYSDATE</a:t>
            </a:r>
            <a:r>
              <a:rPr lang="sk-SK" sz="1900" dirty="0">
                <a:latin typeface="Consolas" panose="020B0609020204030204" pitchFamily="49" charset="0"/>
              </a:rPr>
              <a:t> -  aktuálny dátum </a:t>
            </a:r>
            <a:r>
              <a:rPr lang="en-US" sz="1900" dirty="0">
                <a:latin typeface="Consolas" panose="020B0609020204030204" pitchFamily="49" charset="0"/>
              </a:rPr>
              <a:t>[</a:t>
            </a:r>
            <a:r>
              <a:rPr lang="sk-SK" sz="1900" dirty="0">
                <a:latin typeface="Consolas" panose="020B0609020204030204" pitchFamily="49" charset="0"/>
              </a:rPr>
              <a:t>a čas</a:t>
            </a:r>
            <a:r>
              <a:rPr lang="en-US" sz="1900" dirty="0">
                <a:latin typeface="Consolas" panose="020B0609020204030204" pitchFamily="49" charset="0"/>
              </a:rPr>
              <a:t>]</a:t>
            </a:r>
            <a:r>
              <a:rPr lang="sk-SK" sz="1900" dirty="0">
                <a:latin typeface="Consolas" panose="020B0609020204030204" pitchFamily="49" charset="0"/>
              </a:rPr>
              <a:t> dat. servra,</a:t>
            </a:r>
            <a:r>
              <a:rPr lang="en-US" sz="1900" dirty="0">
                <a:latin typeface="Consolas" panose="020B0609020204030204" pitchFamily="49" charset="0"/>
              </a:rPr>
              <a:t> form</a:t>
            </a:r>
            <a:r>
              <a:rPr lang="sk-SK" sz="1900" dirty="0">
                <a:latin typeface="Consolas" panose="020B0609020204030204" pitchFamily="49" charset="0"/>
              </a:rPr>
              <a:t>át</a:t>
            </a:r>
            <a:r>
              <a:rPr lang="en-US" sz="1900" dirty="0">
                <a:latin typeface="Consolas" panose="020B0609020204030204" pitchFamily="49" charset="0"/>
              </a:rPr>
              <a:t> ur</a:t>
            </a:r>
            <a:r>
              <a:rPr lang="sk-SK" sz="1900" dirty="0">
                <a:latin typeface="Consolas" panose="020B0609020204030204" pitchFamily="49" charset="0"/>
              </a:rPr>
              <a:t>čený parametrom NLS_DATE_FORMAT (v</a:t>
            </a:r>
            <a:r>
              <a:rPr lang="en-US" sz="1900" dirty="0">
                <a:latin typeface="Consolas" panose="020B0609020204030204" pitchFamily="49" charset="0"/>
              </a:rPr>
              <a:t>$</a:t>
            </a:r>
            <a:r>
              <a:rPr lang="en-US" sz="1900" dirty="0" err="1">
                <a:latin typeface="Consolas" panose="020B0609020204030204" pitchFamily="49" charset="0"/>
              </a:rPr>
              <a:t>nls_parameters</a:t>
            </a:r>
            <a:r>
              <a:rPr lang="en-US" sz="1900" dirty="0">
                <a:latin typeface="Consolas" panose="020B0609020204030204" pitchFamily="49" charset="0"/>
              </a:rPr>
              <a:t>)</a:t>
            </a:r>
            <a:endParaRPr lang="sk-SK" sz="19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CURRENT_DATE </a:t>
            </a:r>
            <a:r>
              <a:rPr lang="sk-SK" sz="1900" dirty="0">
                <a:latin typeface="Consolas" panose="020B0609020204030204" pitchFamily="49" charset="0"/>
              </a:rPr>
              <a:t>- aktuálny dátum v čas. pásme pripojenia klienta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CURRENT_DATE+1</a:t>
            </a:r>
            <a:r>
              <a:rPr lang="sk-SK" sz="1900" dirty="0">
                <a:latin typeface="Consolas" panose="020B0609020204030204" pitchFamily="49" charset="0"/>
              </a:rPr>
              <a:t> - nasledujúci deň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CURRENT_TIMESTAMP</a:t>
            </a:r>
            <a:r>
              <a:rPr lang="sk-SK" sz="1900" dirty="0">
                <a:latin typeface="Consolas" panose="020B0609020204030204" pitchFamily="49" charset="0"/>
              </a:rPr>
              <a:t> - akt. časová značka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MONTHS_BETWEEN(date1, date2) </a:t>
            </a:r>
            <a:r>
              <a:rPr lang="sk-SK" sz="1900" dirty="0">
                <a:latin typeface="Consolas" panose="020B0609020204030204" pitchFamily="49" charset="0"/>
              </a:rPr>
              <a:t>– vráti počet mesiacov medzi dátumami date1 a date2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EXTRACT(month FROM CURRENT_DATE) </a:t>
            </a:r>
            <a:r>
              <a:rPr lang="sk-SK" sz="1900" dirty="0">
                <a:latin typeface="Consolas" panose="020B0609020204030204" pitchFamily="49" charset="0"/>
              </a:rPr>
              <a:t>- extrahuje hodnotu z položky typu DATETIME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NEXT_DAY('26-7-1996', 'NEDEĽA') </a:t>
            </a:r>
            <a:r>
              <a:rPr lang="sk-SK" sz="1900" dirty="0">
                <a:latin typeface="Consolas" panose="020B0609020204030204" pitchFamily="49" charset="0"/>
              </a:rPr>
              <a:t>- najbližší daný deň po uvedenom dátume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dirty="0">
                <a:latin typeface="Consolas" panose="020B0609020204030204" pitchFamily="49" charset="0"/>
              </a:rPr>
              <a:t> viac: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hlinkClick r:id="rId2"/>
              </a:rPr>
              <a:t>https://docs.oracle.com/cd/E11882_01/server.112/e41084/functions002.htm#SQLRF51179</a:t>
            </a:r>
            <a:endParaRPr lang="sk-SK" sz="19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700" dirty="0"/>
              <a:t>https://www.techonthenet.com/oracle/functions/to_date.php</a:t>
            </a:r>
          </a:p>
        </p:txBody>
      </p:sp>
    </p:spTree>
    <p:extLst>
      <p:ext uri="{BB962C8B-B14F-4D97-AF65-F5344CB8AC3E}">
        <p14:creationId xmlns:p14="http://schemas.microsoft.com/office/powerpoint/2010/main" val="2580841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9241" y="643531"/>
            <a:ext cx="10058400" cy="1295400"/>
          </a:xfrm>
        </p:spPr>
        <p:txBody>
          <a:bodyPr/>
          <a:lstStyle/>
          <a:p>
            <a:pPr eaLnBrk="1" hangingPunct="1"/>
            <a:r>
              <a:rPr lang="sk-SK" dirty="0"/>
              <a:t>Funkcie pre konverziu dátových typov</a:t>
            </a:r>
          </a:p>
        </p:txBody>
      </p:sp>
      <p:graphicFrame>
        <p:nvGraphicFramePr>
          <p:cNvPr id="29740" name="Group 44"/>
          <p:cNvGraphicFramePr>
            <a:graphicFrameLocks noGrp="1"/>
          </p:cNvGraphicFramePr>
          <p:nvPr>
            <p:ph idx="1"/>
          </p:nvPr>
        </p:nvGraphicFramePr>
        <p:xfrm>
          <a:off x="799789" y="2153140"/>
          <a:ext cx="8280400" cy="2211388"/>
        </p:xfrm>
        <a:graphic>
          <a:graphicData uri="http://schemas.openxmlformats.org/drawingml/2006/table">
            <a:tbl>
              <a:tblPr/>
              <a:tblGrid>
                <a:gridCol w="207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 - DO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CHAR/</a:t>
                      </a:r>
                      <a:b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VARCHAR2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1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CHAR/</a:t>
                      </a:r>
                      <a:br>
                        <a:rPr kumimoji="0" lang="sk-S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sk-S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VARCHAR2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nepotrebné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TO_NUMBER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TO_DATE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TO_CHAR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nepotrebné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chybné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TO_CHAR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chybné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nepotrebné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78" name="Text Box 45"/>
          <p:cNvSpPr txBox="1">
            <a:spLocks noChangeArrowheads="1"/>
          </p:cNvSpPr>
          <p:nvPr/>
        </p:nvSpPr>
        <p:spPr bwMode="auto">
          <a:xfrm>
            <a:off x="666572" y="4523336"/>
            <a:ext cx="9677578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sk-SK" dirty="0"/>
              <a:t>SELECT TO_CHAR(narodeny, ´YYYY´) FROM zamestnanec;</a:t>
            </a:r>
          </a:p>
          <a:p>
            <a:pPr eaLnBrk="1" hangingPunct="1">
              <a:spcBef>
                <a:spcPct val="50000"/>
              </a:spcBef>
            </a:pPr>
            <a:r>
              <a:rPr lang="sk-SK" dirty="0"/>
              <a:t>SELECT TO_CHAR(SYSDATE, ´DD-MON-YYYY HH:MI:SS A.M.´) FROM dual;</a:t>
            </a:r>
          </a:p>
          <a:p>
            <a:pPr eaLnBrk="1" hangingPunct="1">
              <a:spcBef>
                <a:spcPct val="50000"/>
              </a:spcBef>
            </a:pPr>
            <a:r>
              <a:rPr lang="sk-SK" dirty="0"/>
              <a:t>SELECT TO_DATE( ´Marec 11, 1978, 01:00´, ´Month dd, YYYY, HH24:MI´, ´NLS_DATE_LANGUAGE=´Slovak´) from dual;</a:t>
            </a:r>
          </a:p>
          <a:p>
            <a:pPr eaLnBrk="1" hangingPunct="1">
              <a:spcBef>
                <a:spcPct val="50000"/>
              </a:spcBef>
            </a:pPr>
            <a:r>
              <a:rPr lang="sk-SK" dirty="0"/>
              <a:t>viac:</a:t>
            </a:r>
            <a:br>
              <a:rPr lang="sk-SK" dirty="0"/>
            </a:br>
            <a:r>
              <a:rPr lang="en-US" dirty="0">
                <a:hlinkClick r:id="rId2"/>
              </a:rPr>
              <a:t>https://docs.oracle.com/cd/E11882_01/server.112/e41084/functions002.htm#SQLRF20034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1373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/>
              <a:t>SQL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6214" y="1999716"/>
            <a:ext cx="9957988" cy="430964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k-SK" sz="2400" b="1" i="1" dirty="0"/>
              <a:t>ALIAS </a:t>
            </a:r>
            <a:r>
              <a:rPr lang="sk-SK" sz="2400" dirty="0"/>
              <a:t>: dočasné pomenovanie stĺpca</a:t>
            </a:r>
            <a:r>
              <a:rPr lang="en-US" sz="2400" dirty="0"/>
              <a:t> </a:t>
            </a:r>
            <a:r>
              <a:rPr lang="en-US" sz="2400" dirty="0" err="1"/>
              <a:t>alebo</a:t>
            </a:r>
            <a:r>
              <a:rPr lang="en-US" sz="2400" dirty="0"/>
              <a:t> </a:t>
            </a:r>
            <a:r>
              <a:rPr lang="en-US" sz="2400" dirty="0" err="1"/>
              <a:t>tabu</a:t>
            </a:r>
            <a:r>
              <a:rPr lang="sk-SK" sz="2400" dirty="0"/>
              <a:t>ľ</a:t>
            </a:r>
            <a:r>
              <a:rPr lang="en-US" sz="2400" dirty="0" err="1"/>
              <a:t>ky</a:t>
            </a:r>
            <a:endParaRPr lang="sk-SK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400" dirty="0"/>
              <a:t>   napr: </a:t>
            </a:r>
            <a:r>
              <a:rPr lang="en-US" sz="2400" dirty="0">
                <a:latin typeface="Consolas" panose="020B0609020204030204" pitchFamily="49" charset="0"/>
              </a:rPr>
              <a:t>SELECT</a:t>
            </a:r>
            <a:r>
              <a:rPr lang="sk-SK" sz="2400" dirty="0">
                <a:latin typeface="Consolas" panose="020B0609020204030204" pitchFamily="49" charset="0"/>
              </a:rPr>
              <a:t> ulica</a:t>
            </a:r>
            <a:r>
              <a:rPr lang="en-US" sz="2400" dirty="0">
                <a:latin typeface="Consolas" panose="020B0609020204030204" pitchFamily="49" charset="0"/>
              </a:rPr>
              <a:t>||`,`||</a:t>
            </a:r>
            <a:r>
              <a:rPr lang="en-US" sz="2400" dirty="0" err="1">
                <a:latin typeface="Consolas" panose="020B0609020204030204" pitchFamily="49" charset="0"/>
              </a:rPr>
              <a:t>mesto</a:t>
            </a:r>
            <a:r>
              <a:rPr lang="en-US" sz="2400" dirty="0">
                <a:latin typeface="Consolas" panose="020B0609020204030204" pitchFamily="49" charset="0"/>
              </a:rPr>
              <a:t> AS </a:t>
            </a:r>
            <a:r>
              <a:rPr lang="en-US" sz="2400" dirty="0" err="1">
                <a:latin typeface="Consolas" panose="020B0609020204030204" pitchFamily="49" charset="0"/>
              </a:rPr>
              <a:t>adresa</a:t>
            </a:r>
            <a:r>
              <a:rPr lang="en-US" sz="2400" dirty="0">
                <a:latin typeface="Consolas" panose="020B0609020204030204" pitchFamily="49" charset="0"/>
              </a:rPr>
              <a:t> FROM </a:t>
            </a:r>
            <a:r>
              <a:rPr lang="sk-SK" sz="2400" dirty="0">
                <a:latin typeface="Consolas" panose="020B0609020204030204" pitchFamily="49" charset="0"/>
              </a:rPr>
              <a:t>zamestnanec;</a:t>
            </a:r>
            <a:endParaRPr 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</a:rPr>
              <a:t>  SELECT </a:t>
            </a:r>
            <a:r>
              <a:rPr lang="en-US" sz="2400" dirty="0" err="1">
                <a:latin typeface="Consolas" panose="020B0609020204030204" pitchFamily="49" charset="0"/>
              </a:rPr>
              <a:t>z.ulica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z.mesto</a:t>
            </a:r>
            <a:r>
              <a:rPr lang="en-US" sz="2400" dirty="0">
                <a:latin typeface="Consolas" panose="020B0609020204030204" pitchFamily="49" charset="0"/>
              </a:rPr>
              <a:t> FROM </a:t>
            </a:r>
            <a:r>
              <a:rPr lang="en-US" sz="2400" dirty="0" err="1">
                <a:latin typeface="Consolas" panose="020B0609020204030204" pitchFamily="49" charset="0"/>
              </a:rPr>
              <a:t>zamestnanec</a:t>
            </a:r>
            <a:r>
              <a:rPr lang="en-US" sz="2400" dirty="0">
                <a:latin typeface="Consolas" panose="020B0609020204030204" pitchFamily="49" charset="0"/>
              </a:rPr>
              <a:t> z;</a:t>
            </a:r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k-SK" sz="2400" b="1" i="1" dirty="0"/>
              <a:t>ROWNUM:</a:t>
            </a:r>
            <a:r>
              <a:rPr lang="sk-SK" sz="2400" dirty="0"/>
              <a:t> poradové číslo výsledku daného riadku, hodnota sa priradí po vyfiltrovaní výsledku, ale pred agregovaním alebo triedením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400" dirty="0"/>
              <a:t>   napr: </a:t>
            </a:r>
            <a:r>
              <a:rPr lang="sk-SK" sz="2400" dirty="0">
                <a:latin typeface="Consolas" panose="020B0609020204030204" pitchFamily="49" charset="0"/>
              </a:rPr>
              <a:t>SELECT * FROM zamestnanec WHERE rownum </a:t>
            </a:r>
            <a:r>
              <a:rPr lang="en-US" sz="2400" dirty="0">
                <a:latin typeface="Consolas" panose="020B0609020204030204" pitchFamily="49" charset="0"/>
              </a:rPr>
              <a:t>&lt; 11;</a:t>
            </a:r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k-SK" sz="2400" b="1" i="1" dirty="0"/>
              <a:t>DUAL:</a:t>
            </a:r>
            <a:r>
              <a:rPr lang="sk-SK" sz="2400" dirty="0"/>
              <a:t> jednoriadková a jednostĺpcová tabuľka použiteľná pri dopytoch, ktoré nepotrebujú klauzulu FROM napr:  </a:t>
            </a:r>
            <a:r>
              <a:rPr lang="sk-SK" sz="2400" dirty="0">
                <a:latin typeface="Consolas" panose="020B0609020204030204" pitchFamily="49" charset="0"/>
              </a:rPr>
              <a:t>SELECT 26564/24 FROM dual;</a:t>
            </a:r>
          </a:p>
        </p:txBody>
      </p:sp>
    </p:spTree>
    <p:extLst>
      <p:ext uri="{BB962C8B-B14F-4D97-AF65-F5344CB8AC3E}">
        <p14:creationId xmlns:p14="http://schemas.microsoft.com/office/powerpoint/2010/main" val="2042218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16423" y="677715"/>
            <a:ext cx="10058400" cy="1295400"/>
          </a:xfrm>
        </p:spPr>
        <p:txBody>
          <a:bodyPr/>
          <a:lstStyle/>
          <a:p>
            <a:pPr eaLnBrk="1" hangingPunct="1"/>
            <a:r>
              <a:rPr lang="en-US" dirty="0"/>
              <a:t> </a:t>
            </a:r>
            <a:r>
              <a:rPr lang="en-US" dirty="0" err="1"/>
              <a:t>Trojhodnotov</a:t>
            </a:r>
            <a:r>
              <a:rPr lang="sk-SK" dirty="0"/>
              <a:t>á logika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6423" y="2232010"/>
            <a:ext cx="7499350" cy="4411662"/>
          </a:xfrm>
        </p:spPr>
        <p:txBody>
          <a:bodyPr/>
          <a:lstStyle/>
          <a:p>
            <a:pPr eaLnBrk="1" hangingPunct="1"/>
            <a:r>
              <a:rPr lang="sk-SK" sz="2600" dirty="0"/>
              <a:t>NULL označuje prázdnu/nezadanú hodnotu</a:t>
            </a:r>
          </a:p>
          <a:p>
            <a:pPr eaLnBrk="1" hangingPunct="1"/>
            <a:r>
              <a:rPr lang="sk-SK" sz="2600" dirty="0"/>
              <a:t>agregované funkcie neberú NULL do úvahy</a:t>
            </a:r>
          </a:p>
          <a:p>
            <a:pPr eaLnBrk="1" hangingPunct="1"/>
            <a:r>
              <a:rPr lang="sk-SK" sz="2600" dirty="0"/>
              <a:t>pri práci používame IS </a:t>
            </a:r>
            <a:r>
              <a:rPr lang="en-US" sz="2600" dirty="0"/>
              <a:t>[NOT] NULL</a:t>
            </a:r>
            <a:endParaRPr lang="sk-SK" sz="26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sk-SK" sz="2600" dirty="0"/>
          </a:p>
        </p:txBody>
      </p:sp>
      <p:graphicFrame>
        <p:nvGraphicFramePr>
          <p:cNvPr id="21836" name="Group 332"/>
          <p:cNvGraphicFramePr>
            <a:graphicFrameLocks noGrp="1"/>
          </p:cNvGraphicFramePr>
          <p:nvPr>
            <p:ph sz="half" idx="2"/>
          </p:nvPr>
        </p:nvGraphicFramePr>
        <p:xfrm>
          <a:off x="2470150" y="3978258"/>
          <a:ext cx="6337300" cy="2665414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AND B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OR B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6562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2804</Words>
  <Application>Microsoft Office PowerPoint</Application>
  <PresentationFormat>Widescreen</PresentationFormat>
  <Paragraphs>336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Consolas</vt:lpstr>
      <vt:lpstr>Courier New</vt:lpstr>
      <vt:lpstr>Tw Cen MT</vt:lpstr>
      <vt:lpstr>Tw Cen MT Condensed</vt:lpstr>
      <vt:lpstr>Wingdings</vt:lpstr>
      <vt:lpstr>Wingdings 3</vt:lpstr>
      <vt:lpstr>Integral</vt:lpstr>
      <vt:lpstr>Základy SPRávy objektov a dát </vt:lpstr>
      <vt:lpstr>Dátový slovník</vt:lpstr>
      <vt:lpstr>Pohľady dátového slovníka</vt:lpstr>
      <vt:lpstr>Pohľady dátového slovníka</vt:lpstr>
      <vt:lpstr>Databázový jazyk SQL</vt:lpstr>
      <vt:lpstr>SQL</vt:lpstr>
      <vt:lpstr>Dátové typy databázy Oracle</vt:lpstr>
      <vt:lpstr>Tabuľka</vt:lpstr>
      <vt:lpstr>Tabuľka</vt:lpstr>
      <vt:lpstr>Práca s Tabuľkou</vt:lpstr>
      <vt:lpstr>Práca s Tabuľkou</vt:lpstr>
      <vt:lpstr>Jazyk SQL</vt:lpstr>
      <vt:lpstr>SQL – vkladanie dát</vt:lpstr>
      <vt:lpstr>SQL – aktualizácia dát</vt:lpstr>
      <vt:lpstr>SQL – odstránenie dát</vt:lpstr>
      <vt:lpstr>SQL – odstránenie dát</vt:lpstr>
      <vt:lpstr>SQL – zobrazenie dát</vt:lpstr>
      <vt:lpstr>SQL – zobrazenie dát</vt:lpstr>
      <vt:lpstr>SQL – základné operátory</vt:lpstr>
      <vt:lpstr>SQL – základné operátory</vt:lpstr>
      <vt:lpstr>SQL – ORDER BY</vt:lpstr>
      <vt:lpstr>Vstavané funkcie</vt:lpstr>
      <vt:lpstr>Aritmetické funkcie</vt:lpstr>
      <vt:lpstr>Reťazcové funkcie</vt:lpstr>
      <vt:lpstr>Dátumové funkcie</vt:lpstr>
      <vt:lpstr>Funkcie pre konverziu dátových typov</vt:lpstr>
      <vt:lpstr>SQL</vt:lpstr>
      <vt:lpstr> Trojhodnotová logika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Základy SPRávy objektov a dát</dc:title>
  <dc:creator>Vankova, Jana</dc:creator>
  <cp:lastModifiedBy>Simcak, Lubos</cp:lastModifiedBy>
  <cp:revision>4</cp:revision>
  <dcterms:created xsi:type="dcterms:W3CDTF">2020-05-15T07:18:08Z</dcterms:created>
  <dcterms:modified xsi:type="dcterms:W3CDTF">2022-04-25T07:28:44Z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classifiedOn="2020-05-15T09:26:42.0971</vt:lpwstr>
  </property>
  <property fmtid="{D5CDD505-2E9C-101B-9397-08002B2CF9AE}" pid="3" name="tsystems-DocumentTagging.ClassificationMark.P01">
    <vt:lpwstr>999+02:00" showPrintedBy="false" showPrintDate="false" language="en" ApplicationVersion="Microsoft PowerPoint, 15.0" addinVersion="5.10.4.12" template="Default"&gt;&lt;history bulk="false" class="OPEN " code="C0" user="SK-KOSICE\jivanisk" date="2020-05-15T</vt:lpwstr>
  </property>
  <property fmtid="{D5CDD505-2E9C-101B-9397-08002B2CF9AE}" pid="4" name="tsystems-DocumentTagging.ClassificationMark.P02">
    <vt:lpwstr>09:26:42.1788646+02:00"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