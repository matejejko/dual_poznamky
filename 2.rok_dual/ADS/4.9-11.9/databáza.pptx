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62" r:id="rId6"/>
    <p:sldId id="259" r:id="rId7"/>
    <p:sldId id="268" r:id="rId8"/>
    <p:sldId id="261" r:id="rId9"/>
    <p:sldId id="269" r:id="rId10"/>
    <p:sldId id="271" r:id="rId11"/>
    <p:sldId id="263" r:id="rId12"/>
    <p:sldId id="270" r:id="rId13"/>
    <p:sldId id="260" r:id="rId14"/>
    <p:sldId id="265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6C642D-9034-4C0B-9685-47CCB82E4DDF}" v="1" dt="2022-04-25T07:03:32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cak, Lubos" userId="a20b6fc6-f9da-474e-b069-505f3feab77a" providerId="ADAL" clId="{FF6C642D-9034-4C0B-9685-47CCB82E4DDF}"/>
    <pc:docChg chg="modSld">
      <pc:chgData name="Simcak, Lubos" userId="a20b6fc6-f9da-474e-b069-505f3feab77a" providerId="ADAL" clId="{FF6C642D-9034-4C0B-9685-47CCB82E4DDF}" dt="2022-04-25T07:03:52.254" v="2" actId="6549"/>
      <pc:docMkLst>
        <pc:docMk/>
      </pc:docMkLst>
      <pc:sldChg chg="modSp">
        <pc:chgData name="Simcak, Lubos" userId="a20b6fc6-f9da-474e-b069-505f3feab77a" providerId="ADAL" clId="{FF6C642D-9034-4C0B-9685-47CCB82E4DDF}" dt="2022-04-25T07:03:32.140" v="0" actId="14100"/>
        <pc:sldMkLst>
          <pc:docMk/>
          <pc:sldMk cId="2986919442" sldId="262"/>
        </pc:sldMkLst>
        <pc:spChg chg="mod">
          <ac:chgData name="Simcak, Lubos" userId="a20b6fc6-f9da-474e-b069-505f3feab77a" providerId="ADAL" clId="{FF6C642D-9034-4C0B-9685-47CCB82E4DDF}" dt="2022-04-25T07:03:32.140" v="0" actId="14100"/>
          <ac:spMkLst>
            <pc:docMk/>
            <pc:sldMk cId="2986919442" sldId="262"/>
            <ac:spMk id="4" creationId="{00000000-0000-0000-0000-000000000000}"/>
          </ac:spMkLst>
        </pc:spChg>
      </pc:sldChg>
      <pc:sldChg chg="modSp mod">
        <pc:chgData name="Simcak, Lubos" userId="a20b6fc6-f9da-474e-b069-505f3feab77a" providerId="ADAL" clId="{FF6C642D-9034-4C0B-9685-47CCB82E4DDF}" dt="2022-04-25T07:03:52.254" v="2" actId="6549"/>
        <pc:sldMkLst>
          <pc:docMk/>
          <pc:sldMk cId="3316068642" sldId="263"/>
        </pc:sldMkLst>
        <pc:spChg chg="mod">
          <ac:chgData name="Simcak, Lubos" userId="a20b6fc6-f9da-474e-b069-505f3feab77a" providerId="ADAL" clId="{FF6C642D-9034-4C0B-9685-47CCB82E4DDF}" dt="2022-04-25T07:03:52.254" v="2" actId="6549"/>
          <ac:spMkLst>
            <pc:docMk/>
            <pc:sldMk cId="3316068642" sldId="263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en/database/oracle/oracle-database/12.2/admin/managing-memory.html#GUID-24312D78-522D-4C08-8934-820BE18D34C7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12.2/admqs/managing-the-oracle-instance.html#GUID-A3319550-AB7A-4429-9A58-4B90E4B3D0F5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en/database/oracle/oracle-database/12.2/admqs/managing-the-oracle-instance.html#GUID-5B7510F1-C811-4B74-A847-7C9D67CA933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cs.oracle.com/en/database/oracle/oracle-database/12.2/admqs/managing-the-oracle-instance.html#GUID-5B7510F1-C811-4B74-A847-7C9D67CA933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12.2/admin/managing-processes.html#GUID-BBA0C387-6306-4B72-91B0-8EA581CFB9FF" TargetMode="External"/><Relationship Id="rId2" Type="http://schemas.openxmlformats.org/officeDocument/2006/relationships/hyperlink" Target="https://docs.oracle.com/en/database/oracle/oracle-database/12.2/refrn/background-processes.html#GUID-86184690-5531-405F-AA05-BB935F57B76D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en/database/oracle/oracle-database/12.2/admin/managing-processes.html#GUID-CCC18A52-E47B-48AA-8811-4E87023DB99D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2.2/admqs/managing-database-storage-structures.html#GUID-58449EDF-D9E3-4360-BB42-A49689C4CCA6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oracle/oracle-database/12.2/admqs/managing-the-oracle-instance.html#GUID-8BF59F32-016F-44DE-9BCA-C2BCCE8A95FB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12.2/admqs/managing-the-oracle-instance.html#GUID-4C4D478C-3C3D-420D-9BD6-CBF96A04EFA3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</a:t>
            </a:r>
            <a:r>
              <a:rPr lang="sk-SK" dirty="0"/>
              <a:t>tabáza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Jana </a:t>
            </a:r>
            <a:r>
              <a:rPr lang="en-US" dirty="0" err="1"/>
              <a:t>Va</a:t>
            </a:r>
            <a:r>
              <a:rPr lang="sk-SK" dirty="0"/>
              <a:t>ňková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879" y="5817583"/>
            <a:ext cx="261154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310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Understanding Oracle Architecture and Installing Oracle 12c on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6" y="206375"/>
            <a:ext cx="9492076" cy="665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6288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Čo je databáza od Oracle?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</a:t>
            </a:r>
            <a:r>
              <a:rPr lang="en-US" dirty="0" err="1"/>
              <a:t>súbor</a:t>
            </a:r>
            <a:r>
              <a:rPr lang="en-US" dirty="0"/>
              <a:t> </a:t>
            </a:r>
            <a:r>
              <a:rPr lang="en-US" dirty="0" err="1"/>
              <a:t>údajov</a:t>
            </a:r>
            <a:r>
              <a:rPr lang="en-US" dirty="0"/>
              <a:t> </a:t>
            </a:r>
            <a:r>
              <a:rPr lang="en-US" dirty="0" err="1"/>
              <a:t>považovaných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sk-SK" dirty="0"/>
              <a:t>celok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ú</a:t>
            </a:r>
            <a:r>
              <a:rPr lang="en-US" dirty="0" err="1"/>
              <a:t>čelom</a:t>
            </a:r>
            <a:r>
              <a:rPr lang="en-US" dirty="0"/>
              <a:t> </a:t>
            </a:r>
            <a:r>
              <a:rPr lang="en-US" dirty="0" err="1"/>
              <a:t>databázy</a:t>
            </a:r>
            <a:r>
              <a:rPr lang="en-US" dirty="0"/>
              <a:t> je </a:t>
            </a:r>
            <a:r>
              <a:rPr lang="en-US" dirty="0" err="1"/>
              <a:t>ukladať</a:t>
            </a:r>
            <a:r>
              <a:rPr lang="en-US" dirty="0"/>
              <a:t> a </a:t>
            </a:r>
            <a:r>
              <a:rPr lang="en-US" dirty="0" err="1"/>
              <a:t>získavať</a:t>
            </a:r>
            <a:r>
              <a:rPr lang="en-US" dirty="0"/>
              <a:t> </a:t>
            </a:r>
            <a:r>
              <a:rPr lang="en-US" dirty="0" err="1"/>
              <a:t>súvisiace</a:t>
            </a:r>
            <a:r>
              <a:rPr lang="en-US" dirty="0"/>
              <a:t> </a:t>
            </a:r>
            <a:r>
              <a:rPr lang="en-US" dirty="0" err="1"/>
              <a:t>informácie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v</a:t>
            </a:r>
            <a:r>
              <a:rPr lang="en-US" dirty="0"/>
              <a:t>o </a:t>
            </a:r>
            <a:r>
              <a:rPr lang="en-US" dirty="0" err="1"/>
              <a:t>všeobecnosti</a:t>
            </a:r>
            <a:r>
              <a:rPr lang="en-US" dirty="0"/>
              <a:t> </a:t>
            </a:r>
            <a:r>
              <a:rPr lang="sk-SK" dirty="0"/>
              <a:t>databázový </a:t>
            </a:r>
            <a:r>
              <a:rPr lang="en-US" dirty="0"/>
              <a:t>server </a:t>
            </a:r>
            <a:r>
              <a:rPr lang="en-US" dirty="0" err="1"/>
              <a:t>spoľahlivo</a:t>
            </a:r>
            <a:r>
              <a:rPr lang="en-US" dirty="0"/>
              <a:t> </a:t>
            </a:r>
            <a:r>
              <a:rPr lang="en-US" dirty="0" err="1"/>
              <a:t>spravuje</a:t>
            </a:r>
            <a:r>
              <a:rPr lang="en-US" dirty="0"/>
              <a:t> </a:t>
            </a:r>
            <a:r>
              <a:rPr lang="en-US" dirty="0" err="1"/>
              <a:t>veľké</a:t>
            </a:r>
            <a:r>
              <a:rPr lang="en-US" dirty="0"/>
              <a:t> </a:t>
            </a:r>
            <a:r>
              <a:rPr lang="en-US" dirty="0" err="1"/>
              <a:t>množstvo</a:t>
            </a:r>
            <a:r>
              <a:rPr lang="en-US" dirty="0"/>
              <a:t> </a:t>
            </a:r>
            <a:r>
              <a:rPr lang="en-US" dirty="0" err="1"/>
              <a:t>údajov</a:t>
            </a:r>
            <a:r>
              <a:rPr lang="en-US" dirty="0"/>
              <a:t> </a:t>
            </a:r>
            <a:r>
              <a:rPr lang="en-US" dirty="0" err="1"/>
              <a:t>vo</a:t>
            </a:r>
            <a:r>
              <a:rPr lang="en-US" dirty="0"/>
              <a:t> </a:t>
            </a:r>
            <a:r>
              <a:rPr lang="en-US" dirty="0" err="1"/>
              <a:t>viacužívateľskom</a:t>
            </a:r>
            <a:r>
              <a:rPr lang="en-US" dirty="0"/>
              <a:t> </a:t>
            </a:r>
            <a:r>
              <a:rPr lang="en-US" dirty="0" err="1"/>
              <a:t>prostredí</a:t>
            </a:r>
            <a:r>
              <a:rPr lang="en-US" dirty="0"/>
              <a:t>, </a:t>
            </a:r>
            <a:r>
              <a:rPr lang="en-US" dirty="0" err="1"/>
              <a:t>takže</a:t>
            </a:r>
            <a:r>
              <a:rPr lang="en-US" dirty="0"/>
              <a:t> </a:t>
            </a:r>
            <a:r>
              <a:rPr lang="en-US" dirty="0" err="1"/>
              <a:t>veľa</a:t>
            </a:r>
            <a:r>
              <a:rPr lang="en-US" dirty="0"/>
              <a:t> </a:t>
            </a:r>
            <a:r>
              <a:rPr lang="en-US" dirty="0" err="1"/>
              <a:t>používateľov</a:t>
            </a:r>
            <a:r>
              <a:rPr lang="en-US" dirty="0"/>
              <a:t> </a:t>
            </a:r>
            <a:r>
              <a:rPr lang="en-US" dirty="0" err="1"/>
              <a:t>má</a:t>
            </a:r>
            <a:r>
              <a:rPr lang="en-US" dirty="0"/>
              <a:t> </a:t>
            </a:r>
            <a:r>
              <a:rPr lang="en-US" dirty="0" err="1"/>
              <a:t>súčasne</a:t>
            </a:r>
            <a:r>
              <a:rPr lang="en-US" dirty="0"/>
              <a:t> </a:t>
            </a:r>
            <a:r>
              <a:rPr lang="en-US" dirty="0" err="1"/>
              <a:t>prístup</a:t>
            </a:r>
            <a:r>
              <a:rPr lang="en-US" dirty="0"/>
              <a:t> k </a:t>
            </a:r>
            <a:r>
              <a:rPr lang="en-US" dirty="0" err="1"/>
              <a:t>rovnakým</a:t>
            </a:r>
            <a:r>
              <a:rPr lang="en-US" dirty="0"/>
              <a:t> </a:t>
            </a:r>
            <a:r>
              <a:rPr lang="en-US" dirty="0" err="1"/>
              <a:t>údajom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sk-SK" dirty="0"/>
              <a:t>t</a:t>
            </a:r>
            <a:r>
              <a:rPr lang="en-US" dirty="0"/>
              <a:t>o </a:t>
            </a:r>
            <a:r>
              <a:rPr lang="en-US" dirty="0" err="1"/>
              <a:t>všetko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dosahuje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dosahovaní</a:t>
            </a:r>
            <a:r>
              <a:rPr lang="en-US" dirty="0"/>
              <a:t> </a:t>
            </a:r>
            <a:r>
              <a:rPr lang="en-US" dirty="0" err="1"/>
              <a:t>vysokého</a:t>
            </a:r>
            <a:r>
              <a:rPr lang="en-US" dirty="0"/>
              <a:t> </a:t>
            </a:r>
            <a:r>
              <a:rPr lang="en-US" dirty="0" err="1"/>
              <a:t>výkonu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sk-SK" dirty="0" err="1"/>
              <a:t>d</a:t>
            </a:r>
            <a:r>
              <a:rPr lang="en-US" dirty="0" err="1"/>
              <a:t>atabázový</a:t>
            </a:r>
            <a:r>
              <a:rPr lang="en-US" dirty="0"/>
              <a:t> server </a:t>
            </a:r>
            <a:r>
              <a:rPr lang="en-US" dirty="0" err="1"/>
              <a:t>tiež</a:t>
            </a:r>
            <a:r>
              <a:rPr lang="en-US" dirty="0"/>
              <a:t> </a:t>
            </a:r>
            <a:r>
              <a:rPr lang="en-US" dirty="0" err="1"/>
              <a:t>zabraňuje</a:t>
            </a:r>
            <a:r>
              <a:rPr lang="en-US" dirty="0"/>
              <a:t> </a:t>
            </a:r>
            <a:r>
              <a:rPr lang="en-US" dirty="0" err="1"/>
              <a:t>neoprávnenému</a:t>
            </a:r>
            <a:r>
              <a:rPr lang="en-US" dirty="0"/>
              <a:t> </a:t>
            </a:r>
            <a:r>
              <a:rPr lang="en-US" dirty="0" err="1"/>
              <a:t>prístupu</a:t>
            </a:r>
            <a:r>
              <a:rPr lang="en-US" dirty="0"/>
              <a:t> 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</a:t>
            </a:r>
            <a:r>
              <a:rPr lang="en-US" dirty="0" err="1"/>
              <a:t>oskytuje</a:t>
            </a:r>
            <a:r>
              <a:rPr lang="en-US" dirty="0"/>
              <a:t> </a:t>
            </a:r>
            <a:r>
              <a:rPr lang="en-US" dirty="0" err="1"/>
              <a:t>efektívne</a:t>
            </a:r>
            <a:r>
              <a:rPr lang="en-US" dirty="0"/>
              <a:t> </a:t>
            </a:r>
            <a:r>
              <a:rPr lang="en-US" dirty="0" err="1"/>
              <a:t>riešenia</a:t>
            </a:r>
            <a:r>
              <a:rPr lang="en-US" dirty="0"/>
              <a:t> </a:t>
            </a:r>
            <a:r>
              <a:rPr lang="sk-SK" dirty="0"/>
              <a:t>pre obnov</a:t>
            </a:r>
            <a:r>
              <a:rPr lang="en-US" dirty="0"/>
              <a:t>e</a:t>
            </a:r>
            <a:r>
              <a:rPr lang="sk-SK" dirty="0"/>
              <a:t>nie dát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teda požiadavky na DBS: vysoká dostupnosť, viacužívateľský prístup, konzistentnosť dát , be</a:t>
            </a:r>
            <a:r>
              <a:rPr lang="en-US"/>
              <a:t>z</a:t>
            </a:r>
            <a:r>
              <a:rPr lang="sk-SK"/>
              <a:t>pečnosť </a:t>
            </a:r>
            <a:r>
              <a:rPr lang="sk-SK" dirty="0"/>
              <a:t>a výkonnosť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706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Čo je databáza od Oracle?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Databázový</a:t>
            </a:r>
            <a:r>
              <a:rPr lang="en-US" dirty="0"/>
              <a:t> </a:t>
            </a:r>
            <a:r>
              <a:rPr lang="en-US" dirty="0" err="1"/>
              <a:t>systém</a:t>
            </a:r>
            <a:r>
              <a:rPr lang="en-US" dirty="0"/>
              <a:t> Oracle </a:t>
            </a:r>
            <a:r>
              <a:rPr lang="en-US" dirty="0" err="1"/>
              <a:t>pozostáva</a:t>
            </a:r>
            <a:r>
              <a:rPr lang="en-US" dirty="0"/>
              <a:t> z </a:t>
            </a:r>
            <a:r>
              <a:rPr lang="en-US" dirty="0" err="1"/>
              <a:t>databázy</a:t>
            </a:r>
            <a:r>
              <a:rPr lang="en-US" dirty="0"/>
              <a:t> Oracle a </a:t>
            </a:r>
            <a:r>
              <a:rPr lang="en-US" dirty="0" err="1"/>
              <a:t>inštancie</a:t>
            </a:r>
            <a:r>
              <a:rPr lang="en-US" dirty="0"/>
              <a:t> Oracle.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Databáza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skladá</a:t>
            </a:r>
            <a:r>
              <a:rPr lang="en-US" dirty="0"/>
              <a:t> </a:t>
            </a:r>
            <a:r>
              <a:rPr lang="en-US" dirty="0" err="1"/>
              <a:t>zo</a:t>
            </a:r>
            <a:r>
              <a:rPr lang="en-US" dirty="0"/>
              <a:t> </a:t>
            </a:r>
            <a:r>
              <a:rPr lang="en-US" dirty="0" err="1"/>
              <a:t>súboru</a:t>
            </a:r>
            <a:r>
              <a:rPr lang="en-US" dirty="0"/>
              <a:t> </a:t>
            </a:r>
            <a:r>
              <a:rPr lang="en-US" dirty="0" err="1"/>
              <a:t>diskových</a:t>
            </a:r>
            <a:r>
              <a:rPr lang="en-US" dirty="0"/>
              <a:t> </a:t>
            </a:r>
            <a:r>
              <a:rPr lang="en-US" dirty="0" err="1"/>
              <a:t>súborov</a:t>
            </a:r>
            <a:r>
              <a:rPr lang="en-US" dirty="0"/>
              <a:t>, v </a:t>
            </a:r>
            <a:r>
              <a:rPr lang="en-US" dirty="0" err="1"/>
              <a:t>ktorých</a:t>
            </a:r>
            <a:r>
              <a:rPr lang="en-US" dirty="0"/>
              <a:t> </a:t>
            </a:r>
            <a:r>
              <a:rPr lang="en-US" dirty="0" err="1"/>
              <a:t>sú</a:t>
            </a:r>
            <a:r>
              <a:rPr lang="en-US" dirty="0"/>
              <a:t> </a:t>
            </a:r>
            <a:r>
              <a:rPr lang="en-US" dirty="0" err="1"/>
              <a:t>uložené</a:t>
            </a:r>
            <a:r>
              <a:rPr lang="en-US" dirty="0"/>
              <a:t> </a:t>
            </a:r>
            <a:r>
              <a:rPr lang="en-US" dirty="0" err="1"/>
              <a:t>používateľské</a:t>
            </a:r>
            <a:r>
              <a:rPr lang="en-US" dirty="0"/>
              <a:t> </a:t>
            </a:r>
            <a:r>
              <a:rPr lang="en-US" dirty="0" err="1"/>
              <a:t>údaje</a:t>
            </a:r>
            <a:r>
              <a:rPr lang="en-US" dirty="0"/>
              <a:t> a </a:t>
            </a:r>
            <a:r>
              <a:rPr lang="en-US" dirty="0" err="1"/>
              <a:t>metaúdaje</a:t>
            </a:r>
            <a:r>
              <a:rPr lang="en-US" dirty="0"/>
              <a:t>. </a:t>
            </a:r>
            <a:r>
              <a:rPr lang="en-US" dirty="0" err="1"/>
              <a:t>Metadáta</a:t>
            </a:r>
            <a:r>
              <a:rPr lang="en-US" dirty="0"/>
              <a:t> </a:t>
            </a:r>
            <a:r>
              <a:rPr lang="en-US" dirty="0" err="1"/>
              <a:t>alebo</a:t>
            </a:r>
            <a:r>
              <a:rPr lang="en-US" dirty="0"/>
              <a:t> „</a:t>
            </a:r>
            <a:r>
              <a:rPr lang="en-US" dirty="0" err="1"/>
              <a:t>údaje</a:t>
            </a:r>
            <a:r>
              <a:rPr lang="en-US" dirty="0"/>
              <a:t> o </a:t>
            </a:r>
            <a:r>
              <a:rPr lang="en-US" dirty="0" err="1"/>
              <a:t>údajoch</a:t>
            </a:r>
            <a:r>
              <a:rPr lang="en-US" dirty="0"/>
              <a:t>“ </a:t>
            </a:r>
            <a:r>
              <a:rPr lang="en-US" dirty="0" err="1"/>
              <a:t>pozostávajú</a:t>
            </a:r>
            <a:r>
              <a:rPr lang="en-US" dirty="0"/>
              <a:t> </a:t>
            </a:r>
            <a:r>
              <a:rPr lang="en-US" dirty="0" err="1"/>
              <a:t>zo</a:t>
            </a:r>
            <a:r>
              <a:rPr lang="en-US" dirty="0"/>
              <a:t> </a:t>
            </a:r>
            <a:r>
              <a:rPr lang="en-US" dirty="0" err="1"/>
              <a:t>štrukturálnych</a:t>
            </a:r>
            <a:r>
              <a:rPr lang="en-US" dirty="0"/>
              <a:t>, </a:t>
            </a:r>
            <a:r>
              <a:rPr lang="en-US" dirty="0" err="1"/>
              <a:t>konfiguračných</a:t>
            </a:r>
            <a:r>
              <a:rPr lang="en-US" dirty="0"/>
              <a:t> a </a:t>
            </a:r>
            <a:r>
              <a:rPr lang="en-US" dirty="0" err="1"/>
              <a:t>kontrolných</a:t>
            </a:r>
            <a:r>
              <a:rPr lang="en-US" dirty="0"/>
              <a:t> </a:t>
            </a:r>
            <a:r>
              <a:rPr lang="en-US" dirty="0" err="1"/>
              <a:t>informácií</a:t>
            </a:r>
            <a:r>
              <a:rPr lang="en-US" dirty="0"/>
              <a:t> o </a:t>
            </a:r>
            <a:r>
              <a:rPr lang="en-US" dirty="0" err="1"/>
              <a:t>databáze</a:t>
            </a:r>
            <a:r>
              <a:rPr lang="en-US" dirty="0"/>
              <a:t>.</a:t>
            </a:r>
            <a:endParaRPr lang="sk-SK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Inštancia</a:t>
            </a:r>
            <a:r>
              <a:rPr lang="en-US" dirty="0"/>
              <a:t> Oracle (</a:t>
            </a:r>
            <a:r>
              <a:rPr lang="en-US" dirty="0" err="1"/>
              <a:t>tiež</a:t>
            </a:r>
            <a:r>
              <a:rPr lang="en-US" dirty="0"/>
              <a:t> </a:t>
            </a:r>
            <a:r>
              <a:rPr lang="en-US" dirty="0" err="1"/>
              <a:t>známa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inštancia</a:t>
            </a:r>
            <a:r>
              <a:rPr lang="en-US" dirty="0"/>
              <a:t> </a:t>
            </a:r>
            <a:r>
              <a:rPr lang="en-US" dirty="0" err="1"/>
              <a:t>databázy</a:t>
            </a:r>
            <a:r>
              <a:rPr lang="en-US" dirty="0"/>
              <a:t>) </a:t>
            </a:r>
            <a:r>
              <a:rPr lang="en-US" dirty="0" err="1"/>
              <a:t>obsahuje</a:t>
            </a:r>
            <a:r>
              <a:rPr lang="en-US" dirty="0"/>
              <a:t> </a:t>
            </a:r>
            <a:r>
              <a:rPr lang="en-US" dirty="0" err="1"/>
              <a:t>množinu</a:t>
            </a:r>
            <a:r>
              <a:rPr lang="en-US" dirty="0"/>
              <a:t> </a:t>
            </a:r>
            <a:r>
              <a:rPr lang="en-US" dirty="0" err="1"/>
              <a:t>procesov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pozadí</a:t>
            </a:r>
            <a:r>
              <a:rPr lang="en-US" dirty="0"/>
              <a:t> </a:t>
            </a:r>
            <a:r>
              <a:rPr lang="en-US" dirty="0" err="1"/>
              <a:t>databázy</a:t>
            </a:r>
            <a:r>
              <a:rPr lang="en-US" dirty="0"/>
              <a:t> Oracle, </a:t>
            </a:r>
            <a:r>
              <a:rPr lang="en-US" dirty="0" err="1"/>
              <a:t>ktoré</a:t>
            </a:r>
            <a:r>
              <a:rPr lang="en-US" dirty="0"/>
              <a:t> </a:t>
            </a:r>
            <a:r>
              <a:rPr lang="en-US" dirty="0" err="1"/>
              <a:t>pracujú</a:t>
            </a:r>
            <a:r>
              <a:rPr lang="en-US" dirty="0"/>
              <a:t> s </a:t>
            </a:r>
            <a:r>
              <a:rPr lang="en-US" dirty="0" err="1"/>
              <a:t>uloženými</a:t>
            </a:r>
            <a:r>
              <a:rPr lang="en-US" dirty="0"/>
              <a:t> </a:t>
            </a:r>
            <a:r>
              <a:rPr lang="en-US" dirty="0" err="1"/>
              <a:t>údajmi</a:t>
            </a:r>
            <a:r>
              <a:rPr lang="en-US" dirty="0"/>
              <a:t>, a </a:t>
            </a:r>
            <a:r>
              <a:rPr lang="en-US" dirty="0" err="1"/>
              <a:t>zdieľanú</a:t>
            </a:r>
            <a:r>
              <a:rPr lang="en-US" dirty="0"/>
              <a:t> </a:t>
            </a:r>
            <a:r>
              <a:rPr lang="en-US" dirty="0" err="1"/>
              <a:t>alokovanú</a:t>
            </a:r>
            <a:r>
              <a:rPr lang="en-US" dirty="0"/>
              <a:t> </a:t>
            </a:r>
            <a:r>
              <a:rPr lang="en-US" dirty="0" err="1"/>
              <a:t>pamäť</a:t>
            </a:r>
            <a:r>
              <a:rPr lang="en-US" dirty="0"/>
              <a:t>, </a:t>
            </a:r>
            <a:r>
              <a:rPr lang="en-US" dirty="0" err="1"/>
              <a:t>ktorú</a:t>
            </a:r>
            <a:r>
              <a:rPr lang="en-US" dirty="0"/>
              <a:t> </a:t>
            </a:r>
            <a:r>
              <a:rPr lang="en-US" dirty="0" err="1"/>
              <a:t>tieto</a:t>
            </a:r>
            <a:r>
              <a:rPr lang="en-US" dirty="0"/>
              <a:t> </a:t>
            </a:r>
            <a:r>
              <a:rPr lang="en-US" dirty="0" err="1"/>
              <a:t>procesy</a:t>
            </a:r>
            <a:r>
              <a:rPr lang="en-US" dirty="0"/>
              <a:t> </a:t>
            </a:r>
            <a:r>
              <a:rPr lang="en-US" dirty="0" err="1"/>
              <a:t>používajú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svoju</a:t>
            </a:r>
            <a:r>
              <a:rPr lang="en-US" dirty="0"/>
              <a:t> </a:t>
            </a:r>
            <a:r>
              <a:rPr lang="en-US" dirty="0" err="1"/>
              <a:t>prácu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2409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Typy procesov</a:t>
            </a:r>
            <a:endParaRPr lang="en-US" dirty="0"/>
          </a:p>
        </p:txBody>
      </p:sp>
      <p:sp>
        <p:nvSpPr>
          <p:cNvPr id="4" name="Text Box 1"/>
          <p:cNvSpPr txBox="1">
            <a:spLocks noChangeArrowheads="1"/>
          </p:cNvSpPr>
          <p:nvPr/>
        </p:nvSpPr>
        <p:spPr bwMode="auto">
          <a:xfrm>
            <a:off x="1014413" y="4962792"/>
            <a:ext cx="9613618" cy="16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600" tIns="12600" rIns="12600" bIns="12600"/>
          <a:lstStyle>
            <a:lvl1pPr marL="342900" indent="-34290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0" lvl="1">
              <a:lnSpc>
                <a:spcPct val="99000"/>
              </a:lnSpc>
              <a:spcBef>
                <a:spcPts val="550"/>
              </a:spcBef>
              <a:buClrTx/>
            </a:pPr>
            <a:r>
              <a:rPr lang="en-US" sz="2000" dirty="0">
                <a:solidFill>
                  <a:srgbClr val="996600"/>
                </a:solidFill>
                <a:latin typeface="Century Gothic" panose="020B0502020202020204" pitchFamily="34" charset="0"/>
              </a:rPr>
              <a:t>User process: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sk-SK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z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ačína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sa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v 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čase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, 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keď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užívateľ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databázy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požiada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o 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pripojenie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k 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serveru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Oracle</a:t>
            </a:r>
            <a:endParaRPr lang="sk-SK" sz="2000" dirty="0">
              <a:solidFill>
                <a:srgbClr val="3E3D2D"/>
              </a:solidFill>
              <a:latin typeface="Century Gothic" panose="020B0502020202020204" pitchFamily="34" charset="0"/>
            </a:endParaRPr>
          </a:p>
          <a:p>
            <a:pPr marL="0" lvl="1">
              <a:lnSpc>
                <a:spcPct val="99000"/>
              </a:lnSpc>
              <a:spcBef>
                <a:spcPts val="550"/>
              </a:spcBef>
              <a:buClrTx/>
            </a:pPr>
            <a:r>
              <a:rPr lang="en-US" sz="2000" dirty="0">
                <a:solidFill>
                  <a:srgbClr val="0000CC"/>
                </a:solidFill>
                <a:latin typeface="Century Gothic" panose="020B0502020202020204" pitchFamily="34" charset="0"/>
              </a:rPr>
              <a:t>Server process: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sk-SK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sa vytvorí, keď sa užívateľ pripojí do databázy (vytvorí session)</a:t>
            </a:r>
          </a:p>
          <a:p>
            <a:pPr marL="0" lvl="1">
              <a:lnSpc>
                <a:spcPct val="99000"/>
              </a:lnSpc>
              <a:spcBef>
                <a:spcPts val="550"/>
              </a:spcBef>
              <a:buClrTx/>
            </a:pP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entury Gothic" panose="020B0502020202020204" pitchFamily="34" charset="0"/>
              </a:rPr>
              <a:t>Background processes:</a:t>
            </a:r>
            <a:r>
              <a:rPr lang="sk-SK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spúšťajú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sa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pri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spustení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rgbClr val="3E3D2D"/>
                </a:solidFill>
                <a:latin typeface="Century Gothic" panose="020B0502020202020204" pitchFamily="34" charset="0"/>
              </a:rPr>
              <a:t>inštancie</a:t>
            </a:r>
            <a:r>
              <a:rPr lang="en-US" sz="2000" dirty="0">
                <a:solidFill>
                  <a:srgbClr val="3E3D2D"/>
                </a:solidFill>
                <a:latin typeface="Century Gothic" panose="020B0502020202020204" pitchFamily="34" charset="0"/>
              </a:rPr>
              <a:t> Oracle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043405" y="2170395"/>
            <a:ext cx="3084512" cy="2090738"/>
          </a:xfrm>
          <a:prstGeom prst="rect">
            <a:avLst/>
          </a:prstGeom>
          <a:solidFill>
            <a:srgbClr val="99CCCC"/>
          </a:solidFill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6080" tIns="46080" rIns="46080" bIns="46080" anchorCtr="1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95000"/>
              </a:lnSpc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Instance</a:t>
            </a:r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6333917" y="2525995"/>
            <a:ext cx="2495550" cy="546100"/>
            <a:chOff x="3500" y="1392"/>
            <a:chExt cx="1572" cy="344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>
              <a:off x="3500" y="1392"/>
              <a:ext cx="1572" cy="344"/>
            </a:xfrm>
            <a:prstGeom prst="roundRect">
              <a:avLst>
                <a:gd name="adj" fmla="val 12495"/>
              </a:avLst>
            </a:prstGeom>
            <a:solidFill>
              <a:srgbClr val="FFCC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4078" y="1408"/>
              <a:ext cx="4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ts val="450"/>
                </a:spcBef>
                <a:buClrTx/>
                <a:buFontTx/>
                <a:buNone/>
              </a:pPr>
              <a:r>
                <a:rPr lang="en-US" b="1">
                  <a:solidFill>
                    <a:srgbClr val="000000"/>
                  </a:solidFill>
                </a:rPr>
                <a:t>SGA</a:t>
              </a:r>
            </a:p>
          </p:txBody>
        </p:sp>
      </p:grp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6346617" y="3192745"/>
            <a:ext cx="2476500" cy="950913"/>
          </a:xfrm>
          <a:prstGeom prst="ellipse">
            <a:avLst/>
          </a:prstGeom>
          <a:solidFill>
            <a:srgbClr val="FFFFCC"/>
          </a:solidFill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795880" y="3338795"/>
            <a:ext cx="1577975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008080"/>
                </a:solidFill>
              </a:rPr>
              <a:t>Background </a:t>
            </a:r>
          </a:p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008080"/>
                </a:solidFill>
              </a:rPr>
              <a:t>processes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478130" y="2800633"/>
            <a:ext cx="950912" cy="814387"/>
          </a:xfrm>
          <a:prstGeom prst="rect">
            <a:avLst/>
          </a:prstGeom>
          <a:solidFill>
            <a:srgbClr val="CCCC99"/>
          </a:solidFill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6080" tIns="46080" rIns="46080" bIns="4608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US" sz="1600" b="1">
                <a:solidFill>
                  <a:srgbClr val="0000CC"/>
                </a:solidFill>
              </a:rPr>
              <a:t>Server</a:t>
            </a:r>
          </a:p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US" sz="1600" b="1">
                <a:solidFill>
                  <a:srgbClr val="0000CC"/>
                </a:solidFill>
              </a:rPr>
              <a:t>process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4909930" y="2314858"/>
            <a:ext cx="685800" cy="433387"/>
          </a:xfrm>
          <a:prstGeom prst="rect">
            <a:avLst/>
          </a:prstGeom>
          <a:solidFill>
            <a:srgbClr val="FF9999"/>
          </a:solidFill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6080" tIns="46080" rIns="46080" bIns="4608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US" sz="1600" b="1">
                <a:solidFill>
                  <a:srgbClr val="000000"/>
                </a:solidFill>
              </a:rPr>
              <a:t>PGA</a:t>
            </a: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5432217" y="3208620"/>
            <a:ext cx="609600" cy="1588"/>
          </a:xfrm>
          <a:prstGeom prst="line">
            <a:avLst/>
          </a:prstGeom>
          <a:noFill/>
          <a:ln w="28440" cap="rnd">
            <a:solidFill>
              <a:srgbClr val="000000"/>
            </a:solidFill>
            <a:miter lim="800000"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1"/>
          <p:cNvSpPr>
            <a:spLocks noChangeArrowheads="1"/>
          </p:cNvSpPr>
          <p:nvPr/>
        </p:nvSpPr>
        <p:spPr bwMode="auto">
          <a:xfrm>
            <a:off x="1792080" y="2716495"/>
            <a:ext cx="2052637" cy="974725"/>
          </a:xfrm>
          <a:prstGeom prst="ellipse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/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1995280" y="2803808"/>
            <a:ext cx="16446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996600"/>
                </a:solidFill>
              </a:rPr>
              <a:t>User process</a:t>
            </a:r>
          </a:p>
        </p:txBody>
      </p:sp>
      <p:pic>
        <p:nvPicPr>
          <p:cNvPr id="1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242" y="3141945"/>
            <a:ext cx="976313" cy="96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3870117" y="3203858"/>
            <a:ext cx="609600" cy="1587"/>
          </a:xfrm>
          <a:prstGeom prst="line">
            <a:avLst/>
          </a:prstGeom>
          <a:noFill/>
          <a:ln w="28440" cap="rnd">
            <a:solidFill>
              <a:srgbClr val="000000"/>
            </a:solidFill>
            <a:miter lim="800000"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1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Čo je databáza od Oracle?</a:t>
            </a:r>
            <a:endParaRPr lang="en-US" dirty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753348" y="5248720"/>
            <a:ext cx="1143000" cy="952500"/>
            <a:chOff x="900" y="3247"/>
            <a:chExt cx="720" cy="60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900" y="3247"/>
              <a:ext cx="528" cy="408"/>
              <a:chOff x="900" y="3247"/>
              <a:chExt cx="528" cy="408"/>
            </a:xfrm>
          </p:grpSpPr>
          <p:sp>
            <p:nvSpPr>
              <p:cNvPr id="14" name="Rectangle 4"/>
              <p:cNvSpPr>
                <a:spLocks noChangeArrowheads="1"/>
              </p:cNvSpPr>
              <p:nvPr/>
            </p:nvSpPr>
            <p:spPr bwMode="auto">
              <a:xfrm>
                <a:off x="900" y="3331"/>
                <a:ext cx="528" cy="242"/>
              </a:xfrm>
              <a:prstGeom prst="rect">
                <a:avLst/>
              </a:prstGeom>
              <a:solidFill>
                <a:srgbClr val="999999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5" name="Oval 5"/>
              <p:cNvSpPr>
                <a:spLocks noChangeArrowheads="1"/>
              </p:cNvSpPr>
              <p:nvPr/>
            </p:nvSpPr>
            <p:spPr bwMode="auto">
              <a:xfrm>
                <a:off x="900" y="3247"/>
                <a:ext cx="528" cy="154"/>
              </a:xfrm>
              <a:prstGeom prst="ellipse">
                <a:avLst/>
              </a:prstGeom>
              <a:solidFill>
                <a:srgbClr val="CCCCCC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6" name="Oval 6"/>
              <p:cNvSpPr>
                <a:spLocks noChangeArrowheads="1"/>
              </p:cNvSpPr>
              <p:nvPr/>
            </p:nvSpPr>
            <p:spPr bwMode="auto">
              <a:xfrm>
                <a:off x="900" y="3501"/>
                <a:ext cx="528" cy="154"/>
              </a:xfrm>
              <a:prstGeom prst="ellipse">
                <a:avLst/>
              </a:prstGeom>
              <a:solidFill>
                <a:srgbClr val="999999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6" name="Group 7"/>
            <p:cNvGrpSpPr>
              <a:grpSpLocks/>
            </p:cNvGrpSpPr>
            <p:nvPr/>
          </p:nvGrpSpPr>
          <p:grpSpPr bwMode="auto">
            <a:xfrm>
              <a:off x="989" y="3343"/>
              <a:ext cx="528" cy="408"/>
              <a:chOff x="989" y="3343"/>
              <a:chExt cx="528" cy="408"/>
            </a:xfrm>
          </p:grpSpPr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989" y="3427"/>
                <a:ext cx="528" cy="242"/>
              </a:xfrm>
              <a:prstGeom prst="rect">
                <a:avLst/>
              </a:prstGeom>
              <a:solidFill>
                <a:srgbClr val="999999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2" name="Oval 9"/>
              <p:cNvSpPr>
                <a:spLocks noChangeArrowheads="1"/>
              </p:cNvSpPr>
              <p:nvPr/>
            </p:nvSpPr>
            <p:spPr bwMode="auto">
              <a:xfrm>
                <a:off x="989" y="3343"/>
                <a:ext cx="528" cy="154"/>
              </a:xfrm>
              <a:prstGeom prst="ellipse">
                <a:avLst/>
              </a:prstGeom>
              <a:solidFill>
                <a:srgbClr val="CCCCCC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3" name="Oval 10"/>
              <p:cNvSpPr>
                <a:spLocks noChangeArrowheads="1"/>
              </p:cNvSpPr>
              <p:nvPr/>
            </p:nvSpPr>
            <p:spPr bwMode="auto">
              <a:xfrm>
                <a:off x="989" y="3597"/>
                <a:ext cx="528" cy="154"/>
              </a:xfrm>
              <a:prstGeom prst="ellipse">
                <a:avLst/>
              </a:prstGeom>
              <a:solidFill>
                <a:srgbClr val="999999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7" name="Group 11"/>
            <p:cNvGrpSpPr>
              <a:grpSpLocks/>
            </p:cNvGrpSpPr>
            <p:nvPr/>
          </p:nvGrpSpPr>
          <p:grpSpPr bwMode="auto">
            <a:xfrm>
              <a:off x="1092" y="3439"/>
              <a:ext cx="528" cy="408"/>
              <a:chOff x="1092" y="3439"/>
              <a:chExt cx="528" cy="408"/>
            </a:xfrm>
          </p:grpSpPr>
          <p:sp>
            <p:nvSpPr>
              <p:cNvPr id="8" name="Rectangle 12"/>
              <p:cNvSpPr>
                <a:spLocks noChangeArrowheads="1"/>
              </p:cNvSpPr>
              <p:nvPr/>
            </p:nvSpPr>
            <p:spPr bwMode="auto">
              <a:xfrm>
                <a:off x="1092" y="3523"/>
                <a:ext cx="528" cy="242"/>
              </a:xfrm>
              <a:prstGeom prst="rect">
                <a:avLst/>
              </a:prstGeom>
              <a:solidFill>
                <a:srgbClr val="999999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9" name="Oval 13"/>
              <p:cNvSpPr>
                <a:spLocks noChangeArrowheads="1"/>
              </p:cNvSpPr>
              <p:nvPr/>
            </p:nvSpPr>
            <p:spPr bwMode="auto">
              <a:xfrm>
                <a:off x="1092" y="3439"/>
                <a:ext cx="528" cy="154"/>
              </a:xfrm>
              <a:prstGeom prst="ellipse">
                <a:avLst/>
              </a:prstGeom>
              <a:solidFill>
                <a:srgbClr val="CCCCCC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0" name="Oval 14"/>
              <p:cNvSpPr>
                <a:spLocks noChangeArrowheads="1"/>
              </p:cNvSpPr>
              <p:nvPr/>
            </p:nvSpPr>
            <p:spPr bwMode="auto">
              <a:xfrm>
                <a:off x="1092" y="3693"/>
                <a:ext cx="528" cy="154"/>
              </a:xfrm>
              <a:prstGeom prst="ellipse">
                <a:avLst/>
              </a:prstGeom>
              <a:solidFill>
                <a:srgbClr val="999999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</p:grp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2224711" y="4729607"/>
            <a:ext cx="221138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Storage structures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2224711" y="1994345"/>
            <a:ext cx="22352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Memory structures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2213598" y="3167507"/>
            <a:ext cx="231298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Process structures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4586911" y="2084832"/>
            <a:ext cx="4189412" cy="2097088"/>
          </a:xfrm>
          <a:prstGeom prst="rect">
            <a:avLst/>
          </a:prstGeom>
          <a:solidFill>
            <a:srgbClr val="99CCCC"/>
          </a:solidFill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6080" tIns="46080" rIns="46080" bIns="46080" anchorCtr="1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95000"/>
              </a:lnSpc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Instance</a:t>
            </a:r>
          </a:p>
        </p:txBody>
      </p:sp>
      <p:grpSp>
        <p:nvGrpSpPr>
          <p:cNvPr id="21" name="Group 19"/>
          <p:cNvGrpSpPr>
            <a:grpSpLocks/>
          </p:cNvGrpSpPr>
          <p:nvPr/>
        </p:nvGrpSpPr>
        <p:grpSpPr bwMode="auto">
          <a:xfrm>
            <a:off x="4879011" y="2456307"/>
            <a:ext cx="3573462" cy="800100"/>
            <a:chOff x="2239" y="1488"/>
            <a:chExt cx="2251" cy="504"/>
          </a:xfrm>
        </p:grpSpPr>
        <p:sp>
          <p:nvSpPr>
            <p:cNvPr id="22" name="AutoShape 20"/>
            <p:cNvSpPr>
              <a:spLocks noChangeArrowheads="1"/>
            </p:cNvSpPr>
            <p:nvPr/>
          </p:nvSpPr>
          <p:spPr bwMode="auto">
            <a:xfrm>
              <a:off x="2239" y="1488"/>
              <a:ext cx="2251" cy="504"/>
            </a:xfrm>
            <a:prstGeom prst="roundRect">
              <a:avLst>
                <a:gd name="adj" fmla="val 12495"/>
              </a:avLst>
            </a:prstGeom>
            <a:solidFill>
              <a:srgbClr val="FFCC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2413" y="1511"/>
              <a:ext cx="19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ts val="450"/>
                </a:spcBef>
                <a:buClrTx/>
                <a:buFontTx/>
                <a:buNone/>
              </a:pPr>
              <a:r>
                <a:rPr lang="en-US" b="1">
                  <a:solidFill>
                    <a:srgbClr val="000000"/>
                  </a:solidFill>
                </a:rPr>
                <a:t>System Global Area (SGA)</a:t>
              </a:r>
            </a:p>
          </p:txBody>
        </p:sp>
      </p:grpSp>
      <p:grpSp>
        <p:nvGrpSpPr>
          <p:cNvPr id="24" name="Group 22"/>
          <p:cNvGrpSpPr>
            <a:grpSpLocks/>
          </p:cNvGrpSpPr>
          <p:nvPr/>
        </p:nvGrpSpPr>
        <p:grpSpPr bwMode="auto">
          <a:xfrm>
            <a:off x="4867898" y="3383407"/>
            <a:ext cx="3559175" cy="595313"/>
            <a:chOff x="2232" y="2072"/>
            <a:chExt cx="2242" cy="375"/>
          </a:xfrm>
        </p:grpSpPr>
        <p:sp>
          <p:nvSpPr>
            <p:cNvPr id="25" name="Oval 23"/>
            <p:cNvSpPr>
              <a:spLocks noChangeArrowheads="1"/>
            </p:cNvSpPr>
            <p:nvPr/>
          </p:nvSpPr>
          <p:spPr bwMode="auto">
            <a:xfrm>
              <a:off x="2232" y="2072"/>
              <a:ext cx="2242" cy="375"/>
            </a:xfrm>
            <a:prstGeom prst="ellipse">
              <a:avLst/>
            </a:prstGeom>
            <a:solidFill>
              <a:srgbClr val="FFFFCC"/>
            </a:solidFill>
            <a:ln w="255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2514" y="2150"/>
              <a:ext cx="1704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ts val="450"/>
                </a:spcBef>
                <a:buClrTx/>
                <a:buFontTx/>
                <a:buNone/>
              </a:pPr>
              <a:r>
                <a:rPr lang="en-US" b="1">
                  <a:solidFill>
                    <a:srgbClr val="000000"/>
                  </a:solidFill>
                </a:rPr>
                <a:t>Background processes</a:t>
              </a:r>
            </a:p>
          </p:txBody>
        </p:sp>
      </p:grp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4850436" y="4575620"/>
            <a:ext cx="3590925" cy="1839912"/>
          </a:xfrm>
          <a:prstGeom prst="rect">
            <a:avLst/>
          </a:prstGeom>
          <a:solidFill>
            <a:srgbClr val="FFCC33"/>
          </a:solidFill>
          <a:ln w="255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/>
          </a:p>
        </p:txBody>
      </p:sp>
      <p:sp>
        <p:nvSpPr>
          <p:cNvPr id="28" name="Rectangle 26"/>
          <p:cNvSpPr>
            <a:spLocks noChangeArrowheads="1"/>
          </p:cNvSpPr>
          <p:nvPr/>
        </p:nvSpPr>
        <p:spPr bwMode="auto">
          <a:xfrm>
            <a:off x="5763248" y="4640707"/>
            <a:ext cx="1766888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15920" tIns="57240" rIns="115920" bIns="5724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Database files</a:t>
            </a:r>
          </a:p>
        </p:txBody>
      </p:sp>
      <p:grpSp>
        <p:nvGrpSpPr>
          <p:cNvPr id="29" name="Group 27"/>
          <p:cNvGrpSpPr>
            <a:grpSpLocks/>
          </p:cNvGrpSpPr>
          <p:nvPr/>
        </p:nvGrpSpPr>
        <p:grpSpPr bwMode="auto">
          <a:xfrm>
            <a:off x="4972673" y="5151882"/>
            <a:ext cx="3340100" cy="1198563"/>
            <a:chOff x="2298" y="3186"/>
            <a:chExt cx="2104" cy="755"/>
          </a:xfrm>
        </p:grpSpPr>
        <p:grpSp>
          <p:nvGrpSpPr>
            <p:cNvPr id="30" name="Group 28"/>
            <p:cNvGrpSpPr>
              <a:grpSpLocks/>
            </p:cNvGrpSpPr>
            <p:nvPr/>
          </p:nvGrpSpPr>
          <p:grpSpPr bwMode="auto">
            <a:xfrm>
              <a:off x="3073" y="3533"/>
              <a:ext cx="624" cy="408"/>
              <a:chOff x="3073" y="3533"/>
              <a:chExt cx="624" cy="408"/>
            </a:xfrm>
          </p:grpSpPr>
          <p:sp>
            <p:nvSpPr>
              <p:cNvPr id="51" name="Rectangle 29"/>
              <p:cNvSpPr>
                <a:spLocks noChangeArrowheads="1"/>
              </p:cNvSpPr>
              <p:nvPr/>
            </p:nvSpPr>
            <p:spPr bwMode="auto">
              <a:xfrm>
                <a:off x="3073" y="3617"/>
                <a:ext cx="624" cy="242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52" name="Oval 30"/>
              <p:cNvSpPr>
                <a:spLocks noChangeArrowheads="1"/>
              </p:cNvSpPr>
              <p:nvPr/>
            </p:nvSpPr>
            <p:spPr bwMode="auto">
              <a:xfrm>
                <a:off x="3073" y="3533"/>
                <a:ext cx="624" cy="154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53" name="Oval 31"/>
              <p:cNvSpPr>
                <a:spLocks noChangeArrowheads="1"/>
              </p:cNvSpPr>
              <p:nvPr/>
            </p:nvSpPr>
            <p:spPr bwMode="auto">
              <a:xfrm>
                <a:off x="3073" y="3787"/>
                <a:ext cx="624" cy="154"/>
              </a:xfrm>
              <a:prstGeom prst="ellipse">
                <a:avLst/>
              </a:pr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31" name="Group 32"/>
            <p:cNvGrpSpPr>
              <a:grpSpLocks/>
            </p:cNvGrpSpPr>
            <p:nvPr/>
          </p:nvGrpSpPr>
          <p:grpSpPr bwMode="auto">
            <a:xfrm>
              <a:off x="3073" y="3186"/>
              <a:ext cx="624" cy="408"/>
              <a:chOff x="3073" y="3186"/>
              <a:chExt cx="624" cy="408"/>
            </a:xfrm>
          </p:grpSpPr>
          <p:sp>
            <p:nvSpPr>
              <p:cNvPr id="48" name="Rectangle 33"/>
              <p:cNvSpPr>
                <a:spLocks noChangeArrowheads="1"/>
              </p:cNvSpPr>
              <p:nvPr/>
            </p:nvSpPr>
            <p:spPr bwMode="auto">
              <a:xfrm>
                <a:off x="3073" y="3270"/>
                <a:ext cx="624" cy="242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49" name="Oval 34"/>
              <p:cNvSpPr>
                <a:spLocks noChangeArrowheads="1"/>
              </p:cNvSpPr>
              <p:nvPr/>
            </p:nvSpPr>
            <p:spPr bwMode="auto">
              <a:xfrm>
                <a:off x="3073" y="3186"/>
                <a:ext cx="624" cy="154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50" name="Oval 35"/>
              <p:cNvSpPr>
                <a:spLocks noChangeArrowheads="1"/>
              </p:cNvSpPr>
              <p:nvPr/>
            </p:nvSpPr>
            <p:spPr bwMode="auto">
              <a:xfrm>
                <a:off x="3073" y="3440"/>
                <a:ext cx="624" cy="154"/>
              </a:xfrm>
              <a:prstGeom prst="ellipse">
                <a:avLst/>
              </a:pr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32" name="Group 36"/>
            <p:cNvGrpSpPr>
              <a:grpSpLocks/>
            </p:cNvGrpSpPr>
            <p:nvPr/>
          </p:nvGrpSpPr>
          <p:grpSpPr bwMode="auto">
            <a:xfrm>
              <a:off x="2298" y="3533"/>
              <a:ext cx="677" cy="408"/>
              <a:chOff x="2298" y="3533"/>
              <a:chExt cx="677" cy="408"/>
            </a:xfrm>
          </p:grpSpPr>
          <p:sp>
            <p:nvSpPr>
              <p:cNvPr id="45" name="Rectangle 37"/>
              <p:cNvSpPr>
                <a:spLocks noChangeArrowheads="1"/>
              </p:cNvSpPr>
              <p:nvPr/>
            </p:nvSpPr>
            <p:spPr bwMode="auto">
              <a:xfrm>
                <a:off x="2298" y="3617"/>
                <a:ext cx="677" cy="242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46" name="Oval 38"/>
              <p:cNvSpPr>
                <a:spLocks noChangeArrowheads="1"/>
              </p:cNvSpPr>
              <p:nvPr/>
            </p:nvSpPr>
            <p:spPr bwMode="auto">
              <a:xfrm>
                <a:off x="2298" y="3533"/>
                <a:ext cx="677" cy="154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47" name="Oval 39"/>
              <p:cNvSpPr>
                <a:spLocks noChangeArrowheads="1"/>
              </p:cNvSpPr>
              <p:nvPr/>
            </p:nvSpPr>
            <p:spPr bwMode="auto">
              <a:xfrm>
                <a:off x="2298" y="3787"/>
                <a:ext cx="677" cy="154"/>
              </a:xfrm>
              <a:prstGeom prst="ellipse">
                <a:avLst/>
              </a:pr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33" name="Group 40"/>
            <p:cNvGrpSpPr>
              <a:grpSpLocks/>
            </p:cNvGrpSpPr>
            <p:nvPr/>
          </p:nvGrpSpPr>
          <p:grpSpPr bwMode="auto">
            <a:xfrm>
              <a:off x="2298" y="3187"/>
              <a:ext cx="677" cy="408"/>
              <a:chOff x="2298" y="3187"/>
              <a:chExt cx="677" cy="408"/>
            </a:xfrm>
          </p:grpSpPr>
          <p:sp>
            <p:nvSpPr>
              <p:cNvPr id="42" name="Rectangle 41"/>
              <p:cNvSpPr>
                <a:spLocks noChangeArrowheads="1"/>
              </p:cNvSpPr>
              <p:nvPr/>
            </p:nvSpPr>
            <p:spPr bwMode="auto">
              <a:xfrm>
                <a:off x="2298" y="3271"/>
                <a:ext cx="677" cy="242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43" name="Oval 42"/>
              <p:cNvSpPr>
                <a:spLocks noChangeArrowheads="1"/>
              </p:cNvSpPr>
              <p:nvPr/>
            </p:nvSpPr>
            <p:spPr bwMode="auto">
              <a:xfrm>
                <a:off x="2298" y="3187"/>
                <a:ext cx="677" cy="154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44" name="Oval 43"/>
              <p:cNvSpPr>
                <a:spLocks noChangeArrowheads="1"/>
              </p:cNvSpPr>
              <p:nvPr/>
            </p:nvSpPr>
            <p:spPr bwMode="auto">
              <a:xfrm>
                <a:off x="2298" y="3441"/>
                <a:ext cx="677" cy="154"/>
              </a:xfrm>
              <a:prstGeom prst="ellipse">
                <a:avLst/>
              </a:pr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34" name="Group 44"/>
            <p:cNvGrpSpPr>
              <a:grpSpLocks/>
            </p:cNvGrpSpPr>
            <p:nvPr/>
          </p:nvGrpSpPr>
          <p:grpSpPr bwMode="auto">
            <a:xfrm>
              <a:off x="3778" y="3533"/>
              <a:ext cx="624" cy="408"/>
              <a:chOff x="3778" y="3533"/>
              <a:chExt cx="624" cy="408"/>
            </a:xfrm>
          </p:grpSpPr>
          <p:sp>
            <p:nvSpPr>
              <p:cNvPr id="39" name="Rectangle 45"/>
              <p:cNvSpPr>
                <a:spLocks noChangeArrowheads="1"/>
              </p:cNvSpPr>
              <p:nvPr/>
            </p:nvSpPr>
            <p:spPr bwMode="auto">
              <a:xfrm>
                <a:off x="3778" y="3617"/>
                <a:ext cx="624" cy="242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40" name="Oval 46"/>
              <p:cNvSpPr>
                <a:spLocks noChangeArrowheads="1"/>
              </p:cNvSpPr>
              <p:nvPr/>
            </p:nvSpPr>
            <p:spPr bwMode="auto">
              <a:xfrm>
                <a:off x="3778" y="3533"/>
                <a:ext cx="624" cy="154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41" name="Oval 47"/>
              <p:cNvSpPr>
                <a:spLocks noChangeArrowheads="1"/>
              </p:cNvSpPr>
              <p:nvPr/>
            </p:nvSpPr>
            <p:spPr bwMode="auto">
              <a:xfrm>
                <a:off x="3778" y="3787"/>
                <a:ext cx="624" cy="154"/>
              </a:xfrm>
              <a:prstGeom prst="ellipse">
                <a:avLst/>
              </a:pr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35" name="Group 48"/>
            <p:cNvGrpSpPr>
              <a:grpSpLocks/>
            </p:cNvGrpSpPr>
            <p:nvPr/>
          </p:nvGrpSpPr>
          <p:grpSpPr bwMode="auto">
            <a:xfrm>
              <a:off x="3778" y="3187"/>
              <a:ext cx="624" cy="408"/>
              <a:chOff x="3778" y="3187"/>
              <a:chExt cx="624" cy="408"/>
            </a:xfrm>
          </p:grpSpPr>
          <p:sp>
            <p:nvSpPr>
              <p:cNvPr id="36" name="Rectangle 49"/>
              <p:cNvSpPr>
                <a:spLocks noChangeArrowheads="1"/>
              </p:cNvSpPr>
              <p:nvPr/>
            </p:nvSpPr>
            <p:spPr bwMode="auto">
              <a:xfrm>
                <a:off x="3778" y="3271"/>
                <a:ext cx="624" cy="242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37" name="Oval 50"/>
              <p:cNvSpPr>
                <a:spLocks noChangeArrowheads="1"/>
              </p:cNvSpPr>
              <p:nvPr/>
            </p:nvSpPr>
            <p:spPr bwMode="auto">
              <a:xfrm>
                <a:off x="3778" y="3187"/>
                <a:ext cx="624" cy="154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38" name="Oval 51"/>
              <p:cNvSpPr>
                <a:spLocks noChangeArrowheads="1"/>
              </p:cNvSpPr>
              <p:nvPr/>
            </p:nvSpPr>
            <p:spPr bwMode="auto">
              <a:xfrm>
                <a:off x="3778" y="3441"/>
                <a:ext cx="624" cy="154"/>
              </a:xfrm>
              <a:prstGeom prst="ellipse">
                <a:avLst/>
              </a:prstGeom>
              <a:solidFill>
                <a:srgbClr val="96969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</p:grpSp>
      <p:grpSp>
        <p:nvGrpSpPr>
          <p:cNvPr id="54" name="Group 52"/>
          <p:cNvGrpSpPr>
            <a:grpSpLocks/>
          </p:cNvGrpSpPr>
          <p:nvPr/>
        </p:nvGrpSpPr>
        <p:grpSpPr bwMode="auto">
          <a:xfrm>
            <a:off x="6606211" y="4188270"/>
            <a:ext cx="146050" cy="379412"/>
            <a:chOff x="3327" y="2579"/>
            <a:chExt cx="92" cy="239"/>
          </a:xfrm>
        </p:grpSpPr>
        <p:sp>
          <p:nvSpPr>
            <p:cNvPr id="55" name="Line 53"/>
            <p:cNvSpPr>
              <a:spLocks noChangeShapeType="1"/>
            </p:cNvSpPr>
            <p:nvPr/>
          </p:nvSpPr>
          <p:spPr bwMode="auto">
            <a:xfrm>
              <a:off x="3327" y="2591"/>
              <a:ext cx="0" cy="221"/>
            </a:xfrm>
            <a:prstGeom prst="line">
              <a:avLst/>
            </a:prstGeom>
            <a:noFill/>
            <a:ln w="28440" cap="sq">
              <a:solidFill>
                <a:srgbClr val="000000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54"/>
            <p:cNvSpPr>
              <a:spLocks noChangeShapeType="1"/>
            </p:cNvSpPr>
            <p:nvPr/>
          </p:nvSpPr>
          <p:spPr bwMode="auto">
            <a:xfrm flipV="1">
              <a:off x="3420" y="2578"/>
              <a:ext cx="0" cy="241"/>
            </a:xfrm>
            <a:prstGeom prst="line">
              <a:avLst/>
            </a:prstGeom>
            <a:noFill/>
            <a:ln w="28440" cap="sq">
              <a:solidFill>
                <a:srgbClr val="000000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7" name="Picture 5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048" y="3535807"/>
            <a:ext cx="976313" cy="96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8" name="Line 57"/>
          <p:cNvSpPr>
            <a:spLocks noChangeShapeType="1"/>
          </p:cNvSpPr>
          <p:nvPr/>
        </p:nvSpPr>
        <p:spPr bwMode="auto">
          <a:xfrm>
            <a:off x="3764586" y="4045395"/>
            <a:ext cx="812800" cy="1587"/>
          </a:xfrm>
          <a:prstGeom prst="line">
            <a:avLst/>
          </a:prstGeom>
          <a:noFill/>
          <a:ln w="28440" cap="sq">
            <a:solidFill>
              <a:srgbClr val="000000"/>
            </a:solidFill>
            <a:miter lim="800000"/>
            <a:headEnd type="triangl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5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escription of Figure 11-1 follo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094" y="814420"/>
            <a:ext cx="5396140" cy="581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04" y="902550"/>
            <a:ext cx="5464013" cy="42599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303" y="5823857"/>
            <a:ext cx="6145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https://docs.oracle.com/en/database/oracle/oracle-database/12.2/admin/managing-memory.html#GUID-24312D78-522D-4C08-8934-820BE18D34C7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25686" y="2405743"/>
            <a:ext cx="859971" cy="1643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28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Inštancia - pamäť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831" y="1991020"/>
            <a:ext cx="3535986" cy="28958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206" y="5692087"/>
            <a:ext cx="110059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linkClick r:id="rId3"/>
              </a:rPr>
              <a:t>https://docs.oracle.com/en/database/oracle/oracle-database/12.2/admqs/managing-the-oracle-instance.html#GUID-A3319550-AB7A-4429-9A58-4B90E4B3D0F5</a:t>
            </a:r>
            <a:endParaRPr lang="sk-SK" sz="1600" dirty="0">
              <a:hlinkClick r:id="rId4"/>
            </a:endParaRPr>
          </a:p>
          <a:p>
            <a:r>
              <a:rPr lang="en-US" sz="1600" dirty="0">
                <a:hlinkClick r:id="rId4"/>
              </a:rPr>
              <a:t>https://docs.oracle.com/en/database/oracle/oracle-database/12.2/admqs/managing-the-oracle-instance.html#GUID-5B7510F1-C811-4B74-A847-7C9D67CA933E</a:t>
            </a:r>
            <a:endParaRPr lang="sk-SK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332515" y="1664459"/>
            <a:ext cx="74567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SGA</a:t>
            </a:r>
            <a:r>
              <a:rPr lang="en-US" dirty="0"/>
              <a:t> je </a:t>
            </a:r>
            <a:r>
              <a:rPr lang="en-US" dirty="0" err="1"/>
              <a:t>skupina</a:t>
            </a:r>
            <a:r>
              <a:rPr lang="en-US" dirty="0"/>
              <a:t> </a:t>
            </a:r>
            <a:r>
              <a:rPr lang="en-US" dirty="0" err="1"/>
              <a:t>štruktúr</a:t>
            </a:r>
            <a:r>
              <a:rPr lang="en-US" dirty="0"/>
              <a:t> </a:t>
            </a:r>
            <a:r>
              <a:rPr lang="en-US" dirty="0" err="1"/>
              <a:t>zdieľanej</a:t>
            </a:r>
            <a:r>
              <a:rPr lang="en-US" dirty="0"/>
              <a:t> </a:t>
            </a:r>
            <a:r>
              <a:rPr lang="en-US" dirty="0" err="1"/>
              <a:t>pamäte</a:t>
            </a:r>
            <a:r>
              <a:rPr lang="en-US" dirty="0"/>
              <a:t> </a:t>
            </a:r>
            <a:r>
              <a:rPr lang="en-US" dirty="0" err="1"/>
              <a:t>známa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komponenty</a:t>
            </a:r>
            <a:r>
              <a:rPr lang="en-US" dirty="0"/>
              <a:t> SGA, </a:t>
            </a:r>
            <a:r>
              <a:rPr lang="en-US" dirty="0" err="1"/>
              <a:t>ktoré</a:t>
            </a:r>
            <a:r>
              <a:rPr lang="en-US" dirty="0"/>
              <a:t> </a:t>
            </a:r>
            <a:r>
              <a:rPr lang="en-US" dirty="0" err="1"/>
              <a:t>obsahujú</a:t>
            </a:r>
            <a:r>
              <a:rPr lang="en-US" dirty="0"/>
              <a:t> </a:t>
            </a:r>
            <a:r>
              <a:rPr lang="en-US" dirty="0" err="1"/>
              <a:t>údaje</a:t>
            </a:r>
            <a:r>
              <a:rPr lang="en-US" dirty="0"/>
              <a:t> a </a:t>
            </a:r>
            <a:r>
              <a:rPr lang="en-US" dirty="0" err="1"/>
              <a:t>kontrolné</a:t>
            </a:r>
            <a:r>
              <a:rPr lang="en-US" dirty="0"/>
              <a:t> </a:t>
            </a:r>
            <a:r>
              <a:rPr lang="en-US" dirty="0" err="1"/>
              <a:t>informácie</a:t>
            </a:r>
            <a:r>
              <a:rPr lang="en-US" dirty="0"/>
              <a:t> pre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inštanciu</a:t>
            </a:r>
            <a:r>
              <a:rPr lang="en-US" dirty="0"/>
              <a:t> Oracle </a:t>
            </a:r>
            <a:r>
              <a:rPr lang="sk-SK" dirty="0"/>
              <a:t>databázy</a:t>
            </a:r>
            <a:r>
              <a:rPr lang="en-US" dirty="0"/>
              <a:t>. SGA </a:t>
            </a:r>
            <a:r>
              <a:rPr lang="en-US" dirty="0" err="1"/>
              <a:t>zdieľajú</a:t>
            </a:r>
            <a:r>
              <a:rPr lang="en-US" dirty="0"/>
              <a:t> </a:t>
            </a:r>
            <a:r>
              <a:rPr lang="en-US" dirty="0" err="1"/>
              <a:t>všetky</a:t>
            </a:r>
            <a:r>
              <a:rPr lang="en-US" dirty="0"/>
              <a:t> </a:t>
            </a:r>
            <a:r>
              <a:rPr lang="sk-SK" dirty="0"/>
              <a:t>server a backround procesy</a:t>
            </a:r>
            <a:r>
              <a:rPr lang="en-US" dirty="0"/>
              <a:t>.</a:t>
            </a:r>
            <a:r>
              <a:rPr lang="sk-SK" dirty="0"/>
              <a:t> Komponenty SGA: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Shared Pool – </a:t>
            </a:r>
            <a:r>
              <a:rPr lang="sk-SK" sz="1400" dirty="0"/>
              <a:t>ukladá informácie do vyrovnávacej pamäte, ktoré sa zdieľajú medzi používateľmi: príkazy SQL, ktoré je možné opakovane použiť, informácie z dátového slovníka, stored procedúry, ktoré sú spustiteľným kódom uloženým v databáze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Database Buffer Cache –</a:t>
            </a:r>
            <a:r>
              <a:rPr lang="sk-SK" sz="1400" dirty="0"/>
              <a:t> slúži na uloženie všetkých dát z disku, ku ktorým chceme pristupovať, tu sa vykonávajú aj zmeny dát a keď je zmena potvrdená, tak sa zapíše z buffer cache na disk</a:t>
            </a: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Large Pool – </a:t>
            </a:r>
            <a:r>
              <a:rPr lang="sk-SK" sz="1400" dirty="0"/>
              <a:t>táto voliteľná oblasť sa používa na ukladanie veľkých I / O požiadaviek do rôznych procesov servera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Java Pool – </a:t>
            </a:r>
            <a:r>
              <a:rPr lang="sk-SK" sz="1400" dirty="0"/>
              <a:t>oblasť pamäte, ktorá sa používa pre všetky kódy Java a údaje špecifické pre reláciu v rámci Java Virtual Machine (JVM)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Redo Log Buffer – </a:t>
            </a:r>
            <a:r>
              <a:rPr lang="sk-SK" sz="1400" dirty="0"/>
              <a:t>ukladá redo záznamy do vyrovnávacej pamäte, až kým sa nedajú zapísať do fyzických redo súborov na disku</a:t>
            </a:r>
          </a:p>
          <a:p>
            <a:r>
              <a:rPr lang="en-US"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206" y="5399069"/>
            <a:ext cx="1039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Parametre: sga_max_size, sga_target, shared_pool_size, db_cache_size,...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520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Inštancia - pamäť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98206" y="5930781"/>
            <a:ext cx="10391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https://docs.oracle.com/en/database/oracle/oracle-database/12.2/admqs/managing-the-oracle-instance.html#GUID-5B7510F1-C811-4B74-A847-7C9D67CA933E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5238" y="2342876"/>
            <a:ext cx="2088061" cy="7925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11286" y="2342876"/>
            <a:ext cx="63572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b="1" i="1" dirty="0"/>
              <a:t>Program Global Area(PGA) </a:t>
            </a:r>
            <a:r>
              <a:rPr lang="sk-SK" dirty="0"/>
              <a:t>- je oblasť pamäte, ktorá obsahuje údaje a riadiace informácie pre server proces. Je to nezdieľaná pamäť vytvorená Oracle databázou pri spustení server procesu. Prístup k PGA je exkluzívny pre daný server proces. Background procesy majú tiež pridelenú svoju vlastnú PGA. 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38200" y="4234543"/>
            <a:ext cx="8654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Parametre:</a:t>
            </a:r>
          </a:p>
          <a:p>
            <a:r>
              <a:rPr lang="sk-SK" dirty="0"/>
              <a:t>PGA_AGGREGATE_TARGET: limituje pamäť pre jeden proces</a:t>
            </a:r>
          </a:p>
          <a:p>
            <a:r>
              <a:rPr lang="sk-SK" dirty="0"/>
              <a:t>PGA_AGGREGATE_LIMIT: limituje celkovú pamäť, ktorá je pridelená všetkým procesom</a:t>
            </a:r>
          </a:p>
        </p:txBody>
      </p:sp>
    </p:spTree>
    <p:extLst>
      <p:ext uri="{BB962C8B-B14F-4D97-AF65-F5344CB8AC3E}">
        <p14:creationId xmlns:p14="http://schemas.microsoft.com/office/powerpoint/2010/main" val="2547309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43" y="1857982"/>
            <a:ext cx="5486875" cy="42599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Inštancia – SPRáva pamäte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018314" y="1698171"/>
            <a:ext cx="1774372" cy="4844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795632" y="1839224"/>
            <a:ext cx="60089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>
                <a:solidFill>
                  <a:srgbClr val="FF0000"/>
                </a:solidFill>
              </a:rPr>
              <a:t>Automatic memory management:</a:t>
            </a:r>
          </a:p>
          <a:p>
            <a:r>
              <a:rPr lang="sk-SK" dirty="0"/>
              <a:t>memory_max_size</a:t>
            </a:r>
          </a:p>
          <a:p>
            <a:r>
              <a:rPr lang="sk-SK" dirty="0"/>
              <a:t>memory_target</a:t>
            </a:r>
          </a:p>
          <a:p>
            <a:endParaRPr lang="sk-SK" dirty="0"/>
          </a:p>
          <a:p>
            <a:r>
              <a:rPr lang="sk-SK" dirty="0">
                <a:solidFill>
                  <a:srgbClr val="00B050"/>
                </a:solidFill>
              </a:rPr>
              <a:t>Automatic shared memory management:</a:t>
            </a:r>
          </a:p>
          <a:p>
            <a:r>
              <a:rPr lang="sk-SK" dirty="0"/>
              <a:t>pga_aggregate_target</a:t>
            </a:r>
          </a:p>
          <a:p>
            <a:r>
              <a:rPr lang="sk-SK" dirty="0"/>
              <a:t>sga_target</a:t>
            </a:r>
          </a:p>
          <a:p>
            <a:r>
              <a:rPr lang="sk-SK" dirty="0"/>
              <a:t>sga_max_size</a:t>
            </a:r>
          </a:p>
          <a:p>
            <a:endParaRPr lang="sk-SK" dirty="0"/>
          </a:p>
          <a:p>
            <a:r>
              <a:rPr lang="sk-SK" dirty="0">
                <a:solidFill>
                  <a:srgbClr val="CC99FF"/>
                </a:solidFill>
              </a:rPr>
              <a:t>Manual memory management</a:t>
            </a:r>
          </a:p>
          <a:p>
            <a:r>
              <a:rPr lang="sk-SK" dirty="0"/>
              <a:t>pga_aggregate_target</a:t>
            </a:r>
          </a:p>
          <a:p>
            <a:r>
              <a:rPr lang="sk-SK" dirty="0"/>
              <a:t>shared_pool_size</a:t>
            </a:r>
          </a:p>
          <a:p>
            <a:r>
              <a:rPr lang="sk-SK" dirty="0"/>
              <a:t>db_cache_size</a:t>
            </a:r>
          </a:p>
          <a:p>
            <a:r>
              <a:rPr lang="sk-SK" dirty="0"/>
              <a:t>log_buffer</a:t>
            </a:r>
          </a:p>
          <a:p>
            <a:r>
              <a:rPr lang="sk-SK" dirty="0"/>
              <a:t>large_pool_size</a:t>
            </a:r>
          </a:p>
          <a:p>
            <a:r>
              <a:rPr lang="sk-SK" dirty="0"/>
              <a:t>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233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Inštancia – </a:t>
            </a:r>
            <a:r>
              <a:rPr lang="en-US" dirty="0"/>
              <a:t>background </a:t>
            </a:r>
            <a:r>
              <a:rPr lang="sk-SK" dirty="0"/>
              <a:t>procesy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10198" y="5329397"/>
            <a:ext cx="9776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https://docs.oracle.com/en/database/oracle/oracle-database/12.2/refrn/background-processes.html#GUID-86184690-5531-405F-AA05-BB935F57B76D</a:t>
            </a:r>
            <a:endParaRPr lang="en-US" dirty="0"/>
          </a:p>
          <a:p>
            <a:r>
              <a:rPr lang="en-US" dirty="0">
                <a:hlinkClick r:id="rId3"/>
              </a:rPr>
              <a:t>https://docs.oracle.com/en/database/oracle/oracle-database/12.2/admin/managing-processes.html#GUID-BBA0C387-6306-4B72-91B0-8EA581CFB9FF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24128" y="2285999"/>
            <a:ext cx="9720073" cy="2926935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i="1" dirty="0" err="1"/>
              <a:t>Proces</a:t>
            </a:r>
            <a:r>
              <a:rPr lang="en-US" b="1" i="1" dirty="0"/>
              <a:t> monitor (</a:t>
            </a:r>
            <a:r>
              <a:rPr lang="en-US" b="1" i="1" dirty="0" err="1"/>
              <a:t>pmon</a:t>
            </a:r>
            <a:r>
              <a:rPr lang="en-US" b="1" i="1" dirty="0"/>
              <a:t>): </a:t>
            </a:r>
            <a:r>
              <a:rPr lang="en-US" dirty="0" err="1"/>
              <a:t>vykonáva</a:t>
            </a:r>
            <a:r>
              <a:rPr lang="en-US" dirty="0"/>
              <a:t> </a:t>
            </a:r>
            <a:r>
              <a:rPr lang="en-US" dirty="0" err="1"/>
              <a:t>obnovu</a:t>
            </a:r>
            <a:r>
              <a:rPr lang="en-US" dirty="0"/>
              <a:t> </a:t>
            </a:r>
            <a:r>
              <a:rPr lang="en-US" dirty="0" err="1"/>
              <a:t>procesu</a:t>
            </a:r>
            <a:r>
              <a:rPr lang="en-US" dirty="0"/>
              <a:t>, </a:t>
            </a:r>
            <a:r>
              <a:rPr lang="en-US" dirty="0" err="1"/>
              <a:t>keď</a:t>
            </a:r>
            <a:r>
              <a:rPr lang="en-US" dirty="0"/>
              <a:t> </a:t>
            </a:r>
            <a:r>
              <a:rPr lang="en-US" dirty="0" err="1"/>
              <a:t>užívateľský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zlyhá</a:t>
            </a:r>
            <a:r>
              <a:rPr lang="en-US" dirty="0"/>
              <a:t>. </a:t>
            </a:r>
            <a:r>
              <a:rPr lang="sk-SK" dirty="0"/>
              <a:t>J</a:t>
            </a:r>
            <a:r>
              <a:rPr lang="en-US" dirty="0"/>
              <a:t>e</a:t>
            </a:r>
            <a:r>
              <a:rPr lang="sk-SK" dirty="0"/>
              <a:t> aj</a:t>
            </a:r>
            <a:r>
              <a:rPr lang="en-US" dirty="0"/>
              <a:t> </a:t>
            </a:r>
            <a:r>
              <a:rPr lang="en-US" dirty="0" err="1"/>
              <a:t>zodpovedný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detekciu</a:t>
            </a:r>
            <a:r>
              <a:rPr lang="en-US" dirty="0"/>
              <a:t> </a:t>
            </a:r>
            <a:r>
              <a:rPr lang="en-US" dirty="0" err="1"/>
              <a:t>procesov</a:t>
            </a:r>
            <a:r>
              <a:rPr lang="en-US" dirty="0"/>
              <a:t>, </a:t>
            </a:r>
            <a:r>
              <a:rPr lang="en-US" dirty="0" err="1"/>
              <a:t>ktoré</a:t>
            </a:r>
            <a:r>
              <a:rPr lang="en-US" dirty="0"/>
              <a:t> </a:t>
            </a:r>
            <a:r>
              <a:rPr lang="en-US" dirty="0" err="1"/>
              <a:t>zlyhali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1" dirty="0"/>
              <a:t>System monitor (</a:t>
            </a:r>
            <a:r>
              <a:rPr lang="en-US" b="1" i="1" dirty="0" err="1"/>
              <a:t>smon</a:t>
            </a:r>
            <a:r>
              <a:rPr lang="en-US" b="1" i="1" dirty="0"/>
              <a:t>): </a:t>
            </a:r>
            <a:r>
              <a:rPr lang="sk-SK" dirty="0"/>
              <a:t>proces, ktorý vykoná obnovu databázového systému po nečakanom vypnutí databázy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i="1" dirty="0"/>
              <a:t>Database writer (</a:t>
            </a:r>
            <a:r>
              <a:rPr lang="en-US" b="1" i="1" dirty="0" err="1"/>
              <a:t>DBWn</a:t>
            </a:r>
            <a:r>
              <a:rPr lang="en-US" b="1" i="1" dirty="0"/>
              <a:t>): </a:t>
            </a:r>
            <a:r>
              <a:rPr lang="en-US" dirty="0" err="1"/>
              <a:t>zapisuje</a:t>
            </a:r>
            <a:r>
              <a:rPr lang="en-US" dirty="0"/>
              <a:t> </a:t>
            </a:r>
            <a:r>
              <a:rPr lang="en-US" dirty="0" err="1"/>
              <a:t>modifikované</a:t>
            </a:r>
            <a:r>
              <a:rPr lang="en-US" dirty="0"/>
              <a:t> </a:t>
            </a:r>
            <a:r>
              <a:rPr lang="en-US" dirty="0" err="1"/>
              <a:t>bloky</a:t>
            </a:r>
            <a:r>
              <a:rPr lang="en-US" dirty="0"/>
              <a:t> z pam</a:t>
            </a:r>
            <a:r>
              <a:rPr lang="sk-SK" dirty="0"/>
              <a:t>äte (časti </a:t>
            </a:r>
            <a:r>
              <a:rPr lang="en-US" dirty="0"/>
              <a:t>database buffer cache</a:t>
            </a:r>
            <a:r>
              <a:rPr lang="sk-SK" dirty="0"/>
              <a:t>)</a:t>
            </a:r>
            <a:r>
              <a:rPr lang="en-US" dirty="0"/>
              <a:t> do </a:t>
            </a:r>
            <a:r>
              <a:rPr lang="en-US" dirty="0" err="1"/>
              <a:t>dátových</a:t>
            </a:r>
            <a:r>
              <a:rPr lang="en-US" dirty="0"/>
              <a:t> </a:t>
            </a:r>
            <a:r>
              <a:rPr lang="en-US" dirty="0" err="1"/>
              <a:t>súborov</a:t>
            </a:r>
            <a:r>
              <a:rPr lang="sk-SK" dirty="0"/>
              <a:t> (datafiles)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i="1" dirty="0" err="1"/>
              <a:t>Logwriter</a:t>
            </a:r>
            <a:r>
              <a:rPr lang="en-US" b="1" i="1" dirty="0"/>
              <a:t> (LGWR):</a:t>
            </a:r>
            <a:r>
              <a:rPr lang="sk-SK" b="1" i="1" dirty="0"/>
              <a:t> </a:t>
            </a:r>
            <a:r>
              <a:rPr lang="sk-SK" dirty="0"/>
              <a:t>zapisuje redo log záznamy z SGA pamäte (redo log buffer) na disk do redologov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068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DEDICATED a SHARED server process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814" y="1871569"/>
            <a:ext cx="3680189" cy="35745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824" y="1871569"/>
            <a:ext cx="3216555" cy="37877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15" y="6036906"/>
            <a:ext cx="11224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https://docs.oracle.com/en/database/oracle/oracle-database/12.2/admin/managing-processes.html#GUID-CCC18A52-E47B-48AA-8811-4E87023DB99D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325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973" y="585775"/>
            <a:ext cx="9720072" cy="1499616"/>
          </a:xfrm>
        </p:spPr>
        <p:txBody>
          <a:bodyPr/>
          <a:lstStyle/>
          <a:p>
            <a:r>
              <a:rPr lang="sk-SK" dirty="0"/>
              <a:t>Databázové súbory</a:t>
            </a:r>
            <a:endParaRPr lang="en-US" dirty="0"/>
          </a:p>
        </p:txBody>
      </p:sp>
      <p:grpSp>
        <p:nvGrpSpPr>
          <p:cNvPr id="88" name="Group 14"/>
          <p:cNvGrpSpPr>
            <a:grpSpLocks/>
          </p:cNvGrpSpPr>
          <p:nvPr/>
        </p:nvGrpSpPr>
        <p:grpSpPr bwMode="auto">
          <a:xfrm>
            <a:off x="3654564" y="4228538"/>
            <a:ext cx="781050" cy="600075"/>
            <a:chOff x="766" y="3408"/>
            <a:chExt cx="492" cy="378"/>
          </a:xfrm>
        </p:grpSpPr>
        <p:sp>
          <p:nvSpPr>
            <p:cNvPr id="89" name="Rectangle 15"/>
            <p:cNvSpPr>
              <a:spLocks noChangeArrowheads="1"/>
            </p:cNvSpPr>
            <p:nvPr/>
          </p:nvSpPr>
          <p:spPr bwMode="auto">
            <a:xfrm>
              <a:off x="766" y="3486"/>
              <a:ext cx="492" cy="224"/>
            </a:xfrm>
            <a:prstGeom prst="rect">
              <a:avLst/>
            </a:prstGeom>
            <a:solidFill>
              <a:srgbClr val="FF6699"/>
            </a:solidFill>
            <a:ln w="3240" cap="sq">
              <a:solidFill>
                <a:srgbClr val="FF66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  <p:sp>
          <p:nvSpPr>
            <p:cNvPr id="90" name="Oval 16"/>
            <p:cNvSpPr>
              <a:spLocks noChangeArrowheads="1"/>
            </p:cNvSpPr>
            <p:nvPr/>
          </p:nvSpPr>
          <p:spPr bwMode="auto">
            <a:xfrm>
              <a:off x="766" y="3408"/>
              <a:ext cx="492" cy="142"/>
            </a:xfrm>
            <a:prstGeom prst="ellipse">
              <a:avLst/>
            </a:prstGeom>
            <a:solidFill>
              <a:srgbClr val="FF99CC"/>
            </a:solidFill>
            <a:ln w="3240" cap="sq">
              <a:solidFill>
                <a:srgbClr val="FF66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  <p:sp>
          <p:nvSpPr>
            <p:cNvPr id="91" name="Oval 17"/>
            <p:cNvSpPr>
              <a:spLocks noChangeArrowheads="1"/>
            </p:cNvSpPr>
            <p:nvPr/>
          </p:nvSpPr>
          <p:spPr bwMode="auto">
            <a:xfrm>
              <a:off x="766" y="3644"/>
              <a:ext cx="492" cy="142"/>
            </a:xfrm>
            <a:prstGeom prst="ellipse">
              <a:avLst/>
            </a:prstGeom>
            <a:solidFill>
              <a:srgbClr val="FF6699"/>
            </a:solidFill>
            <a:ln w="3240" cap="sq">
              <a:solidFill>
                <a:srgbClr val="FF66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</p:grpSp>
      <p:grpSp>
        <p:nvGrpSpPr>
          <p:cNvPr id="92" name="Group 18"/>
          <p:cNvGrpSpPr>
            <a:grpSpLocks/>
          </p:cNvGrpSpPr>
          <p:nvPr/>
        </p:nvGrpSpPr>
        <p:grpSpPr bwMode="auto">
          <a:xfrm>
            <a:off x="1345236" y="4198385"/>
            <a:ext cx="790575" cy="611188"/>
            <a:chOff x="766" y="2629"/>
            <a:chExt cx="498" cy="385"/>
          </a:xfrm>
        </p:grpSpPr>
        <p:sp>
          <p:nvSpPr>
            <p:cNvPr id="93" name="Rectangle 19"/>
            <p:cNvSpPr>
              <a:spLocks noChangeArrowheads="1"/>
            </p:cNvSpPr>
            <p:nvPr/>
          </p:nvSpPr>
          <p:spPr bwMode="auto">
            <a:xfrm>
              <a:off x="766" y="2708"/>
              <a:ext cx="498" cy="228"/>
            </a:xfrm>
            <a:prstGeom prst="rect">
              <a:avLst/>
            </a:prstGeom>
            <a:solidFill>
              <a:srgbClr val="FF6699"/>
            </a:solidFill>
            <a:ln w="3240" cap="sq">
              <a:solidFill>
                <a:srgbClr val="FF66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  <p:sp>
          <p:nvSpPr>
            <p:cNvPr id="94" name="Oval 20"/>
            <p:cNvSpPr>
              <a:spLocks noChangeArrowheads="1"/>
            </p:cNvSpPr>
            <p:nvPr/>
          </p:nvSpPr>
          <p:spPr bwMode="auto">
            <a:xfrm>
              <a:off x="766" y="2629"/>
              <a:ext cx="498" cy="145"/>
            </a:xfrm>
            <a:prstGeom prst="ellipse">
              <a:avLst/>
            </a:prstGeom>
            <a:solidFill>
              <a:srgbClr val="FF99CC"/>
            </a:solidFill>
            <a:ln w="3240" cap="sq">
              <a:solidFill>
                <a:srgbClr val="FF66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  <p:sp>
          <p:nvSpPr>
            <p:cNvPr id="95" name="Oval 21"/>
            <p:cNvSpPr>
              <a:spLocks noChangeArrowheads="1"/>
            </p:cNvSpPr>
            <p:nvPr/>
          </p:nvSpPr>
          <p:spPr bwMode="auto">
            <a:xfrm>
              <a:off x="766" y="2869"/>
              <a:ext cx="498" cy="145"/>
            </a:xfrm>
            <a:prstGeom prst="ellipse">
              <a:avLst/>
            </a:prstGeom>
            <a:solidFill>
              <a:srgbClr val="FF6699"/>
            </a:solidFill>
            <a:ln w="3240" cap="sq">
              <a:solidFill>
                <a:srgbClr val="FF66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</p:grpSp>
      <p:grpSp>
        <p:nvGrpSpPr>
          <p:cNvPr id="96" name="Group 22"/>
          <p:cNvGrpSpPr>
            <a:grpSpLocks/>
          </p:cNvGrpSpPr>
          <p:nvPr/>
        </p:nvGrpSpPr>
        <p:grpSpPr bwMode="auto">
          <a:xfrm>
            <a:off x="1102883" y="2310257"/>
            <a:ext cx="941387" cy="752475"/>
            <a:chOff x="773" y="1547"/>
            <a:chExt cx="593" cy="474"/>
          </a:xfrm>
        </p:grpSpPr>
        <p:grpSp>
          <p:nvGrpSpPr>
            <p:cNvPr id="97" name="Group 23"/>
            <p:cNvGrpSpPr>
              <a:grpSpLocks/>
            </p:cNvGrpSpPr>
            <p:nvPr/>
          </p:nvGrpSpPr>
          <p:grpSpPr bwMode="auto">
            <a:xfrm>
              <a:off x="773" y="1547"/>
              <a:ext cx="496" cy="383"/>
              <a:chOff x="773" y="1547"/>
              <a:chExt cx="496" cy="383"/>
            </a:xfrm>
          </p:grpSpPr>
          <p:sp>
            <p:nvSpPr>
              <p:cNvPr id="102" name="Rectangle 24"/>
              <p:cNvSpPr>
                <a:spLocks noChangeArrowheads="1"/>
              </p:cNvSpPr>
              <p:nvPr/>
            </p:nvSpPr>
            <p:spPr bwMode="auto">
              <a:xfrm>
                <a:off x="773" y="1626"/>
                <a:ext cx="496" cy="227"/>
              </a:xfrm>
              <a:prstGeom prst="rect">
                <a:avLst/>
              </a:prstGeom>
              <a:solidFill>
                <a:srgbClr val="FF99FF"/>
              </a:solidFill>
              <a:ln w="3240" cap="sq">
                <a:solidFill>
                  <a:srgbClr val="FF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03" name="Oval 25"/>
              <p:cNvSpPr>
                <a:spLocks noChangeArrowheads="1"/>
              </p:cNvSpPr>
              <p:nvPr/>
            </p:nvSpPr>
            <p:spPr bwMode="auto">
              <a:xfrm>
                <a:off x="773" y="1547"/>
                <a:ext cx="496" cy="144"/>
              </a:xfrm>
              <a:prstGeom prst="ellipse">
                <a:avLst/>
              </a:prstGeom>
              <a:solidFill>
                <a:srgbClr val="FFCCFF"/>
              </a:solidFill>
              <a:ln w="3240" cap="sq">
                <a:solidFill>
                  <a:srgbClr val="FF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04" name="Oval 26"/>
              <p:cNvSpPr>
                <a:spLocks noChangeArrowheads="1"/>
              </p:cNvSpPr>
              <p:nvPr/>
            </p:nvSpPr>
            <p:spPr bwMode="auto">
              <a:xfrm>
                <a:off x="773" y="1786"/>
                <a:ext cx="496" cy="144"/>
              </a:xfrm>
              <a:prstGeom prst="ellipse">
                <a:avLst/>
              </a:prstGeom>
              <a:solidFill>
                <a:srgbClr val="FF99FF"/>
              </a:solidFill>
              <a:ln w="3240" cap="sq">
                <a:solidFill>
                  <a:srgbClr val="FF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98" name="Group 27"/>
            <p:cNvGrpSpPr>
              <a:grpSpLocks/>
            </p:cNvGrpSpPr>
            <p:nvPr/>
          </p:nvGrpSpPr>
          <p:grpSpPr bwMode="auto">
            <a:xfrm>
              <a:off x="870" y="1638"/>
              <a:ext cx="496" cy="383"/>
              <a:chOff x="870" y="1638"/>
              <a:chExt cx="496" cy="383"/>
            </a:xfrm>
          </p:grpSpPr>
          <p:sp>
            <p:nvSpPr>
              <p:cNvPr id="99" name="Rectangle 28"/>
              <p:cNvSpPr>
                <a:spLocks noChangeArrowheads="1"/>
              </p:cNvSpPr>
              <p:nvPr/>
            </p:nvSpPr>
            <p:spPr bwMode="auto">
              <a:xfrm>
                <a:off x="870" y="1716"/>
                <a:ext cx="496" cy="227"/>
              </a:xfrm>
              <a:prstGeom prst="rect">
                <a:avLst/>
              </a:prstGeom>
              <a:solidFill>
                <a:srgbClr val="FF99FF"/>
              </a:solidFill>
              <a:ln w="3240" cap="sq">
                <a:solidFill>
                  <a:srgbClr val="FF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00" name="Oval 29"/>
              <p:cNvSpPr>
                <a:spLocks noChangeArrowheads="1"/>
              </p:cNvSpPr>
              <p:nvPr/>
            </p:nvSpPr>
            <p:spPr bwMode="auto">
              <a:xfrm>
                <a:off x="870" y="1638"/>
                <a:ext cx="496" cy="145"/>
              </a:xfrm>
              <a:prstGeom prst="ellipse">
                <a:avLst/>
              </a:prstGeom>
              <a:solidFill>
                <a:srgbClr val="FFCCFF"/>
              </a:solidFill>
              <a:ln w="3240" cap="sq">
                <a:solidFill>
                  <a:srgbClr val="FF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01" name="Oval 30"/>
              <p:cNvSpPr>
                <a:spLocks noChangeArrowheads="1"/>
              </p:cNvSpPr>
              <p:nvPr/>
            </p:nvSpPr>
            <p:spPr bwMode="auto">
              <a:xfrm>
                <a:off x="870" y="1876"/>
                <a:ext cx="496" cy="145"/>
              </a:xfrm>
              <a:prstGeom prst="ellipse">
                <a:avLst/>
              </a:prstGeom>
              <a:solidFill>
                <a:srgbClr val="FF99FF"/>
              </a:solidFill>
              <a:ln w="3240" cap="sq">
                <a:solidFill>
                  <a:srgbClr val="FF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</p:grpSp>
      <p:sp>
        <p:nvSpPr>
          <p:cNvPr id="106" name="Rectangle 32"/>
          <p:cNvSpPr>
            <a:spLocks noChangeArrowheads="1"/>
          </p:cNvSpPr>
          <p:nvPr/>
        </p:nvSpPr>
        <p:spPr bwMode="auto">
          <a:xfrm>
            <a:off x="3329127" y="4828613"/>
            <a:ext cx="1617662" cy="30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600" tIns="12600" rIns="12600" bIns="126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Password file</a:t>
            </a:r>
          </a:p>
        </p:txBody>
      </p:sp>
      <p:sp>
        <p:nvSpPr>
          <p:cNvPr id="107" name="Rectangle 33"/>
          <p:cNvSpPr>
            <a:spLocks noChangeArrowheads="1"/>
          </p:cNvSpPr>
          <p:nvPr/>
        </p:nvSpPr>
        <p:spPr bwMode="auto">
          <a:xfrm>
            <a:off x="830886" y="4809573"/>
            <a:ext cx="1981200" cy="30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600" tIns="12600" rIns="12600" bIns="126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Parameter file</a:t>
            </a:r>
          </a:p>
        </p:txBody>
      </p:sp>
      <p:sp>
        <p:nvSpPr>
          <p:cNvPr id="109" name="Rectangle 35"/>
          <p:cNvSpPr>
            <a:spLocks noChangeArrowheads="1"/>
          </p:cNvSpPr>
          <p:nvPr/>
        </p:nvSpPr>
        <p:spPr bwMode="auto">
          <a:xfrm>
            <a:off x="912382" y="3170608"/>
            <a:ext cx="1482725" cy="33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7240" tIns="28440" rIns="57240" bIns="2844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85000"/>
              </a:lnSpc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Control files</a:t>
            </a:r>
          </a:p>
        </p:txBody>
      </p:sp>
      <p:sp>
        <p:nvSpPr>
          <p:cNvPr id="110" name="Rectangle 53"/>
          <p:cNvSpPr>
            <a:spLocks noChangeArrowheads="1"/>
          </p:cNvSpPr>
          <p:nvPr/>
        </p:nvSpPr>
        <p:spPr bwMode="auto">
          <a:xfrm>
            <a:off x="3453814" y="3280619"/>
            <a:ext cx="1371600" cy="30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600" tIns="12600" rIns="12600" bIns="126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Data files</a:t>
            </a:r>
          </a:p>
        </p:txBody>
      </p:sp>
      <p:grpSp>
        <p:nvGrpSpPr>
          <p:cNvPr id="133" name="Group 36"/>
          <p:cNvGrpSpPr>
            <a:grpSpLocks/>
          </p:cNvGrpSpPr>
          <p:nvPr/>
        </p:nvGrpSpPr>
        <p:grpSpPr bwMode="auto">
          <a:xfrm>
            <a:off x="3337133" y="2283995"/>
            <a:ext cx="1185862" cy="1008063"/>
            <a:chOff x="2271" y="1390"/>
            <a:chExt cx="747" cy="635"/>
          </a:xfrm>
        </p:grpSpPr>
        <p:grpSp>
          <p:nvGrpSpPr>
            <p:cNvPr id="134" name="Group 37"/>
            <p:cNvGrpSpPr>
              <a:grpSpLocks/>
            </p:cNvGrpSpPr>
            <p:nvPr/>
          </p:nvGrpSpPr>
          <p:grpSpPr bwMode="auto">
            <a:xfrm>
              <a:off x="2271" y="1390"/>
              <a:ext cx="483" cy="372"/>
              <a:chOff x="2271" y="1390"/>
              <a:chExt cx="483" cy="372"/>
            </a:xfrm>
          </p:grpSpPr>
          <p:sp>
            <p:nvSpPr>
              <p:cNvPr id="147" name="Rectangle 38"/>
              <p:cNvSpPr>
                <a:spLocks noChangeArrowheads="1"/>
              </p:cNvSpPr>
              <p:nvPr/>
            </p:nvSpPr>
            <p:spPr bwMode="auto">
              <a:xfrm>
                <a:off x="2271" y="1467"/>
                <a:ext cx="483" cy="221"/>
              </a:xfrm>
              <a:prstGeom prst="rect">
                <a:avLst/>
              </a:prstGeom>
              <a:solidFill>
                <a:srgbClr val="9999FF"/>
              </a:solidFill>
              <a:ln w="3240" cap="sq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48" name="Oval 39"/>
              <p:cNvSpPr>
                <a:spLocks noChangeArrowheads="1"/>
              </p:cNvSpPr>
              <p:nvPr/>
            </p:nvSpPr>
            <p:spPr bwMode="auto">
              <a:xfrm>
                <a:off x="2271" y="1390"/>
                <a:ext cx="483" cy="140"/>
              </a:xfrm>
              <a:prstGeom prst="ellipse">
                <a:avLst/>
              </a:prstGeom>
              <a:solidFill>
                <a:srgbClr val="CCCCFF"/>
              </a:solidFill>
              <a:ln w="3240" cap="sq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49" name="Oval 40"/>
              <p:cNvSpPr>
                <a:spLocks noChangeArrowheads="1"/>
              </p:cNvSpPr>
              <p:nvPr/>
            </p:nvSpPr>
            <p:spPr bwMode="auto">
              <a:xfrm>
                <a:off x="2271" y="1622"/>
                <a:ext cx="483" cy="140"/>
              </a:xfrm>
              <a:prstGeom prst="ellipse">
                <a:avLst/>
              </a:prstGeom>
              <a:solidFill>
                <a:srgbClr val="9999FF"/>
              </a:solidFill>
              <a:ln w="3240" cap="sq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135" name="Group 41"/>
            <p:cNvGrpSpPr>
              <a:grpSpLocks/>
            </p:cNvGrpSpPr>
            <p:nvPr/>
          </p:nvGrpSpPr>
          <p:grpSpPr bwMode="auto">
            <a:xfrm>
              <a:off x="2359" y="1478"/>
              <a:ext cx="483" cy="372"/>
              <a:chOff x="2359" y="1478"/>
              <a:chExt cx="483" cy="372"/>
            </a:xfrm>
          </p:grpSpPr>
          <p:sp>
            <p:nvSpPr>
              <p:cNvPr id="144" name="Rectangle 42"/>
              <p:cNvSpPr>
                <a:spLocks noChangeArrowheads="1"/>
              </p:cNvSpPr>
              <p:nvPr/>
            </p:nvSpPr>
            <p:spPr bwMode="auto">
              <a:xfrm>
                <a:off x="2359" y="1555"/>
                <a:ext cx="483" cy="221"/>
              </a:xfrm>
              <a:prstGeom prst="rect">
                <a:avLst/>
              </a:prstGeom>
              <a:solidFill>
                <a:srgbClr val="9999FF"/>
              </a:solidFill>
              <a:ln w="3240" cap="sq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45" name="Oval 43"/>
              <p:cNvSpPr>
                <a:spLocks noChangeArrowheads="1"/>
              </p:cNvSpPr>
              <p:nvPr/>
            </p:nvSpPr>
            <p:spPr bwMode="auto">
              <a:xfrm>
                <a:off x="2359" y="1478"/>
                <a:ext cx="483" cy="140"/>
              </a:xfrm>
              <a:prstGeom prst="ellipse">
                <a:avLst/>
              </a:prstGeom>
              <a:solidFill>
                <a:srgbClr val="CCCCFF"/>
              </a:solidFill>
              <a:ln w="3240" cap="sq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46" name="Oval 44"/>
              <p:cNvSpPr>
                <a:spLocks noChangeArrowheads="1"/>
              </p:cNvSpPr>
              <p:nvPr/>
            </p:nvSpPr>
            <p:spPr bwMode="auto">
              <a:xfrm>
                <a:off x="2359" y="1710"/>
                <a:ext cx="483" cy="140"/>
              </a:xfrm>
              <a:prstGeom prst="ellipse">
                <a:avLst/>
              </a:prstGeom>
              <a:solidFill>
                <a:srgbClr val="9999FF"/>
              </a:solidFill>
              <a:ln w="3240" cap="sq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136" name="Group 45"/>
            <p:cNvGrpSpPr>
              <a:grpSpLocks/>
            </p:cNvGrpSpPr>
            <p:nvPr/>
          </p:nvGrpSpPr>
          <p:grpSpPr bwMode="auto">
            <a:xfrm>
              <a:off x="2447" y="1566"/>
              <a:ext cx="483" cy="372"/>
              <a:chOff x="2447" y="1566"/>
              <a:chExt cx="483" cy="372"/>
            </a:xfrm>
          </p:grpSpPr>
          <p:sp>
            <p:nvSpPr>
              <p:cNvPr id="141" name="Rectangle 46"/>
              <p:cNvSpPr>
                <a:spLocks noChangeArrowheads="1"/>
              </p:cNvSpPr>
              <p:nvPr/>
            </p:nvSpPr>
            <p:spPr bwMode="auto">
              <a:xfrm>
                <a:off x="2447" y="1642"/>
                <a:ext cx="483" cy="220"/>
              </a:xfrm>
              <a:prstGeom prst="rect">
                <a:avLst/>
              </a:prstGeom>
              <a:solidFill>
                <a:srgbClr val="9999FF"/>
              </a:solidFill>
              <a:ln w="3240" cap="sq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42" name="Oval 47"/>
              <p:cNvSpPr>
                <a:spLocks noChangeArrowheads="1"/>
              </p:cNvSpPr>
              <p:nvPr/>
            </p:nvSpPr>
            <p:spPr bwMode="auto">
              <a:xfrm>
                <a:off x="2447" y="1566"/>
                <a:ext cx="483" cy="140"/>
              </a:xfrm>
              <a:prstGeom prst="ellipse">
                <a:avLst/>
              </a:prstGeom>
              <a:solidFill>
                <a:srgbClr val="CCCCFF"/>
              </a:solidFill>
              <a:ln w="3240" cap="sq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43" name="Oval 48"/>
              <p:cNvSpPr>
                <a:spLocks noChangeArrowheads="1"/>
              </p:cNvSpPr>
              <p:nvPr/>
            </p:nvSpPr>
            <p:spPr bwMode="auto">
              <a:xfrm>
                <a:off x="2447" y="1798"/>
                <a:ext cx="483" cy="140"/>
              </a:xfrm>
              <a:prstGeom prst="ellipse">
                <a:avLst/>
              </a:prstGeom>
              <a:solidFill>
                <a:srgbClr val="9999FF"/>
              </a:solidFill>
              <a:ln w="3240" cap="sq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137" name="Group 49"/>
            <p:cNvGrpSpPr>
              <a:grpSpLocks/>
            </p:cNvGrpSpPr>
            <p:nvPr/>
          </p:nvGrpSpPr>
          <p:grpSpPr bwMode="auto">
            <a:xfrm>
              <a:off x="2535" y="1653"/>
              <a:ext cx="483" cy="372"/>
              <a:chOff x="2535" y="1653"/>
              <a:chExt cx="483" cy="372"/>
            </a:xfrm>
          </p:grpSpPr>
          <p:sp>
            <p:nvSpPr>
              <p:cNvPr id="138" name="Rectangle 50"/>
              <p:cNvSpPr>
                <a:spLocks noChangeArrowheads="1"/>
              </p:cNvSpPr>
              <p:nvPr/>
            </p:nvSpPr>
            <p:spPr bwMode="auto">
              <a:xfrm>
                <a:off x="2535" y="1730"/>
                <a:ext cx="483" cy="221"/>
              </a:xfrm>
              <a:prstGeom prst="rect">
                <a:avLst/>
              </a:prstGeom>
              <a:solidFill>
                <a:srgbClr val="9999FF"/>
              </a:solidFill>
              <a:ln w="3240" cap="sq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39" name="Oval 51"/>
              <p:cNvSpPr>
                <a:spLocks noChangeArrowheads="1"/>
              </p:cNvSpPr>
              <p:nvPr/>
            </p:nvSpPr>
            <p:spPr bwMode="auto">
              <a:xfrm>
                <a:off x="2535" y="1653"/>
                <a:ext cx="483" cy="140"/>
              </a:xfrm>
              <a:prstGeom prst="ellipse">
                <a:avLst/>
              </a:prstGeom>
              <a:solidFill>
                <a:srgbClr val="CCCCFF"/>
              </a:solidFill>
              <a:ln w="3240" cap="sq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40" name="Oval 52"/>
              <p:cNvSpPr>
                <a:spLocks noChangeArrowheads="1"/>
              </p:cNvSpPr>
              <p:nvPr/>
            </p:nvSpPr>
            <p:spPr bwMode="auto">
              <a:xfrm>
                <a:off x="2535" y="1885"/>
                <a:ext cx="483" cy="140"/>
              </a:xfrm>
              <a:prstGeom prst="ellipse">
                <a:avLst/>
              </a:prstGeom>
              <a:solidFill>
                <a:srgbClr val="9999FF"/>
              </a:solidFill>
              <a:ln w="3240" cap="sq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</p:grpSp>
      <p:sp>
        <p:nvSpPr>
          <p:cNvPr id="150" name="TextBox 149"/>
          <p:cNvSpPr txBox="1"/>
          <p:nvPr/>
        </p:nvSpPr>
        <p:spPr>
          <a:xfrm>
            <a:off x="442344" y="6121600"/>
            <a:ext cx="11434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https://docs.oracle.com/en/database/oracle/oracle-database/12.2/admqs/managing-database-storage-structures.html#GUID-58449EDF-D9E3-4360-BB42-A49689C4CCA6</a:t>
            </a:r>
            <a:endParaRPr lang="en-US" dirty="0"/>
          </a:p>
        </p:txBody>
      </p:sp>
      <p:grpSp>
        <p:nvGrpSpPr>
          <p:cNvPr id="151" name="Group 1"/>
          <p:cNvGrpSpPr>
            <a:grpSpLocks/>
          </p:cNvGrpSpPr>
          <p:nvPr/>
        </p:nvGrpSpPr>
        <p:grpSpPr bwMode="auto">
          <a:xfrm>
            <a:off x="5676158" y="2359401"/>
            <a:ext cx="1035050" cy="852488"/>
            <a:chOff x="4067" y="1488"/>
            <a:chExt cx="652" cy="537"/>
          </a:xfrm>
        </p:grpSpPr>
        <p:grpSp>
          <p:nvGrpSpPr>
            <p:cNvPr id="152" name="Group 2"/>
            <p:cNvGrpSpPr>
              <a:grpSpLocks/>
            </p:cNvGrpSpPr>
            <p:nvPr/>
          </p:nvGrpSpPr>
          <p:grpSpPr bwMode="auto">
            <a:xfrm>
              <a:off x="4067" y="1488"/>
              <a:ext cx="474" cy="365"/>
              <a:chOff x="4067" y="1488"/>
              <a:chExt cx="474" cy="365"/>
            </a:xfrm>
          </p:grpSpPr>
          <p:sp>
            <p:nvSpPr>
              <p:cNvPr id="161" name="Rectangle 3"/>
              <p:cNvSpPr>
                <a:spLocks noChangeArrowheads="1"/>
              </p:cNvSpPr>
              <p:nvPr/>
            </p:nvSpPr>
            <p:spPr bwMode="auto">
              <a:xfrm>
                <a:off x="4067" y="1563"/>
                <a:ext cx="474" cy="216"/>
              </a:xfrm>
              <a:prstGeom prst="rect">
                <a:avLst/>
              </a:prstGeom>
              <a:solidFill>
                <a:srgbClr val="99CC99"/>
              </a:solidFill>
              <a:ln w="3240" cap="sq">
                <a:solidFill>
                  <a:srgbClr val="99CC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62" name="Oval 4"/>
              <p:cNvSpPr>
                <a:spLocks noChangeArrowheads="1"/>
              </p:cNvSpPr>
              <p:nvPr/>
            </p:nvSpPr>
            <p:spPr bwMode="auto">
              <a:xfrm>
                <a:off x="4067" y="1488"/>
                <a:ext cx="474" cy="137"/>
              </a:xfrm>
              <a:prstGeom prst="ellipse">
                <a:avLst/>
              </a:prstGeom>
              <a:solidFill>
                <a:srgbClr val="CCFFCC"/>
              </a:solidFill>
              <a:ln w="3240" cap="sq">
                <a:solidFill>
                  <a:srgbClr val="99CC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63" name="Oval 5"/>
              <p:cNvSpPr>
                <a:spLocks noChangeArrowheads="1"/>
              </p:cNvSpPr>
              <p:nvPr/>
            </p:nvSpPr>
            <p:spPr bwMode="auto">
              <a:xfrm>
                <a:off x="4067" y="1716"/>
                <a:ext cx="474" cy="137"/>
              </a:xfrm>
              <a:prstGeom prst="ellipse">
                <a:avLst/>
              </a:prstGeom>
              <a:solidFill>
                <a:srgbClr val="99CC99"/>
              </a:solidFill>
              <a:ln w="3240" cap="sq">
                <a:solidFill>
                  <a:srgbClr val="99CC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153" name="Group 6"/>
            <p:cNvGrpSpPr>
              <a:grpSpLocks/>
            </p:cNvGrpSpPr>
            <p:nvPr/>
          </p:nvGrpSpPr>
          <p:grpSpPr bwMode="auto">
            <a:xfrm>
              <a:off x="4153" y="1574"/>
              <a:ext cx="473" cy="365"/>
              <a:chOff x="4153" y="1574"/>
              <a:chExt cx="473" cy="365"/>
            </a:xfrm>
          </p:grpSpPr>
          <p:sp>
            <p:nvSpPr>
              <p:cNvPr id="158" name="Rectangle 7"/>
              <p:cNvSpPr>
                <a:spLocks noChangeArrowheads="1"/>
              </p:cNvSpPr>
              <p:nvPr/>
            </p:nvSpPr>
            <p:spPr bwMode="auto">
              <a:xfrm>
                <a:off x="4153" y="1649"/>
                <a:ext cx="473" cy="217"/>
              </a:xfrm>
              <a:prstGeom prst="rect">
                <a:avLst/>
              </a:prstGeom>
              <a:solidFill>
                <a:srgbClr val="99CC99"/>
              </a:solidFill>
              <a:ln w="3240" cap="sq">
                <a:solidFill>
                  <a:srgbClr val="99CC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59" name="Oval 8"/>
              <p:cNvSpPr>
                <a:spLocks noChangeArrowheads="1"/>
              </p:cNvSpPr>
              <p:nvPr/>
            </p:nvSpPr>
            <p:spPr bwMode="auto">
              <a:xfrm>
                <a:off x="4153" y="1574"/>
                <a:ext cx="473" cy="138"/>
              </a:xfrm>
              <a:prstGeom prst="ellipse">
                <a:avLst/>
              </a:prstGeom>
              <a:solidFill>
                <a:srgbClr val="CCFFCC"/>
              </a:solidFill>
              <a:ln w="3240" cap="sq">
                <a:solidFill>
                  <a:srgbClr val="99CC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60" name="Oval 9"/>
              <p:cNvSpPr>
                <a:spLocks noChangeArrowheads="1"/>
              </p:cNvSpPr>
              <p:nvPr/>
            </p:nvSpPr>
            <p:spPr bwMode="auto">
              <a:xfrm>
                <a:off x="4153" y="1801"/>
                <a:ext cx="473" cy="138"/>
              </a:xfrm>
              <a:prstGeom prst="ellipse">
                <a:avLst/>
              </a:prstGeom>
              <a:solidFill>
                <a:srgbClr val="99CC99"/>
              </a:solidFill>
              <a:ln w="3240" cap="sq">
                <a:solidFill>
                  <a:srgbClr val="99CC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154" name="Group 10"/>
            <p:cNvGrpSpPr>
              <a:grpSpLocks/>
            </p:cNvGrpSpPr>
            <p:nvPr/>
          </p:nvGrpSpPr>
          <p:grpSpPr bwMode="auto">
            <a:xfrm>
              <a:off x="4245" y="1660"/>
              <a:ext cx="473" cy="365"/>
              <a:chOff x="4245" y="1660"/>
              <a:chExt cx="473" cy="365"/>
            </a:xfrm>
          </p:grpSpPr>
          <p:sp>
            <p:nvSpPr>
              <p:cNvPr id="155" name="Rectangle 11"/>
              <p:cNvSpPr>
                <a:spLocks noChangeArrowheads="1"/>
              </p:cNvSpPr>
              <p:nvPr/>
            </p:nvSpPr>
            <p:spPr bwMode="auto">
              <a:xfrm>
                <a:off x="4245" y="1735"/>
                <a:ext cx="473" cy="216"/>
              </a:xfrm>
              <a:prstGeom prst="rect">
                <a:avLst/>
              </a:prstGeom>
              <a:solidFill>
                <a:srgbClr val="99CC99"/>
              </a:solidFill>
              <a:ln w="3240" cap="sq">
                <a:solidFill>
                  <a:srgbClr val="99CC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56" name="Oval 12"/>
              <p:cNvSpPr>
                <a:spLocks noChangeArrowheads="1"/>
              </p:cNvSpPr>
              <p:nvPr/>
            </p:nvSpPr>
            <p:spPr bwMode="auto">
              <a:xfrm>
                <a:off x="4245" y="1660"/>
                <a:ext cx="473" cy="138"/>
              </a:xfrm>
              <a:prstGeom prst="ellipse">
                <a:avLst/>
              </a:prstGeom>
              <a:solidFill>
                <a:srgbClr val="CCFFCC"/>
              </a:solidFill>
              <a:ln w="3240" cap="sq">
                <a:solidFill>
                  <a:srgbClr val="99CC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57" name="Oval 13"/>
              <p:cNvSpPr>
                <a:spLocks noChangeArrowheads="1"/>
              </p:cNvSpPr>
              <p:nvPr/>
            </p:nvSpPr>
            <p:spPr bwMode="auto">
              <a:xfrm>
                <a:off x="4245" y="1887"/>
                <a:ext cx="473" cy="137"/>
              </a:xfrm>
              <a:prstGeom prst="ellipse">
                <a:avLst/>
              </a:prstGeom>
              <a:solidFill>
                <a:srgbClr val="99CC99"/>
              </a:solidFill>
              <a:ln w="3240" cap="sq">
                <a:solidFill>
                  <a:srgbClr val="99CC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</p:grpSp>
      <p:sp>
        <p:nvSpPr>
          <p:cNvPr id="164" name="Rectangle 31"/>
          <p:cNvSpPr>
            <a:spLocks noChangeArrowheads="1"/>
          </p:cNvSpPr>
          <p:nvPr/>
        </p:nvSpPr>
        <p:spPr bwMode="auto">
          <a:xfrm>
            <a:off x="5345958" y="3249989"/>
            <a:ext cx="2330450" cy="30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600" tIns="12600" rIns="12600" bIns="126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Online redo log files</a:t>
            </a:r>
          </a:p>
        </p:txBody>
      </p:sp>
      <p:sp>
        <p:nvSpPr>
          <p:cNvPr id="165" name="Rectangle 34"/>
          <p:cNvSpPr>
            <a:spLocks noChangeArrowheads="1"/>
          </p:cNvSpPr>
          <p:nvPr/>
        </p:nvSpPr>
        <p:spPr bwMode="auto">
          <a:xfrm>
            <a:off x="5541859" y="4814480"/>
            <a:ext cx="2209800" cy="30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600" tIns="12600" rIns="12600" bIns="126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Archive log files</a:t>
            </a:r>
          </a:p>
        </p:txBody>
      </p:sp>
      <p:sp>
        <p:nvSpPr>
          <p:cNvPr id="166" name="Rectangle 54"/>
          <p:cNvSpPr>
            <a:spLocks noChangeArrowheads="1"/>
          </p:cNvSpPr>
          <p:nvPr/>
        </p:nvSpPr>
        <p:spPr bwMode="auto">
          <a:xfrm>
            <a:off x="8100667" y="3267631"/>
            <a:ext cx="2716212" cy="30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600" tIns="12600" rIns="12600" bIns="126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Alert and trace log files</a:t>
            </a:r>
          </a:p>
        </p:txBody>
      </p:sp>
      <p:sp>
        <p:nvSpPr>
          <p:cNvPr id="167" name="Rectangle 55"/>
          <p:cNvSpPr>
            <a:spLocks noChangeArrowheads="1"/>
          </p:cNvSpPr>
          <p:nvPr/>
        </p:nvSpPr>
        <p:spPr bwMode="auto">
          <a:xfrm>
            <a:off x="8905529" y="4934034"/>
            <a:ext cx="1543050" cy="30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600" tIns="12600" rIns="12600" bIns="12600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0000"/>
              </a:lnSpc>
              <a:spcBef>
                <a:spcPts val="450"/>
              </a:spcBef>
              <a:buClrTx/>
              <a:buFontTx/>
              <a:buNone/>
            </a:pPr>
            <a:r>
              <a:rPr lang="en-US" b="1">
                <a:solidFill>
                  <a:srgbClr val="000000"/>
                </a:solidFill>
              </a:rPr>
              <a:t>Backup files</a:t>
            </a:r>
          </a:p>
        </p:txBody>
      </p:sp>
      <p:grpSp>
        <p:nvGrpSpPr>
          <p:cNvPr id="168" name="Group 56"/>
          <p:cNvGrpSpPr>
            <a:grpSpLocks/>
          </p:cNvGrpSpPr>
          <p:nvPr/>
        </p:nvGrpSpPr>
        <p:grpSpPr bwMode="auto">
          <a:xfrm>
            <a:off x="5983184" y="3931830"/>
            <a:ext cx="1033463" cy="858838"/>
            <a:chOff x="4072" y="2470"/>
            <a:chExt cx="651" cy="541"/>
          </a:xfrm>
        </p:grpSpPr>
        <p:grpSp>
          <p:nvGrpSpPr>
            <p:cNvPr id="169" name="Group 57"/>
            <p:cNvGrpSpPr>
              <a:grpSpLocks/>
            </p:cNvGrpSpPr>
            <p:nvPr/>
          </p:nvGrpSpPr>
          <p:grpSpPr bwMode="auto">
            <a:xfrm>
              <a:off x="4072" y="2470"/>
              <a:ext cx="477" cy="368"/>
              <a:chOff x="4072" y="2470"/>
              <a:chExt cx="477" cy="368"/>
            </a:xfrm>
          </p:grpSpPr>
          <p:sp>
            <p:nvSpPr>
              <p:cNvPr id="178" name="Rectangle 58"/>
              <p:cNvSpPr>
                <a:spLocks noChangeArrowheads="1"/>
              </p:cNvSpPr>
              <p:nvPr/>
            </p:nvSpPr>
            <p:spPr bwMode="auto">
              <a:xfrm>
                <a:off x="4072" y="2546"/>
                <a:ext cx="477" cy="218"/>
              </a:xfrm>
              <a:prstGeom prst="rect">
                <a:avLst/>
              </a:prstGeom>
              <a:solidFill>
                <a:srgbClr val="999999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79" name="Oval 59"/>
              <p:cNvSpPr>
                <a:spLocks noChangeArrowheads="1"/>
              </p:cNvSpPr>
              <p:nvPr/>
            </p:nvSpPr>
            <p:spPr bwMode="auto">
              <a:xfrm>
                <a:off x="4072" y="2470"/>
                <a:ext cx="477" cy="139"/>
              </a:xfrm>
              <a:prstGeom prst="ellipse">
                <a:avLst/>
              </a:prstGeom>
              <a:solidFill>
                <a:srgbClr val="CCCCCC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80" name="Oval 60"/>
              <p:cNvSpPr>
                <a:spLocks noChangeArrowheads="1"/>
              </p:cNvSpPr>
              <p:nvPr/>
            </p:nvSpPr>
            <p:spPr bwMode="auto">
              <a:xfrm>
                <a:off x="4072" y="2699"/>
                <a:ext cx="477" cy="139"/>
              </a:xfrm>
              <a:prstGeom prst="ellipse">
                <a:avLst/>
              </a:prstGeom>
              <a:solidFill>
                <a:srgbClr val="999999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170" name="Group 61"/>
            <p:cNvGrpSpPr>
              <a:grpSpLocks/>
            </p:cNvGrpSpPr>
            <p:nvPr/>
          </p:nvGrpSpPr>
          <p:grpSpPr bwMode="auto">
            <a:xfrm>
              <a:off x="4152" y="2557"/>
              <a:ext cx="477" cy="368"/>
              <a:chOff x="4152" y="2557"/>
              <a:chExt cx="477" cy="368"/>
            </a:xfrm>
          </p:grpSpPr>
          <p:sp>
            <p:nvSpPr>
              <p:cNvPr id="175" name="Rectangle 62"/>
              <p:cNvSpPr>
                <a:spLocks noChangeArrowheads="1"/>
              </p:cNvSpPr>
              <p:nvPr/>
            </p:nvSpPr>
            <p:spPr bwMode="auto">
              <a:xfrm>
                <a:off x="4152" y="2633"/>
                <a:ext cx="477" cy="218"/>
              </a:xfrm>
              <a:prstGeom prst="rect">
                <a:avLst/>
              </a:prstGeom>
              <a:solidFill>
                <a:srgbClr val="999999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76" name="Oval 63"/>
              <p:cNvSpPr>
                <a:spLocks noChangeArrowheads="1"/>
              </p:cNvSpPr>
              <p:nvPr/>
            </p:nvSpPr>
            <p:spPr bwMode="auto">
              <a:xfrm>
                <a:off x="4152" y="2557"/>
                <a:ext cx="477" cy="139"/>
              </a:xfrm>
              <a:prstGeom prst="ellipse">
                <a:avLst/>
              </a:prstGeom>
              <a:solidFill>
                <a:srgbClr val="CCCCCC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77" name="Oval 64"/>
              <p:cNvSpPr>
                <a:spLocks noChangeArrowheads="1"/>
              </p:cNvSpPr>
              <p:nvPr/>
            </p:nvSpPr>
            <p:spPr bwMode="auto">
              <a:xfrm>
                <a:off x="4152" y="2786"/>
                <a:ext cx="477" cy="139"/>
              </a:xfrm>
              <a:prstGeom prst="ellipse">
                <a:avLst/>
              </a:prstGeom>
              <a:solidFill>
                <a:srgbClr val="999999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  <p:grpSp>
          <p:nvGrpSpPr>
            <p:cNvPr id="171" name="Group 65"/>
            <p:cNvGrpSpPr>
              <a:grpSpLocks/>
            </p:cNvGrpSpPr>
            <p:nvPr/>
          </p:nvGrpSpPr>
          <p:grpSpPr bwMode="auto">
            <a:xfrm>
              <a:off x="4246" y="2643"/>
              <a:ext cx="477" cy="368"/>
              <a:chOff x="4246" y="2643"/>
              <a:chExt cx="477" cy="368"/>
            </a:xfrm>
          </p:grpSpPr>
          <p:sp>
            <p:nvSpPr>
              <p:cNvPr id="172" name="Rectangle 66"/>
              <p:cNvSpPr>
                <a:spLocks noChangeArrowheads="1"/>
              </p:cNvSpPr>
              <p:nvPr/>
            </p:nvSpPr>
            <p:spPr bwMode="auto">
              <a:xfrm>
                <a:off x="4246" y="2719"/>
                <a:ext cx="477" cy="217"/>
              </a:xfrm>
              <a:prstGeom prst="rect">
                <a:avLst/>
              </a:prstGeom>
              <a:solidFill>
                <a:srgbClr val="999999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73" name="Oval 67"/>
              <p:cNvSpPr>
                <a:spLocks noChangeArrowheads="1"/>
              </p:cNvSpPr>
              <p:nvPr/>
            </p:nvSpPr>
            <p:spPr bwMode="auto">
              <a:xfrm>
                <a:off x="4246" y="2643"/>
                <a:ext cx="477" cy="139"/>
              </a:xfrm>
              <a:prstGeom prst="ellipse">
                <a:avLst/>
              </a:prstGeom>
              <a:solidFill>
                <a:srgbClr val="CCCCCC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  <p:sp>
            <p:nvSpPr>
              <p:cNvPr id="174" name="Oval 68"/>
              <p:cNvSpPr>
                <a:spLocks noChangeArrowheads="1"/>
              </p:cNvSpPr>
              <p:nvPr/>
            </p:nvSpPr>
            <p:spPr bwMode="auto">
              <a:xfrm>
                <a:off x="4246" y="2872"/>
                <a:ext cx="477" cy="139"/>
              </a:xfrm>
              <a:prstGeom prst="ellipse">
                <a:avLst/>
              </a:prstGeom>
              <a:solidFill>
                <a:srgbClr val="999999"/>
              </a:solidFill>
              <a:ln w="3240" cap="sq">
                <a:solidFill>
                  <a:srgbClr val="99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/>
              </a:p>
            </p:txBody>
          </p:sp>
        </p:grpSp>
      </p:grpSp>
      <p:sp>
        <p:nvSpPr>
          <p:cNvPr id="181" name="AutoShape 69"/>
          <p:cNvSpPr>
            <a:spLocks noChangeArrowheads="1"/>
          </p:cNvSpPr>
          <p:nvPr/>
        </p:nvSpPr>
        <p:spPr bwMode="auto">
          <a:xfrm>
            <a:off x="8905529" y="2516743"/>
            <a:ext cx="773113" cy="577850"/>
          </a:xfrm>
          <a:prstGeom prst="can">
            <a:avLst>
              <a:gd name="adj" fmla="val 44514"/>
            </a:avLst>
          </a:prstGeom>
          <a:solidFill>
            <a:srgbClr val="FFCC66"/>
          </a:solidFill>
          <a:ln w="28440" cap="sq">
            <a:solidFill>
              <a:srgbClr val="FF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/>
          </a:p>
        </p:txBody>
      </p:sp>
      <p:sp>
        <p:nvSpPr>
          <p:cNvPr id="182" name="AutoShape 70"/>
          <p:cNvSpPr>
            <a:spLocks noChangeArrowheads="1"/>
          </p:cNvSpPr>
          <p:nvPr/>
        </p:nvSpPr>
        <p:spPr bwMode="auto">
          <a:xfrm>
            <a:off x="9083329" y="2699306"/>
            <a:ext cx="773113" cy="577850"/>
          </a:xfrm>
          <a:prstGeom prst="can">
            <a:avLst>
              <a:gd name="adj" fmla="val 44514"/>
            </a:avLst>
          </a:prstGeom>
          <a:solidFill>
            <a:srgbClr val="FFCC66"/>
          </a:solidFill>
          <a:ln w="28440" cap="sq">
            <a:solidFill>
              <a:srgbClr val="FFCC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/>
          </a:p>
        </p:txBody>
      </p:sp>
      <p:grpSp>
        <p:nvGrpSpPr>
          <p:cNvPr id="183" name="Group 71"/>
          <p:cNvGrpSpPr>
            <a:grpSpLocks/>
          </p:cNvGrpSpPr>
          <p:nvPr/>
        </p:nvGrpSpPr>
        <p:grpSpPr bwMode="auto">
          <a:xfrm>
            <a:off x="8926167" y="3870409"/>
            <a:ext cx="1179512" cy="1041400"/>
            <a:chOff x="2279" y="2356"/>
            <a:chExt cx="743" cy="656"/>
          </a:xfrm>
        </p:grpSpPr>
        <p:sp>
          <p:nvSpPr>
            <p:cNvPr id="184" name="AutoShape 72"/>
            <p:cNvSpPr>
              <a:spLocks noChangeArrowheads="1"/>
            </p:cNvSpPr>
            <p:nvPr/>
          </p:nvSpPr>
          <p:spPr bwMode="auto">
            <a:xfrm>
              <a:off x="2279" y="2356"/>
              <a:ext cx="479" cy="357"/>
            </a:xfrm>
            <a:prstGeom prst="can">
              <a:avLst>
                <a:gd name="adj" fmla="val 44514"/>
              </a:avLst>
            </a:prstGeom>
            <a:solidFill>
              <a:srgbClr val="6699CC"/>
            </a:solidFill>
            <a:ln w="28440" cap="sq">
              <a:solidFill>
                <a:srgbClr val="6699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  <p:sp>
          <p:nvSpPr>
            <p:cNvPr id="185" name="AutoShape 73"/>
            <p:cNvSpPr>
              <a:spLocks noChangeArrowheads="1"/>
            </p:cNvSpPr>
            <p:nvPr/>
          </p:nvSpPr>
          <p:spPr bwMode="auto">
            <a:xfrm>
              <a:off x="2367" y="2461"/>
              <a:ext cx="479" cy="357"/>
            </a:xfrm>
            <a:prstGeom prst="can">
              <a:avLst>
                <a:gd name="adj" fmla="val 44514"/>
              </a:avLst>
            </a:prstGeom>
            <a:solidFill>
              <a:srgbClr val="6699CC"/>
            </a:solidFill>
            <a:ln w="28440" cap="sq">
              <a:solidFill>
                <a:srgbClr val="6699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  <p:sp>
          <p:nvSpPr>
            <p:cNvPr id="186" name="AutoShape 74"/>
            <p:cNvSpPr>
              <a:spLocks noChangeArrowheads="1"/>
            </p:cNvSpPr>
            <p:nvPr/>
          </p:nvSpPr>
          <p:spPr bwMode="auto">
            <a:xfrm>
              <a:off x="2455" y="2567"/>
              <a:ext cx="479" cy="357"/>
            </a:xfrm>
            <a:prstGeom prst="can">
              <a:avLst>
                <a:gd name="adj" fmla="val 44514"/>
              </a:avLst>
            </a:prstGeom>
            <a:solidFill>
              <a:srgbClr val="6699CC"/>
            </a:solidFill>
            <a:ln w="28440" cap="sq">
              <a:solidFill>
                <a:srgbClr val="6699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  <p:sp>
          <p:nvSpPr>
            <p:cNvPr id="187" name="AutoShape 75"/>
            <p:cNvSpPr>
              <a:spLocks noChangeArrowheads="1"/>
            </p:cNvSpPr>
            <p:nvPr/>
          </p:nvSpPr>
          <p:spPr bwMode="auto">
            <a:xfrm>
              <a:off x="2543" y="2655"/>
              <a:ext cx="479" cy="357"/>
            </a:xfrm>
            <a:prstGeom prst="can">
              <a:avLst>
                <a:gd name="adj" fmla="val 44514"/>
              </a:avLst>
            </a:prstGeom>
            <a:solidFill>
              <a:srgbClr val="6699CC"/>
            </a:solidFill>
            <a:ln w="28440" cap="sq">
              <a:solidFill>
                <a:srgbClr val="6699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1693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186" y="622548"/>
            <a:ext cx="9720072" cy="1499616"/>
          </a:xfrm>
        </p:spPr>
        <p:txBody>
          <a:bodyPr/>
          <a:lstStyle/>
          <a:p>
            <a:r>
              <a:rPr lang="sk-SK" dirty="0"/>
              <a:t>Vypnutie databázy</a:t>
            </a:r>
            <a:endParaRPr lang="en-US" dirty="0"/>
          </a:p>
        </p:txBody>
      </p:sp>
      <p:sp>
        <p:nvSpPr>
          <p:cNvPr id="5" name="Rectangle 17"/>
          <p:cNvSpPr>
            <a:spLocks noChangeArrowheads="1"/>
          </p:cNvSpPr>
          <p:nvPr/>
        </p:nvSpPr>
        <p:spPr bwMode="blackWhite">
          <a:xfrm>
            <a:off x="4704428" y="2122164"/>
            <a:ext cx="608563" cy="2492375"/>
          </a:xfrm>
          <a:prstGeom prst="rect">
            <a:avLst/>
          </a:prstGeom>
          <a:solidFill>
            <a:srgbClr val="FFCCFF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A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No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No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No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No</a:t>
            </a:r>
          </a:p>
        </p:txBody>
      </p:sp>
      <p:sp>
        <p:nvSpPr>
          <p:cNvPr id="6" name="Rectangle 29"/>
          <p:cNvSpPr>
            <a:spLocks noChangeArrowheads="1"/>
          </p:cNvSpPr>
          <p:nvPr/>
        </p:nvSpPr>
        <p:spPr bwMode="blackWhite">
          <a:xfrm>
            <a:off x="5868308" y="2122164"/>
            <a:ext cx="556441" cy="2492375"/>
          </a:xfrm>
          <a:prstGeom prst="rect">
            <a:avLst/>
          </a:prstGeom>
          <a:solidFill>
            <a:srgbClr val="FFFF99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T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No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No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Yes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Yes</a:t>
            </a:r>
          </a:p>
        </p:txBody>
      </p:sp>
      <p:sp>
        <p:nvSpPr>
          <p:cNvPr id="7" name="Rectangle 30"/>
          <p:cNvSpPr>
            <a:spLocks noChangeArrowheads="1"/>
          </p:cNvSpPr>
          <p:nvPr/>
        </p:nvSpPr>
        <p:spPr bwMode="blackWhite">
          <a:xfrm>
            <a:off x="5312429" y="2122164"/>
            <a:ext cx="556441" cy="2492375"/>
          </a:xfrm>
          <a:prstGeom prst="rect">
            <a:avLst/>
          </a:prstGeom>
          <a:solidFill>
            <a:srgbClr val="FFCC99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I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Yes</a:t>
            </a:r>
          </a:p>
        </p:txBody>
      </p:sp>
      <p:sp>
        <p:nvSpPr>
          <p:cNvPr id="8" name="Rectangle 31"/>
          <p:cNvSpPr>
            <a:spLocks noChangeArrowheads="1"/>
          </p:cNvSpPr>
          <p:nvPr/>
        </p:nvSpPr>
        <p:spPr bwMode="blackWhite">
          <a:xfrm>
            <a:off x="828186" y="2122164"/>
            <a:ext cx="3864094" cy="2492375"/>
          </a:xfrm>
          <a:prstGeom prst="rect">
            <a:avLst/>
          </a:prstGeom>
          <a:solidFill>
            <a:srgbClr val="CCECFF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Shutdown Mode</a:t>
            </a:r>
          </a:p>
          <a:p>
            <a:pPr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Allows new connections</a:t>
            </a:r>
          </a:p>
          <a:p>
            <a:pPr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Waits until current sessions end</a:t>
            </a:r>
          </a:p>
          <a:p>
            <a:pPr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Waits until current transactions end</a:t>
            </a:r>
          </a:p>
          <a:p>
            <a:pPr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Forces a checkpoint and closes files</a:t>
            </a:r>
          </a:p>
        </p:txBody>
      </p:sp>
      <p:sp>
        <p:nvSpPr>
          <p:cNvPr id="9" name="Rectangle 32"/>
          <p:cNvSpPr>
            <a:spLocks noChangeArrowheads="1"/>
          </p:cNvSpPr>
          <p:nvPr/>
        </p:nvSpPr>
        <p:spPr bwMode="blackWhite">
          <a:xfrm>
            <a:off x="6456092" y="2122164"/>
            <a:ext cx="595885" cy="2492375"/>
          </a:xfrm>
          <a:prstGeom prst="rect">
            <a:avLst/>
          </a:prstGeom>
          <a:solidFill>
            <a:srgbClr val="99FF99"/>
          </a:solidFill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N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No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Yes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Yes</a:t>
            </a:r>
          </a:p>
          <a:p>
            <a:pPr algn="ctr">
              <a:lnSpc>
                <a:spcPct val="125000"/>
              </a:lnSpc>
              <a:spcBef>
                <a:spcPct val="60000"/>
              </a:spcBef>
              <a:buSzPct val="100000"/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Yes</a:t>
            </a: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blackWhite">
          <a:xfrm flipV="1">
            <a:off x="937937" y="2583869"/>
            <a:ext cx="6051821" cy="9525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blackWhite">
          <a:xfrm>
            <a:off x="937937" y="3079297"/>
            <a:ext cx="6074360" cy="1588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blackWhite">
          <a:xfrm>
            <a:off x="937937" y="3573139"/>
            <a:ext cx="6075769" cy="1588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blackWhite">
          <a:xfrm>
            <a:off x="1108885" y="4093839"/>
            <a:ext cx="6075769" cy="1588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0700" y="5025702"/>
            <a:ext cx="63539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shutdown normal;</a:t>
            </a:r>
          </a:p>
          <a:p>
            <a:r>
              <a:rPr lang="en-US" dirty="0"/>
              <a:t>shutdown transactional;</a:t>
            </a:r>
          </a:p>
          <a:p>
            <a:r>
              <a:rPr lang="en-US" dirty="0"/>
              <a:t>shutdown immediate;</a:t>
            </a:r>
          </a:p>
          <a:p>
            <a:endParaRPr lang="en-US" dirty="0"/>
          </a:p>
          <a:p>
            <a:r>
              <a:rPr lang="en-US" dirty="0"/>
              <a:t>shutdown abort;</a:t>
            </a:r>
            <a:r>
              <a:rPr lang="sk-SK" dirty="0"/>
              <a:t>  - po štarte je potrebná čiastočna obnova</a:t>
            </a:r>
            <a:endParaRPr lang="en-US" dirty="0"/>
          </a:p>
        </p:txBody>
      </p:sp>
      <p:sp>
        <p:nvSpPr>
          <p:cNvPr id="15" name="Right Brace 14"/>
          <p:cNvSpPr/>
          <p:nvPr/>
        </p:nvSpPr>
        <p:spPr>
          <a:xfrm>
            <a:off x="3163078" y="5052560"/>
            <a:ext cx="289249" cy="84438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725478" y="4865185"/>
            <a:ext cx="5707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-  u</a:t>
            </a:r>
            <a:r>
              <a:rPr lang="en-US" dirty="0"/>
              <a:t>v</a:t>
            </a:r>
            <a:r>
              <a:rPr lang="sk-SK" dirty="0"/>
              <a:t>oľní zdroje</a:t>
            </a:r>
          </a:p>
          <a:p>
            <a:pPr marL="285750" indent="-285750">
              <a:buFontTx/>
              <a:buChar char="-"/>
            </a:pPr>
            <a:r>
              <a:rPr lang="sk-SK" dirty="0"/>
              <a:t>zmeny z data buffer cache sa zapíšu do datafilov </a:t>
            </a:r>
          </a:p>
          <a:p>
            <a:pPr marL="285750" indent="-285750">
              <a:buFontTx/>
              <a:buChar char="-"/>
            </a:pPr>
            <a:r>
              <a:rPr lang="sk-SK" dirty="0"/>
              <a:t>pri immediate sa pre nekomitnuté zmeny urobí rollback</a:t>
            </a:r>
          </a:p>
          <a:p>
            <a:pPr marL="285750" indent="-285750">
              <a:buFontTx/>
              <a:buChar char="-"/>
            </a:pPr>
            <a:r>
              <a:rPr lang="sk-SK" dirty="0"/>
              <a:t>pri štarte nie je potrebná obnova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756925" y="2119345"/>
            <a:ext cx="23466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https://docs.oracle.com/en/database/oracle/oracle-database/12.2/admqs/managing-the-oracle-instance.html#GUID-8BF59F32-016F-44DE-9BCA-C2BCCE8A95FB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28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Zapnutie databázy</a:t>
            </a:r>
            <a:endParaRPr lang="en-US" dirty="0"/>
          </a:p>
        </p:txBody>
      </p:sp>
      <p:sp>
        <p:nvSpPr>
          <p:cNvPr id="4" name="Freeform 5"/>
          <p:cNvSpPr>
            <a:spLocks/>
          </p:cNvSpPr>
          <p:nvPr/>
        </p:nvSpPr>
        <p:spPr bwMode="gray">
          <a:xfrm>
            <a:off x="2048492" y="2872501"/>
            <a:ext cx="6689725" cy="3189287"/>
          </a:xfrm>
          <a:custGeom>
            <a:avLst/>
            <a:gdLst>
              <a:gd name="T0" fmla="*/ 0 w 4214"/>
              <a:gd name="T1" fmla="*/ 2147483646 h 2009"/>
              <a:gd name="T2" fmla="*/ 2147483646 w 4214"/>
              <a:gd name="T3" fmla="*/ 2147483646 h 2009"/>
              <a:gd name="T4" fmla="*/ 2147483646 w 4214"/>
              <a:gd name="T5" fmla="*/ 2147483646 h 2009"/>
              <a:gd name="T6" fmla="*/ 2147483646 w 4214"/>
              <a:gd name="T7" fmla="*/ 2147483646 h 2009"/>
              <a:gd name="T8" fmla="*/ 2147483646 w 4214"/>
              <a:gd name="T9" fmla="*/ 1665823814 h 2009"/>
              <a:gd name="T10" fmla="*/ 2147483646 w 4214"/>
              <a:gd name="T11" fmla="*/ 1665823814 h 2009"/>
              <a:gd name="T12" fmla="*/ 2147483646 w 4214"/>
              <a:gd name="T13" fmla="*/ 0 h 2009"/>
              <a:gd name="T14" fmla="*/ 2147483646 w 4214"/>
              <a:gd name="T15" fmla="*/ 0 h 2009"/>
              <a:gd name="T16" fmla="*/ 2147483646 w 4214"/>
              <a:gd name="T17" fmla="*/ 0 h 2009"/>
              <a:gd name="T18" fmla="*/ 2147483646 w 4214"/>
              <a:gd name="T19" fmla="*/ 0 h 2009"/>
              <a:gd name="T20" fmla="*/ 2147483646 w 4214"/>
              <a:gd name="T21" fmla="*/ 0 h 20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214" h="2009">
                <a:moveTo>
                  <a:pt x="0" y="2009"/>
                </a:moveTo>
                <a:lnTo>
                  <a:pt x="992" y="2009"/>
                </a:lnTo>
                <a:lnTo>
                  <a:pt x="992" y="1335"/>
                </a:lnTo>
                <a:lnTo>
                  <a:pt x="1715" y="1335"/>
                </a:lnTo>
                <a:lnTo>
                  <a:pt x="1715" y="661"/>
                </a:lnTo>
                <a:lnTo>
                  <a:pt x="2462" y="661"/>
                </a:lnTo>
                <a:lnTo>
                  <a:pt x="2462" y="0"/>
                </a:lnTo>
                <a:lnTo>
                  <a:pt x="2584" y="0"/>
                </a:lnTo>
                <a:lnTo>
                  <a:pt x="2621" y="0"/>
                </a:lnTo>
                <a:lnTo>
                  <a:pt x="2682" y="0"/>
                </a:lnTo>
                <a:lnTo>
                  <a:pt x="4214" y="0"/>
                </a:lnTo>
              </a:path>
            </a:pathLst>
          </a:custGeom>
          <a:noFill/>
          <a:ln w="28575" cap="rnd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817217" y="2556588"/>
            <a:ext cx="11922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</a:rPr>
              <a:t>OPEN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4683742" y="3585288"/>
            <a:ext cx="1030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</a:rPr>
              <a:t>MOUNT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351829" y="4615576"/>
            <a:ext cx="1371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</a:rPr>
              <a:t>NOMOUNT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927842" y="5699838"/>
            <a:ext cx="165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</a:rPr>
              <a:t>SHUTDOWN</a:t>
            </a: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4804392" y="4048838"/>
            <a:ext cx="187801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b="1">
                <a:solidFill>
                  <a:schemeClr val="tx1"/>
                </a:solidFill>
              </a:rPr>
              <a:t>Control file opened for this instance</a:t>
            </a: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3628054" y="5152151"/>
            <a:ext cx="17256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b="1">
                <a:solidFill>
                  <a:schemeClr val="tx1"/>
                </a:solidFill>
              </a:rPr>
              <a:t>Instance </a:t>
            </a:r>
            <a:br>
              <a:rPr lang="en-US" b="1">
                <a:solidFill>
                  <a:schemeClr val="tx1"/>
                </a:solidFill>
              </a:rPr>
            </a:br>
            <a:r>
              <a:rPr lang="en-US" b="1">
                <a:solidFill>
                  <a:schemeClr val="tx1"/>
                </a:solidFill>
              </a:rPr>
              <a:t>started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1408729" y="2909013"/>
            <a:ext cx="1139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93000"/>
              </a:lnSpc>
              <a:buSzPct val="100000"/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</a:rPr>
              <a:t>STARTUP</a:t>
            </a: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 flipV="1">
            <a:off x="1261092" y="2909013"/>
            <a:ext cx="1587" cy="19208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3" name="Picture 16" descr="C:\data\ILT\DBA_I_AND_II_update\graphics\lesson4\open_sta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142" y="2872501"/>
            <a:ext cx="2295525" cy="685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ine 18"/>
          <p:cNvSpPr>
            <a:spLocks noChangeShapeType="1"/>
          </p:cNvSpPr>
          <p:nvPr/>
        </p:nvSpPr>
        <p:spPr bwMode="auto">
          <a:xfrm flipH="1">
            <a:off x="5477492" y="3253501"/>
            <a:ext cx="4683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6038042" y="2960655"/>
            <a:ext cx="2944813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defTabSz="346075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34607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715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b="1">
                <a:solidFill>
                  <a:schemeClr val="tx1"/>
                </a:solidFill>
              </a:rPr>
              <a:t>All files opened as described by the control file for this instance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1894" y="4982288"/>
            <a:ext cx="4338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https://docs.oracle.com/en/database/oracle/oracle-database/12.2/admqs/managing-the-oracle-instance.html#GUID-4C4D478C-3C3D-420D-9BD6-CBF96A04EFA3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317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1101</Words>
  <Application>Microsoft Office PowerPoint</Application>
  <PresentationFormat>Widescreen</PresentationFormat>
  <Paragraphs>135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Century Gothic</vt:lpstr>
      <vt:lpstr>Courier New</vt:lpstr>
      <vt:lpstr>Times New Roman</vt:lpstr>
      <vt:lpstr>Tw Cen MT</vt:lpstr>
      <vt:lpstr>Tw Cen MT Condensed</vt:lpstr>
      <vt:lpstr>Wingdings</vt:lpstr>
      <vt:lpstr>Wingdings 3</vt:lpstr>
      <vt:lpstr>Integral</vt:lpstr>
      <vt:lpstr>databáza</vt:lpstr>
      <vt:lpstr>PowerPoint Presentation</vt:lpstr>
      <vt:lpstr>Čo je databáza od Oracle?</vt:lpstr>
      <vt:lpstr>Čo je databáza od Oracle?</vt:lpstr>
      <vt:lpstr>Typy procesov</vt:lpstr>
      <vt:lpstr>Čo je databáza od Oracle?</vt:lpstr>
      <vt:lpstr>PowerPoint Presentation</vt:lpstr>
      <vt:lpstr>Inštancia - pamäť</vt:lpstr>
      <vt:lpstr>Inštancia - pamäť</vt:lpstr>
      <vt:lpstr>Inštancia – SPRáva pamäte</vt:lpstr>
      <vt:lpstr>Inštancia – background procesy</vt:lpstr>
      <vt:lpstr>DEDICATED a SHARED server process</vt:lpstr>
      <vt:lpstr>Databázové súbory</vt:lpstr>
      <vt:lpstr>Vypnutie databázy</vt:lpstr>
      <vt:lpstr>Zapnutie databázy</vt:lpstr>
    </vt:vector>
  </TitlesOfParts>
  <Company>T-Systesms Slovakia s.r.o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databáza</dc:title>
  <dc:creator>Vankova, Jana</dc:creator>
  <cp:lastModifiedBy>Simcak, Lubos</cp:lastModifiedBy>
  <cp:revision>22</cp:revision>
  <dcterms:created xsi:type="dcterms:W3CDTF">2020-05-06T16:01:29Z</dcterms:created>
  <dcterms:modified xsi:type="dcterms:W3CDTF">2022-04-25T07:04:01Z</dcterms:modified>
  <cp:category>OPEN 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systems-DocumentTagging.ClassificationMark.P00">
    <vt:lpwstr>&lt;ClassificationMark xmlns:xsi="http://www.w3.org/2001/XMLSchema-instance" xmlns:xsd="http://www.w3.org/2001/XMLSchema" margin="NaN" class="C0" owner="Vankova, Jana" position="BottomRight" marginX="0" marginY="0" classifiedOn="2020-05-06T20:40:45.5137</vt:lpwstr>
  </property>
  <property fmtid="{D5CDD505-2E9C-101B-9397-08002B2CF9AE}" pid="3" name="tsystems-DocumentTagging.ClassificationMark.P01">
    <vt:lpwstr>592+02:00" showPrintedBy="false" showPrintDate="false" language="en" ApplicationVersion="Microsoft PowerPoint, 15.0" addinVersion="5.10.4.12" template="Default"&gt;&lt;history bulk="false" class="OPEN " code="C0" user="SK-KOSICE\jivanisk" date="2020-05-06T</vt:lpwstr>
  </property>
  <property fmtid="{D5CDD505-2E9C-101B-9397-08002B2CF9AE}" pid="4" name="tsystems-DocumentTagging.ClassificationMark.P02">
    <vt:lpwstr>20:40:45.5911439+02:00" /&gt;&lt;recipients /&gt;&lt;documentOwners /&gt;&lt;/ClassificationMark&gt;</vt:lpwstr>
  </property>
  <property fmtid="{D5CDD505-2E9C-101B-9397-08002B2CF9AE}" pid="5" name="tsystems-DocumentTagging.ClassificationMark">
    <vt:lpwstr>￼PARTS:3</vt:lpwstr>
  </property>
  <property fmtid="{D5CDD505-2E9C-101B-9397-08002B2CF9AE}" pid="6" name="tsystems-DocumentClasification">
    <vt:lpwstr>OPEN </vt:lpwstr>
  </property>
  <property fmtid="{D5CDD505-2E9C-101B-9397-08002B2CF9AE}" pid="7" name="tsystems-DLP">
    <vt:lpwstr>tsystems-DLP:TAG_SEC_C0</vt:lpwstr>
  </property>
</Properties>
</file>