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7" r:id="rId11"/>
    <p:sldId id="268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mcak, Lubos" userId="a20b6fc6-f9da-474e-b069-505f3feab77a" providerId="ADAL" clId="{4FCA3BE3-AE53-45B0-A263-B2940D0A1250}"/>
    <pc:docChg chg="undo redo custSel modSld">
      <pc:chgData name="Simcak, Lubos" userId="a20b6fc6-f9da-474e-b069-505f3feab77a" providerId="ADAL" clId="{4FCA3BE3-AE53-45B0-A263-B2940D0A1250}" dt="2022-04-25T07:09:26.608" v="258" actId="20577"/>
      <pc:docMkLst>
        <pc:docMk/>
      </pc:docMkLst>
      <pc:sldChg chg="modSp mod">
        <pc:chgData name="Simcak, Lubos" userId="a20b6fc6-f9da-474e-b069-505f3feab77a" providerId="ADAL" clId="{4FCA3BE3-AE53-45B0-A263-B2940D0A1250}" dt="2022-04-25T07:04:29.372" v="1" actId="20577"/>
        <pc:sldMkLst>
          <pc:docMk/>
          <pc:sldMk cId="2898122289" sldId="261"/>
        </pc:sldMkLst>
        <pc:spChg chg="mod">
          <ac:chgData name="Simcak, Lubos" userId="a20b6fc6-f9da-474e-b069-505f3feab77a" providerId="ADAL" clId="{4FCA3BE3-AE53-45B0-A263-B2940D0A1250}" dt="2022-04-25T07:04:29.372" v="1" actId="20577"/>
          <ac:spMkLst>
            <pc:docMk/>
            <pc:sldMk cId="2898122289" sldId="261"/>
            <ac:spMk id="3" creationId="{00000000-0000-0000-0000-000000000000}"/>
          </ac:spMkLst>
        </pc:spChg>
      </pc:sldChg>
      <pc:sldChg chg="modSp mod">
        <pc:chgData name="Simcak, Lubos" userId="a20b6fc6-f9da-474e-b069-505f3feab77a" providerId="ADAL" clId="{4FCA3BE3-AE53-45B0-A263-B2940D0A1250}" dt="2022-04-25T07:09:26.608" v="258" actId="20577"/>
        <pc:sldMkLst>
          <pc:docMk/>
          <pc:sldMk cId="3443511245" sldId="264"/>
        </pc:sldMkLst>
        <pc:spChg chg="mod">
          <ac:chgData name="Simcak, Lubos" userId="a20b6fc6-f9da-474e-b069-505f3feab77a" providerId="ADAL" clId="{4FCA3BE3-AE53-45B0-A263-B2940D0A1250}" dt="2022-04-25T07:09:26.608" v="258" actId="20577"/>
          <ac:spMkLst>
            <pc:docMk/>
            <pc:sldMk cId="3443511245" sldId="264"/>
            <ac:spMk id="3" creationId="{00000000-0000-0000-0000-000000000000}"/>
          </ac:spMkLst>
        </pc:spChg>
      </pc:sldChg>
      <pc:sldChg chg="modSp mod">
        <pc:chgData name="Simcak, Lubos" userId="a20b6fc6-f9da-474e-b069-505f3feab77a" providerId="ADAL" clId="{4FCA3BE3-AE53-45B0-A263-B2940D0A1250}" dt="2022-04-25T07:07:11.247" v="53" actId="20577"/>
        <pc:sldMkLst>
          <pc:docMk/>
          <pc:sldMk cId="3008377349" sldId="268"/>
        </pc:sldMkLst>
        <pc:spChg chg="mod">
          <ac:chgData name="Simcak, Lubos" userId="a20b6fc6-f9da-474e-b069-505f3feab77a" providerId="ADAL" clId="{4FCA3BE3-AE53-45B0-A263-B2940D0A1250}" dt="2022-04-25T07:07:11.247" v="53" actId="20577"/>
          <ac:spMkLst>
            <pc:docMk/>
            <pc:sldMk cId="3008377349" sldId="268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t>4/25/2022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blipFill dpi="0" rotWithShape="1">
            <a:blip r:embed="rId2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  <a:t>4/25/2022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t>4/25/2022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0" y="0"/>
            <a:ext cx="12192000" cy="4572000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t>4/25/2022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t>4/25/2022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t>4/25/2022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t>4/25/2022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  <a:t>4/25/2022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4/25/2022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  <a:t>4/25/2022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  <a:t>4/25/2022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4/25/2022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oracle.com/database/121/ADMQS/toc.ht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k-SK" dirty="0"/>
              <a:t>Úvod do databázových systémov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Jana </a:t>
            </a:r>
            <a:r>
              <a:rPr lang="en-US" dirty="0" err="1"/>
              <a:t>Va</a:t>
            </a:r>
            <a:r>
              <a:rPr lang="sk-SK" dirty="0"/>
              <a:t>ňková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5879" y="5817583"/>
            <a:ext cx="2611548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15879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Čo je databáza/databázový systém?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dirty="0"/>
              <a:t>- prečo vznikli databázy? </a:t>
            </a:r>
          </a:p>
          <a:p>
            <a:r>
              <a:rPr lang="sk-SK" dirty="0"/>
              <a:t>- prečo je dôležité vedieť s nimi pracovať?</a:t>
            </a:r>
          </a:p>
          <a:p>
            <a:pPr marL="0" indent="0">
              <a:buNone/>
            </a:pPr>
            <a:r>
              <a:rPr lang="sk-SK" dirty="0"/>
              <a:t>Za všetkým sú dáta.</a:t>
            </a:r>
          </a:p>
          <a:p>
            <a:pPr marL="0" indent="0">
              <a:buNone/>
            </a:pPr>
            <a:r>
              <a:rPr lang="sk-SK" dirty="0"/>
              <a:t>V dnešnej dobe je potrebné pracovať a spracovávať veľké množstvo dát a to čo najefektívnejšie. Preto ukladanie dát do súborov nebolo efektívne a v 70tych rokoch vznikla potreba vytvoriť univerzálne úložisko dát, pomocou ktorého vieme pristupovať k dátam univerzálne bez ohľadu na typ dát a aplikáciu, ktorá s dátami pracuje. </a:t>
            </a:r>
          </a:p>
          <a:p>
            <a:pPr marL="0" indent="0">
              <a:buNone/>
            </a:pPr>
            <a:r>
              <a:rPr lang="sk-SK" dirty="0"/>
              <a:t>Databázové systémy sú súčasťou každého informačného systému aj každodenného života t.j. smartfóny, e-shopy, organizácie ... </a:t>
            </a:r>
          </a:p>
          <a:p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3260704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889906" y="712611"/>
            <a:ext cx="7543800" cy="1295400"/>
          </a:xfrm>
        </p:spPr>
        <p:txBody>
          <a:bodyPr/>
          <a:lstStyle/>
          <a:p>
            <a:pPr eaLnBrk="1" hangingPunct="1"/>
            <a:r>
              <a:rPr lang="sk-SK" dirty="0"/>
              <a:t>Databázový systém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5116" y="2008011"/>
            <a:ext cx="10066947" cy="2879725"/>
          </a:xfrm>
        </p:spPr>
        <p:txBody>
          <a:bodyPr/>
          <a:lstStyle/>
          <a:p>
            <a:pPr marL="571500" indent="-571500">
              <a:buNone/>
            </a:pPr>
            <a:r>
              <a:rPr lang="sk-SK" sz="2800" dirty="0"/>
              <a:t>Databázový systém pozostáva z:</a:t>
            </a:r>
          </a:p>
          <a:p>
            <a:pPr marL="571500" indent="-571500"/>
            <a:r>
              <a:rPr lang="sk-SK" sz="2800" i="1" dirty="0"/>
              <a:t>báza dát (BD) resp. databáza</a:t>
            </a:r>
            <a:r>
              <a:rPr lang="sk-SK" sz="2000" dirty="0"/>
              <a:t> – organizovaná množina údajov</a:t>
            </a:r>
          </a:p>
          <a:p>
            <a:pPr marL="571500" indent="-571500"/>
            <a:r>
              <a:rPr lang="sk-SK" sz="2800" i="1" dirty="0"/>
              <a:t>systém riadenia bázy dát (SRBD)</a:t>
            </a:r>
            <a:r>
              <a:rPr lang="sk-SK" sz="2000" dirty="0"/>
              <a:t> – systém programov pre prítup a pracu s BD</a:t>
            </a:r>
          </a:p>
          <a:p>
            <a:pPr marL="571500" indent="-571500">
              <a:buNone/>
            </a:pPr>
            <a:endParaRPr lang="sk-SK" sz="2000" dirty="0"/>
          </a:p>
        </p:txBody>
      </p:sp>
      <p:pic>
        <p:nvPicPr>
          <p:cNvPr id="1331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02" t="31776" r="22511" b="24611"/>
          <a:stretch>
            <a:fillRect/>
          </a:stretch>
        </p:blipFill>
        <p:spPr bwMode="auto">
          <a:xfrm>
            <a:off x="2711451" y="3773087"/>
            <a:ext cx="6373813" cy="3024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85014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Databázový systém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dirty="0"/>
              <a:t>Databáza: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organizovaný</a:t>
            </a:r>
            <a:r>
              <a:rPr lang="en-US" dirty="0"/>
              <a:t> </a:t>
            </a:r>
            <a:r>
              <a:rPr lang="en-US" dirty="0" err="1"/>
              <a:t>súbor</a:t>
            </a:r>
            <a:r>
              <a:rPr lang="en-US" dirty="0"/>
              <a:t> </a:t>
            </a:r>
            <a:r>
              <a:rPr lang="en-US" dirty="0" err="1"/>
              <a:t>údajov</a:t>
            </a:r>
            <a:r>
              <a:rPr lang="en-US" dirty="0"/>
              <a:t>, </a:t>
            </a:r>
            <a:r>
              <a:rPr lang="en-US" dirty="0" err="1"/>
              <a:t>ktoré</a:t>
            </a:r>
            <a:r>
              <a:rPr lang="en-US" dirty="0"/>
              <a:t> </a:t>
            </a:r>
            <a:r>
              <a:rPr lang="en-US" dirty="0" err="1"/>
              <a:t>spolu</a:t>
            </a:r>
            <a:r>
              <a:rPr lang="en-US" dirty="0"/>
              <a:t> </a:t>
            </a:r>
            <a:r>
              <a:rPr lang="en-US" dirty="0" err="1"/>
              <a:t>logicky</a:t>
            </a:r>
            <a:r>
              <a:rPr lang="en-US" dirty="0"/>
              <a:t> </a:t>
            </a:r>
            <a:r>
              <a:rPr lang="en-US" dirty="0" err="1"/>
              <a:t>súvisia</a:t>
            </a:r>
            <a:r>
              <a:rPr lang="en-US" dirty="0"/>
              <a:t>, </a:t>
            </a:r>
            <a:r>
              <a:rPr lang="en-US" dirty="0" err="1"/>
              <a:t>maj</a:t>
            </a:r>
            <a:r>
              <a:rPr lang="sk-SK" dirty="0"/>
              <a:t>ú medzi sebou vzťahy</a:t>
            </a:r>
            <a:r>
              <a:rPr lang="en-US" dirty="0"/>
              <a:t> </a:t>
            </a:r>
            <a:endParaRPr lang="sk-SK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zjednodušeným</a:t>
            </a:r>
            <a:r>
              <a:rPr lang="en-US" dirty="0"/>
              <a:t> </a:t>
            </a:r>
            <a:r>
              <a:rPr lang="en-US" dirty="0" err="1"/>
              <a:t>odrazom</a:t>
            </a:r>
            <a:r>
              <a:rPr lang="en-US" dirty="0"/>
              <a:t> </a:t>
            </a:r>
            <a:r>
              <a:rPr lang="en-US" dirty="0" err="1"/>
              <a:t>skutočností</a:t>
            </a:r>
            <a:r>
              <a:rPr lang="en-US" dirty="0"/>
              <a:t> z </a:t>
            </a:r>
            <a:r>
              <a:rPr lang="en-US" dirty="0" err="1"/>
              <a:t>reálneho</a:t>
            </a:r>
            <a:r>
              <a:rPr lang="en-US" dirty="0"/>
              <a:t> </a:t>
            </a:r>
            <a:r>
              <a:rPr lang="en-US" dirty="0" err="1"/>
              <a:t>sveta</a:t>
            </a:r>
            <a:r>
              <a:rPr lang="en-US" dirty="0"/>
              <a:t> (</a:t>
            </a:r>
            <a:r>
              <a:rPr lang="en-US" dirty="0" err="1"/>
              <a:t>spoločnosť</a:t>
            </a:r>
            <a:r>
              <a:rPr lang="en-US" dirty="0"/>
              <a:t>, </a:t>
            </a:r>
            <a:r>
              <a:rPr lang="en-US" dirty="0" err="1"/>
              <a:t>zamestnanec</a:t>
            </a:r>
            <a:r>
              <a:rPr lang="en-US" dirty="0"/>
              <a:t>, </a:t>
            </a:r>
            <a:r>
              <a:rPr lang="en-US" dirty="0" err="1"/>
              <a:t>účet</a:t>
            </a:r>
            <a:r>
              <a:rPr lang="en-US" dirty="0"/>
              <a:t>, </a:t>
            </a:r>
            <a:r>
              <a:rPr lang="en-US" dirty="0" err="1"/>
              <a:t>príjem</a:t>
            </a:r>
            <a:r>
              <a:rPr lang="en-US" dirty="0"/>
              <a:t>) </a:t>
            </a:r>
            <a:endParaRPr lang="sk-SK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určená</a:t>
            </a:r>
            <a:r>
              <a:rPr lang="en-US" dirty="0"/>
              <a:t> pre </a:t>
            </a:r>
            <a:r>
              <a:rPr lang="en-US" dirty="0" err="1"/>
              <a:t>špecifický</a:t>
            </a:r>
            <a:r>
              <a:rPr lang="en-US" dirty="0"/>
              <a:t> </a:t>
            </a:r>
            <a:r>
              <a:rPr lang="en-US" dirty="0" err="1"/>
              <a:t>účel</a:t>
            </a:r>
            <a:r>
              <a:rPr lang="en-US" dirty="0"/>
              <a:t>, </a:t>
            </a:r>
            <a:r>
              <a:rPr lang="en-US" dirty="0" err="1"/>
              <a:t>ktorý</a:t>
            </a:r>
            <a:r>
              <a:rPr lang="en-US" dirty="0"/>
              <a:t> </a:t>
            </a:r>
            <a:r>
              <a:rPr lang="en-US" dirty="0" err="1"/>
              <a:t>závisí</a:t>
            </a:r>
            <a:r>
              <a:rPr lang="en-US" dirty="0"/>
              <a:t> od </a:t>
            </a:r>
            <a:r>
              <a:rPr lang="en-US" dirty="0" err="1"/>
              <a:t>charakteru</a:t>
            </a:r>
            <a:r>
              <a:rPr lang="en-US" dirty="0"/>
              <a:t> </a:t>
            </a:r>
            <a:r>
              <a:rPr lang="en-US" dirty="0" err="1"/>
              <a:t>ukladaných</a:t>
            </a:r>
            <a:r>
              <a:rPr lang="en-US" dirty="0"/>
              <a:t> </a:t>
            </a:r>
            <a:r>
              <a:rPr lang="en-US" dirty="0" err="1"/>
              <a:t>údajov</a:t>
            </a:r>
            <a:r>
              <a:rPr lang="en-US" dirty="0"/>
              <a:t> (</a:t>
            </a:r>
            <a:r>
              <a:rPr lang="en-US" dirty="0" err="1"/>
              <a:t>účtovníctvo</a:t>
            </a:r>
            <a:r>
              <a:rPr lang="en-US" dirty="0"/>
              <a:t>, </a:t>
            </a:r>
            <a:r>
              <a:rPr lang="en-US" dirty="0" err="1"/>
              <a:t>plánovanie</a:t>
            </a:r>
            <a:r>
              <a:rPr lang="en-US" dirty="0"/>
              <a:t> </a:t>
            </a:r>
            <a:r>
              <a:rPr lang="en-US" dirty="0" err="1"/>
              <a:t>ciest</a:t>
            </a:r>
            <a:r>
              <a:rPr lang="en-US" dirty="0"/>
              <a:t>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dáta sú prístupne výlučne pomocou SRBD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okrem dát samotných obsahuje aj metadata, teda údaje o týchto dátach (zoznam tabuliek, zoznam stĺpcov, miesto uloženia,..)</a:t>
            </a:r>
          </a:p>
          <a:p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19460763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Databázový systém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dirty="0"/>
              <a:t>Sys</a:t>
            </a:r>
            <a:r>
              <a:rPr lang="en-US" dirty="0"/>
              <a:t>t</a:t>
            </a:r>
            <a:r>
              <a:rPr lang="sk-SK" dirty="0"/>
              <a:t>é</a:t>
            </a:r>
            <a:r>
              <a:rPr lang="en-US" dirty="0"/>
              <a:t>m </a:t>
            </a:r>
            <a:r>
              <a:rPr lang="en-US" dirty="0" err="1"/>
              <a:t>riadenia</a:t>
            </a:r>
            <a:r>
              <a:rPr lang="en-US" dirty="0"/>
              <a:t> b</a:t>
            </a:r>
            <a:r>
              <a:rPr lang="sk-SK" dirty="0"/>
              <a:t>ázy dát: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systém umožňujúci používateľovi pracovaťs dátami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 dirty="0" err="1"/>
              <a:t>užívat</a:t>
            </a:r>
            <a:r>
              <a:rPr lang="en-US" dirty="0"/>
              <a:t>e</a:t>
            </a:r>
            <a:r>
              <a:rPr lang="sk-SK" dirty="0"/>
              <a:t>ľ nemusí poznať fyzickú štruktúru uložených dát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dirty="0"/>
              <a:t>komunikácia sa realizuje pomocou jazyka SQL</a:t>
            </a:r>
            <a:r>
              <a:rPr lang="en-US" dirty="0"/>
              <a:t> (</a:t>
            </a:r>
            <a:r>
              <a:rPr lang="en-US" dirty="0" err="1"/>
              <a:t>deklarat</a:t>
            </a:r>
            <a:r>
              <a:rPr lang="sk-SK" dirty="0"/>
              <a:t>ívny jazyk)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81222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Relačný model</a:t>
            </a:r>
            <a:endParaRPr lang="en-US" dirty="0"/>
          </a:p>
        </p:txBody>
      </p:sp>
      <p:pic>
        <p:nvPicPr>
          <p:cNvPr id="1026" name="Picture 2" descr="Oracle Hr Schema - bakso.www.champion-testen.de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128" y="2268909"/>
            <a:ext cx="6490653" cy="402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8443245" y="2803021"/>
            <a:ext cx="280302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sk-SK" dirty="0"/>
              <a:t>príklad ako vyzerá relačný model/návrh štruktúry dát</a:t>
            </a:r>
          </a:p>
          <a:p>
            <a:pPr marL="285750" indent="-285750">
              <a:buFontTx/>
              <a:buChar char="-"/>
            </a:pPr>
            <a:r>
              <a:rPr lang="sk-SK" dirty="0"/>
              <a:t>dáta sú uložené v tabuľkách a majú medzi sebou vzťahy</a:t>
            </a:r>
          </a:p>
          <a:p>
            <a:pPr marL="285750" indent="-285750">
              <a:buFontTx/>
              <a:buChar char="-"/>
            </a:pPr>
            <a:r>
              <a:rPr lang="sk-SK" dirty="0"/>
              <a:t>toto je však model iba dát, pre databázového administrátore nie až tak podstaný, lebo oni sa starajú o databázový systém ako celok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4497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Obsah predmetu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dirty="0"/>
              <a:t>- budeme sa zaoberať administráciou DBS Oracle t.j. naučíme sa zakladné úlohy pre jeho správu ako: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sk-SK" dirty="0"/>
              <a:t> inštalácia DBS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sk-SK" dirty="0"/>
              <a:t> vytvorenie a odstránenie databázy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sk-SK" dirty="0"/>
              <a:t> nastavenie vzdialeného prístupu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sk-SK" dirty="0"/>
              <a:t> správa používateľov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sk-SK" dirty="0"/>
              <a:t> administrácia databázového úložiska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sk-SK" dirty="0"/>
              <a:t> základy SQL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0674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Základné pojmy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1939895"/>
            <a:ext cx="9720073" cy="4734369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sk-SK" sz="2000" b="1" dirty="0">
                <a:solidFill>
                  <a:srgbClr val="3E3D2D"/>
                </a:solidFill>
                <a:latin typeface="Century Gothic" charset="0"/>
              </a:rPr>
              <a:t> </a:t>
            </a:r>
            <a:r>
              <a:rPr lang="en-US" sz="2100" b="1" dirty="0"/>
              <a:t>OFA = Optimal Flexible Architecture:</a:t>
            </a:r>
            <a:br>
              <a:rPr lang="sk-SK" sz="2100" b="1" dirty="0"/>
            </a:br>
            <a:r>
              <a:rPr lang="en-US" dirty="0" err="1"/>
              <a:t>súbor</a:t>
            </a:r>
            <a:r>
              <a:rPr lang="en-US" dirty="0"/>
              <a:t> </a:t>
            </a:r>
            <a:r>
              <a:rPr lang="en-US" dirty="0" err="1"/>
              <a:t>konfiguračných</a:t>
            </a:r>
            <a:r>
              <a:rPr lang="en-US" dirty="0"/>
              <a:t> </a:t>
            </a:r>
            <a:r>
              <a:rPr lang="en-US" dirty="0" err="1"/>
              <a:t>pokynov</a:t>
            </a:r>
            <a:r>
              <a:rPr lang="en-US" dirty="0"/>
              <a:t> </a:t>
            </a:r>
            <a:r>
              <a:rPr lang="en-US" dirty="0" err="1"/>
              <a:t>vytvorených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zabezpečenie</a:t>
            </a:r>
            <a:r>
              <a:rPr lang="en-US" dirty="0"/>
              <a:t> </a:t>
            </a:r>
            <a:r>
              <a:rPr lang="en-US" dirty="0" err="1"/>
              <a:t>dobre</a:t>
            </a:r>
            <a:r>
              <a:rPr lang="en-US" dirty="0"/>
              <a:t> </a:t>
            </a:r>
            <a:r>
              <a:rPr lang="en-US" dirty="0" err="1"/>
              <a:t>organizovaných</a:t>
            </a:r>
            <a:r>
              <a:rPr lang="en-US" dirty="0"/>
              <a:t> </a:t>
            </a:r>
            <a:r>
              <a:rPr lang="en-US" dirty="0" err="1"/>
              <a:t>inštalácií</a:t>
            </a:r>
            <a:r>
              <a:rPr lang="en-US" dirty="0"/>
              <a:t> Oracle, </a:t>
            </a:r>
            <a:r>
              <a:rPr lang="en-US" dirty="0" err="1"/>
              <a:t>ktoré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ľahšie</a:t>
            </a:r>
            <a:r>
              <a:rPr lang="en-US" dirty="0"/>
              <a:t> </a:t>
            </a:r>
            <a:r>
              <a:rPr lang="en-US" dirty="0" err="1"/>
              <a:t>udržiavajú</a:t>
            </a:r>
            <a:r>
              <a:rPr lang="en-US" dirty="0"/>
              <a:t>. </a:t>
            </a:r>
            <a:r>
              <a:rPr lang="en-US" dirty="0" err="1"/>
              <a:t>Pomáha</a:t>
            </a:r>
            <a:r>
              <a:rPr lang="en-US" dirty="0"/>
              <a:t> </a:t>
            </a:r>
            <a:r>
              <a:rPr lang="en-US" dirty="0" err="1"/>
              <a:t>vám</a:t>
            </a:r>
            <a:r>
              <a:rPr lang="en-US" dirty="0"/>
              <a:t> </a:t>
            </a:r>
            <a:r>
              <a:rPr lang="en-US" dirty="0" err="1"/>
              <a:t>usporiadať</a:t>
            </a:r>
            <a:r>
              <a:rPr lang="en-US" dirty="0"/>
              <a:t> </a:t>
            </a:r>
            <a:r>
              <a:rPr lang="en-US" dirty="0" err="1"/>
              <a:t>databázový</a:t>
            </a:r>
            <a:r>
              <a:rPr lang="en-US" dirty="0"/>
              <a:t> </a:t>
            </a:r>
            <a:r>
              <a:rPr lang="en-US" dirty="0" err="1"/>
              <a:t>softvér</a:t>
            </a:r>
            <a:r>
              <a:rPr lang="en-US" dirty="0"/>
              <a:t> a </a:t>
            </a:r>
            <a:r>
              <a:rPr lang="en-US" dirty="0" err="1"/>
              <a:t>konfigurovať</a:t>
            </a:r>
            <a:r>
              <a:rPr lang="en-US" dirty="0"/>
              <a:t> </a:t>
            </a:r>
            <a:r>
              <a:rPr lang="en-US" dirty="0" err="1"/>
              <a:t>databázy</a:t>
            </a:r>
            <a:r>
              <a:rPr lang="en-US" dirty="0"/>
              <a:t> </a:t>
            </a:r>
            <a:r>
              <a:rPr lang="en-US" dirty="0" err="1"/>
              <a:t>tak</a:t>
            </a:r>
            <a:r>
              <a:rPr lang="en-US" dirty="0"/>
              <a:t>, </a:t>
            </a:r>
            <a:r>
              <a:rPr lang="en-US" dirty="0" err="1"/>
              <a:t>aby</a:t>
            </a:r>
            <a:r>
              <a:rPr lang="en-US" dirty="0"/>
              <a:t> </a:t>
            </a:r>
            <a:r>
              <a:rPr lang="en-US" dirty="0" err="1"/>
              <a:t>umožňovalo</a:t>
            </a:r>
            <a:r>
              <a:rPr lang="en-US" dirty="0"/>
              <a:t> </a:t>
            </a:r>
            <a:r>
              <a:rPr lang="en-US" dirty="0" err="1"/>
              <a:t>koexistenciu</a:t>
            </a:r>
            <a:r>
              <a:rPr lang="en-US" dirty="0"/>
              <a:t> </a:t>
            </a:r>
            <a:r>
              <a:rPr lang="en-US" dirty="0" err="1"/>
              <a:t>viacerých</a:t>
            </a:r>
            <a:r>
              <a:rPr lang="en-US" dirty="0"/>
              <a:t> </a:t>
            </a:r>
            <a:r>
              <a:rPr lang="en-US" dirty="0" err="1"/>
              <a:t>databáz</a:t>
            </a:r>
            <a:r>
              <a:rPr lang="en-US" dirty="0"/>
              <a:t> </a:t>
            </a:r>
            <a:r>
              <a:rPr lang="en-US" dirty="0" err="1"/>
              <a:t>rôznych</a:t>
            </a:r>
            <a:r>
              <a:rPr lang="en-US" dirty="0"/>
              <a:t> </a:t>
            </a:r>
            <a:r>
              <a:rPr lang="en-US" dirty="0" err="1"/>
              <a:t>verzií</a:t>
            </a:r>
            <a:r>
              <a:rPr lang="en-US" dirty="0"/>
              <a:t>, </a:t>
            </a:r>
            <a:r>
              <a:rPr lang="en-US" dirty="0" err="1"/>
              <a:t>ktoré</a:t>
            </a:r>
            <a:r>
              <a:rPr lang="en-US" dirty="0"/>
              <a:t> </a:t>
            </a:r>
            <a:r>
              <a:rPr lang="en-US" dirty="0" err="1"/>
              <a:t>vlastnia</a:t>
            </a:r>
            <a:r>
              <a:rPr lang="en-US" dirty="0"/>
              <a:t> </a:t>
            </a:r>
            <a:r>
              <a:rPr lang="en-US" dirty="0" err="1"/>
              <a:t>rôzni</a:t>
            </a:r>
            <a:r>
              <a:rPr lang="en-US" dirty="0"/>
              <a:t> </a:t>
            </a:r>
            <a:r>
              <a:rPr lang="en-US" dirty="0" err="1"/>
              <a:t>používatelia</a:t>
            </a:r>
            <a:r>
              <a:rPr lang="en-US" dirty="0"/>
              <a:t>.</a:t>
            </a:r>
            <a:r>
              <a:rPr lang="sk-SK" dirty="0"/>
              <a:t> Zjednodušene sú to pravidlá ako by mala vyzerať adresárová štruktúra, aby sme sa vedeli jednoducho zorientovať na servri aj v prípade, že sme to neinštalovali sami.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sk-SK" b="1" dirty="0"/>
              <a:t> ORACLE_BASE</a:t>
            </a:r>
            <a:br>
              <a:rPr lang="sk-SK" b="1" dirty="0"/>
            </a:br>
            <a:r>
              <a:rPr lang="en-US" dirty="0" err="1"/>
              <a:t>adresár</a:t>
            </a:r>
            <a:r>
              <a:rPr lang="en-US" dirty="0"/>
              <a:t> </a:t>
            </a:r>
            <a:r>
              <a:rPr lang="en-US" dirty="0" err="1"/>
              <a:t>najvyššej</a:t>
            </a:r>
            <a:r>
              <a:rPr lang="en-US" dirty="0"/>
              <a:t> </a:t>
            </a:r>
            <a:r>
              <a:rPr lang="en-US" dirty="0" err="1"/>
              <a:t>úrovne</a:t>
            </a:r>
            <a:r>
              <a:rPr lang="en-US" dirty="0"/>
              <a:t>, </a:t>
            </a:r>
            <a:r>
              <a:rPr lang="en-US" dirty="0" err="1"/>
              <a:t>ktorý</a:t>
            </a:r>
            <a:r>
              <a:rPr lang="en-US" dirty="0"/>
              <a:t> </a:t>
            </a:r>
            <a:r>
              <a:rPr lang="en-US" dirty="0" err="1"/>
              <a:t>môžete</a:t>
            </a:r>
            <a:r>
              <a:rPr lang="en-US" dirty="0"/>
              <a:t> </a:t>
            </a:r>
            <a:r>
              <a:rPr lang="en-US" dirty="0" err="1"/>
              <a:t>použiť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inštaláciu</a:t>
            </a:r>
            <a:r>
              <a:rPr lang="en-US" dirty="0"/>
              <a:t> </a:t>
            </a:r>
            <a:r>
              <a:rPr lang="en-US" dirty="0" err="1"/>
              <a:t>rôznych</a:t>
            </a:r>
            <a:r>
              <a:rPr lang="en-US" dirty="0"/>
              <a:t> </a:t>
            </a:r>
            <a:r>
              <a:rPr lang="en-US" dirty="0" err="1"/>
              <a:t>softvérových</a:t>
            </a:r>
            <a:r>
              <a:rPr lang="en-US" dirty="0"/>
              <a:t> </a:t>
            </a:r>
            <a:r>
              <a:rPr lang="en-US" dirty="0" err="1"/>
              <a:t>produktov</a:t>
            </a:r>
            <a:r>
              <a:rPr lang="en-US" dirty="0"/>
              <a:t> Oracle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sk-SK" b="1" dirty="0"/>
              <a:t> </a:t>
            </a:r>
            <a:r>
              <a:rPr lang="en-US" b="1" dirty="0"/>
              <a:t>ORACLE</a:t>
            </a:r>
            <a:r>
              <a:rPr lang="sk-SK" b="1" dirty="0"/>
              <a:t>_HOME</a:t>
            </a:r>
            <a:br>
              <a:rPr lang="sk-SK" b="1" dirty="0"/>
            </a:br>
            <a:r>
              <a:rPr lang="en-US" dirty="0" err="1"/>
              <a:t>koreňový</a:t>
            </a:r>
            <a:r>
              <a:rPr lang="en-US" dirty="0"/>
              <a:t> </a:t>
            </a:r>
            <a:r>
              <a:rPr lang="en-US" dirty="0" err="1"/>
              <a:t>adresár</a:t>
            </a:r>
            <a:r>
              <a:rPr lang="en-US" dirty="0"/>
              <a:t>, v </a:t>
            </a:r>
            <a:r>
              <a:rPr lang="en-US" dirty="0" err="1"/>
              <a:t>ktorom</a:t>
            </a:r>
            <a:r>
              <a:rPr lang="en-US" dirty="0"/>
              <a:t> je </a:t>
            </a:r>
            <a:r>
              <a:rPr lang="en-US" dirty="0" err="1"/>
              <a:t>nainštalovaný</a:t>
            </a:r>
            <a:r>
              <a:rPr lang="en-US" dirty="0"/>
              <a:t> </a:t>
            </a:r>
            <a:r>
              <a:rPr lang="en-US" dirty="0" err="1"/>
              <a:t>softvér</a:t>
            </a:r>
            <a:r>
              <a:rPr lang="en-US" dirty="0"/>
              <a:t> Oracle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sk-SK" dirty="0"/>
              <a:t> </a:t>
            </a:r>
            <a:r>
              <a:rPr lang="en-US" b="1" dirty="0"/>
              <a:t>ORAINVENTORY</a:t>
            </a:r>
            <a:br>
              <a:rPr lang="sk-SK" b="1" dirty="0"/>
            </a:br>
            <a:r>
              <a:rPr lang="en-US" dirty="0" err="1"/>
              <a:t>uchováva</a:t>
            </a:r>
            <a:r>
              <a:rPr lang="en-US" dirty="0"/>
              <a:t> </a:t>
            </a:r>
            <a:r>
              <a:rPr lang="en-US" dirty="0" err="1"/>
              <a:t>súpis</a:t>
            </a:r>
            <a:r>
              <a:rPr lang="en-US" dirty="0"/>
              <a:t> </a:t>
            </a:r>
            <a:r>
              <a:rPr lang="en-US" dirty="0" err="1"/>
              <a:t>produktov</a:t>
            </a:r>
            <a:r>
              <a:rPr lang="en-US" dirty="0"/>
              <a:t>, </a:t>
            </a:r>
            <a:r>
              <a:rPr lang="en-US" dirty="0" err="1"/>
              <a:t>ktoré</a:t>
            </a:r>
            <a:r>
              <a:rPr lang="en-US" dirty="0"/>
              <a:t> </a:t>
            </a:r>
            <a:r>
              <a:rPr lang="en-US" dirty="0" err="1"/>
              <a:t>inštaluje</a:t>
            </a:r>
            <a:r>
              <a:rPr lang="en-US" dirty="0"/>
              <a:t> Oracle Universal Installer </a:t>
            </a:r>
            <a:r>
              <a:rPr lang="en-US" dirty="0" err="1"/>
              <a:t>vo</a:t>
            </a:r>
            <a:r>
              <a:rPr lang="en-US" dirty="0"/>
              <a:t> </a:t>
            </a:r>
            <a:r>
              <a:rPr lang="en-US" dirty="0" err="1"/>
              <a:t>vašom</a:t>
            </a:r>
            <a:r>
              <a:rPr lang="en-US" dirty="0"/>
              <a:t> </a:t>
            </a:r>
            <a:r>
              <a:rPr lang="en-US" dirty="0" err="1"/>
              <a:t>systéme</a:t>
            </a:r>
            <a:r>
              <a:rPr lang="en-US" dirty="0"/>
              <a:t>, </a:t>
            </a:r>
            <a:r>
              <a:rPr lang="en-US" dirty="0" err="1"/>
              <a:t>ako</a:t>
            </a:r>
            <a:r>
              <a:rPr lang="en-US" dirty="0"/>
              <a:t> </a:t>
            </a:r>
            <a:r>
              <a:rPr lang="en-US" dirty="0" err="1"/>
              <a:t>aj</a:t>
            </a:r>
            <a:r>
              <a:rPr lang="en-US" dirty="0"/>
              <a:t> </a:t>
            </a:r>
            <a:r>
              <a:rPr lang="en-US" dirty="0" err="1"/>
              <a:t>ďalšie</a:t>
            </a:r>
            <a:r>
              <a:rPr lang="en-US" dirty="0"/>
              <a:t> </a:t>
            </a:r>
            <a:r>
              <a:rPr lang="en-US" dirty="0" err="1"/>
              <a:t>informácie</a:t>
            </a:r>
            <a:r>
              <a:rPr lang="en-US" dirty="0"/>
              <a:t> o </a:t>
            </a:r>
            <a:r>
              <a:rPr lang="en-US" dirty="0" err="1"/>
              <a:t>inštalácii</a:t>
            </a:r>
            <a:r>
              <a:rPr lang="sk-SK" dirty="0"/>
              <a:t> t.j. obsahuje </a:t>
            </a:r>
            <a:r>
              <a:rPr lang="en-US" dirty="0"/>
              <a:t>inform</a:t>
            </a:r>
            <a:r>
              <a:rPr lang="sk-SK" dirty="0"/>
              <a:t>á</a:t>
            </a:r>
            <a:r>
              <a:rPr lang="en-US" dirty="0" err="1"/>
              <a:t>cie</a:t>
            </a:r>
            <a:r>
              <a:rPr lang="en-US" dirty="0"/>
              <a:t> o tom, </a:t>
            </a:r>
            <a:r>
              <a:rPr lang="en-US" dirty="0" err="1"/>
              <a:t>ak</a:t>
            </a:r>
            <a:r>
              <a:rPr lang="sk-SK" dirty="0"/>
              <a:t>ý softvér je na danom servri nainštalovaný, aká je jeho verzia a aj informácie o jeho aktualizáciách 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sk-SK" sz="2100" b="1" dirty="0"/>
              <a:t>ORATAB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sk-SK" dirty="0"/>
              <a:t>  </a:t>
            </a:r>
            <a:r>
              <a:rPr lang="sk-SK" sz="2100" dirty="0"/>
              <a:t>uchováva informácie o existujúcich databázach na danom serveri </a:t>
            </a:r>
            <a:r>
              <a:rPr lang="sk-SK" sz="2100"/>
              <a:t>a ktorý </a:t>
            </a:r>
            <a:r>
              <a:rPr lang="sk-SK" sz="2100" dirty="0"/>
              <a:t>ORACLE HOME má používať</a:t>
            </a: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34435112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Inštalácia databázového systému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1897166"/>
            <a:ext cx="9720073" cy="4412194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99000"/>
              </a:lnSpc>
              <a:spcBef>
                <a:spcPts val="488"/>
              </a:spcBef>
              <a:spcAft>
                <a:spcPts val="1425"/>
              </a:spcAft>
              <a:buClrTx/>
              <a:buNone/>
            </a:pPr>
            <a:r>
              <a:rPr lang="en-US" sz="2400" dirty="0">
                <a:solidFill>
                  <a:srgbClr val="3E3D2D"/>
                </a:solidFill>
                <a:latin typeface="Century Gothic" panose="020B0502020202020204" pitchFamily="34" charset="0"/>
              </a:rPr>
              <a:t>Oracle Software Installation:</a:t>
            </a:r>
          </a:p>
          <a:p>
            <a:pPr lvl="1">
              <a:lnSpc>
                <a:spcPct val="99000"/>
              </a:lnSpc>
              <a:spcBef>
                <a:spcPts val="488"/>
              </a:spcBef>
              <a:spcAft>
                <a:spcPts val="1425"/>
              </a:spcAft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3E3D2D"/>
                </a:solidFill>
                <a:latin typeface="Century Gothic" panose="020B0502020202020204" pitchFamily="34" charset="0"/>
              </a:rPr>
              <a:t> </a:t>
            </a:r>
            <a:r>
              <a:rPr lang="en-US" sz="2400" dirty="0" err="1">
                <a:solidFill>
                  <a:srgbClr val="3E3D2D"/>
                </a:solidFill>
                <a:latin typeface="Century Gothic" panose="020B0502020202020204" pitchFamily="34" charset="0"/>
              </a:rPr>
              <a:t>pomocou</a:t>
            </a:r>
            <a:r>
              <a:rPr lang="en-US" sz="2400" dirty="0">
                <a:solidFill>
                  <a:srgbClr val="3E3D2D"/>
                </a:solidFill>
                <a:latin typeface="Century Gothic" panose="020B0502020202020204" pitchFamily="34" charset="0"/>
              </a:rPr>
              <a:t> GUI</a:t>
            </a:r>
          </a:p>
          <a:p>
            <a:pPr marL="128016" lvl="1" indent="0">
              <a:lnSpc>
                <a:spcPct val="99000"/>
              </a:lnSpc>
              <a:spcBef>
                <a:spcPts val="488"/>
              </a:spcBef>
              <a:spcAft>
                <a:spcPts val="1425"/>
              </a:spcAft>
              <a:buNone/>
            </a:pPr>
            <a:r>
              <a:rPr lang="en-US" sz="2400" dirty="0">
                <a:solidFill>
                  <a:srgbClr val="3E3D2D"/>
                </a:solidFill>
                <a:latin typeface="Century Gothic" panose="020B0502020202020204" pitchFamily="34" charset="0"/>
              </a:rPr>
              <a:t>./</a:t>
            </a:r>
            <a:r>
              <a:rPr lang="en-US" sz="2400" dirty="0" err="1">
                <a:solidFill>
                  <a:srgbClr val="3E3D2D"/>
                </a:solidFill>
                <a:latin typeface="Century Gothic" panose="020B0502020202020204" pitchFamily="34" charset="0"/>
              </a:rPr>
              <a:t>runInstaller</a:t>
            </a:r>
            <a:endParaRPr lang="en-US" sz="2400" dirty="0">
              <a:solidFill>
                <a:srgbClr val="3E3D2D"/>
              </a:solidFill>
              <a:latin typeface="Century Gothic" panose="020B0502020202020204" pitchFamily="34" charset="0"/>
            </a:endParaRPr>
          </a:p>
          <a:p>
            <a:pPr lvl="1">
              <a:lnSpc>
                <a:spcPct val="99000"/>
              </a:lnSpc>
              <a:spcBef>
                <a:spcPts val="488"/>
              </a:spcBef>
              <a:spcAft>
                <a:spcPts val="1425"/>
              </a:spcAft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3E3D2D"/>
                </a:solidFill>
                <a:latin typeface="Century Gothic" panose="020B0502020202020204" pitchFamily="34" charset="0"/>
              </a:rPr>
              <a:t> silent mode – </a:t>
            </a:r>
            <a:r>
              <a:rPr lang="en-US" sz="2400" dirty="0" err="1">
                <a:solidFill>
                  <a:srgbClr val="3E3D2D"/>
                </a:solidFill>
                <a:latin typeface="Century Gothic" panose="020B0502020202020204" pitchFamily="34" charset="0"/>
              </a:rPr>
              <a:t>bez</a:t>
            </a:r>
            <a:r>
              <a:rPr lang="en-US" sz="2400" dirty="0">
                <a:solidFill>
                  <a:srgbClr val="3E3D2D"/>
                </a:solidFill>
                <a:latin typeface="Century Gothic" panose="020B0502020202020204" pitchFamily="34" charset="0"/>
              </a:rPr>
              <a:t> </a:t>
            </a:r>
            <a:r>
              <a:rPr lang="en-US" sz="2400" dirty="0" err="1">
                <a:solidFill>
                  <a:srgbClr val="3E3D2D"/>
                </a:solidFill>
                <a:latin typeface="Century Gothic" panose="020B0502020202020204" pitchFamily="34" charset="0"/>
              </a:rPr>
              <a:t>grafiky</a:t>
            </a:r>
            <a:r>
              <a:rPr lang="en-US" sz="2400" dirty="0">
                <a:solidFill>
                  <a:srgbClr val="3E3D2D"/>
                </a:solidFill>
                <a:latin typeface="Century Gothic" panose="020B0502020202020204" pitchFamily="34" charset="0"/>
              </a:rPr>
              <a:t> </a:t>
            </a:r>
          </a:p>
          <a:p>
            <a:pPr marL="128016" lvl="1" indent="0">
              <a:lnSpc>
                <a:spcPct val="99000"/>
              </a:lnSpc>
              <a:spcBef>
                <a:spcPts val="488"/>
              </a:spcBef>
              <a:spcAft>
                <a:spcPts val="1425"/>
              </a:spcAft>
              <a:buNone/>
            </a:pPr>
            <a:r>
              <a:rPr lang="en-US" sz="2400" dirty="0">
                <a:solidFill>
                  <a:srgbClr val="3E3D2D"/>
                </a:solidFill>
                <a:latin typeface="Century Gothic" panose="020B0502020202020204" pitchFamily="34" charset="0"/>
              </a:rPr>
              <a:t>./</a:t>
            </a:r>
            <a:r>
              <a:rPr lang="en-US" sz="2400" dirty="0" err="1">
                <a:solidFill>
                  <a:srgbClr val="3E3D2D"/>
                </a:solidFill>
                <a:latin typeface="Century Gothic" panose="020B0502020202020204" pitchFamily="34" charset="0"/>
              </a:rPr>
              <a:t>runInstaller</a:t>
            </a:r>
            <a:r>
              <a:rPr lang="en-US" sz="2400" dirty="0">
                <a:solidFill>
                  <a:srgbClr val="3E3D2D"/>
                </a:solidFill>
                <a:latin typeface="Century Gothic" panose="020B0502020202020204" pitchFamily="34" charset="0"/>
              </a:rPr>
              <a:t> –silent –</a:t>
            </a:r>
            <a:r>
              <a:rPr lang="en-US" sz="2400" dirty="0" err="1">
                <a:solidFill>
                  <a:srgbClr val="3E3D2D"/>
                </a:solidFill>
                <a:latin typeface="Century Gothic" panose="020B0502020202020204" pitchFamily="34" charset="0"/>
              </a:rPr>
              <a:t>responseFile</a:t>
            </a:r>
            <a:r>
              <a:rPr lang="en-US" sz="2400" dirty="0">
                <a:solidFill>
                  <a:srgbClr val="3E3D2D"/>
                </a:solidFill>
                <a:latin typeface="Century Gothic" panose="020B0502020202020204" pitchFamily="34" charset="0"/>
              </a:rPr>
              <a:t> </a:t>
            </a:r>
            <a:r>
              <a:rPr lang="en-US" sz="2400" dirty="0" err="1">
                <a:solidFill>
                  <a:srgbClr val="3E3D2D"/>
                </a:solidFill>
                <a:latin typeface="Century Gothic" panose="020B0502020202020204" pitchFamily="34" charset="0"/>
              </a:rPr>
              <a:t>cesta_k_suboru.rsp</a:t>
            </a:r>
            <a:endParaRPr lang="en-US" sz="2400" dirty="0">
              <a:solidFill>
                <a:srgbClr val="3E3D2D"/>
              </a:solidFill>
              <a:latin typeface="Century Gothic" panose="020B0502020202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Century Gothic" panose="020B0502020202020204" pitchFamily="34" charset="0"/>
              </a:rPr>
              <a:t> od 12c </a:t>
            </a:r>
            <a:r>
              <a:rPr lang="en-US" dirty="0" err="1">
                <a:latin typeface="Century Gothic" panose="020B0502020202020204" pitchFamily="34" charset="0"/>
              </a:rPr>
              <a:t>verzie</a:t>
            </a:r>
            <a:r>
              <a:rPr lang="en-US" dirty="0">
                <a:latin typeface="Century Gothic" panose="020B0502020202020204" pitchFamily="34" charset="0"/>
              </a:rPr>
              <a:t> je </a:t>
            </a:r>
            <a:r>
              <a:rPr lang="en-US" dirty="0" err="1">
                <a:latin typeface="Century Gothic" panose="020B0502020202020204" pitchFamily="34" charset="0"/>
              </a:rPr>
              <a:t>mo</a:t>
            </a:r>
            <a:r>
              <a:rPr lang="sk-SK" dirty="0">
                <a:latin typeface="Century Gothic" panose="020B0502020202020204" pitchFamily="34" charset="0"/>
              </a:rPr>
              <a:t>žné nainštalovať si softvér aj pomocou rpm</a:t>
            </a:r>
          </a:p>
          <a:p>
            <a:pPr marL="0" indent="0">
              <a:buNone/>
            </a:pPr>
            <a:r>
              <a:rPr lang="sk-SK" dirty="0">
                <a:latin typeface="Century Gothic" panose="020B0502020202020204" pitchFamily="34" charset="0"/>
              </a:rPr>
              <a:t> (musíte si stiahnuť rpm balíček)</a:t>
            </a:r>
          </a:p>
          <a:p>
            <a:pPr marL="0" indent="0">
              <a:buNone/>
            </a:pPr>
            <a:endParaRPr lang="en-US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r>
              <a:rPr lang="en-US" dirty="0" err="1">
                <a:latin typeface="Century Gothic" panose="020B0502020202020204" pitchFamily="34" charset="0"/>
              </a:rPr>
              <a:t>Skontrolovanie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prerekviz</a:t>
            </a:r>
            <a:r>
              <a:rPr lang="sk-SK" dirty="0">
                <a:latin typeface="Century Gothic" panose="020B0502020202020204" pitchFamily="34" charset="0"/>
              </a:rPr>
              <a:t>ít:</a:t>
            </a:r>
          </a:p>
          <a:p>
            <a:pPr marL="0" indent="0">
              <a:buNone/>
            </a:pPr>
            <a:r>
              <a:rPr lang="sk-SK" dirty="0">
                <a:latin typeface="Century Gothic" panose="020B0502020202020204" pitchFamily="34" charset="0"/>
              </a:rPr>
              <a:t>./runInstaller </a:t>
            </a:r>
            <a:r>
              <a:rPr lang="en-US" dirty="0">
                <a:latin typeface="Century Gothic" panose="020B0502020202020204" pitchFamily="34" charset="0"/>
              </a:rPr>
              <a:t>-</a:t>
            </a:r>
            <a:r>
              <a:rPr lang="en-US" dirty="0" err="1">
                <a:latin typeface="Century Gothic" panose="020B0502020202020204" pitchFamily="34" charset="0"/>
              </a:rPr>
              <a:t>executePrereqs</a:t>
            </a:r>
            <a:endParaRPr lang="en-US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sk-SK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US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78912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</a:t>
            </a:r>
            <a:r>
              <a:rPr lang="sk-SK" dirty="0"/>
              <a:t>Inštalácia databázového systému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2286000"/>
            <a:ext cx="9720073" cy="4572000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99000"/>
              </a:lnSpc>
              <a:buSzPct val="45000"/>
              <a:buNone/>
            </a:pPr>
            <a:r>
              <a:rPr lang="en-US" altLang="sk-SK" dirty="0">
                <a:solidFill>
                  <a:srgbClr val="000000"/>
                </a:solidFill>
                <a:latin typeface="Century Gothic" panose="020B0502020202020204" pitchFamily="34" charset="0"/>
              </a:rPr>
              <a:t>Odin</a:t>
            </a:r>
            <a:r>
              <a:rPr lang="sk-SK" altLang="sk-SK" dirty="0">
                <a:solidFill>
                  <a:srgbClr val="000000"/>
                </a:solidFill>
                <a:latin typeface="Century Gothic" panose="020B0502020202020204" pitchFamily="34" charset="0"/>
              </a:rPr>
              <a:t>štalovať oracle softvér môžme viacerými spôsobmi:</a:t>
            </a:r>
          </a:p>
          <a:p>
            <a:pPr>
              <a:lnSpc>
                <a:spcPct val="99000"/>
              </a:lnSpc>
              <a:buSzPct val="45000"/>
              <a:buFont typeface="Wingdings" panose="05000000000000000000" pitchFamily="2" charset="2"/>
              <a:buChar char=""/>
            </a:pPr>
            <a:r>
              <a:rPr lang="sk-SK" altLang="sk-SK" dirty="0">
                <a:solidFill>
                  <a:srgbClr val="000000"/>
                </a:solidFill>
                <a:latin typeface="Century Gothic" panose="020B0502020202020204" pitchFamily="34" charset="0"/>
              </a:rPr>
              <a:t>odstrániť záznam o danom softvéri z oraInventory a následne ho zmazať</a:t>
            </a:r>
          </a:p>
          <a:p>
            <a:pPr>
              <a:lnSpc>
                <a:spcPct val="99000"/>
              </a:lnSpc>
              <a:buClrTx/>
              <a:buSzPct val="45000"/>
              <a:buNone/>
            </a:pPr>
            <a:r>
              <a:rPr lang="sk-SK" altLang="sk-SK" dirty="0">
                <a:solidFill>
                  <a:srgbClr val="000000"/>
                </a:solidFill>
                <a:latin typeface="Century Gothic" panose="020B0502020202020204" pitchFamily="34" charset="0"/>
              </a:rPr>
              <a:t>  </a:t>
            </a:r>
            <a:r>
              <a:rPr lang="sk-SK" altLang="sk-SK" i="1" dirty="0">
                <a:solidFill>
                  <a:srgbClr val="000000"/>
                </a:solidFill>
                <a:latin typeface="Century Gothic" panose="020B0502020202020204" pitchFamily="34" charset="0"/>
              </a:rPr>
              <a:t>$ORACLE_HOME/oui/bin/</a:t>
            </a:r>
            <a:r>
              <a:rPr lang="en-US" altLang="sk-SK" i="1" dirty="0">
                <a:solidFill>
                  <a:srgbClr val="000000"/>
                </a:solidFill>
                <a:latin typeface="Century Gothic" panose="020B0502020202020204" pitchFamily="34" charset="0"/>
              </a:rPr>
              <a:t>dettach.sh</a:t>
            </a:r>
            <a:r>
              <a:rPr lang="en-US" altLang="sk-SK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endParaRPr lang="sk-SK" altLang="sk-SK" dirty="0">
              <a:solidFill>
                <a:srgbClr val="000000"/>
              </a:solidFill>
              <a:latin typeface="Century Gothic" panose="020B0502020202020204" pitchFamily="34" charset="0"/>
            </a:endParaRPr>
          </a:p>
          <a:p>
            <a:pPr>
              <a:lnSpc>
                <a:spcPct val="99000"/>
              </a:lnSpc>
              <a:buClrTx/>
              <a:buSzPct val="45000"/>
              <a:buNone/>
            </a:pPr>
            <a:r>
              <a:rPr lang="en-US" altLang="sk-SK" dirty="0">
                <a:solidFill>
                  <a:srgbClr val="000000"/>
                </a:solidFill>
                <a:latin typeface="Century Gothic" panose="020B0502020202020204" pitchFamily="34" charset="0"/>
              </a:rPr>
              <a:t>	 </a:t>
            </a:r>
            <a:r>
              <a:rPr lang="en-US" altLang="sk-SK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rm</a:t>
            </a:r>
            <a:r>
              <a:rPr lang="en-US" altLang="sk-SK" dirty="0">
                <a:solidFill>
                  <a:srgbClr val="000000"/>
                </a:solidFill>
                <a:latin typeface="Century Gothic" panose="020B0502020202020204" pitchFamily="34" charset="0"/>
              </a:rPr>
              <a:t> –</a:t>
            </a:r>
            <a:r>
              <a:rPr lang="en-US" altLang="sk-SK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rf</a:t>
            </a:r>
            <a:r>
              <a:rPr lang="en-US" altLang="sk-SK" dirty="0">
                <a:solidFill>
                  <a:srgbClr val="000000"/>
                </a:solidFill>
                <a:latin typeface="Century Gothic" panose="020B0502020202020204" pitchFamily="34" charset="0"/>
              </a:rPr>
              <a:t> $ORACLE_HOME</a:t>
            </a:r>
            <a:endParaRPr lang="sk-SK" altLang="sk-SK" dirty="0">
              <a:solidFill>
                <a:srgbClr val="000000"/>
              </a:solidFill>
              <a:latin typeface="Century Gothic" panose="020B0502020202020204" pitchFamily="34" charset="0"/>
            </a:endParaRPr>
          </a:p>
          <a:p>
            <a:pPr>
              <a:lnSpc>
                <a:spcPct val="99000"/>
              </a:lnSpc>
              <a:buSzPct val="45000"/>
              <a:buFont typeface="Wingdings" panose="05000000000000000000" pitchFamily="2" charset="2"/>
              <a:buChar char=""/>
            </a:pPr>
            <a:r>
              <a:rPr lang="en-US" altLang="sk-SK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pomocou</a:t>
            </a:r>
            <a:r>
              <a:rPr lang="sk-SK" altLang="sk-SK" dirty="0">
                <a:solidFill>
                  <a:srgbClr val="000000"/>
                </a:solidFill>
                <a:latin typeface="Century Gothic" panose="020B0502020202020204" pitchFamily="34" charset="0"/>
              </a:rPr>
              <a:t> Oracle Universal Installer:</a:t>
            </a:r>
          </a:p>
          <a:p>
            <a:pPr>
              <a:lnSpc>
                <a:spcPct val="99000"/>
              </a:lnSpc>
              <a:buClrTx/>
              <a:buSzPct val="45000"/>
              <a:buNone/>
            </a:pPr>
            <a:r>
              <a:rPr lang="sk-SK" altLang="sk-SK" dirty="0">
                <a:solidFill>
                  <a:srgbClr val="000000"/>
                </a:solidFill>
                <a:latin typeface="Century Gothic" panose="020B0502020202020204" pitchFamily="34" charset="0"/>
              </a:rPr>
              <a:t>     </a:t>
            </a:r>
            <a:r>
              <a:rPr lang="sk-SK" altLang="sk-SK" i="1" dirty="0">
                <a:solidFill>
                  <a:srgbClr val="000000"/>
                </a:solidFill>
                <a:latin typeface="Century Gothic" panose="020B0502020202020204" pitchFamily="34" charset="0"/>
              </a:rPr>
              <a:t>$ORACLE_HOME/oui/bin/runInstaller</a:t>
            </a:r>
          </a:p>
          <a:p>
            <a:pPr>
              <a:lnSpc>
                <a:spcPct val="99000"/>
              </a:lnSpc>
              <a:buClrTx/>
              <a:buSzPct val="45000"/>
              <a:buNone/>
            </a:pPr>
            <a:r>
              <a:rPr lang="en-US" altLang="sk-SK" dirty="0">
                <a:solidFill>
                  <a:srgbClr val="000000"/>
                </a:solidFill>
                <a:latin typeface="Century Gothic" panose="020B0502020202020204" pitchFamily="34" charset="0"/>
              </a:rPr>
              <a:t>- </a:t>
            </a:r>
            <a:r>
              <a:rPr lang="en-US" altLang="sk-SK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spustit</a:t>
            </a:r>
            <a:r>
              <a:rPr lang="en-US" altLang="sk-SK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sk-SK" altLang="sk-SK" dirty="0">
                <a:solidFill>
                  <a:srgbClr val="000000"/>
                </a:solidFill>
                <a:latin typeface="Century Gothic" panose="020B0502020202020204" pitchFamily="34" charset="0"/>
              </a:rPr>
              <a:t>a </a:t>
            </a:r>
            <a:r>
              <a:rPr lang="en-US" altLang="sk-SK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vybra</a:t>
            </a:r>
            <a:r>
              <a:rPr lang="sk-SK" altLang="sk-SK" dirty="0">
                <a:solidFill>
                  <a:srgbClr val="000000"/>
                </a:solidFill>
                <a:latin typeface="Century Gothic" panose="020B0502020202020204" pitchFamily="34" charset="0"/>
              </a:rPr>
              <a:t>ť možnosť Deinstall Products</a:t>
            </a:r>
          </a:p>
          <a:p>
            <a:pPr>
              <a:lnSpc>
                <a:spcPct val="99000"/>
              </a:lnSpc>
              <a:buSzPct val="45000"/>
              <a:buFont typeface="Wingdings" panose="05000000000000000000" pitchFamily="2" charset="2"/>
              <a:buChar char=""/>
            </a:pPr>
            <a:r>
              <a:rPr lang="sk-SK" altLang="sk-SK" dirty="0">
                <a:solidFill>
                  <a:srgbClr val="000000"/>
                </a:solidFill>
                <a:latin typeface="Century Gothic" panose="020B0502020202020204" pitchFamily="34" charset="0"/>
              </a:rPr>
              <a:t> použiť binarku deinstall:</a:t>
            </a:r>
          </a:p>
          <a:p>
            <a:pPr>
              <a:lnSpc>
                <a:spcPct val="99000"/>
              </a:lnSpc>
              <a:buClrTx/>
              <a:buSzPct val="45000"/>
              <a:buNone/>
            </a:pPr>
            <a:r>
              <a:rPr lang="sk-SK" altLang="sk-SK" dirty="0">
                <a:solidFill>
                  <a:srgbClr val="000000"/>
                </a:solidFill>
                <a:latin typeface="Century Gothic" panose="020B0502020202020204" pitchFamily="34" charset="0"/>
              </a:rPr>
              <a:t>     cd </a:t>
            </a:r>
            <a:r>
              <a:rPr lang="sk-SK" altLang="sk-SK" i="1" dirty="0">
                <a:solidFill>
                  <a:srgbClr val="000000"/>
                </a:solidFill>
                <a:latin typeface="Century Gothic" panose="020B0502020202020204" pitchFamily="34" charset="0"/>
              </a:rPr>
              <a:t>$Oracle_Home/deinstall</a:t>
            </a:r>
            <a:r>
              <a:rPr lang="sk-SK" altLang="sk-SK" dirty="0">
                <a:solidFill>
                  <a:srgbClr val="000000"/>
                </a:solidFill>
                <a:latin typeface="Century Gothic" panose="020B0502020202020204" pitchFamily="34" charset="0"/>
              </a:rPr>
              <a:t>.</a:t>
            </a:r>
          </a:p>
          <a:p>
            <a:pPr>
              <a:lnSpc>
                <a:spcPct val="99000"/>
              </a:lnSpc>
              <a:buClrTx/>
              <a:buSzPct val="45000"/>
              <a:buNone/>
            </a:pPr>
            <a:r>
              <a:rPr lang="sk-SK" altLang="sk-SK" dirty="0">
                <a:solidFill>
                  <a:srgbClr val="000000"/>
                </a:solidFill>
                <a:latin typeface="Century Gothic" panose="020B0502020202020204" pitchFamily="34" charset="0"/>
              </a:rPr>
              <a:t>     Run </a:t>
            </a:r>
            <a:r>
              <a:rPr lang="en-US" altLang="sk-SK" i="1" dirty="0">
                <a:solidFill>
                  <a:srgbClr val="000000"/>
                </a:solidFill>
                <a:latin typeface="Century Gothic" panose="020B0502020202020204" pitchFamily="34" charset="0"/>
              </a:rPr>
              <a:t>d</a:t>
            </a:r>
            <a:r>
              <a:rPr lang="sk-SK" altLang="sk-SK" i="1" dirty="0">
                <a:solidFill>
                  <a:srgbClr val="000000"/>
                </a:solidFill>
                <a:latin typeface="Century Gothic" panose="020B0502020202020204" pitchFamily="34" charset="0"/>
              </a:rPr>
              <a:t>einstall</a:t>
            </a:r>
            <a:r>
              <a:rPr lang="sk-SK" altLang="sk-SK" dirty="0">
                <a:solidFill>
                  <a:srgbClr val="000000"/>
                </a:solidFill>
                <a:latin typeface="Century Gothic" panose="020B0502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239419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</a:t>
            </a:r>
            <a:r>
              <a:rPr lang="sk-SK" dirty="0"/>
              <a:t>raca s oracle softvérom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9000"/>
              </a:lnSpc>
              <a:buSzPct val="45000"/>
              <a:buFont typeface="Wingdings" panose="05000000000000000000" pitchFamily="2" charset="2"/>
              <a:buChar char=""/>
            </a:pPr>
            <a:r>
              <a:rPr lang="sk-SK" sz="2000" dirty="0">
                <a:solidFill>
                  <a:srgbClr val="000000"/>
                </a:solidFill>
                <a:latin typeface="Century Gothic" panose="020B0502020202020204" pitchFamily="34" charset="0"/>
              </a:rPr>
              <a:t> na použitie oracle softveru je potrebné nastaviť minimálne tieto premenné:</a:t>
            </a:r>
            <a:br>
              <a:rPr lang="sk-SK" sz="2000" dirty="0">
                <a:solidFill>
                  <a:srgbClr val="000000"/>
                </a:solidFill>
                <a:latin typeface="Century Gothic" panose="020B0502020202020204" pitchFamily="34" charset="0"/>
              </a:rPr>
            </a:br>
            <a:r>
              <a:rPr lang="sk-SK" sz="2000" b="1" i="1" dirty="0">
                <a:solidFill>
                  <a:srgbClr val="000000"/>
                </a:solidFill>
                <a:latin typeface="Century Gothic" panose="020B0502020202020204" pitchFamily="34" charset="0"/>
              </a:rPr>
              <a:t>ORACLE_HOME, PATH, ORACLE_SID</a:t>
            </a:r>
          </a:p>
          <a:p>
            <a:pPr>
              <a:lnSpc>
                <a:spcPct val="99000"/>
              </a:lnSpc>
              <a:buSzPct val="45000"/>
              <a:buFont typeface="Wingdings" panose="05000000000000000000" pitchFamily="2" charset="2"/>
              <a:buChar char=""/>
            </a:pPr>
            <a:r>
              <a:rPr lang="sk-SK" sz="2000" b="1" i="1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sk-SK" sz="2000" dirty="0">
                <a:solidFill>
                  <a:srgbClr val="000000"/>
                </a:solidFill>
                <a:latin typeface="Century Gothic" panose="020B0502020202020204" pitchFamily="34" charset="0"/>
              </a:rPr>
              <a:t>najlepšie je však si oracle prostredie nastaviť pomocou </a:t>
            </a:r>
            <a:r>
              <a:rPr lang="sk-SK" sz="2000" b="1" i="1" dirty="0">
                <a:solidFill>
                  <a:srgbClr val="000000"/>
                </a:solidFill>
                <a:latin typeface="Century Gothic" panose="020B0502020202020204" pitchFamily="34" charset="0"/>
              </a:rPr>
              <a:t>ORAENV</a:t>
            </a:r>
            <a:r>
              <a:rPr lang="sk-SK" sz="2000" dirty="0">
                <a:solidFill>
                  <a:srgbClr val="000000"/>
                </a:solidFill>
                <a:latin typeface="Century Gothic" panose="020B0502020202020204" pitchFamily="34" charset="0"/>
              </a:rPr>
              <a:t> scriptu, ktorý na základe súboru </a:t>
            </a:r>
            <a:r>
              <a:rPr lang="sk-SK" sz="2000" b="1" i="1" dirty="0">
                <a:solidFill>
                  <a:srgbClr val="000000"/>
                </a:solidFill>
                <a:latin typeface="Century Gothic" panose="020B0502020202020204" pitchFamily="34" charset="0"/>
              </a:rPr>
              <a:t>ORA</a:t>
            </a:r>
            <a:r>
              <a:rPr lang="en-US" sz="2000" b="1" i="1" dirty="0">
                <a:solidFill>
                  <a:srgbClr val="000000"/>
                </a:solidFill>
                <a:latin typeface="Century Gothic" panose="020B0502020202020204" pitchFamily="34" charset="0"/>
              </a:rPr>
              <a:t>T</a:t>
            </a:r>
            <a:r>
              <a:rPr lang="sk-SK" sz="2000" b="1" i="1" dirty="0">
                <a:solidFill>
                  <a:srgbClr val="000000"/>
                </a:solidFill>
                <a:latin typeface="Century Gothic" panose="020B0502020202020204" pitchFamily="34" charset="0"/>
              </a:rPr>
              <a:t>AB</a:t>
            </a:r>
            <a:r>
              <a:rPr lang="sk-SK" sz="2000" dirty="0">
                <a:solidFill>
                  <a:srgbClr val="000000"/>
                </a:solidFill>
                <a:latin typeface="Century Gothic" panose="020B0502020202020204" pitchFamily="34" charset="0"/>
              </a:rPr>
              <a:t>(štandardná cesta /etc/oratab) nastaví potrebné premenné</a:t>
            </a:r>
          </a:p>
          <a:p>
            <a:pPr>
              <a:lnSpc>
                <a:spcPct val="99000"/>
              </a:lnSpc>
              <a:buClrTx/>
              <a:buSzPct val="45000"/>
              <a:buNone/>
            </a:pPr>
            <a:r>
              <a:rPr lang="sk-SK" sz="2000" dirty="0">
                <a:solidFill>
                  <a:srgbClr val="000000"/>
                </a:solidFill>
                <a:latin typeface="Century Gothic" panose="020B0502020202020204" pitchFamily="34" charset="0"/>
              </a:rPr>
              <a:t>   </a:t>
            </a:r>
            <a:br>
              <a:rPr lang="sk-SK" sz="2000" dirty="0">
                <a:solidFill>
                  <a:srgbClr val="000000"/>
                </a:solidFill>
                <a:latin typeface="Century Gothic" panose="020B0502020202020204" pitchFamily="34" charset="0"/>
              </a:rPr>
            </a:br>
            <a:r>
              <a:rPr lang="sk-SK" sz="2000" dirty="0">
                <a:solidFill>
                  <a:srgbClr val="000000"/>
                </a:solidFill>
                <a:latin typeface="Century Gothic" panose="020B0502020202020204" pitchFamily="34" charset="0"/>
              </a:rPr>
              <a:t>https://docs.oracle.com/cd/E11882_01/server.112/e10839/strt_stp.htm#UNXAR138 </a:t>
            </a:r>
          </a:p>
        </p:txBody>
      </p:sp>
    </p:spTree>
    <p:extLst>
      <p:ext uri="{BB962C8B-B14F-4D97-AF65-F5344CB8AC3E}">
        <p14:creationId xmlns:p14="http://schemas.microsoft.com/office/powerpoint/2010/main" val="30083773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Odporúčaná literatúra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https://docs.oracle.com/database/121/ADMQS/toc.htm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739456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C1C93EF2-4785-427F-84A5-F1666490E9C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0</TotalTime>
  <Words>774</Words>
  <Application>Microsoft Office PowerPoint</Application>
  <PresentationFormat>Widescreen</PresentationFormat>
  <Paragraphs>71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Century Gothic</vt:lpstr>
      <vt:lpstr>Tw Cen MT</vt:lpstr>
      <vt:lpstr>Tw Cen MT Condensed</vt:lpstr>
      <vt:lpstr>Wingdings</vt:lpstr>
      <vt:lpstr>Wingdings 3</vt:lpstr>
      <vt:lpstr>Integral</vt:lpstr>
      <vt:lpstr>Úvod do databázových systémov</vt:lpstr>
      <vt:lpstr>Čo je databáza/databázový systém?</vt:lpstr>
      <vt:lpstr>Databázový systém</vt:lpstr>
      <vt:lpstr>Databázový systém</vt:lpstr>
      <vt:lpstr>Databázový systém</vt:lpstr>
      <vt:lpstr>Relačný model</vt:lpstr>
      <vt:lpstr>Obsah predmetu</vt:lpstr>
      <vt:lpstr>Základné pojmy</vt:lpstr>
      <vt:lpstr>Inštalácia databázového systému</vt:lpstr>
      <vt:lpstr>DEInštalácia databázového systému</vt:lpstr>
      <vt:lpstr>Praca s oracle softvérom</vt:lpstr>
      <vt:lpstr>Odporúčaná literatúra</vt:lpstr>
    </vt:vector>
  </TitlesOfParts>
  <Company>T-Systesms Slovakia s.r.o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Úvod do databázových systémov</dc:title>
  <dc:creator>Vankova, Jana</dc:creator>
  <cp:lastModifiedBy>Simcak, Lubos</cp:lastModifiedBy>
  <cp:revision>19</cp:revision>
  <dcterms:created xsi:type="dcterms:W3CDTF">2020-04-29T04:31:08Z</dcterms:created>
  <dcterms:modified xsi:type="dcterms:W3CDTF">2022-04-25T07:09:32Z</dcterms:modified>
  <cp:category>OPEN 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systems-DocumentTagging.ClassificationMark.P00">
    <vt:lpwstr>&lt;ClassificationMark xmlns:xsi="http://www.w3.org/2001/XMLSchema-instance" xmlns:xsd="http://www.w3.org/2001/XMLSchema" margin="NaN" class="C0" owner="Vankova, Jana" position="BottomRight" marginX="0" marginY="0" classifiedOn="2020-04-29T13:50:33.3163</vt:lpwstr>
  </property>
  <property fmtid="{D5CDD505-2E9C-101B-9397-08002B2CF9AE}" pid="3" name="tsystems-DocumentTagging.ClassificationMark.P01">
    <vt:lpwstr>797+02:00" showPrintedBy="false" showPrintDate="false" language="en" ApplicationVersion="Microsoft PowerPoint, 15.0" addinVersion="5.10.4.12" template="Default"&gt;&lt;history bulk="false" class="OPEN " code="C0" user="Vankova, Jana" date="2020-04-29T13:50</vt:lpwstr>
  </property>
  <property fmtid="{D5CDD505-2E9C-101B-9397-08002B2CF9AE}" pid="4" name="tsystems-DocumentTagging.ClassificationMark.P02">
    <vt:lpwstr>:33.3653764+02:00" /&gt;&lt;recipients /&gt;&lt;documentOwners /&gt;&lt;/ClassificationMark&gt;</vt:lpwstr>
  </property>
  <property fmtid="{D5CDD505-2E9C-101B-9397-08002B2CF9AE}" pid="5" name="tsystems-DocumentTagging.ClassificationMark">
    <vt:lpwstr>￼PARTS:3</vt:lpwstr>
  </property>
  <property fmtid="{D5CDD505-2E9C-101B-9397-08002B2CF9AE}" pid="6" name="tsystems-DocumentClasification">
    <vt:lpwstr>OPEN </vt:lpwstr>
  </property>
  <property fmtid="{D5CDD505-2E9C-101B-9397-08002B2CF9AE}" pid="7" name="tsystems-DLP">
    <vt:lpwstr>tsystems-DLP:TAG_SEC_C0</vt:lpwstr>
  </property>
</Properties>
</file>