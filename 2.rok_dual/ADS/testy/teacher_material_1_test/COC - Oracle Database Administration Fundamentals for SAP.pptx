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 id="2147483651" r:id="rId4"/>
    <p:sldMasterId id="2147483652" r:id="rId5"/>
  </p:sldMasterIdLst>
  <p:notesMasterIdLst>
    <p:notesMasterId r:id="rId58"/>
  </p:notesMasterIdLst>
  <p:handoutMasterIdLst>
    <p:handoutMasterId r:id="rId59"/>
  </p:handoutMasterIdLst>
  <p:sldIdLst>
    <p:sldId id="256" r:id="rId6"/>
    <p:sldId id="257" r:id="rId7"/>
    <p:sldId id="258" r:id="rId8"/>
    <p:sldId id="260" r:id="rId9"/>
    <p:sldId id="259" r:id="rId10"/>
    <p:sldId id="261" r:id="rId11"/>
    <p:sldId id="262" r:id="rId12"/>
    <p:sldId id="263" r:id="rId13"/>
    <p:sldId id="264" r:id="rId14"/>
    <p:sldId id="265" r:id="rId15"/>
    <p:sldId id="266" r:id="rId16"/>
    <p:sldId id="269" r:id="rId17"/>
    <p:sldId id="271" r:id="rId18"/>
    <p:sldId id="272" r:id="rId19"/>
    <p:sldId id="316" r:id="rId20"/>
    <p:sldId id="273" r:id="rId21"/>
    <p:sldId id="274" r:id="rId22"/>
    <p:sldId id="270" r:id="rId23"/>
    <p:sldId id="306" r:id="rId24"/>
    <p:sldId id="267" r:id="rId25"/>
    <p:sldId id="268" r:id="rId26"/>
    <p:sldId id="279" r:id="rId27"/>
    <p:sldId id="280" r:id="rId28"/>
    <p:sldId id="281" r:id="rId29"/>
    <p:sldId id="282" r:id="rId30"/>
    <p:sldId id="283" r:id="rId31"/>
    <p:sldId id="307" r:id="rId32"/>
    <p:sldId id="284" r:id="rId33"/>
    <p:sldId id="291" r:id="rId34"/>
    <p:sldId id="292" r:id="rId35"/>
    <p:sldId id="293" r:id="rId36"/>
    <p:sldId id="294" r:id="rId37"/>
    <p:sldId id="295" r:id="rId38"/>
    <p:sldId id="296" r:id="rId39"/>
    <p:sldId id="297" r:id="rId40"/>
    <p:sldId id="298" r:id="rId41"/>
    <p:sldId id="299" r:id="rId42"/>
    <p:sldId id="285" r:id="rId43"/>
    <p:sldId id="286" r:id="rId44"/>
    <p:sldId id="309" r:id="rId45"/>
    <p:sldId id="287" r:id="rId46"/>
    <p:sldId id="288" r:id="rId47"/>
    <p:sldId id="289" r:id="rId48"/>
    <p:sldId id="290" r:id="rId49"/>
    <p:sldId id="314" r:id="rId50"/>
    <p:sldId id="300" r:id="rId51"/>
    <p:sldId id="301" r:id="rId52"/>
    <p:sldId id="302" r:id="rId53"/>
    <p:sldId id="308" r:id="rId54"/>
    <p:sldId id="303" r:id="rId55"/>
    <p:sldId id="304" r:id="rId56"/>
    <p:sldId id="305" r:id="rId57"/>
  </p:sldIdLst>
  <p:sldSz cx="9144000" cy="6858000" type="screen4x3"/>
  <p:notesSz cx="6797675" cy="9926638"/>
  <p:defaultTextStyle>
    <a:defPPr>
      <a:defRPr lang="en-GB"/>
    </a:defPPr>
    <a:lvl1pPr algn="l" defTabSz="457200" rtl="0" fontAlgn="base">
      <a:lnSpc>
        <a:spcPts val="1800"/>
      </a:lnSpc>
      <a:spcBef>
        <a:spcPts val="563"/>
      </a:spcBef>
      <a:spcAft>
        <a:spcPct val="0"/>
      </a:spcAft>
      <a:buClr>
        <a:srgbClr val="000000"/>
      </a:buClr>
      <a:buSzPct val="100000"/>
      <a:buFont typeface="Times New Roman" panose="02020603050405020304" pitchFamily="18" charset="0"/>
      <a:defRPr kern="1200">
        <a:solidFill>
          <a:schemeClr val="bg1"/>
        </a:solidFill>
        <a:latin typeface="Tele-GroteskFet" pitchFamily="2" charset="0"/>
        <a:ea typeface="WenQuanYi Zen Hei Sharp" charset="0"/>
        <a:cs typeface="WenQuanYi Zen Hei Sharp" charset="0"/>
      </a:defRPr>
    </a:lvl1pPr>
    <a:lvl2pPr marL="742950" indent="-285750" algn="l" defTabSz="457200" rtl="0" fontAlgn="base">
      <a:lnSpc>
        <a:spcPts val="1800"/>
      </a:lnSpc>
      <a:spcBef>
        <a:spcPts val="563"/>
      </a:spcBef>
      <a:spcAft>
        <a:spcPct val="0"/>
      </a:spcAft>
      <a:buClr>
        <a:srgbClr val="000000"/>
      </a:buClr>
      <a:buSzPct val="100000"/>
      <a:buFont typeface="Times New Roman" panose="02020603050405020304" pitchFamily="18" charset="0"/>
      <a:defRPr kern="1200">
        <a:solidFill>
          <a:schemeClr val="bg1"/>
        </a:solidFill>
        <a:latin typeface="Tele-GroteskFet" pitchFamily="2" charset="0"/>
        <a:ea typeface="WenQuanYi Zen Hei Sharp" charset="0"/>
        <a:cs typeface="WenQuanYi Zen Hei Sharp" charset="0"/>
      </a:defRPr>
    </a:lvl2pPr>
    <a:lvl3pPr marL="1143000" indent="-228600" algn="l" defTabSz="457200" rtl="0" fontAlgn="base">
      <a:lnSpc>
        <a:spcPts val="1800"/>
      </a:lnSpc>
      <a:spcBef>
        <a:spcPts val="563"/>
      </a:spcBef>
      <a:spcAft>
        <a:spcPct val="0"/>
      </a:spcAft>
      <a:buClr>
        <a:srgbClr val="000000"/>
      </a:buClr>
      <a:buSzPct val="100000"/>
      <a:buFont typeface="Times New Roman" panose="02020603050405020304" pitchFamily="18" charset="0"/>
      <a:defRPr kern="1200">
        <a:solidFill>
          <a:schemeClr val="bg1"/>
        </a:solidFill>
        <a:latin typeface="Tele-GroteskFet" pitchFamily="2" charset="0"/>
        <a:ea typeface="WenQuanYi Zen Hei Sharp" charset="0"/>
        <a:cs typeface="WenQuanYi Zen Hei Sharp" charset="0"/>
      </a:defRPr>
    </a:lvl3pPr>
    <a:lvl4pPr marL="1600200" indent="-228600" algn="l" defTabSz="457200" rtl="0" fontAlgn="base">
      <a:lnSpc>
        <a:spcPts val="1800"/>
      </a:lnSpc>
      <a:spcBef>
        <a:spcPts val="563"/>
      </a:spcBef>
      <a:spcAft>
        <a:spcPct val="0"/>
      </a:spcAft>
      <a:buClr>
        <a:srgbClr val="000000"/>
      </a:buClr>
      <a:buSzPct val="100000"/>
      <a:buFont typeface="Times New Roman" panose="02020603050405020304" pitchFamily="18" charset="0"/>
      <a:defRPr kern="1200">
        <a:solidFill>
          <a:schemeClr val="bg1"/>
        </a:solidFill>
        <a:latin typeface="Tele-GroteskFet" pitchFamily="2" charset="0"/>
        <a:ea typeface="WenQuanYi Zen Hei Sharp" charset="0"/>
        <a:cs typeface="WenQuanYi Zen Hei Sharp" charset="0"/>
      </a:defRPr>
    </a:lvl4pPr>
    <a:lvl5pPr marL="2057400" indent="-228600" algn="l" defTabSz="457200" rtl="0" fontAlgn="base">
      <a:lnSpc>
        <a:spcPts val="1800"/>
      </a:lnSpc>
      <a:spcBef>
        <a:spcPts val="563"/>
      </a:spcBef>
      <a:spcAft>
        <a:spcPct val="0"/>
      </a:spcAft>
      <a:buClr>
        <a:srgbClr val="000000"/>
      </a:buClr>
      <a:buSzPct val="100000"/>
      <a:buFont typeface="Times New Roman" panose="02020603050405020304" pitchFamily="18" charset="0"/>
      <a:defRPr kern="1200">
        <a:solidFill>
          <a:schemeClr val="bg1"/>
        </a:solidFill>
        <a:latin typeface="Tele-GroteskFet" pitchFamily="2" charset="0"/>
        <a:ea typeface="WenQuanYi Zen Hei Sharp" charset="0"/>
        <a:cs typeface="WenQuanYi Zen Hei Sharp" charset="0"/>
      </a:defRPr>
    </a:lvl5pPr>
    <a:lvl6pPr marL="2286000" algn="l" defTabSz="914400" rtl="0" eaLnBrk="1" latinLnBrk="0" hangingPunct="1">
      <a:defRPr kern="1200">
        <a:solidFill>
          <a:schemeClr val="bg1"/>
        </a:solidFill>
        <a:latin typeface="Tele-GroteskFet" pitchFamily="2" charset="0"/>
        <a:ea typeface="WenQuanYi Zen Hei Sharp" charset="0"/>
        <a:cs typeface="WenQuanYi Zen Hei Sharp" charset="0"/>
      </a:defRPr>
    </a:lvl6pPr>
    <a:lvl7pPr marL="2743200" algn="l" defTabSz="914400" rtl="0" eaLnBrk="1" latinLnBrk="0" hangingPunct="1">
      <a:defRPr kern="1200">
        <a:solidFill>
          <a:schemeClr val="bg1"/>
        </a:solidFill>
        <a:latin typeface="Tele-GroteskFet" pitchFamily="2" charset="0"/>
        <a:ea typeface="WenQuanYi Zen Hei Sharp" charset="0"/>
        <a:cs typeface="WenQuanYi Zen Hei Sharp" charset="0"/>
      </a:defRPr>
    </a:lvl7pPr>
    <a:lvl8pPr marL="3200400" algn="l" defTabSz="914400" rtl="0" eaLnBrk="1" latinLnBrk="0" hangingPunct="1">
      <a:defRPr kern="1200">
        <a:solidFill>
          <a:schemeClr val="bg1"/>
        </a:solidFill>
        <a:latin typeface="Tele-GroteskFet" pitchFamily="2" charset="0"/>
        <a:ea typeface="WenQuanYi Zen Hei Sharp" charset="0"/>
        <a:cs typeface="WenQuanYi Zen Hei Sharp" charset="0"/>
      </a:defRPr>
    </a:lvl8pPr>
    <a:lvl9pPr marL="3657600" algn="l" defTabSz="914400" rtl="0" eaLnBrk="1" latinLnBrk="0" hangingPunct="1">
      <a:defRPr kern="1200">
        <a:solidFill>
          <a:schemeClr val="bg1"/>
        </a:solidFill>
        <a:latin typeface="Tele-GroteskFet" pitchFamily="2" charset="0"/>
        <a:ea typeface="WenQuanYi Zen Hei Sharp" charset="0"/>
        <a:cs typeface="WenQuanYi Zen Hei Sharp"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793">
          <p15:clr>
            <a:srgbClr val="A4A3A4"/>
          </p15:clr>
        </p15:guide>
        <p15:guide id="2" pos="20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26FAE"/>
    <a:srgbClr val="BDD8DB"/>
    <a:srgbClr val="004C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8336" autoAdjust="0"/>
  </p:normalViewPr>
  <p:slideViewPr>
    <p:cSldViewPr>
      <p:cViewPr varScale="1">
        <p:scale>
          <a:sx n="113" d="100"/>
          <a:sy n="113" d="100"/>
        </p:scale>
        <p:origin x="1554" y="114"/>
      </p:cViewPr>
      <p:guideLst>
        <p:guide orient="horz" pos="2160"/>
        <p:guide pos="2880"/>
      </p:guideLst>
    </p:cSldViewPr>
  </p:slideViewPr>
  <p:outlineViewPr>
    <p:cViewPr varScale="1">
      <p:scale>
        <a:sx n="170" d="200"/>
        <a:sy n="170" d="200"/>
      </p:scale>
      <p:origin x="-780" y="-84"/>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59" d="100"/>
          <a:sy n="59" d="100"/>
        </p:scale>
        <p:origin x="-1752" y="-72"/>
      </p:cViewPr>
      <p:guideLst>
        <p:guide orient="horz" pos="2793"/>
        <p:guide pos="206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88221" tIns="44111" rIns="88221" bIns="44111" rtlCol="0"/>
          <a:lstStyle>
            <a:lvl1pPr algn="l">
              <a:buFont typeface="Times New Roman" pitchFamily="16" charset="0"/>
              <a:buNone/>
              <a:defRPr sz="1200">
                <a:latin typeface="Tele-GroteskFet" charset="0"/>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88221" tIns="44111" rIns="88221" bIns="44111" rtlCol="0"/>
          <a:lstStyle>
            <a:lvl1pPr algn="r">
              <a:buFont typeface="Times New Roman" pitchFamily="16" charset="0"/>
              <a:buNone/>
              <a:defRPr sz="1200">
                <a:latin typeface="Tele-GroteskFet" charset="0"/>
              </a:defRPr>
            </a:lvl1pPr>
          </a:lstStyle>
          <a:p>
            <a:pPr>
              <a:defRPr/>
            </a:pPr>
            <a:fld id="{3956A448-98D7-4103-9A30-E0EDAA1D71B1}" type="datetimeFigureOut">
              <a:rPr lang="en-US"/>
              <a:pPr>
                <a:defRPr/>
              </a:pPr>
              <a:t>3/12/2019</a:t>
            </a:fld>
            <a:endParaRPr lang="en-US"/>
          </a:p>
        </p:txBody>
      </p:sp>
      <p:sp>
        <p:nvSpPr>
          <p:cNvPr id="4" name="Footer Placeholder 3"/>
          <p:cNvSpPr>
            <a:spLocks noGrp="1"/>
          </p:cNvSpPr>
          <p:nvPr>
            <p:ph type="ftr" sz="quarter" idx="2"/>
          </p:nvPr>
        </p:nvSpPr>
        <p:spPr>
          <a:xfrm>
            <a:off x="0" y="9429750"/>
            <a:ext cx="2946400" cy="495300"/>
          </a:xfrm>
          <a:prstGeom prst="rect">
            <a:avLst/>
          </a:prstGeom>
        </p:spPr>
        <p:txBody>
          <a:bodyPr vert="horz" lIns="88221" tIns="44111" rIns="88221" bIns="44111" rtlCol="0" anchor="b"/>
          <a:lstStyle>
            <a:lvl1pPr algn="l">
              <a:buFont typeface="Times New Roman" pitchFamily="16" charset="0"/>
              <a:buNone/>
              <a:defRPr sz="1200">
                <a:latin typeface="Tele-GroteskFet" charset="0"/>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88221" tIns="44111" rIns="88221" bIns="44111" numCol="1" anchor="b" anchorCtr="0" compatLnSpc="1">
            <a:prstTxWarp prst="textNoShape">
              <a:avLst/>
            </a:prstTxWarp>
          </a:bodyPr>
          <a:lstStyle>
            <a:lvl1pPr algn="r">
              <a:defRPr sz="1200"/>
            </a:lvl1pPr>
          </a:lstStyle>
          <a:p>
            <a:fld id="{D33DAA34-A935-43AA-B397-4B4DCAD1014B}" type="slidenum">
              <a:rPr lang="en-US"/>
              <a:pPr/>
              <a:t>‹#›</a:t>
            </a:fld>
            <a:endParaRPr lang="en-US"/>
          </a:p>
        </p:txBody>
      </p:sp>
    </p:spTree>
    <p:extLst>
      <p:ext uri="{BB962C8B-B14F-4D97-AF65-F5344CB8AC3E}">
        <p14:creationId xmlns:p14="http://schemas.microsoft.com/office/powerpoint/2010/main" val="1131212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AutoShape 1"/>
          <p:cNvSpPr>
            <a:spLocks noChangeArrowheads="1"/>
          </p:cNvSpPr>
          <p:nvPr/>
        </p:nvSpPr>
        <p:spPr bwMode="auto">
          <a:xfrm>
            <a:off x="0" y="0"/>
            <a:ext cx="6797675" cy="9926638"/>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65539" name="Rectangle 2"/>
          <p:cNvSpPr>
            <a:spLocks noGrp="1" noRot="1" noChangeAspect="1" noChangeArrowheads="1"/>
          </p:cNvSpPr>
          <p:nvPr>
            <p:ph type="sldImg"/>
          </p:nvPr>
        </p:nvSpPr>
        <p:spPr bwMode="auto">
          <a:xfrm>
            <a:off x="420688" y="982663"/>
            <a:ext cx="5926137" cy="4446587"/>
          </a:xfrm>
          <a:prstGeom prst="rect">
            <a:avLst/>
          </a:prstGeom>
          <a:noFill/>
          <a:ln w="324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6147" name="Rectangle 3"/>
          <p:cNvSpPr>
            <a:spLocks noGrp="1" noChangeArrowheads="1"/>
          </p:cNvSpPr>
          <p:nvPr>
            <p:ph type="body"/>
          </p:nvPr>
        </p:nvSpPr>
        <p:spPr bwMode="auto">
          <a:xfrm>
            <a:off x="461963" y="5592763"/>
            <a:ext cx="5865812" cy="362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noProof="0" smtClean="0"/>
          </a:p>
        </p:txBody>
      </p:sp>
      <p:sp>
        <p:nvSpPr>
          <p:cNvPr id="6148" name="Rectangle 4"/>
          <p:cNvSpPr>
            <a:spLocks noGrp="1" noChangeArrowheads="1"/>
          </p:cNvSpPr>
          <p:nvPr>
            <p:ph type="dt"/>
          </p:nvPr>
        </p:nvSpPr>
        <p:spPr bwMode="auto">
          <a:xfrm>
            <a:off x="5089525" y="9356725"/>
            <a:ext cx="1100138"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ctr">
              <a:lnSpc>
                <a:spcPct val="100000"/>
              </a:lnSpc>
              <a:spcBef>
                <a:spcPct val="0"/>
              </a:spcBef>
              <a:buClrTx/>
              <a:buFontTx/>
              <a:buNone/>
              <a:tabLst>
                <a:tab pos="441107" algn="l"/>
                <a:tab pos="882213" algn="l"/>
              </a:tabLst>
              <a:defRPr sz="1200">
                <a:solidFill>
                  <a:srgbClr val="000000"/>
                </a:solidFill>
                <a:latin typeface="Tele-GroteskNor" charset="0"/>
                <a:ea typeface="DejaVu Sans" charset="0"/>
                <a:cs typeface="DejaVu Sans" charset="0"/>
              </a:defRPr>
            </a:lvl1pPr>
          </a:lstStyle>
          <a:p>
            <a:pPr>
              <a:defRPr/>
            </a:pPr>
            <a:r>
              <a:rPr lang="de-DE"/>
              <a:t>01.10.2012</a:t>
            </a:r>
          </a:p>
        </p:txBody>
      </p:sp>
      <p:sp>
        <p:nvSpPr>
          <p:cNvPr id="6149" name="Rectangle 5"/>
          <p:cNvSpPr>
            <a:spLocks noGrp="1" noChangeArrowheads="1"/>
          </p:cNvSpPr>
          <p:nvPr>
            <p:ph type="ftr"/>
          </p:nvPr>
        </p:nvSpPr>
        <p:spPr bwMode="auto">
          <a:xfrm>
            <a:off x="471488" y="9356725"/>
            <a:ext cx="4479925"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r">
              <a:lnSpc>
                <a:spcPct val="100000"/>
              </a:lnSpc>
              <a:spcBef>
                <a:spcPct val="0"/>
              </a:spcBef>
              <a:buClrTx/>
              <a:buFontTx/>
              <a:buNone/>
              <a:tabLst>
                <a:tab pos="441107" algn="l"/>
                <a:tab pos="882213" algn="l"/>
                <a:tab pos="1323320" algn="l"/>
                <a:tab pos="1764426" algn="l"/>
                <a:tab pos="2205533" algn="l"/>
                <a:tab pos="2646639" algn="l"/>
                <a:tab pos="3087746" algn="l"/>
                <a:tab pos="3528852" algn="l"/>
                <a:tab pos="3969959" algn="l"/>
                <a:tab pos="4411066" algn="l"/>
              </a:tabLst>
              <a:defRPr sz="1200">
                <a:solidFill>
                  <a:srgbClr val="000000"/>
                </a:solidFill>
                <a:latin typeface="Tele-GroteskNor" charset="0"/>
                <a:ea typeface="DejaVu Sans" charset="0"/>
                <a:cs typeface="DejaVu Sans" charset="0"/>
              </a:defRPr>
            </a:lvl1pPr>
          </a:lstStyle>
          <a:p>
            <a:pPr>
              <a:defRPr/>
            </a:pPr>
            <a:r>
              <a:rPr lang="de-DE"/>
              <a:t>– streng vertraulich, vertraulich, intern, öffentlich – Autor / Thema der Präsentation</a:t>
            </a:r>
          </a:p>
        </p:txBody>
      </p:sp>
      <p:sp>
        <p:nvSpPr>
          <p:cNvPr id="6150" name="Rectangle 6"/>
          <p:cNvSpPr>
            <a:spLocks noGrp="1" noChangeArrowheads="1"/>
          </p:cNvSpPr>
          <p:nvPr>
            <p:ph type="sldNum"/>
          </p:nvPr>
        </p:nvSpPr>
        <p:spPr bwMode="auto">
          <a:xfrm>
            <a:off x="6327775" y="9356725"/>
            <a:ext cx="4683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nSpc>
                <a:spcPct val="100000"/>
              </a:lnSpc>
              <a:spcBef>
                <a:spcPct val="0"/>
              </a:spcBef>
              <a:buClrTx/>
              <a:buFontTx/>
              <a:buNone/>
              <a:tabLst>
                <a:tab pos="439738" algn="l"/>
              </a:tabLst>
              <a:defRPr sz="1200">
                <a:solidFill>
                  <a:srgbClr val="000000"/>
                </a:solidFill>
                <a:latin typeface="Tele-GroteskNor" pitchFamily="2" charset="0"/>
                <a:ea typeface="DejaVu Sans" charset="0"/>
                <a:cs typeface="DejaVu Sans" charset="0"/>
              </a:defRPr>
            </a:lvl1pPr>
          </a:lstStyle>
          <a:p>
            <a:fld id="{30824CA0-C711-448A-AFBA-6723D77E4A76}" type="slidenum">
              <a:rPr lang="de-DE"/>
              <a:pPr/>
              <a:t>‹#›</a:t>
            </a:fld>
            <a:endParaRPr lang="de-DE"/>
          </a:p>
        </p:txBody>
      </p:sp>
      <p:pic>
        <p:nvPicPr>
          <p:cNvPr id="65544" name="Picture 7"/>
          <p:cNvPicPr>
            <a:picLocks noChangeAspect="1" noChangeArrowheads="1"/>
          </p:cNvPicPr>
          <p:nvPr/>
        </p:nvPicPr>
        <p:blipFill>
          <a:blip r:embed="rId2">
            <a:extLst>
              <a:ext uri="{28A0092B-C50C-407E-A947-70E740481C1C}">
                <a14:useLocalDpi xmlns:a14="http://schemas.microsoft.com/office/drawing/2010/main" val="0"/>
              </a:ext>
            </a:extLst>
          </a:blip>
          <a:srcRect r="61905"/>
          <a:stretch>
            <a:fillRect/>
          </a:stretch>
        </p:blipFill>
        <p:spPr bwMode="auto">
          <a:xfrm>
            <a:off x="469900" y="165100"/>
            <a:ext cx="652463" cy="258763"/>
          </a:xfrm>
          <a:prstGeom prst="rect">
            <a:avLst/>
          </a:prstGeom>
          <a:noFill/>
          <a:ln>
            <a:noFill/>
          </a:ln>
          <a:effectLst/>
          <a:extLst>
            <a:ext uri="{909E8E84-426E-40DD-AFC4-6F175D3DCCD1}">
              <a14:hiddenFill xmlns:a14="http://schemas.microsoft.com/office/drawing/2010/main">
                <a:blipFill dpi="0" rotWithShape="0">
                  <a:blip/>
                  <a:srcRect r="61905"/>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5545" name="Picture 8"/>
          <p:cNvPicPr>
            <a:picLocks noChangeAspect="1" noChangeArrowheads="1"/>
          </p:cNvPicPr>
          <p:nvPr/>
        </p:nvPicPr>
        <p:blipFill>
          <a:blip r:embed="rId2">
            <a:extLst>
              <a:ext uri="{28A0092B-C50C-407E-A947-70E740481C1C}">
                <a14:useLocalDpi xmlns:a14="http://schemas.microsoft.com/office/drawing/2010/main" val="0"/>
              </a:ext>
            </a:extLst>
          </a:blip>
          <a:srcRect l="45891"/>
          <a:stretch>
            <a:fillRect/>
          </a:stretch>
        </p:blipFill>
        <p:spPr bwMode="auto">
          <a:xfrm>
            <a:off x="5402263" y="165100"/>
            <a:ext cx="925512" cy="258763"/>
          </a:xfrm>
          <a:prstGeom prst="rect">
            <a:avLst/>
          </a:prstGeom>
          <a:noFill/>
          <a:ln>
            <a:noFill/>
          </a:ln>
          <a:effectLst/>
          <a:extLst>
            <a:ext uri="{909E8E84-426E-40DD-AFC4-6F175D3DCCD1}">
              <a14:hiddenFill xmlns:a14="http://schemas.microsoft.com/office/drawing/2010/main">
                <a:blipFill dpi="0" rotWithShape="0">
                  <a:blip/>
                  <a:srcRect l="45891"/>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00352414"/>
      </p:ext>
    </p:extLst>
  </p:cSld>
  <p:clrMap bg1="lt1" tx1="dk1" bg2="lt2" tx2="dk2" accent1="accent1" accent2="accent2" accent3="accent3" accent4="accent4" accent5="accent5" accent6="accent6" hlink="hlink" folHlink="folHlink"/>
  <p:hf hdr="0"/>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6656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6656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63715936-2418-4EB6-A2AF-3EB999EF0AEA}" type="slidenum">
              <a:rPr lang="de-DE">
                <a:solidFill>
                  <a:srgbClr val="000000"/>
                </a:solidFill>
                <a:latin typeface="Tele-GroteskNor" pitchFamily="2" charset="0"/>
                <a:ea typeface="DejaVu Sans" charset="0"/>
                <a:cs typeface="DejaVu Sans" charset="0"/>
              </a:rPr>
              <a:pPr eaLnBrk="1" hangingPunct="1"/>
              <a:t>1</a:t>
            </a:fld>
            <a:endParaRPr lang="de-DE">
              <a:solidFill>
                <a:srgbClr val="000000"/>
              </a:solidFill>
              <a:latin typeface="Tele-GroteskNor" pitchFamily="2" charset="0"/>
              <a:ea typeface="DejaVu Sans" charset="0"/>
              <a:cs typeface="DejaVu Sans" charset="0"/>
            </a:endParaRPr>
          </a:p>
        </p:txBody>
      </p:sp>
      <p:sp>
        <p:nvSpPr>
          <p:cNvPr id="6656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524106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6758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6758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A83159A-1C26-4FE7-9CC4-9C93093A30BD}" type="slidenum">
              <a:rPr lang="de-DE">
                <a:solidFill>
                  <a:srgbClr val="000000"/>
                </a:solidFill>
                <a:latin typeface="Tele-GroteskNor" pitchFamily="2" charset="0"/>
                <a:ea typeface="DejaVu Sans" charset="0"/>
                <a:cs typeface="DejaVu Sans" charset="0"/>
              </a:rPr>
              <a:pPr eaLnBrk="1" hangingPunct="1"/>
              <a:t>2</a:t>
            </a:fld>
            <a:endParaRPr lang="de-DE">
              <a:solidFill>
                <a:srgbClr val="000000"/>
              </a:solidFill>
              <a:latin typeface="Tele-GroteskNor" pitchFamily="2" charset="0"/>
              <a:ea typeface="DejaVu Sans" charset="0"/>
              <a:cs typeface="DejaVu Sans" charset="0"/>
            </a:endParaRPr>
          </a:p>
        </p:txBody>
      </p:sp>
      <p:sp>
        <p:nvSpPr>
          <p:cNvPr id="6758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9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6383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6861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6861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FB9AF5DA-F256-446A-BC22-66E3940E8B2C}" type="slidenum">
              <a:rPr lang="de-DE">
                <a:solidFill>
                  <a:srgbClr val="000000"/>
                </a:solidFill>
                <a:latin typeface="Tele-GroteskNor" pitchFamily="2" charset="0"/>
                <a:ea typeface="DejaVu Sans" charset="0"/>
                <a:cs typeface="DejaVu Sans" charset="0"/>
              </a:rPr>
              <a:pPr eaLnBrk="1" hangingPunct="1"/>
              <a:t>3</a:t>
            </a:fld>
            <a:endParaRPr lang="de-DE">
              <a:solidFill>
                <a:srgbClr val="000000"/>
              </a:solidFill>
              <a:latin typeface="Tele-GroteskNor" pitchFamily="2" charset="0"/>
              <a:ea typeface="DejaVu Sans" charset="0"/>
              <a:cs typeface="DejaVu Sans" charset="0"/>
            </a:endParaRPr>
          </a:p>
        </p:txBody>
      </p:sp>
      <p:sp>
        <p:nvSpPr>
          <p:cNvPr id="6861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864998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6963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6963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8FF4E2C0-9262-4734-9087-20BF6F303480}" type="slidenum">
              <a:rPr lang="de-DE">
                <a:solidFill>
                  <a:srgbClr val="000000"/>
                </a:solidFill>
                <a:latin typeface="Tele-GroteskNor" pitchFamily="2" charset="0"/>
                <a:ea typeface="DejaVu Sans" charset="0"/>
                <a:cs typeface="DejaVu Sans" charset="0"/>
              </a:rPr>
              <a:pPr eaLnBrk="1" hangingPunct="1"/>
              <a:t>4</a:t>
            </a:fld>
            <a:endParaRPr lang="de-DE">
              <a:solidFill>
                <a:srgbClr val="000000"/>
              </a:solidFill>
              <a:latin typeface="Tele-GroteskNor" pitchFamily="2" charset="0"/>
              <a:ea typeface="DejaVu Sans" charset="0"/>
              <a:cs typeface="DejaVu Sans" charset="0"/>
            </a:endParaRPr>
          </a:p>
        </p:txBody>
      </p:sp>
      <p:sp>
        <p:nvSpPr>
          <p:cNvPr id="6963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32814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065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066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6F2C96D1-8134-4B42-AA09-7554A968E469}" type="slidenum">
              <a:rPr lang="de-DE">
                <a:solidFill>
                  <a:srgbClr val="000000"/>
                </a:solidFill>
                <a:latin typeface="Tele-GroteskNor" pitchFamily="2" charset="0"/>
                <a:ea typeface="DejaVu Sans" charset="0"/>
                <a:cs typeface="DejaVu Sans" charset="0"/>
              </a:rPr>
              <a:pPr eaLnBrk="1" hangingPunct="1"/>
              <a:t>5</a:t>
            </a:fld>
            <a:endParaRPr lang="de-DE">
              <a:solidFill>
                <a:srgbClr val="000000"/>
              </a:solidFill>
              <a:latin typeface="Tele-GroteskNor" pitchFamily="2" charset="0"/>
              <a:ea typeface="DejaVu Sans" charset="0"/>
              <a:cs typeface="DejaVu Sans" charset="0"/>
            </a:endParaRPr>
          </a:p>
        </p:txBody>
      </p:sp>
      <p:sp>
        <p:nvSpPr>
          <p:cNvPr id="7066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6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505503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168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168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83FB4FBC-6A7E-4BBA-B511-9610808A8982}" type="slidenum">
              <a:rPr lang="de-DE">
                <a:solidFill>
                  <a:srgbClr val="000000"/>
                </a:solidFill>
                <a:latin typeface="Tele-GroteskNor" pitchFamily="2" charset="0"/>
                <a:ea typeface="DejaVu Sans" charset="0"/>
                <a:cs typeface="DejaVu Sans" charset="0"/>
              </a:rPr>
              <a:pPr eaLnBrk="1" hangingPunct="1"/>
              <a:t>6</a:t>
            </a:fld>
            <a:endParaRPr lang="de-DE">
              <a:solidFill>
                <a:srgbClr val="000000"/>
              </a:solidFill>
              <a:latin typeface="Tele-GroteskNor" pitchFamily="2" charset="0"/>
              <a:ea typeface="DejaVu Sans" charset="0"/>
              <a:cs typeface="DejaVu Sans" charset="0"/>
            </a:endParaRPr>
          </a:p>
        </p:txBody>
      </p:sp>
      <p:sp>
        <p:nvSpPr>
          <p:cNvPr id="7168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426369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270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270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F3FEF52A-B0B9-4CB7-9C6B-20BFC5027BD3}" type="slidenum">
              <a:rPr lang="de-DE">
                <a:solidFill>
                  <a:srgbClr val="000000"/>
                </a:solidFill>
                <a:latin typeface="Tele-GroteskNor" pitchFamily="2" charset="0"/>
                <a:ea typeface="DejaVu Sans" charset="0"/>
                <a:cs typeface="DejaVu Sans" charset="0"/>
              </a:rPr>
              <a:pPr eaLnBrk="1" hangingPunct="1"/>
              <a:t>7</a:t>
            </a:fld>
            <a:endParaRPr lang="de-DE">
              <a:solidFill>
                <a:srgbClr val="000000"/>
              </a:solidFill>
              <a:latin typeface="Tele-GroteskNor" pitchFamily="2" charset="0"/>
              <a:ea typeface="DejaVu Sans" charset="0"/>
              <a:cs typeface="DejaVu Sans" charset="0"/>
            </a:endParaRPr>
          </a:p>
        </p:txBody>
      </p:sp>
      <p:sp>
        <p:nvSpPr>
          <p:cNvPr id="7270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1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59751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373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373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9437ED6C-75CD-4C97-BC0D-C93A1FF11C86}" type="slidenum">
              <a:rPr lang="de-DE">
                <a:solidFill>
                  <a:srgbClr val="000000"/>
                </a:solidFill>
                <a:latin typeface="Tele-GroteskNor" pitchFamily="2" charset="0"/>
                <a:ea typeface="DejaVu Sans" charset="0"/>
                <a:cs typeface="DejaVu Sans" charset="0"/>
              </a:rPr>
              <a:pPr eaLnBrk="1" hangingPunct="1"/>
              <a:t>8</a:t>
            </a:fld>
            <a:endParaRPr lang="de-DE">
              <a:solidFill>
                <a:srgbClr val="000000"/>
              </a:solidFill>
              <a:latin typeface="Tele-GroteskNor" pitchFamily="2" charset="0"/>
              <a:ea typeface="DejaVu Sans" charset="0"/>
              <a:cs typeface="DejaVu Sans" charset="0"/>
            </a:endParaRPr>
          </a:p>
        </p:txBody>
      </p:sp>
      <p:sp>
        <p:nvSpPr>
          <p:cNvPr id="7373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39700" indent="-1397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1pPr>
            <a:lvl2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2pPr>
            <a:lvl3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3pPr>
            <a:lvl4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4pPr>
            <a:lvl5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9pPr>
          </a:lstStyle>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listener.ora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listener.ora configures the listener and, as such, is only used on the database</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host. It is read when the listener is started. The configuration information</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specified in this file determines OracleNet settings, such as the network</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protocol to be used, host name, port, and the default tracing information.</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listener.ora must contain all Oracle system IDs and protocol addresses for</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which the listener should accept connection requests.</a:t>
            </a:r>
          </a:p>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tnsnames.ora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tnsnames.ora contains a list of service names for all databases that can be</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accessed in the network.</a:t>
            </a:r>
          </a:p>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sqlnet.ora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sqlnet.ora can contain client side information, such as a client domain to</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append to unqualified service names or net service names, or</a:t>
            </a:r>
          </a:p>
        </p:txBody>
      </p:sp>
    </p:spTree>
    <p:extLst>
      <p:ext uri="{BB962C8B-B14F-4D97-AF65-F5344CB8AC3E}">
        <p14:creationId xmlns:p14="http://schemas.microsoft.com/office/powerpoint/2010/main" val="1974457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475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475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011BF857-2E95-42A1-B8FA-C8F23B532D2D}" type="slidenum">
              <a:rPr lang="de-DE">
                <a:solidFill>
                  <a:srgbClr val="000000"/>
                </a:solidFill>
                <a:latin typeface="Tele-GroteskNor" pitchFamily="2" charset="0"/>
                <a:ea typeface="DejaVu Sans" charset="0"/>
                <a:cs typeface="DejaVu Sans" charset="0"/>
              </a:rPr>
              <a:pPr eaLnBrk="1" hangingPunct="1"/>
              <a:t>9</a:t>
            </a:fld>
            <a:endParaRPr lang="de-DE">
              <a:solidFill>
                <a:srgbClr val="000000"/>
              </a:solidFill>
              <a:latin typeface="Tele-GroteskNor" pitchFamily="2" charset="0"/>
              <a:ea typeface="DejaVu Sans" charset="0"/>
              <a:cs typeface="DejaVu Sans" charset="0"/>
            </a:endParaRPr>
          </a:p>
        </p:txBody>
      </p:sp>
      <p:sp>
        <p:nvSpPr>
          <p:cNvPr id="7475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39700" indent="-1397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1pPr>
            <a:lvl2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2pPr>
            <a:lvl3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3pPr>
            <a:lvl4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4pPr>
            <a:lvl5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FFFFFF"/>
                </a:solidFill>
                <a:latin typeface="Tele-GroteskFet" charset="0"/>
                <a:ea typeface="WenQuanYi Zen Hei Sharp" charset="0"/>
                <a:cs typeface="WenQuanYi Zen Hei Sharp" charset="0"/>
              </a:defRPr>
            </a:lvl9pPr>
          </a:lstStyle>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listener.ora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listener.ora configures the listener and, as such, is only used on the database</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host. It is read when the listener is started. The configuration information</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specified in this file determines OracleNet settings, such as the network</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protocol to be used, host name, port, and the default tracing information.</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listener.ora must contain all Oracle system IDs and protocol addresses for</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which the listener should accept connection requests.</a:t>
            </a:r>
          </a:p>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tnsnames.ora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tnsnames.ora contains a list of service names for all databases that can be</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accessed in the network.</a:t>
            </a:r>
          </a:p>
          <a:p>
            <a:pPr eaLnBrk="0" hangingPunct="0">
              <a:lnSpc>
                <a:spcPct val="100000"/>
              </a:lnSpc>
              <a:spcBef>
                <a:spcPts val="289"/>
              </a:spcBef>
              <a:spcAft>
                <a:spcPts val="289"/>
              </a:spcAft>
              <a:buSzPct val="75000"/>
              <a:buFont typeface="Wingdings" charset="2"/>
              <a:buChar char=""/>
              <a:defRPr/>
            </a:pPr>
            <a:r>
              <a:rPr lang="en-US" sz="1200" b="1">
                <a:solidFill>
                  <a:srgbClr val="000000"/>
                </a:solidFill>
                <a:latin typeface="Tele-GroteskNor" charset="0"/>
                <a:cs typeface="Arial" charset="0"/>
              </a:rPr>
              <a:t>sqlnet.ora</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sqlnet.ora can contain client side information, such as a client domain to</a:t>
            </a:r>
          </a:p>
          <a:p>
            <a:pPr marL="136315" eaLnBrk="0" hangingPunct="0">
              <a:lnSpc>
                <a:spcPct val="100000"/>
              </a:lnSpc>
              <a:spcBef>
                <a:spcPts val="289"/>
              </a:spcBef>
              <a:spcAft>
                <a:spcPts val="289"/>
              </a:spcAft>
              <a:buClrTx/>
              <a:buSzPct val="75000"/>
              <a:buFont typeface="Times New Roman" pitchFamily="16" charset="0"/>
              <a:buNone/>
              <a:defRPr/>
            </a:pPr>
            <a:r>
              <a:rPr lang="en-US" sz="1200">
                <a:solidFill>
                  <a:srgbClr val="000000"/>
                </a:solidFill>
                <a:latin typeface="Tele-GroteskNor" charset="0"/>
                <a:cs typeface="Arial" charset="0"/>
              </a:rPr>
              <a:t>append to unqualified service names or net service names, or</a:t>
            </a:r>
          </a:p>
        </p:txBody>
      </p:sp>
    </p:spTree>
    <p:extLst>
      <p:ext uri="{BB962C8B-B14F-4D97-AF65-F5344CB8AC3E}">
        <p14:creationId xmlns:p14="http://schemas.microsoft.com/office/powerpoint/2010/main" val="278596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577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578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17C706F3-A44A-4A4E-8AF5-F526588A018C}" type="slidenum">
              <a:rPr lang="de-DE">
                <a:solidFill>
                  <a:srgbClr val="000000"/>
                </a:solidFill>
                <a:latin typeface="Tele-GroteskNor" pitchFamily="2" charset="0"/>
                <a:ea typeface="DejaVu Sans" charset="0"/>
                <a:cs typeface="DejaVu Sans" charset="0"/>
              </a:rPr>
              <a:pPr eaLnBrk="1" hangingPunct="1"/>
              <a:t>10</a:t>
            </a:fld>
            <a:endParaRPr lang="de-DE">
              <a:solidFill>
                <a:srgbClr val="000000"/>
              </a:solidFill>
              <a:latin typeface="Tele-GroteskNor" pitchFamily="2" charset="0"/>
              <a:ea typeface="DejaVu Sans" charset="0"/>
              <a:cs typeface="DejaVu Sans" charset="0"/>
            </a:endParaRPr>
          </a:p>
        </p:txBody>
      </p:sp>
      <p:sp>
        <p:nvSpPr>
          <p:cNvPr id="7578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209729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680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680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7864BB2A-2364-400B-9530-FD431ECBB3BD}" type="slidenum">
              <a:rPr lang="de-DE">
                <a:solidFill>
                  <a:srgbClr val="000000"/>
                </a:solidFill>
                <a:latin typeface="Tele-GroteskNor" pitchFamily="2" charset="0"/>
                <a:ea typeface="DejaVu Sans" charset="0"/>
                <a:cs typeface="DejaVu Sans" charset="0"/>
              </a:rPr>
              <a:pPr eaLnBrk="1" hangingPunct="1"/>
              <a:t>11</a:t>
            </a:fld>
            <a:endParaRPr lang="de-DE">
              <a:solidFill>
                <a:srgbClr val="000000"/>
              </a:solidFill>
              <a:latin typeface="Tele-GroteskNor" pitchFamily="2" charset="0"/>
              <a:ea typeface="DejaVu Sans" charset="0"/>
              <a:cs typeface="DejaVu Sans" charset="0"/>
            </a:endParaRPr>
          </a:p>
        </p:txBody>
      </p:sp>
      <p:sp>
        <p:nvSpPr>
          <p:cNvPr id="7680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713753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782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782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7DB08CCB-8255-4F39-88AC-4372F85E1CDE}" type="slidenum">
              <a:rPr lang="de-DE">
                <a:solidFill>
                  <a:srgbClr val="000000"/>
                </a:solidFill>
                <a:latin typeface="Tele-GroteskNor" pitchFamily="2" charset="0"/>
                <a:ea typeface="DejaVu Sans" charset="0"/>
                <a:cs typeface="DejaVu Sans" charset="0"/>
              </a:rPr>
              <a:pPr eaLnBrk="1" hangingPunct="1"/>
              <a:t>12</a:t>
            </a:fld>
            <a:endParaRPr lang="de-DE">
              <a:solidFill>
                <a:srgbClr val="000000"/>
              </a:solidFill>
              <a:latin typeface="Tele-GroteskNor" pitchFamily="2" charset="0"/>
              <a:ea typeface="DejaVu Sans" charset="0"/>
              <a:cs typeface="DejaVu Sans" charset="0"/>
            </a:endParaRPr>
          </a:p>
        </p:txBody>
      </p:sp>
      <p:sp>
        <p:nvSpPr>
          <p:cNvPr id="7782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3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642595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885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885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46105A94-C287-4BBE-AFD0-A13679201A0A}" type="slidenum">
              <a:rPr lang="de-DE">
                <a:solidFill>
                  <a:srgbClr val="000000"/>
                </a:solidFill>
                <a:latin typeface="Tele-GroteskNor" pitchFamily="2" charset="0"/>
                <a:ea typeface="DejaVu Sans" charset="0"/>
                <a:cs typeface="DejaVu Sans" charset="0"/>
              </a:rPr>
              <a:pPr eaLnBrk="1" hangingPunct="1"/>
              <a:t>13</a:t>
            </a:fld>
            <a:endParaRPr lang="de-DE">
              <a:solidFill>
                <a:srgbClr val="000000"/>
              </a:solidFill>
              <a:latin typeface="Tele-GroteskNor" pitchFamily="2" charset="0"/>
              <a:ea typeface="DejaVu Sans" charset="0"/>
              <a:cs typeface="DejaVu Sans" charset="0"/>
            </a:endParaRPr>
          </a:p>
        </p:txBody>
      </p:sp>
      <p:sp>
        <p:nvSpPr>
          <p:cNvPr id="7885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310796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7987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7987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BEFF844C-0FF9-43DC-AB32-5734E8F7233D}" type="slidenum">
              <a:rPr lang="de-DE">
                <a:solidFill>
                  <a:srgbClr val="000000"/>
                </a:solidFill>
                <a:latin typeface="Tele-GroteskNor" pitchFamily="2" charset="0"/>
                <a:ea typeface="DejaVu Sans" charset="0"/>
                <a:cs typeface="DejaVu Sans" charset="0"/>
              </a:rPr>
              <a:pPr eaLnBrk="1" hangingPunct="1"/>
              <a:t>14</a:t>
            </a:fld>
            <a:endParaRPr lang="de-DE">
              <a:solidFill>
                <a:srgbClr val="000000"/>
              </a:solidFill>
              <a:latin typeface="Tele-GroteskNor" pitchFamily="2" charset="0"/>
              <a:ea typeface="DejaVu Sans" charset="0"/>
              <a:cs typeface="DejaVu Sans" charset="0"/>
            </a:endParaRPr>
          </a:p>
        </p:txBody>
      </p:sp>
      <p:sp>
        <p:nvSpPr>
          <p:cNvPr id="7987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05570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a:defRPr/>
            </a:pPr>
            <a:r>
              <a:rPr lang="de-DE" smtClean="0"/>
              <a:t>01.10.2012</a:t>
            </a:r>
            <a:endParaRPr lang="de-DE"/>
          </a:p>
        </p:txBody>
      </p:sp>
      <p:sp>
        <p:nvSpPr>
          <p:cNvPr id="5" name="Footer Placeholder 4"/>
          <p:cNvSpPr>
            <a:spLocks noGrp="1"/>
          </p:cNvSpPr>
          <p:nvPr>
            <p:ph type="ftr" idx="11"/>
          </p:nvPr>
        </p:nvSpPr>
        <p:spPr/>
        <p:txBody>
          <a:bodyPr/>
          <a:lstStyle/>
          <a:p>
            <a:pPr>
              <a:defRPr/>
            </a:pPr>
            <a:r>
              <a:rPr lang="de-DE" smtClean="0"/>
              <a:t>– streng vertraulich, vertraulich, intern, öffentlich – Autor / Thema der Präsentation</a:t>
            </a:r>
            <a:endParaRPr lang="de-DE"/>
          </a:p>
        </p:txBody>
      </p:sp>
      <p:sp>
        <p:nvSpPr>
          <p:cNvPr id="6" name="Slide Number Placeholder 5"/>
          <p:cNvSpPr>
            <a:spLocks noGrp="1"/>
          </p:cNvSpPr>
          <p:nvPr>
            <p:ph type="sldNum" idx="12"/>
          </p:nvPr>
        </p:nvSpPr>
        <p:spPr/>
        <p:txBody>
          <a:bodyPr/>
          <a:lstStyle/>
          <a:p>
            <a:fld id="{30824CA0-C711-448A-AFBA-6723D77E4A76}" type="slidenum">
              <a:rPr lang="de-DE" smtClean="0"/>
              <a:pPr/>
              <a:t>15</a:t>
            </a:fld>
            <a:endParaRPr lang="de-DE"/>
          </a:p>
        </p:txBody>
      </p:sp>
    </p:spTree>
    <p:extLst>
      <p:ext uri="{BB962C8B-B14F-4D97-AF65-F5344CB8AC3E}">
        <p14:creationId xmlns:p14="http://schemas.microsoft.com/office/powerpoint/2010/main" val="3544755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8499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8499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A83813AA-DF6D-4A75-828E-27CEB4A2EE8C}" type="slidenum">
              <a:rPr lang="de-DE">
                <a:solidFill>
                  <a:srgbClr val="000000"/>
                </a:solidFill>
                <a:latin typeface="Tele-GroteskNor" pitchFamily="2" charset="0"/>
                <a:ea typeface="DejaVu Sans" charset="0"/>
                <a:cs typeface="DejaVu Sans" charset="0"/>
              </a:rPr>
              <a:pPr eaLnBrk="1" hangingPunct="1"/>
              <a:t>16</a:t>
            </a:fld>
            <a:endParaRPr lang="de-DE">
              <a:solidFill>
                <a:srgbClr val="000000"/>
              </a:solidFill>
              <a:latin typeface="Tele-GroteskNor" pitchFamily="2" charset="0"/>
              <a:ea typeface="DejaVu Sans" charset="0"/>
              <a:cs typeface="DejaVu Sans" charset="0"/>
            </a:endParaRPr>
          </a:p>
        </p:txBody>
      </p:sp>
      <p:sp>
        <p:nvSpPr>
          <p:cNvPr id="8499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528318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8601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8602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18E1B361-C4C7-4610-8E70-0B20BD70D520}" type="slidenum">
              <a:rPr lang="de-DE">
                <a:solidFill>
                  <a:srgbClr val="000000"/>
                </a:solidFill>
                <a:latin typeface="Tele-GroteskNor" pitchFamily="2" charset="0"/>
                <a:ea typeface="DejaVu Sans" charset="0"/>
                <a:cs typeface="DejaVu Sans" charset="0"/>
              </a:rPr>
              <a:pPr eaLnBrk="1" hangingPunct="1"/>
              <a:t>17</a:t>
            </a:fld>
            <a:endParaRPr lang="de-DE">
              <a:solidFill>
                <a:srgbClr val="000000"/>
              </a:solidFill>
              <a:latin typeface="Tele-GroteskNor" pitchFamily="2" charset="0"/>
              <a:ea typeface="DejaVu Sans" charset="0"/>
              <a:cs typeface="DejaVu Sans" charset="0"/>
            </a:endParaRPr>
          </a:p>
        </p:txBody>
      </p:sp>
      <p:sp>
        <p:nvSpPr>
          <p:cNvPr id="8602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2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344065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8704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8704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69DE9DE6-D05C-44D5-AD46-FEEDBEC1E590}" type="slidenum">
              <a:rPr lang="de-DE">
                <a:solidFill>
                  <a:srgbClr val="000000"/>
                </a:solidFill>
                <a:latin typeface="Tele-GroteskNor" pitchFamily="2" charset="0"/>
                <a:ea typeface="DejaVu Sans" charset="0"/>
                <a:cs typeface="DejaVu Sans" charset="0"/>
              </a:rPr>
              <a:pPr eaLnBrk="1" hangingPunct="1"/>
              <a:t>18</a:t>
            </a:fld>
            <a:endParaRPr lang="de-DE">
              <a:solidFill>
                <a:srgbClr val="000000"/>
              </a:solidFill>
              <a:latin typeface="Tele-GroteskNor" pitchFamily="2" charset="0"/>
              <a:ea typeface="DejaVu Sans" charset="0"/>
              <a:cs typeface="DejaVu Sans" charset="0"/>
            </a:endParaRPr>
          </a:p>
        </p:txBody>
      </p:sp>
      <p:sp>
        <p:nvSpPr>
          <p:cNvPr id="8704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902010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8806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8806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EA4DB0B-2529-47FC-834B-663120AAC961}" type="slidenum">
              <a:rPr lang="de-DE">
                <a:solidFill>
                  <a:srgbClr val="000000"/>
                </a:solidFill>
                <a:latin typeface="Tele-GroteskNor" pitchFamily="2" charset="0"/>
                <a:ea typeface="DejaVu Sans" charset="0"/>
                <a:cs typeface="DejaVu Sans" charset="0"/>
              </a:rPr>
              <a:pPr eaLnBrk="1" hangingPunct="1"/>
              <a:t>19</a:t>
            </a:fld>
            <a:endParaRPr lang="de-DE">
              <a:solidFill>
                <a:srgbClr val="000000"/>
              </a:solidFill>
              <a:latin typeface="Tele-GroteskNor" pitchFamily="2" charset="0"/>
              <a:ea typeface="DejaVu Sans" charset="0"/>
              <a:cs typeface="DejaVu Sans" charset="0"/>
            </a:endParaRPr>
          </a:p>
        </p:txBody>
      </p:sp>
      <p:sp>
        <p:nvSpPr>
          <p:cNvPr id="8806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7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247081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8909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8909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1F7B607-3F2C-4C39-BE9C-B429DE13C1B5}" type="slidenum">
              <a:rPr lang="de-DE">
                <a:solidFill>
                  <a:srgbClr val="000000"/>
                </a:solidFill>
                <a:latin typeface="Tele-GroteskNor" pitchFamily="2" charset="0"/>
                <a:ea typeface="DejaVu Sans" charset="0"/>
                <a:cs typeface="DejaVu Sans" charset="0"/>
              </a:rPr>
              <a:pPr eaLnBrk="1" hangingPunct="1"/>
              <a:t>20</a:t>
            </a:fld>
            <a:endParaRPr lang="de-DE">
              <a:solidFill>
                <a:srgbClr val="000000"/>
              </a:solidFill>
              <a:latin typeface="Tele-GroteskNor" pitchFamily="2" charset="0"/>
              <a:ea typeface="DejaVu Sans" charset="0"/>
              <a:cs typeface="DejaVu Sans" charset="0"/>
            </a:endParaRPr>
          </a:p>
        </p:txBody>
      </p:sp>
      <p:sp>
        <p:nvSpPr>
          <p:cNvPr id="8909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903800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011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011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26320AB-E1F2-4551-B946-86DD20D6A12B}" type="slidenum">
              <a:rPr lang="de-DE">
                <a:solidFill>
                  <a:srgbClr val="000000"/>
                </a:solidFill>
                <a:latin typeface="Tele-GroteskNor" pitchFamily="2" charset="0"/>
                <a:ea typeface="DejaVu Sans" charset="0"/>
                <a:cs typeface="DejaVu Sans" charset="0"/>
              </a:rPr>
              <a:pPr eaLnBrk="1" hangingPunct="1"/>
              <a:t>21</a:t>
            </a:fld>
            <a:endParaRPr lang="de-DE">
              <a:solidFill>
                <a:srgbClr val="000000"/>
              </a:solidFill>
              <a:latin typeface="Tele-GroteskNor" pitchFamily="2" charset="0"/>
              <a:ea typeface="DejaVu Sans" charset="0"/>
              <a:cs typeface="DejaVu Sans" charset="0"/>
            </a:endParaRPr>
          </a:p>
        </p:txBody>
      </p:sp>
      <p:sp>
        <p:nvSpPr>
          <p:cNvPr id="9011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025497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113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114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FE685B42-2E6E-4D22-B651-911D5A726858}" type="slidenum">
              <a:rPr lang="de-DE">
                <a:solidFill>
                  <a:srgbClr val="000000"/>
                </a:solidFill>
                <a:latin typeface="Tele-GroteskNor" pitchFamily="2" charset="0"/>
                <a:ea typeface="DejaVu Sans" charset="0"/>
                <a:cs typeface="DejaVu Sans" charset="0"/>
              </a:rPr>
              <a:pPr eaLnBrk="1" hangingPunct="1"/>
              <a:t>22</a:t>
            </a:fld>
            <a:endParaRPr lang="de-DE">
              <a:solidFill>
                <a:srgbClr val="000000"/>
              </a:solidFill>
              <a:latin typeface="Tele-GroteskNor" pitchFamily="2" charset="0"/>
              <a:ea typeface="DejaVu Sans" charset="0"/>
              <a:cs typeface="DejaVu Sans" charset="0"/>
            </a:endParaRPr>
          </a:p>
        </p:txBody>
      </p:sp>
      <p:sp>
        <p:nvSpPr>
          <p:cNvPr id="9114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462716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216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216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CD61C989-88CA-482B-BB7C-9E42D43BC518}" type="slidenum">
              <a:rPr lang="de-DE">
                <a:solidFill>
                  <a:srgbClr val="000000"/>
                </a:solidFill>
                <a:latin typeface="Tele-GroteskNor" pitchFamily="2" charset="0"/>
                <a:ea typeface="DejaVu Sans" charset="0"/>
                <a:cs typeface="DejaVu Sans" charset="0"/>
              </a:rPr>
              <a:pPr eaLnBrk="1" hangingPunct="1"/>
              <a:t>23</a:t>
            </a:fld>
            <a:endParaRPr lang="de-DE">
              <a:solidFill>
                <a:srgbClr val="000000"/>
              </a:solidFill>
              <a:latin typeface="Tele-GroteskNor" pitchFamily="2" charset="0"/>
              <a:ea typeface="DejaVu Sans" charset="0"/>
              <a:cs typeface="DejaVu Sans" charset="0"/>
            </a:endParaRPr>
          </a:p>
        </p:txBody>
      </p:sp>
      <p:sp>
        <p:nvSpPr>
          <p:cNvPr id="9216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92167" name="Notes Placeholder 1"/>
          <p:cNvSpPr>
            <a:spLocks noGrp="1"/>
          </p:cNvSpPr>
          <p:nvPr>
            <p:ph type="body" idx="1"/>
          </p:nvPr>
        </p:nvSpPr>
        <p:spPr>
          <a:noFill/>
          <a:extLst>
            <a:ext uri="{91240B29-F687-4F45-9708-019B960494DF}">
              <a14:hiddenLine xmlns:a14="http://schemas.microsoft.com/office/drawing/2010/main" w="9525">
                <a:solidFill>
                  <a:srgbClr val="3465A4"/>
                </a:solidFill>
                <a:round/>
                <a:headEnd/>
                <a:tailEnd/>
              </a14:hiddenLine>
            </a:ext>
          </a:extLst>
        </p:spPr>
        <p:txBody>
          <a:bodyPr/>
          <a:lstStyle/>
          <a:p>
            <a:r>
              <a:rPr lang="en-US" smtClean="0">
                <a:latin typeface="Times New Roman" panose="02020603050405020304" pitchFamily="18" charset="0"/>
              </a:rPr>
              <a:t>SAP provides the tools BRBACKUP, BRARCHIVE, BRRESTORE, BRRECOVER, BRSPACE, BRCONNECT, and BRTOOLS to manage and protect the data in your Oracle database.</a:t>
            </a:r>
          </a:p>
        </p:txBody>
      </p:sp>
    </p:spTree>
    <p:extLst>
      <p:ext uri="{BB962C8B-B14F-4D97-AF65-F5344CB8AC3E}">
        <p14:creationId xmlns:p14="http://schemas.microsoft.com/office/powerpoint/2010/main" val="2567600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318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318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A0947524-E1DA-482E-A446-C01C3C321C01}" type="slidenum">
              <a:rPr lang="de-DE">
                <a:solidFill>
                  <a:srgbClr val="000000"/>
                </a:solidFill>
                <a:latin typeface="Tele-GroteskNor" pitchFamily="2" charset="0"/>
                <a:ea typeface="DejaVu Sans" charset="0"/>
                <a:cs typeface="DejaVu Sans" charset="0"/>
              </a:rPr>
              <a:pPr eaLnBrk="1" hangingPunct="1"/>
              <a:t>24</a:t>
            </a:fld>
            <a:endParaRPr lang="de-DE">
              <a:solidFill>
                <a:srgbClr val="000000"/>
              </a:solidFill>
              <a:latin typeface="Tele-GroteskNor" pitchFamily="2" charset="0"/>
              <a:ea typeface="DejaVu Sans" charset="0"/>
              <a:cs typeface="DejaVu Sans" charset="0"/>
            </a:endParaRPr>
          </a:p>
        </p:txBody>
      </p:sp>
      <p:sp>
        <p:nvSpPr>
          <p:cNvPr id="9318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9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64822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421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421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C9893ED4-62FB-49F3-8FEB-8AFABA709B72}" type="slidenum">
              <a:rPr lang="de-DE">
                <a:solidFill>
                  <a:srgbClr val="000000"/>
                </a:solidFill>
                <a:latin typeface="Tele-GroteskNor" pitchFamily="2" charset="0"/>
                <a:ea typeface="DejaVu Sans" charset="0"/>
                <a:cs typeface="DejaVu Sans" charset="0"/>
              </a:rPr>
              <a:pPr eaLnBrk="1" hangingPunct="1"/>
              <a:t>25</a:t>
            </a:fld>
            <a:endParaRPr lang="de-DE">
              <a:solidFill>
                <a:srgbClr val="000000"/>
              </a:solidFill>
              <a:latin typeface="Tele-GroteskNor" pitchFamily="2" charset="0"/>
              <a:ea typeface="DejaVu Sans" charset="0"/>
              <a:cs typeface="DejaVu Sans" charset="0"/>
            </a:endParaRPr>
          </a:p>
        </p:txBody>
      </p:sp>
      <p:sp>
        <p:nvSpPr>
          <p:cNvPr id="9421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96269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523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523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65815F59-7726-46E0-9EA7-8D4D17D39DB1}" type="slidenum">
              <a:rPr lang="de-DE">
                <a:solidFill>
                  <a:srgbClr val="000000"/>
                </a:solidFill>
                <a:latin typeface="Tele-GroteskNor" pitchFamily="2" charset="0"/>
                <a:ea typeface="DejaVu Sans" charset="0"/>
                <a:cs typeface="DejaVu Sans" charset="0"/>
              </a:rPr>
              <a:pPr eaLnBrk="1" hangingPunct="1"/>
              <a:t>26</a:t>
            </a:fld>
            <a:endParaRPr lang="de-DE">
              <a:solidFill>
                <a:srgbClr val="000000"/>
              </a:solidFill>
              <a:latin typeface="Tele-GroteskNor" pitchFamily="2" charset="0"/>
              <a:ea typeface="DejaVu Sans" charset="0"/>
              <a:cs typeface="DejaVu Sans" charset="0"/>
            </a:endParaRPr>
          </a:p>
        </p:txBody>
      </p:sp>
      <p:sp>
        <p:nvSpPr>
          <p:cNvPr id="9523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20669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625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626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B00CE1BA-45D4-4C3A-8476-D427B5D84468}" type="slidenum">
              <a:rPr lang="de-DE">
                <a:solidFill>
                  <a:srgbClr val="000000"/>
                </a:solidFill>
                <a:latin typeface="Tele-GroteskNor" pitchFamily="2" charset="0"/>
                <a:ea typeface="DejaVu Sans" charset="0"/>
                <a:cs typeface="DejaVu Sans" charset="0"/>
              </a:rPr>
              <a:pPr eaLnBrk="1" hangingPunct="1"/>
              <a:t>27</a:t>
            </a:fld>
            <a:endParaRPr lang="de-DE">
              <a:solidFill>
                <a:srgbClr val="000000"/>
              </a:solidFill>
              <a:latin typeface="Tele-GroteskNor" pitchFamily="2" charset="0"/>
              <a:ea typeface="DejaVu Sans" charset="0"/>
              <a:cs typeface="DejaVu Sans" charset="0"/>
            </a:endParaRPr>
          </a:p>
        </p:txBody>
      </p:sp>
      <p:sp>
        <p:nvSpPr>
          <p:cNvPr id="9626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6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5040031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728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728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31D439A-F758-4B43-9E85-758EA8EF14BF}" type="slidenum">
              <a:rPr lang="de-DE">
                <a:solidFill>
                  <a:srgbClr val="000000"/>
                </a:solidFill>
                <a:latin typeface="Tele-GroteskNor" pitchFamily="2" charset="0"/>
                <a:ea typeface="DejaVu Sans" charset="0"/>
                <a:cs typeface="DejaVu Sans" charset="0"/>
              </a:rPr>
              <a:pPr eaLnBrk="1" hangingPunct="1"/>
              <a:t>28</a:t>
            </a:fld>
            <a:endParaRPr lang="de-DE">
              <a:solidFill>
                <a:srgbClr val="000000"/>
              </a:solidFill>
              <a:latin typeface="Tele-GroteskNor" pitchFamily="2" charset="0"/>
              <a:ea typeface="DejaVu Sans" charset="0"/>
              <a:cs typeface="DejaVu Sans" charset="0"/>
            </a:endParaRPr>
          </a:p>
        </p:txBody>
      </p:sp>
      <p:sp>
        <p:nvSpPr>
          <p:cNvPr id="9728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639458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830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830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04CC2FE9-614A-4B11-953A-5B01029D20BF}" type="slidenum">
              <a:rPr lang="de-DE">
                <a:solidFill>
                  <a:srgbClr val="000000"/>
                </a:solidFill>
                <a:latin typeface="Tele-GroteskNor" pitchFamily="2" charset="0"/>
                <a:ea typeface="DejaVu Sans" charset="0"/>
                <a:cs typeface="DejaVu Sans" charset="0"/>
              </a:rPr>
              <a:pPr eaLnBrk="1" hangingPunct="1"/>
              <a:t>29</a:t>
            </a:fld>
            <a:endParaRPr lang="de-DE">
              <a:solidFill>
                <a:srgbClr val="000000"/>
              </a:solidFill>
              <a:latin typeface="Tele-GroteskNor" pitchFamily="2" charset="0"/>
              <a:ea typeface="DejaVu Sans" charset="0"/>
              <a:cs typeface="DejaVu Sans" charset="0"/>
            </a:endParaRPr>
          </a:p>
        </p:txBody>
      </p:sp>
      <p:sp>
        <p:nvSpPr>
          <p:cNvPr id="9830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1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290932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9933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9933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0C181873-D6BD-4F07-9C35-211DD11AA721}" type="slidenum">
              <a:rPr lang="de-DE">
                <a:solidFill>
                  <a:srgbClr val="000000"/>
                </a:solidFill>
                <a:latin typeface="Tele-GroteskNor" pitchFamily="2" charset="0"/>
                <a:ea typeface="DejaVu Sans" charset="0"/>
                <a:cs typeface="DejaVu Sans" charset="0"/>
              </a:rPr>
              <a:pPr eaLnBrk="1" hangingPunct="1"/>
              <a:t>30</a:t>
            </a:fld>
            <a:endParaRPr lang="de-DE">
              <a:solidFill>
                <a:srgbClr val="000000"/>
              </a:solidFill>
              <a:latin typeface="Tele-GroteskNor" pitchFamily="2" charset="0"/>
              <a:ea typeface="DejaVu Sans" charset="0"/>
              <a:cs typeface="DejaVu Sans" charset="0"/>
            </a:endParaRPr>
          </a:p>
        </p:txBody>
      </p:sp>
      <p:sp>
        <p:nvSpPr>
          <p:cNvPr id="9933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9247414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035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035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4840EE14-708A-4311-84F3-BC2714AE372D}" type="slidenum">
              <a:rPr lang="de-DE">
                <a:solidFill>
                  <a:srgbClr val="000000"/>
                </a:solidFill>
                <a:latin typeface="Tele-GroteskNor" pitchFamily="2" charset="0"/>
                <a:ea typeface="DejaVu Sans" charset="0"/>
                <a:cs typeface="DejaVu Sans" charset="0"/>
              </a:rPr>
              <a:pPr eaLnBrk="1" hangingPunct="1"/>
              <a:t>31</a:t>
            </a:fld>
            <a:endParaRPr lang="de-DE">
              <a:solidFill>
                <a:srgbClr val="000000"/>
              </a:solidFill>
              <a:latin typeface="Tele-GroteskNor" pitchFamily="2" charset="0"/>
              <a:ea typeface="DejaVu Sans" charset="0"/>
              <a:cs typeface="DejaVu Sans" charset="0"/>
            </a:endParaRPr>
          </a:p>
        </p:txBody>
      </p:sp>
      <p:sp>
        <p:nvSpPr>
          <p:cNvPr id="10035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2839153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137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138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0125CAE-341E-430F-80A1-C5B89F341530}" type="slidenum">
              <a:rPr lang="de-DE">
                <a:solidFill>
                  <a:srgbClr val="000000"/>
                </a:solidFill>
                <a:latin typeface="Tele-GroteskNor" pitchFamily="2" charset="0"/>
                <a:ea typeface="DejaVu Sans" charset="0"/>
                <a:cs typeface="DejaVu Sans" charset="0"/>
              </a:rPr>
              <a:pPr eaLnBrk="1" hangingPunct="1"/>
              <a:t>32</a:t>
            </a:fld>
            <a:endParaRPr lang="de-DE">
              <a:solidFill>
                <a:srgbClr val="000000"/>
              </a:solidFill>
              <a:latin typeface="Tele-GroteskNor" pitchFamily="2" charset="0"/>
              <a:ea typeface="DejaVu Sans" charset="0"/>
              <a:cs typeface="DejaVu Sans" charset="0"/>
            </a:endParaRPr>
          </a:p>
        </p:txBody>
      </p:sp>
      <p:sp>
        <p:nvSpPr>
          <p:cNvPr id="10138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8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7589631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240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240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6E84B4F5-5A73-412F-88F2-76C6E9C34139}" type="slidenum">
              <a:rPr lang="de-DE">
                <a:solidFill>
                  <a:srgbClr val="000000"/>
                </a:solidFill>
                <a:latin typeface="Tele-GroteskNor" pitchFamily="2" charset="0"/>
                <a:ea typeface="DejaVu Sans" charset="0"/>
                <a:cs typeface="DejaVu Sans" charset="0"/>
              </a:rPr>
              <a:pPr eaLnBrk="1" hangingPunct="1"/>
              <a:t>33</a:t>
            </a:fld>
            <a:endParaRPr lang="de-DE">
              <a:solidFill>
                <a:srgbClr val="000000"/>
              </a:solidFill>
              <a:latin typeface="Tele-GroteskNor" pitchFamily="2" charset="0"/>
              <a:ea typeface="DejaVu Sans" charset="0"/>
              <a:cs typeface="DejaVu Sans" charset="0"/>
            </a:endParaRPr>
          </a:p>
        </p:txBody>
      </p:sp>
      <p:sp>
        <p:nvSpPr>
          <p:cNvPr id="10240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6591946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342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342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09CF0C9-77D5-45C7-B137-5BF25CC56372}" type="slidenum">
              <a:rPr lang="de-DE">
                <a:solidFill>
                  <a:srgbClr val="000000"/>
                </a:solidFill>
                <a:latin typeface="Tele-GroteskNor" pitchFamily="2" charset="0"/>
                <a:ea typeface="DejaVu Sans" charset="0"/>
                <a:cs typeface="DejaVu Sans" charset="0"/>
              </a:rPr>
              <a:pPr eaLnBrk="1" hangingPunct="1"/>
              <a:t>34</a:t>
            </a:fld>
            <a:endParaRPr lang="de-DE">
              <a:solidFill>
                <a:srgbClr val="000000"/>
              </a:solidFill>
              <a:latin typeface="Tele-GroteskNor" pitchFamily="2" charset="0"/>
              <a:ea typeface="DejaVu Sans" charset="0"/>
              <a:cs typeface="DejaVu Sans" charset="0"/>
            </a:endParaRPr>
          </a:p>
        </p:txBody>
      </p:sp>
      <p:sp>
        <p:nvSpPr>
          <p:cNvPr id="10342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3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5812554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445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445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118E3277-773E-4469-8E65-9F09D267A35A}" type="slidenum">
              <a:rPr lang="de-DE">
                <a:solidFill>
                  <a:srgbClr val="000000"/>
                </a:solidFill>
                <a:latin typeface="Tele-GroteskNor" pitchFamily="2" charset="0"/>
                <a:ea typeface="DejaVu Sans" charset="0"/>
                <a:cs typeface="DejaVu Sans" charset="0"/>
              </a:rPr>
              <a:pPr eaLnBrk="1" hangingPunct="1"/>
              <a:t>35</a:t>
            </a:fld>
            <a:endParaRPr lang="de-DE">
              <a:solidFill>
                <a:srgbClr val="000000"/>
              </a:solidFill>
              <a:latin typeface="Tele-GroteskNor" pitchFamily="2" charset="0"/>
              <a:ea typeface="DejaVu Sans" charset="0"/>
              <a:cs typeface="DejaVu Sans" charset="0"/>
            </a:endParaRPr>
          </a:p>
        </p:txBody>
      </p:sp>
      <p:sp>
        <p:nvSpPr>
          <p:cNvPr id="10445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978648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547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547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96E2B607-4E83-4931-8237-BBBE04FE69AE}" type="slidenum">
              <a:rPr lang="de-DE">
                <a:solidFill>
                  <a:srgbClr val="000000"/>
                </a:solidFill>
                <a:latin typeface="Tele-GroteskNor" pitchFamily="2" charset="0"/>
                <a:ea typeface="DejaVu Sans" charset="0"/>
                <a:cs typeface="DejaVu Sans" charset="0"/>
              </a:rPr>
              <a:pPr eaLnBrk="1" hangingPunct="1"/>
              <a:t>36</a:t>
            </a:fld>
            <a:endParaRPr lang="de-DE">
              <a:solidFill>
                <a:srgbClr val="000000"/>
              </a:solidFill>
              <a:latin typeface="Tele-GroteskNor" pitchFamily="2" charset="0"/>
              <a:ea typeface="DejaVu Sans" charset="0"/>
              <a:cs typeface="DejaVu Sans" charset="0"/>
            </a:endParaRPr>
          </a:p>
        </p:txBody>
      </p:sp>
      <p:sp>
        <p:nvSpPr>
          <p:cNvPr id="10547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1241295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649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650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87F0D2D2-C0FE-48AC-972D-C2529A71B52F}" type="slidenum">
              <a:rPr lang="de-DE">
                <a:solidFill>
                  <a:srgbClr val="000000"/>
                </a:solidFill>
                <a:latin typeface="Tele-GroteskNor" pitchFamily="2" charset="0"/>
                <a:ea typeface="DejaVu Sans" charset="0"/>
                <a:cs typeface="DejaVu Sans" charset="0"/>
              </a:rPr>
              <a:pPr eaLnBrk="1" hangingPunct="1"/>
              <a:t>37</a:t>
            </a:fld>
            <a:endParaRPr lang="de-DE">
              <a:solidFill>
                <a:srgbClr val="000000"/>
              </a:solidFill>
              <a:latin typeface="Tele-GroteskNor" pitchFamily="2" charset="0"/>
              <a:ea typeface="DejaVu Sans" charset="0"/>
              <a:cs typeface="DejaVu Sans" charset="0"/>
            </a:endParaRPr>
          </a:p>
        </p:txBody>
      </p:sp>
      <p:sp>
        <p:nvSpPr>
          <p:cNvPr id="10650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3133489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752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752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8C319DC-F771-48C3-9C00-3043BD032BDB}" type="slidenum">
              <a:rPr lang="de-DE">
                <a:solidFill>
                  <a:srgbClr val="000000"/>
                </a:solidFill>
                <a:latin typeface="Tele-GroteskNor" pitchFamily="2" charset="0"/>
                <a:ea typeface="DejaVu Sans" charset="0"/>
                <a:cs typeface="DejaVu Sans" charset="0"/>
              </a:rPr>
              <a:pPr eaLnBrk="1" hangingPunct="1"/>
              <a:t>38</a:t>
            </a:fld>
            <a:endParaRPr lang="de-DE">
              <a:solidFill>
                <a:srgbClr val="000000"/>
              </a:solidFill>
              <a:latin typeface="Tele-GroteskNor" pitchFamily="2" charset="0"/>
              <a:ea typeface="DejaVu Sans" charset="0"/>
              <a:cs typeface="DejaVu Sans" charset="0"/>
            </a:endParaRPr>
          </a:p>
        </p:txBody>
      </p:sp>
      <p:sp>
        <p:nvSpPr>
          <p:cNvPr id="10752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057239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854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854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3E37F3A-D97B-4AB0-9BDF-E672E3A4B31A}" type="slidenum">
              <a:rPr lang="de-DE">
                <a:solidFill>
                  <a:srgbClr val="000000"/>
                </a:solidFill>
                <a:latin typeface="Tele-GroteskNor" pitchFamily="2" charset="0"/>
                <a:ea typeface="DejaVu Sans" charset="0"/>
                <a:cs typeface="DejaVu Sans" charset="0"/>
              </a:rPr>
              <a:pPr eaLnBrk="1" hangingPunct="1"/>
              <a:t>39</a:t>
            </a:fld>
            <a:endParaRPr lang="de-DE">
              <a:solidFill>
                <a:srgbClr val="000000"/>
              </a:solidFill>
              <a:latin typeface="Tele-GroteskNor" pitchFamily="2" charset="0"/>
              <a:ea typeface="DejaVu Sans" charset="0"/>
              <a:cs typeface="DejaVu Sans" charset="0"/>
            </a:endParaRPr>
          </a:p>
        </p:txBody>
      </p:sp>
      <p:sp>
        <p:nvSpPr>
          <p:cNvPr id="10854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5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108551" name="Notes Placeholder 1"/>
          <p:cNvSpPr>
            <a:spLocks noGrp="1"/>
          </p:cNvSpPr>
          <p:nvPr>
            <p:ph type="body" idx="1"/>
          </p:nvPr>
        </p:nvSpPr>
        <p:spPr>
          <a:noFill/>
          <a:extLst>
            <a:ext uri="{91240B29-F687-4F45-9708-019B960494DF}">
              <a14:hiddenLine xmlns:a14="http://schemas.microsoft.com/office/drawing/2010/main" w="9525">
                <a:solidFill>
                  <a:srgbClr val="3465A4"/>
                </a:solidFill>
                <a:round/>
                <a:headEnd/>
                <a:tailEnd/>
              </a14:hiddenLine>
            </a:ext>
          </a:extLst>
        </p:spPr>
        <p:txBody>
          <a:bodyPr/>
          <a:lstStyle/>
          <a:p>
            <a:r>
              <a:rPr lang="en-US" smtClean="0">
                <a:latin typeface="Times New Roman" panose="02020603050405020304" pitchFamily="18" charset="0"/>
              </a:rPr>
              <a:t>Data Manipulation Language</a:t>
            </a:r>
          </a:p>
          <a:p>
            <a:r>
              <a:rPr lang="en-US" smtClean="0">
                <a:latin typeface="Times New Roman" panose="02020603050405020304" pitchFamily="18" charset="0"/>
              </a:rPr>
              <a:t>Data Definition Language</a:t>
            </a:r>
          </a:p>
          <a:p>
            <a:r>
              <a:rPr lang="en-US" smtClean="0">
                <a:latin typeface="Times New Roman" panose="02020603050405020304" pitchFamily="18" charset="0"/>
              </a:rPr>
              <a:t>Data control language</a:t>
            </a:r>
          </a:p>
          <a:p>
            <a:r>
              <a:rPr lang="en-US" smtClean="0">
                <a:latin typeface="Times New Roman" panose="02020603050405020304" pitchFamily="18" charset="0"/>
              </a:rPr>
              <a:t>Transaction Control Language</a:t>
            </a:r>
          </a:p>
        </p:txBody>
      </p:sp>
    </p:spTree>
    <p:extLst>
      <p:ext uri="{BB962C8B-B14F-4D97-AF65-F5344CB8AC3E}">
        <p14:creationId xmlns:p14="http://schemas.microsoft.com/office/powerpoint/2010/main" val="252569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0957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0957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462D3165-3F05-4BB5-9C16-DE4065FCBD1E}" type="slidenum">
              <a:rPr lang="de-DE">
                <a:solidFill>
                  <a:srgbClr val="000000"/>
                </a:solidFill>
                <a:latin typeface="Tele-GroteskNor" pitchFamily="2" charset="0"/>
                <a:ea typeface="DejaVu Sans" charset="0"/>
                <a:cs typeface="DejaVu Sans" charset="0"/>
              </a:rPr>
              <a:pPr eaLnBrk="1" hangingPunct="1"/>
              <a:t>40</a:t>
            </a:fld>
            <a:endParaRPr lang="de-DE">
              <a:solidFill>
                <a:srgbClr val="000000"/>
              </a:solidFill>
              <a:latin typeface="Tele-GroteskNor" pitchFamily="2" charset="0"/>
              <a:ea typeface="DejaVu Sans" charset="0"/>
              <a:cs typeface="DejaVu Sans" charset="0"/>
            </a:endParaRPr>
          </a:p>
        </p:txBody>
      </p:sp>
      <p:sp>
        <p:nvSpPr>
          <p:cNvPr id="10957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8326176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059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059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25B43F2D-EB1F-4F15-9B84-99038FD6462E}" type="slidenum">
              <a:rPr lang="de-DE">
                <a:solidFill>
                  <a:srgbClr val="000000"/>
                </a:solidFill>
                <a:latin typeface="Tele-GroteskNor" pitchFamily="2" charset="0"/>
                <a:ea typeface="DejaVu Sans" charset="0"/>
                <a:cs typeface="DejaVu Sans" charset="0"/>
              </a:rPr>
              <a:pPr eaLnBrk="1" hangingPunct="1"/>
              <a:t>41</a:t>
            </a:fld>
            <a:endParaRPr lang="de-DE">
              <a:solidFill>
                <a:srgbClr val="000000"/>
              </a:solidFill>
              <a:latin typeface="Tele-GroteskNor" pitchFamily="2" charset="0"/>
              <a:ea typeface="DejaVu Sans" charset="0"/>
              <a:cs typeface="DejaVu Sans" charset="0"/>
            </a:endParaRPr>
          </a:p>
        </p:txBody>
      </p:sp>
      <p:sp>
        <p:nvSpPr>
          <p:cNvPr id="11059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
        <p:nvSpPr>
          <p:cNvPr id="110599" name="Notes Placeholder 1"/>
          <p:cNvSpPr>
            <a:spLocks noGrp="1"/>
          </p:cNvSpPr>
          <p:nvPr>
            <p:ph type="body" idx="1"/>
          </p:nvPr>
        </p:nvSpPr>
        <p:spPr>
          <a:noFill/>
          <a:extLst>
            <a:ext uri="{91240B29-F687-4F45-9708-019B960494DF}">
              <a14:hiddenLine xmlns:a14="http://schemas.microsoft.com/office/drawing/2010/main" w="9525">
                <a:solidFill>
                  <a:srgbClr val="3465A4"/>
                </a:solidFill>
                <a:round/>
                <a:headEnd/>
                <a:tailEnd/>
              </a14:hiddenLine>
            </a:ext>
          </a:extLst>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8039472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161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162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DCBE8F66-FCDC-4AC3-BB49-17CB555BB3DC}" type="slidenum">
              <a:rPr lang="de-DE">
                <a:solidFill>
                  <a:srgbClr val="000000"/>
                </a:solidFill>
                <a:latin typeface="Tele-GroteskNor" pitchFamily="2" charset="0"/>
                <a:ea typeface="DejaVu Sans" charset="0"/>
                <a:cs typeface="DejaVu Sans" charset="0"/>
              </a:rPr>
              <a:pPr eaLnBrk="1" hangingPunct="1"/>
              <a:t>42</a:t>
            </a:fld>
            <a:endParaRPr lang="de-DE">
              <a:solidFill>
                <a:srgbClr val="000000"/>
              </a:solidFill>
              <a:latin typeface="Tele-GroteskNor" pitchFamily="2" charset="0"/>
              <a:ea typeface="DejaVu Sans" charset="0"/>
              <a:cs typeface="DejaVu Sans" charset="0"/>
            </a:endParaRPr>
          </a:p>
        </p:txBody>
      </p:sp>
      <p:sp>
        <p:nvSpPr>
          <p:cNvPr id="11162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2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505166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264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264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E1675CB7-DCC1-4682-A4D6-F75A95BB97C5}" type="slidenum">
              <a:rPr lang="de-DE">
                <a:solidFill>
                  <a:srgbClr val="000000"/>
                </a:solidFill>
                <a:latin typeface="Tele-GroteskNor" pitchFamily="2" charset="0"/>
                <a:ea typeface="DejaVu Sans" charset="0"/>
                <a:cs typeface="DejaVu Sans" charset="0"/>
              </a:rPr>
              <a:pPr eaLnBrk="1" hangingPunct="1"/>
              <a:t>43</a:t>
            </a:fld>
            <a:endParaRPr lang="de-DE">
              <a:solidFill>
                <a:srgbClr val="000000"/>
              </a:solidFill>
              <a:latin typeface="Tele-GroteskNor" pitchFamily="2" charset="0"/>
              <a:ea typeface="DejaVu Sans" charset="0"/>
              <a:cs typeface="DejaVu Sans" charset="0"/>
            </a:endParaRPr>
          </a:p>
        </p:txBody>
      </p:sp>
      <p:sp>
        <p:nvSpPr>
          <p:cNvPr id="11264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6155816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366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366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A9896D1A-AD57-4943-9AFC-1B52566D304F}" type="slidenum">
              <a:rPr lang="de-DE">
                <a:solidFill>
                  <a:srgbClr val="000000"/>
                </a:solidFill>
                <a:latin typeface="Tele-GroteskNor" pitchFamily="2" charset="0"/>
                <a:ea typeface="DejaVu Sans" charset="0"/>
                <a:cs typeface="DejaVu Sans" charset="0"/>
              </a:rPr>
              <a:pPr eaLnBrk="1" hangingPunct="1"/>
              <a:t>44</a:t>
            </a:fld>
            <a:endParaRPr lang="de-DE">
              <a:solidFill>
                <a:srgbClr val="000000"/>
              </a:solidFill>
              <a:latin typeface="Tele-GroteskNor" pitchFamily="2" charset="0"/>
              <a:ea typeface="DejaVu Sans" charset="0"/>
              <a:cs typeface="DejaVu Sans" charset="0"/>
            </a:endParaRPr>
          </a:p>
        </p:txBody>
      </p:sp>
      <p:sp>
        <p:nvSpPr>
          <p:cNvPr id="11366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7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693253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469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469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19BB95FF-2ADD-401C-99F2-F7370915A242}" type="slidenum">
              <a:rPr lang="de-DE">
                <a:solidFill>
                  <a:srgbClr val="000000"/>
                </a:solidFill>
                <a:latin typeface="Tele-GroteskNor" pitchFamily="2" charset="0"/>
                <a:ea typeface="DejaVu Sans" charset="0"/>
                <a:cs typeface="DejaVu Sans" charset="0"/>
              </a:rPr>
              <a:pPr eaLnBrk="1" hangingPunct="1"/>
              <a:t>45</a:t>
            </a:fld>
            <a:endParaRPr lang="de-DE">
              <a:solidFill>
                <a:srgbClr val="000000"/>
              </a:solidFill>
              <a:latin typeface="Tele-GroteskNor" pitchFamily="2" charset="0"/>
              <a:ea typeface="DejaVu Sans" charset="0"/>
              <a:cs typeface="DejaVu Sans" charset="0"/>
            </a:endParaRPr>
          </a:p>
        </p:txBody>
      </p:sp>
      <p:sp>
        <p:nvSpPr>
          <p:cNvPr id="11469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406111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878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878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2572037D-3561-4DD8-B4F8-D895377BE6C6}" type="slidenum">
              <a:rPr lang="de-DE">
                <a:solidFill>
                  <a:srgbClr val="000000"/>
                </a:solidFill>
                <a:latin typeface="Tele-GroteskNor" pitchFamily="2" charset="0"/>
                <a:ea typeface="DejaVu Sans" charset="0"/>
                <a:cs typeface="DejaVu Sans" charset="0"/>
              </a:rPr>
              <a:pPr eaLnBrk="1" hangingPunct="1"/>
              <a:t>46</a:t>
            </a:fld>
            <a:endParaRPr lang="de-DE">
              <a:solidFill>
                <a:srgbClr val="000000"/>
              </a:solidFill>
              <a:latin typeface="Tele-GroteskNor" pitchFamily="2" charset="0"/>
              <a:ea typeface="DejaVu Sans" charset="0"/>
              <a:cs typeface="DejaVu Sans" charset="0"/>
            </a:endParaRPr>
          </a:p>
        </p:txBody>
      </p:sp>
      <p:sp>
        <p:nvSpPr>
          <p:cNvPr id="11878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9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7994151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1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1981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1981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24D3DFA9-BF02-49A6-B03A-EAAA5A13776C}" type="slidenum">
              <a:rPr lang="de-DE">
                <a:solidFill>
                  <a:srgbClr val="000000"/>
                </a:solidFill>
                <a:latin typeface="Tele-GroteskNor" pitchFamily="2" charset="0"/>
                <a:ea typeface="DejaVu Sans" charset="0"/>
                <a:cs typeface="DejaVu Sans" charset="0"/>
              </a:rPr>
              <a:pPr eaLnBrk="1" hangingPunct="1"/>
              <a:t>47</a:t>
            </a:fld>
            <a:endParaRPr lang="de-DE">
              <a:solidFill>
                <a:srgbClr val="000000"/>
              </a:solidFill>
              <a:latin typeface="Tele-GroteskNor" pitchFamily="2" charset="0"/>
              <a:ea typeface="DejaVu Sans" charset="0"/>
              <a:cs typeface="DejaVu Sans" charset="0"/>
            </a:endParaRPr>
          </a:p>
        </p:txBody>
      </p:sp>
      <p:sp>
        <p:nvSpPr>
          <p:cNvPr id="11981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678507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20835"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2083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858EE129-10F2-4FDA-B542-FADEAC95B745}" type="slidenum">
              <a:rPr lang="de-DE">
                <a:solidFill>
                  <a:srgbClr val="000000"/>
                </a:solidFill>
                <a:latin typeface="Tele-GroteskNor" pitchFamily="2" charset="0"/>
                <a:ea typeface="DejaVu Sans" charset="0"/>
                <a:cs typeface="DejaVu Sans" charset="0"/>
              </a:rPr>
              <a:pPr eaLnBrk="1" hangingPunct="1"/>
              <a:t>48</a:t>
            </a:fld>
            <a:endParaRPr lang="de-DE">
              <a:solidFill>
                <a:srgbClr val="000000"/>
              </a:solidFill>
              <a:latin typeface="Tele-GroteskNor" pitchFamily="2" charset="0"/>
              <a:ea typeface="DejaVu Sans" charset="0"/>
              <a:cs typeface="DejaVu Sans" charset="0"/>
            </a:endParaRPr>
          </a:p>
        </p:txBody>
      </p:sp>
      <p:sp>
        <p:nvSpPr>
          <p:cNvPr id="120837"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8"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36177718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8"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21859"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2186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02C3D409-A0F5-4811-96F9-867AA02408E0}" type="slidenum">
              <a:rPr lang="de-DE">
                <a:solidFill>
                  <a:srgbClr val="000000"/>
                </a:solidFill>
                <a:latin typeface="Tele-GroteskNor" pitchFamily="2" charset="0"/>
                <a:ea typeface="DejaVu Sans" charset="0"/>
                <a:cs typeface="DejaVu Sans" charset="0"/>
              </a:rPr>
              <a:pPr eaLnBrk="1" hangingPunct="1"/>
              <a:t>49</a:t>
            </a:fld>
            <a:endParaRPr lang="de-DE">
              <a:solidFill>
                <a:srgbClr val="000000"/>
              </a:solidFill>
              <a:latin typeface="Tele-GroteskNor" pitchFamily="2" charset="0"/>
              <a:ea typeface="DejaVu Sans" charset="0"/>
              <a:cs typeface="DejaVu Sans" charset="0"/>
            </a:endParaRPr>
          </a:p>
        </p:txBody>
      </p:sp>
      <p:sp>
        <p:nvSpPr>
          <p:cNvPr id="121861"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62"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40226339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2"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22883"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2288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ADA5F4E-9C76-4568-8416-929539704CE8}" type="slidenum">
              <a:rPr lang="de-DE">
                <a:solidFill>
                  <a:srgbClr val="000000"/>
                </a:solidFill>
                <a:latin typeface="Tele-GroteskNor" pitchFamily="2" charset="0"/>
                <a:ea typeface="DejaVu Sans" charset="0"/>
                <a:cs typeface="DejaVu Sans" charset="0"/>
              </a:rPr>
              <a:pPr eaLnBrk="1" hangingPunct="1"/>
              <a:t>50</a:t>
            </a:fld>
            <a:endParaRPr lang="de-DE">
              <a:solidFill>
                <a:srgbClr val="000000"/>
              </a:solidFill>
              <a:latin typeface="Tele-GroteskNor" pitchFamily="2" charset="0"/>
              <a:ea typeface="DejaVu Sans" charset="0"/>
              <a:cs typeface="DejaVu Sans" charset="0"/>
            </a:endParaRPr>
          </a:p>
        </p:txBody>
      </p:sp>
      <p:sp>
        <p:nvSpPr>
          <p:cNvPr id="122885"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6"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0566978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23907"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2390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7A692753-2EF2-436E-9D47-34E814CDB067}" type="slidenum">
              <a:rPr lang="de-DE">
                <a:solidFill>
                  <a:srgbClr val="000000"/>
                </a:solidFill>
                <a:latin typeface="Tele-GroteskNor" pitchFamily="2" charset="0"/>
                <a:ea typeface="DejaVu Sans" charset="0"/>
                <a:cs typeface="DejaVu Sans" charset="0"/>
              </a:rPr>
              <a:pPr eaLnBrk="1" hangingPunct="1"/>
              <a:t>51</a:t>
            </a:fld>
            <a:endParaRPr lang="de-DE">
              <a:solidFill>
                <a:srgbClr val="000000"/>
              </a:solidFill>
              <a:latin typeface="Tele-GroteskNor" pitchFamily="2" charset="0"/>
              <a:ea typeface="DejaVu Sans" charset="0"/>
              <a:cs typeface="DejaVu Sans" charset="0"/>
            </a:endParaRPr>
          </a:p>
        </p:txBody>
      </p:sp>
      <p:sp>
        <p:nvSpPr>
          <p:cNvPr id="123909"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3910"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15977060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4"/>
          <p:cNvSpPr>
            <a:spLocks noGrp="1" noChangeArrowheads="1"/>
          </p:cNvSpPr>
          <p:nvPr>
            <p:ph type="dt"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01.10.2012</a:t>
            </a:r>
          </a:p>
        </p:txBody>
      </p:sp>
      <p:sp>
        <p:nvSpPr>
          <p:cNvPr id="124931" name="Rectangle 5"/>
          <p:cNvSpPr>
            <a:spLocks noGrp="1" noChangeArrowheads="1"/>
          </p:cNvSpPr>
          <p:nvPr>
            <p:ph type="ftr"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 pos="881063" algn="l"/>
                <a:tab pos="1322388" algn="l"/>
                <a:tab pos="1763713" algn="l"/>
                <a:tab pos="2205038" algn="l"/>
                <a:tab pos="2646363" algn="l"/>
                <a:tab pos="3087688" algn="l"/>
                <a:tab pos="3527425" algn="l"/>
                <a:tab pos="3968750" algn="l"/>
                <a:tab pos="4410075" algn="l"/>
              </a:tabLst>
              <a:defRPr>
                <a:solidFill>
                  <a:schemeClr val="bg1"/>
                </a:solidFill>
                <a:latin typeface="Tele-GroteskFet" pitchFamily="2" charset="0"/>
                <a:ea typeface="WenQuanYi Zen Hei Sharp" charset="0"/>
                <a:cs typeface="WenQuanYi Zen Hei Sharp" charset="0"/>
              </a:defRPr>
            </a:lvl9pPr>
          </a:lstStyle>
          <a:p>
            <a:pPr eaLnBrk="1" hangingPunct="1"/>
            <a:r>
              <a:rPr lang="de-DE" smtClean="0">
                <a:solidFill>
                  <a:srgbClr val="000000"/>
                </a:solidFill>
                <a:latin typeface="Tele-GroteskNor" pitchFamily="2" charset="0"/>
                <a:ea typeface="DejaVu Sans" charset="0"/>
                <a:cs typeface="DejaVu Sans" charset="0"/>
              </a:rPr>
              <a:t>– streng vertraulich, vertraulich, intern, öffentlich – Autor / Thema der Präsentation</a:t>
            </a:r>
          </a:p>
        </p:txBody>
      </p:sp>
      <p:sp>
        <p:nvSpPr>
          <p:cNvPr id="12493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39738" algn="l"/>
              </a:tabLst>
              <a:defRPr>
                <a:solidFill>
                  <a:schemeClr val="bg1"/>
                </a:solidFill>
                <a:latin typeface="Tele-GroteskFet" pitchFamily="2" charset="0"/>
                <a:ea typeface="WenQuanYi Zen Hei Sharp" charset="0"/>
                <a:cs typeface="WenQuanYi Zen Hei Sharp" charset="0"/>
              </a:defRPr>
            </a:lvl1pPr>
            <a:lvl2pPr eaLnBrk="0" hangingPunct="0">
              <a:tabLst>
                <a:tab pos="439738" algn="l"/>
              </a:tabLst>
              <a:defRPr>
                <a:solidFill>
                  <a:schemeClr val="bg1"/>
                </a:solidFill>
                <a:latin typeface="Tele-GroteskFet" pitchFamily="2" charset="0"/>
                <a:ea typeface="WenQuanYi Zen Hei Sharp" charset="0"/>
                <a:cs typeface="WenQuanYi Zen Hei Sharp" charset="0"/>
              </a:defRPr>
            </a:lvl2pPr>
            <a:lvl3pPr eaLnBrk="0" hangingPunct="0">
              <a:tabLst>
                <a:tab pos="439738" algn="l"/>
              </a:tabLst>
              <a:defRPr>
                <a:solidFill>
                  <a:schemeClr val="bg1"/>
                </a:solidFill>
                <a:latin typeface="Tele-GroteskFet" pitchFamily="2" charset="0"/>
                <a:ea typeface="WenQuanYi Zen Hei Sharp" charset="0"/>
                <a:cs typeface="WenQuanYi Zen Hei Sharp" charset="0"/>
              </a:defRPr>
            </a:lvl3pPr>
            <a:lvl4pPr eaLnBrk="0" hangingPunct="0">
              <a:tabLst>
                <a:tab pos="439738" algn="l"/>
              </a:tabLst>
              <a:defRPr>
                <a:solidFill>
                  <a:schemeClr val="bg1"/>
                </a:solidFill>
                <a:latin typeface="Tele-GroteskFet" pitchFamily="2" charset="0"/>
                <a:ea typeface="WenQuanYi Zen Hei Sharp" charset="0"/>
                <a:cs typeface="WenQuanYi Zen Hei Sharp" charset="0"/>
              </a:defRPr>
            </a:lvl4pPr>
            <a:lvl5pPr eaLnBrk="0" hangingPunct="0">
              <a:tabLst>
                <a:tab pos="439738"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439738" algn="l"/>
              </a:tabLst>
              <a:defRPr>
                <a:solidFill>
                  <a:schemeClr val="bg1"/>
                </a:solidFill>
                <a:latin typeface="Tele-GroteskFet" pitchFamily="2" charset="0"/>
                <a:ea typeface="WenQuanYi Zen Hei Sharp" charset="0"/>
                <a:cs typeface="WenQuanYi Zen Hei Sharp" charset="0"/>
              </a:defRPr>
            </a:lvl9pPr>
          </a:lstStyle>
          <a:p>
            <a:pPr eaLnBrk="1" hangingPunct="1"/>
            <a:fld id="{3133B2D5-C30A-4CFF-BB9E-855EAAEBBAA9}" type="slidenum">
              <a:rPr lang="de-DE">
                <a:solidFill>
                  <a:srgbClr val="000000"/>
                </a:solidFill>
                <a:latin typeface="Tele-GroteskNor" pitchFamily="2" charset="0"/>
                <a:ea typeface="DejaVu Sans" charset="0"/>
                <a:cs typeface="DejaVu Sans" charset="0"/>
              </a:rPr>
              <a:pPr eaLnBrk="1" hangingPunct="1"/>
              <a:t>52</a:t>
            </a:fld>
            <a:endParaRPr lang="de-DE">
              <a:solidFill>
                <a:srgbClr val="000000"/>
              </a:solidFill>
              <a:latin typeface="Tele-GroteskNor" pitchFamily="2" charset="0"/>
              <a:ea typeface="DejaVu Sans" charset="0"/>
              <a:cs typeface="DejaVu Sans" charset="0"/>
            </a:endParaRPr>
          </a:p>
        </p:txBody>
      </p:sp>
      <p:sp>
        <p:nvSpPr>
          <p:cNvPr id="124933" name="Rectangle 1"/>
          <p:cNvSpPr>
            <a:spLocks noGrp="1" noRot="1" noChangeAspect="1" noChangeArrowheads="1" noTextEdit="1"/>
          </p:cNvSpPr>
          <p:nvPr>
            <p:ph type="sldImg"/>
          </p:nvPr>
        </p:nvSpPr>
        <p:spPr>
          <a:xfrm>
            <a:off x="419100" y="982663"/>
            <a:ext cx="5930900" cy="44481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4" name="Text Box 2"/>
          <p:cNvSpPr txBox="1">
            <a:spLocks noChangeArrowheads="1"/>
          </p:cNvSpPr>
          <p:nvPr/>
        </p:nvSpPr>
        <p:spPr bwMode="auto">
          <a:xfrm>
            <a:off x="461963" y="5592763"/>
            <a:ext cx="5867400" cy="363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8221" tIns="44111" rIns="88221" bIns="44111" anchor="ctr"/>
          <a:lstStyle/>
          <a:p>
            <a:endParaRPr lang="en-US"/>
          </a:p>
        </p:txBody>
      </p:sp>
    </p:spTree>
    <p:extLst>
      <p:ext uri="{BB962C8B-B14F-4D97-AF65-F5344CB8AC3E}">
        <p14:creationId xmlns:p14="http://schemas.microsoft.com/office/powerpoint/2010/main" val="2208376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864103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2200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0218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773238"/>
            <a:ext cx="4170363"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1773238"/>
            <a:ext cx="4171950"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883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89748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8992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735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6491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14165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75025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333375"/>
            <a:ext cx="2122488" cy="572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33375"/>
            <a:ext cx="6219825" cy="57229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75842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868762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34865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41096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773238"/>
            <a:ext cx="4170363"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1773238"/>
            <a:ext cx="4171950"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15986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18547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827057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297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305435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99901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2227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333375"/>
            <a:ext cx="2122488" cy="572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33375"/>
            <a:ext cx="6219825" cy="57229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70556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7"/>
          <p:cNvSpPr>
            <a:spLocks noGrp="1" noChangeArrowheads="1"/>
          </p:cNvSpPr>
          <p:nvPr>
            <p:ph type="dt" idx="10"/>
          </p:nvPr>
        </p:nvSpPr>
        <p:spPr>
          <a:ln/>
        </p:spPr>
        <p:txBody>
          <a:bodyPr/>
          <a:lstStyle>
            <a:lvl1pPr>
              <a:defRPr/>
            </a:lvl1pPr>
          </a:lstStyle>
          <a:p>
            <a:pPr>
              <a:defRPr/>
            </a:pPr>
            <a:fld id="{AAB269B7-20F2-46C6-8407-B9F575B58FA5}"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6B3AB6D0-755C-41A9-8D38-6D1C6ED43211}" type="slidenum">
              <a:rPr lang="en-US"/>
              <a:pPr/>
              <a:t>‹#›</a:t>
            </a:fld>
            <a:endParaRPr lang="en-US"/>
          </a:p>
        </p:txBody>
      </p:sp>
    </p:spTree>
    <p:extLst>
      <p:ext uri="{BB962C8B-B14F-4D97-AF65-F5344CB8AC3E}">
        <p14:creationId xmlns:p14="http://schemas.microsoft.com/office/powerpoint/2010/main" val="22838314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CED66A75-AD22-45CA-A12D-09A5FF67FFCC}"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49FDC6E6-D4A9-45B9-8C24-8D389C18CB5E}" type="slidenum">
              <a:rPr lang="en-US"/>
              <a:pPr/>
              <a:t>‹#›</a:t>
            </a:fld>
            <a:endParaRPr lang="en-US"/>
          </a:p>
        </p:txBody>
      </p:sp>
    </p:spTree>
    <p:extLst>
      <p:ext uri="{BB962C8B-B14F-4D97-AF65-F5344CB8AC3E}">
        <p14:creationId xmlns:p14="http://schemas.microsoft.com/office/powerpoint/2010/main" val="16486167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7"/>
          <p:cNvSpPr>
            <a:spLocks noGrp="1" noChangeArrowheads="1"/>
          </p:cNvSpPr>
          <p:nvPr>
            <p:ph type="dt" idx="10"/>
          </p:nvPr>
        </p:nvSpPr>
        <p:spPr>
          <a:ln/>
        </p:spPr>
        <p:txBody>
          <a:bodyPr/>
          <a:lstStyle>
            <a:lvl1pPr>
              <a:defRPr/>
            </a:lvl1pPr>
          </a:lstStyle>
          <a:p>
            <a:pPr>
              <a:defRPr/>
            </a:pPr>
            <a:fld id="{098C723E-F271-478A-BCE2-1676FAF25D74}"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76FF0519-0A71-45BD-A9C6-C2840A2720B2}" type="slidenum">
              <a:rPr lang="en-US"/>
              <a:pPr/>
              <a:t>‹#›</a:t>
            </a:fld>
            <a:endParaRPr lang="en-US"/>
          </a:p>
        </p:txBody>
      </p:sp>
    </p:spTree>
    <p:extLst>
      <p:ext uri="{BB962C8B-B14F-4D97-AF65-F5344CB8AC3E}">
        <p14:creationId xmlns:p14="http://schemas.microsoft.com/office/powerpoint/2010/main" val="39450796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773238"/>
            <a:ext cx="4170363"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1773238"/>
            <a:ext cx="4171950"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dt" idx="10"/>
          </p:nvPr>
        </p:nvSpPr>
        <p:spPr>
          <a:ln/>
        </p:spPr>
        <p:txBody>
          <a:bodyPr/>
          <a:lstStyle>
            <a:lvl1pPr>
              <a:defRPr/>
            </a:lvl1pPr>
          </a:lstStyle>
          <a:p>
            <a:pPr>
              <a:defRPr/>
            </a:pPr>
            <a:fld id="{03478ABA-DD99-44C8-89B8-D57F73CD8A2A}"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17D33539-47E3-49DC-9F37-0026AEE26369}" type="slidenum">
              <a:rPr lang="en-US"/>
              <a:pPr/>
              <a:t>‹#›</a:t>
            </a:fld>
            <a:endParaRPr lang="en-US"/>
          </a:p>
        </p:txBody>
      </p:sp>
    </p:spTree>
    <p:extLst>
      <p:ext uri="{BB962C8B-B14F-4D97-AF65-F5344CB8AC3E}">
        <p14:creationId xmlns:p14="http://schemas.microsoft.com/office/powerpoint/2010/main" val="1812750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7"/>
          <p:cNvSpPr>
            <a:spLocks noGrp="1" noChangeArrowheads="1"/>
          </p:cNvSpPr>
          <p:nvPr>
            <p:ph type="dt" idx="10"/>
          </p:nvPr>
        </p:nvSpPr>
        <p:spPr>
          <a:ln/>
        </p:spPr>
        <p:txBody>
          <a:bodyPr/>
          <a:lstStyle>
            <a:lvl1pPr>
              <a:defRPr/>
            </a:lvl1pPr>
          </a:lstStyle>
          <a:p>
            <a:pPr>
              <a:defRPr/>
            </a:pPr>
            <a:fld id="{AD7B067B-590E-4AF9-9497-70481C20F91D}" type="datetime1">
              <a:rPr lang="en-US"/>
              <a:pPr>
                <a:defRPr/>
              </a:pPr>
              <a:t>3/12/2019</a:t>
            </a:fld>
            <a:endParaRPr lang="en-US"/>
          </a:p>
        </p:txBody>
      </p:sp>
      <p:sp>
        <p:nvSpPr>
          <p:cNvPr id="8"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9" name="Rectangle 9"/>
          <p:cNvSpPr>
            <a:spLocks noGrp="1" noChangeArrowheads="1"/>
          </p:cNvSpPr>
          <p:nvPr>
            <p:ph type="sldNum" idx="12"/>
          </p:nvPr>
        </p:nvSpPr>
        <p:spPr>
          <a:ln/>
        </p:spPr>
        <p:txBody>
          <a:bodyPr/>
          <a:lstStyle>
            <a:lvl1pPr>
              <a:defRPr/>
            </a:lvl1pPr>
          </a:lstStyle>
          <a:p>
            <a:fld id="{3C8ED921-9E9E-490B-8AFD-E1FE9A76F2DD}" type="slidenum">
              <a:rPr lang="en-US"/>
              <a:pPr/>
              <a:t>‹#›</a:t>
            </a:fld>
            <a:endParaRPr lang="en-US"/>
          </a:p>
        </p:txBody>
      </p:sp>
    </p:spTree>
    <p:extLst>
      <p:ext uri="{BB962C8B-B14F-4D97-AF65-F5344CB8AC3E}">
        <p14:creationId xmlns:p14="http://schemas.microsoft.com/office/powerpoint/2010/main" val="35921769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7"/>
          <p:cNvSpPr>
            <a:spLocks noGrp="1" noChangeArrowheads="1"/>
          </p:cNvSpPr>
          <p:nvPr>
            <p:ph type="dt" idx="10"/>
          </p:nvPr>
        </p:nvSpPr>
        <p:spPr>
          <a:ln/>
        </p:spPr>
        <p:txBody>
          <a:bodyPr/>
          <a:lstStyle>
            <a:lvl1pPr>
              <a:defRPr/>
            </a:lvl1pPr>
          </a:lstStyle>
          <a:p>
            <a:pPr>
              <a:defRPr/>
            </a:pPr>
            <a:fld id="{31DC1CEB-4924-40B5-8137-B22B18FCF54D}" type="datetime1">
              <a:rPr lang="en-US"/>
              <a:pPr>
                <a:defRPr/>
              </a:pPr>
              <a:t>3/12/2019</a:t>
            </a:fld>
            <a:endParaRPr lang="en-US"/>
          </a:p>
        </p:txBody>
      </p:sp>
      <p:sp>
        <p:nvSpPr>
          <p:cNvPr id="4"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5" name="Rectangle 9"/>
          <p:cNvSpPr>
            <a:spLocks noGrp="1" noChangeArrowheads="1"/>
          </p:cNvSpPr>
          <p:nvPr>
            <p:ph type="sldNum" idx="12"/>
          </p:nvPr>
        </p:nvSpPr>
        <p:spPr>
          <a:ln/>
        </p:spPr>
        <p:txBody>
          <a:bodyPr/>
          <a:lstStyle>
            <a:lvl1pPr>
              <a:defRPr/>
            </a:lvl1pPr>
          </a:lstStyle>
          <a:p>
            <a:fld id="{7C0CE516-4D07-40A6-86A9-250045869AC1}" type="slidenum">
              <a:rPr lang="en-US"/>
              <a:pPr/>
              <a:t>‹#›</a:t>
            </a:fld>
            <a:endParaRPr lang="en-US"/>
          </a:p>
        </p:txBody>
      </p:sp>
    </p:spTree>
    <p:extLst>
      <p:ext uri="{BB962C8B-B14F-4D97-AF65-F5344CB8AC3E}">
        <p14:creationId xmlns:p14="http://schemas.microsoft.com/office/powerpoint/2010/main" val="39839453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fld id="{606108C8-31BE-48AA-825F-B2A2A53747B4}" type="datetime1">
              <a:rPr lang="en-US"/>
              <a:pPr>
                <a:defRPr/>
              </a:pPr>
              <a:t>3/12/2019</a:t>
            </a:fld>
            <a:endParaRPr lang="en-US"/>
          </a:p>
        </p:txBody>
      </p:sp>
      <p:sp>
        <p:nvSpPr>
          <p:cNvPr id="3"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4" name="Rectangle 9"/>
          <p:cNvSpPr>
            <a:spLocks noGrp="1" noChangeArrowheads="1"/>
          </p:cNvSpPr>
          <p:nvPr>
            <p:ph type="sldNum" idx="12"/>
          </p:nvPr>
        </p:nvSpPr>
        <p:spPr>
          <a:ln/>
        </p:spPr>
        <p:txBody>
          <a:bodyPr/>
          <a:lstStyle>
            <a:lvl1pPr>
              <a:defRPr/>
            </a:lvl1pPr>
          </a:lstStyle>
          <a:p>
            <a:fld id="{1245C19C-92EC-47E0-B704-29D2A70C01CA}" type="slidenum">
              <a:rPr lang="en-US"/>
              <a:pPr/>
              <a:t>‹#›</a:t>
            </a:fld>
            <a:endParaRPr lang="en-US"/>
          </a:p>
        </p:txBody>
      </p:sp>
    </p:spTree>
    <p:extLst>
      <p:ext uri="{BB962C8B-B14F-4D97-AF65-F5344CB8AC3E}">
        <p14:creationId xmlns:p14="http://schemas.microsoft.com/office/powerpoint/2010/main" val="657839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F81A80DD-976B-4592-B2B5-65A6DD0AF846}"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252A077B-4D3A-4662-8061-1592C1838649}" type="slidenum">
              <a:rPr lang="en-US"/>
              <a:pPr/>
              <a:t>‹#›</a:t>
            </a:fld>
            <a:endParaRPr lang="en-US"/>
          </a:p>
        </p:txBody>
      </p:sp>
    </p:spTree>
    <p:extLst>
      <p:ext uri="{BB962C8B-B14F-4D97-AF65-F5344CB8AC3E}">
        <p14:creationId xmlns:p14="http://schemas.microsoft.com/office/powerpoint/2010/main" val="21068911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1C0E0F5C-090B-44F1-B240-300DF843AEF6}"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E7365D33-B0A7-43D1-8DC5-4ED8C64F0DC7}" type="slidenum">
              <a:rPr lang="en-US"/>
              <a:pPr/>
              <a:t>‹#›</a:t>
            </a:fld>
            <a:endParaRPr lang="en-US"/>
          </a:p>
        </p:txBody>
      </p:sp>
    </p:spTree>
    <p:extLst>
      <p:ext uri="{BB962C8B-B14F-4D97-AF65-F5344CB8AC3E}">
        <p14:creationId xmlns:p14="http://schemas.microsoft.com/office/powerpoint/2010/main" val="4268829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66815DC5-23FF-4241-B9E5-EC03A6BE1F67}"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C15F2605-42EA-4B8D-A748-774F8BC15821}" type="slidenum">
              <a:rPr lang="en-US"/>
              <a:pPr/>
              <a:t>‹#›</a:t>
            </a:fld>
            <a:endParaRPr lang="en-US"/>
          </a:p>
        </p:txBody>
      </p:sp>
    </p:spTree>
    <p:extLst>
      <p:ext uri="{BB962C8B-B14F-4D97-AF65-F5344CB8AC3E}">
        <p14:creationId xmlns:p14="http://schemas.microsoft.com/office/powerpoint/2010/main" val="30979492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333375"/>
            <a:ext cx="2122488" cy="572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33375"/>
            <a:ext cx="6219825" cy="57229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F9CFFB97-5114-4E73-B283-852723FEE603}"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626F7090-45AC-4B40-B48E-ED3FCF7CA415}" type="slidenum">
              <a:rPr lang="en-US"/>
              <a:pPr/>
              <a:t>‹#›</a:t>
            </a:fld>
            <a:endParaRPr lang="en-US"/>
          </a:p>
        </p:txBody>
      </p:sp>
    </p:spTree>
    <p:extLst>
      <p:ext uri="{BB962C8B-B14F-4D97-AF65-F5344CB8AC3E}">
        <p14:creationId xmlns:p14="http://schemas.microsoft.com/office/powerpoint/2010/main" val="11678278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7"/>
          <p:cNvSpPr>
            <a:spLocks noGrp="1" noChangeArrowheads="1"/>
          </p:cNvSpPr>
          <p:nvPr>
            <p:ph type="dt" idx="10"/>
          </p:nvPr>
        </p:nvSpPr>
        <p:spPr>
          <a:ln/>
        </p:spPr>
        <p:txBody>
          <a:bodyPr/>
          <a:lstStyle>
            <a:lvl1pPr>
              <a:defRPr/>
            </a:lvl1pPr>
          </a:lstStyle>
          <a:p>
            <a:pPr>
              <a:defRPr/>
            </a:pPr>
            <a:fld id="{F6DE9046-B35F-46FB-8AB7-8F2FF3785DE9}"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45F6866A-7D95-4B46-9E86-FF1C33471EDE}" type="slidenum">
              <a:rPr lang="en-US"/>
              <a:pPr/>
              <a:t>‹#›</a:t>
            </a:fld>
            <a:endParaRPr lang="en-US"/>
          </a:p>
        </p:txBody>
      </p:sp>
    </p:spTree>
    <p:extLst>
      <p:ext uri="{BB962C8B-B14F-4D97-AF65-F5344CB8AC3E}">
        <p14:creationId xmlns:p14="http://schemas.microsoft.com/office/powerpoint/2010/main" val="15848901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6DE8E083-D012-44B9-A3C8-FCD2637DD9ED}"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296CE81F-B433-4A1D-BB53-D0A6AA7D0184}" type="slidenum">
              <a:rPr lang="en-US"/>
              <a:pPr/>
              <a:t>‹#›</a:t>
            </a:fld>
            <a:endParaRPr lang="en-US"/>
          </a:p>
        </p:txBody>
      </p:sp>
    </p:spTree>
    <p:extLst>
      <p:ext uri="{BB962C8B-B14F-4D97-AF65-F5344CB8AC3E}">
        <p14:creationId xmlns:p14="http://schemas.microsoft.com/office/powerpoint/2010/main" val="9537177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7"/>
          <p:cNvSpPr>
            <a:spLocks noGrp="1" noChangeArrowheads="1"/>
          </p:cNvSpPr>
          <p:nvPr>
            <p:ph type="dt" idx="10"/>
          </p:nvPr>
        </p:nvSpPr>
        <p:spPr>
          <a:ln/>
        </p:spPr>
        <p:txBody>
          <a:bodyPr/>
          <a:lstStyle>
            <a:lvl1pPr>
              <a:defRPr/>
            </a:lvl1pPr>
          </a:lstStyle>
          <a:p>
            <a:pPr>
              <a:defRPr/>
            </a:pPr>
            <a:fld id="{1210EC62-8410-4613-9138-A5A0704282ED}"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B3847425-C35D-43FE-9601-C34726B75598}" type="slidenum">
              <a:rPr lang="en-US"/>
              <a:pPr/>
              <a:t>‹#›</a:t>
            </a:fld>
            <a:endParaRPr lang="en-US"/>
          </a:p>
        </p:txBody>
      </p:sp>
    </p:spTree>
    <p:extLst>
      <p:ext uri="{BB962C8B-B14F-4D97-AF65-F5344CB8AC3E}">
        <p14:creationId xmlns:p14="http://schemas.microsoft.com/office/powerpoint/2010/main" val="33831332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773238"/>
            <a:ext cx="4170363"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1773238"/>
            <a:ext cx="4171950"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dt" idx="10"/>
          </p:nvPr>
        </p:nvSpPr>
        <p:spPr>
          <a:ln/>
        </p:spPr>
        <p:txBody>
          <a:bodyPr/>
          <a:lstStyle>
            <a:lvl1pPr>
              <a:defRPr/>
            </a:lvl1pPr>
          </a:lstStyle>
          <a:p>
            <a:pPr>
              <a:defRPr/>
            </a:pPr>
            <a:fld id="{2BEEE79C-9B24-49B6-B9AB-C773314A1333}"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748D1A07-1F9B-48F2-BF60-9BA1B5C46389}" type="slidenum">
              <a:rPr lang="en-US"/>
              <a:pPr/>
              <a:t>‹#›</a:t>
            </a:fld>
            <a:endParaRPr lang="en-US"/>
          </a:p>
        </p:txBody>
      </p:sp>
    </p:spTree>
    <p:extLst>
      <p:ext uri="{BB962C8B-B14F-4D97-AF65-F5344CB8AC3E}">
        <p14:creationId xmlns:p14="http://schemas.microsoft.com/office/powerpoint/2010/main" val="36916093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7"/>
          <p:cNvSpPr>
            <a:spLocks noGrp="1" noChangeArrowheads="1"/>
          </p:cNvSpPr>
          <p:nvPr>
            <p:ph type="dt" idx="10"/>
          </p:nvPr>
        </p:nvSpPr>
        <p:spPr>
          <a:ln/>
        </p:spPr>
        <p:txBody>
          <a:bodyPr/>
          <a:lstStyle>
            <a:lvl1pPr>
              <a:defRPr/>
            </a:lvl1pPr>
          </a:lstStyle>
          <a:p>
            <a:pPr>
              <a:defRPr/>
            </a:pPr>
            <a:fld id="{F8A70689-37C2-4647-85ED-109E99B997C4}" type="datetime1">
              <a:rPr lang="en-US"/>
              <a:pPr>
                <a:defRPr/>
              </a:pPr>
              <a:t>3/12/2019</a:t>
            </a:fld>
            <a:endParaRPr lang="en-US"/>
          </a:p>
        </p:txBody>
      </p:sp>
      <p:sp>
        <p:nvSpPr>
          <p:cNvPr id="8"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9" name="Rectangle 9"/>
          <p:cNvSpPr>
            <a:spLocks noGrp="1" noChangeArrowheads="1"/>
          </p:cNvSpPr>
          <p:nvPr>
            <p:ph type="sldNum" idx="12"/>
          </p:nvPr>
        </p:nvSpPr>
        <p:spPr>
          <a:ln/>
        </p:spPr>
        <p:txBody>
          <a:bodyPr/>
          <a:lstStyle>
            <a:lvl1pPr>
              <a:defRPr/>
            </a:lvl1pPr>
          </a:lstStyle>
          <a:p>
            <a:fld id="{390CF211-543F-42DC-BF9F-5BBB93424416}" type="slidenum">
              <a:rPr lang="en-US"/>
              <a:pPr/>
              <a:t>‹#›</a:t>
            </a:fld>
            <a:endParaRPr lang="en-US"/>
          </a:p>
        </p:txBody>
      </p:sp>
    </p:spTree>
    <p:extLst>
      <p:ext uri="{BB962C8B-B14F-4D97-AF65-F5344CB8AC3E}">
        <p14:creationId xmlns:p14="http://schemas.microsoft.com/office/powerpoint/2010/main" val="6886909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7"/>
          <p:cNvSpPr>
            <a:spLocks noGrp="1" noChangeArrowheads="1"/>
          </p:cNvSpPr>
          <p:nvPr>
            <p:ph type="dt" idx="10"/>
          </p:nvPr>
        </p:nvSpPr>
        <p:spPr>
          <a:ln/>
        </p:spPr>
        <p:txBody>
          <a:bodyPr/>
          <a:lstStyle>
            <a:lvl1pPr>
              <a:defRPr/>
            </a:lvl1pPr>
          </a:lstStyle>
          <a:p>
            <a:pPr>
              <a:defRPr/>
            </a:pPr>
            <a:fld id="{616CF081-823A-40D2-AC19-9844F2D37F15}" type="datetime1">
              <a:rPr lang="en-US"/>
              <a:pPr>
                <a:defRPr/>
              </a:pPr>
              <a:t>3/12/2019</a:t>
            </a:fld>
            <a:endParaRPr lang="en-US"/>
          </a:p>
        </p:txBody>
      </p:sp>
      <p:sp>
        <p:nvSpPr>
          <p:cNvPr id="4"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5" name="Rectangle 9"/>
          <p:cNvSpPr>
            <a:spLocks noGrp="1" noChangeArrowheads="1"/>
          </p:cNvSpPr>
          <p:nvPr>
            <p:ph type="sldNum" idx="12"/>
          </p:nvPr>
        </p:nvSpPr>
        <p:spPr>
          <a:ln/>
        </p:spPr>
        <p:txBody>
          <a:bodyPr/>
          <a:lstStyle>
            <a:lvl1pPr>
              <a:defRPr/>
            </a:lvl1pPr>
          </a:lstStyle>
          <a:p>
            <a:fld id="{337E9545-9463-4788-963C-A8159337167D}" type="slidenum">
              <a:rPr lang="en-US"/>
              <a:pPr/>
              <a:t>‹#›</a:t>
            </a:fld>
            <a:endParaRPr lang="en-US"/>
          </a:p>
        </p:txBody>
      </p:sp>
    </p:spTree>
    <p:extLst>
      <p:ext uri="{BB962C8B-B14F-4D97-AF65-F5344CB8AC3E}">
        <p14:creationId xmlns:p14="http://schemas.microsoft.com/office/powerpoint/2010/main" val="3022902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fld id="{EC4EA692-80EE-4818-941B-808F25108C34}" type="datetime1">
              <a:rPr lang="en-US"/>
              <a:pPr>
                <a:defRPr/>
              </a:pPr>
              <a:t>3/12/2019</a:t>
            </a:fld>
            <a:endParaRPr lang="en-US"/>
          </a:p>
        </p:txBody>
      </p:sp>
      <p:sp>
        <p:nvSpPr>
          <p:cNvPr id="3"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4" name="Rectangle 9"/>
          <p:cNvSpPr>
            <a:spLocks noGrp="1" noChangeArrowheads="1"/>
          </p:cNvSpPr>
          <p:nvPr>
            <p:ph type="sldNum" idx="12"/>
          </p:nvPr>
        </p:nvSpPr>
        <p:spPr>
          <a:ln/>
        </p:spPr>
        <p:txBody>
          <a:bodyPr/>
          <a:lstStyle>
            <a:lvl1pPr>
              <a:defRPr/>
            </a:lvl1pPr>
          </a:lstStyle>
          <a:p>
            <a:fld id="{1E4E0334-8F47-4C4D-AD31-E65C94A24719}" type="slidenum">
              <a:rPr lang="en-US"/>
              <a:pPr/>
              <a:t>‹#›</a:t>
            </a:fld>
            <a:endParaRPr lang="en-US"/>
          </a:p>
        </p:txBody>
      </p:sp>
    </p:spTree>
    <p:extLst>
      <p:ext uri="{BB962C8B-B14F-4D97-AF65-F5344CB8AC3E}">
        <p14:creationId xmlns:p14="http://schemas.microsoft.com/office/powerpoint/2010/main" val="23462233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AE9E0DAE-0FFC-4EA3-92B7-B6B9D2629829}"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805AB1D4-362B-40F2-946B-B15270209A7E}" type="slidenum">
              <a:rPr lang="en-US"/>
              <a:pPr/>
              <a:t>‹#›</a:t>
            </a:fld>
            <a:endParaRPr lang="en-US"/>
          </a:p>
        </p:txBody>
      </p:sp>
    </p:spTree>
    <p:extLst>
      <p:ext uri="{BB962C8B-B14F-4D97-AF65-F5344CB8AC3E}">
        <p14:creationId xmlns:p14="http://schemas.microsoft.com/office/powerpoint/2010/main" val="14024623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571896E9-484A-485D-B0DE-6A5CA8C1E64E}"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FB0D7CE8-8989-49A0-AC1B-A7C24086128B}" type="slidenum">
              <a:rPr lang="en-US"/>
              <a:pPr/>
              <a:t>‹#›</a:t>
            </a:fld>
            <a:endParaRPr lang="en-US"/>
          </a:p>
        </p:txBody>
      </p:sp>
    </p:spTree>
    <p:extLst>
      <p:ext uri="{BB962C8B-B14F-4D97-AF65-F5344CB8AC3E}">
        <p14:creationId xmlns:p14="http://schemas.microsoft.com/office/powerpoint/2010/main" val="22619159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15BA3CE4-13EC-44BB-96F3-E49CD3C89075}"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326E2C96-4178-4F93-871A-BBDD499BBB9D}" type="slidenum">
              <a:rPr lang="en-US"/>
              <a:pPr/>
              <a:t>‹#›</a:t>
            </a:fld>
            <a:endParaRPr lang="en-US"/>
          </a:p>
        </p:txBody>
      </p:sp>
    </p:spTree>
    <p:extLst>
      <p:ext uri="{BB962C8B-B14F-4D97-AF65-F5344CB8AC3E}">
        <p14:creationId xmlns:p14="http://schemas.microsoft.com/office/powerpoint/2010/main" val="1405190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333375"/>
            <a:ext cx="2122488" cy="572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33375"/>
            <a:ext cx="6219825" cy="57229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4525D0DF-8B7B-482C-8F0E-3415714519FF}"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2A5FC79C-6415-429C-9F0B-3285AD4A340D}" type="slidenum">
              <a:rPr lang="en-US"/>
              <a:pPr/>
              <a:t>‹#›</a:t>
            </a:fld>
            <a:endParaRPr lang="en-US"/>
          </a:p>
        </p:txBody>
      </p:sp>
    </p:spTree>
    <p:extLst>
      <p:ext uri="{BB962C8B-B14F-4D97-AF65-F5344CB8AC3E}">
        <p14:creationId xmlns:p14="http://schemas.microsoft.com/office/powerpoint/2010/main" val="30834083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7"/>
          <p:cNvSpPr>
            <a:spLocks noGrp="1" noChangeArrowheads="1"/>
          </p:cNvSpPr>
          <p:nvPr>
            <p:ph type="dt" idx="10"/>
          </p:nvPr>
        </p:nvSpPr>
        <p:spPr>
          <a:ln/>
        </p:spPr>
        <p:txBody>
          <a:bodyPr/>
          <a:lstStyle>
            <a:lvl1pPr>
              <a:defRPr/>
            </a:lvl1pPr>
          </a:lstStyle>
          <a:p>
            <a:pPr>
              <a:defRPr/>
            </a:pPr>
            <a:fld id="{B1710737-2981-48B5-8A7A-E4568F3E62F4}"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5D83BDD8-75F2-4AD3-8526-52715648E7E2}" type="slidenum">
              <a:rPr lang="en-US"/>
              <a:pPr/>
              <a:t>‹#›</a:t>
            </a:fld>
            <a:endParaRPr lang="en-US"/>
          </a:p>
        </p:txBody>
      </p:sp>
    </p:spTree>
    <p:extLst>
      <p:ext uri="{BB962C8B-B14F-4D97-AF65-F5344CB8AC3E}">
        <p14:creationId xmlns:p14="http://schemas.microsoft.com/office/powerpoint/2010/main" val="3537716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4323B83B-AB17-4586-B173-8065BB404C54}"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9102CEB7-89E7-40C5-A70E-0D58A95E8EB0}" type="slidenum">
              <a:rPr lang="en-US"/>
              <a:pPr/>
              <a:t>‹#›</a:t>
            </a:fld>
            <a:endParaRPr lang="en-US"/>
          </a:p>
        </p:txBody>
      </p:sp>
    </p:spTree>
    <p:extLst>
      <p:ext uri="{BB962C8B-B14F-4D97-AF65-F5344CB8AC3E}">
        <p14:creationId xmlns:p14="http://schemas.microsoft.com/office/powerpoint/2010/main" val="3984033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7"/>
          <p:cNvSpPr>
            <a:spLocks noGrp="1" noChangeArrowheads="1"/>
          </p:cNvSpPr>
          <p:nvPr>
            <p:ph type="dt" idx="10"/>
          </p:nvPr>
        </p:nvSpPr>
        <p:spPr>
          <a:ln/>
        </p:spPr>
        <p:txBody>
          <a:bodyPr/>
          <a:lstStyle>
            <a:lvl1pPr>
              <a:defRPr/>
            </a:lvl1pPr>
          </a:lstStyle>
          <a:p>
            <a:pPr>
              <a:defRPr/>
            </a:pPr>
            <a:fld id="{D336F1C6-36A1-4743-8B4A-552228257761}"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350E77E8-8899-42E4-9A56-C129744C992D}" type="slidenum">
              <a:rPr lang="en-US"/>
              <a:pPr/>
              <a:t>‹#›</a:t>
            </a:fld>
            <a:endParaRPr lang="en-US"/>
          </a:p>
        </p:txBody>
      </p:sp>
    </p:spTree>
    <p:extLst>
      <p:ext uri="{BB962C8B-B14F-4D97-AF65-F5344CB8AC3E}">
        <p14:creationId xmlns:p14="http://schemas.microsoft.com/office/powerpoint/2010/main" val="2454201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773238"/>
            <a:ext cx="4170363"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1773238"/>
            <a:ext cx="4171950"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dt" idx="10"/>
          </p:nvPr>
        </p:nvSpPr>
        <p:spPr>
          <a:ln/>
        </p:spPr>
        <p:txBody>
          <a:bodyPr/>
          <a:lstStyle>
            <a:lvl1pPr>
              <a:defRPr/>
            </a:lvl1pPr>
          </a:lstStyle>
          <a:p>
            <a:pPr>
              <a:defRPr/>
            </a:pPr>
            <a:fld id="{258ECBF4-0515-4E2E-8B37-7337FB98722D}"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97A0A9B5-7B4C-42E7-B695-655F90603596}" type="slidenum">
              <a:rPr lang="en-US"/>
              <a:pPr/>
              <a:t>‹#›</a:t>
            </a:fld>
            <a:endParaRPr lang="en-US"/>
          </a:p>
        </p:txBody>
      </p:sp>
    </p:spTree>
    <p:extLst>
      <p:ext uri="{BB962C8B-B14F-4D97-AF65-F5344CB8AC3E}">
        <p14:creationId xmlns:p14="http://schemas.microsoft.com/office/powerpoint/2010/main" val="17186937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7"/>
          <p:cNvSpPr>
            <a:spLocks noGrp="1" noChangeArrowheads="1"/>
          </p:cNvSpPr>
          <p:nvPr>
            <p:ph type="dt" idx="10"/>
          </p:nvPr>
        </p:nvSpPr>
        <p:spPr>
          <a:ln/>
        </p:spPr>
        <p:txBody>
          <a:bodyPr/>
          <a:lstStyle>
            <a:lvl1pPr>
              <a:defRPr/>
            </a:lvl1pPr>
          </a:lstStyle>
          <a:p>
            <a:pPr>
              <a:defRPr/>
            </a:pPr>
            <a:fld id="{CE15DD98-BC01-4E04-BD76-8D4BD6159E38}" type="datetime1">
              <a:rPr lang="en-US"/>
              <a:pPr>
                <a:defRPr/>
              </a:pPr>
              <a:t>3/12/2019</a:t>
            </a:fld>
            <a:endParaRPr lang="en-US"/>
          </a:p>
        </p:txBody>
      </p:sp>
      <p:sp>
        <p:nvSpPr>
          <p:cNvPr id="8"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9" name="Rectangle 9"/>
          <p:cNvSpPr>
            <a:spLocks noGrp="1" noChangeArrowheads="1"/>
          </p:cNvSpPr>
          <p:nvPr>
            <p:ph type="sldNum" idx="12"/>
          </p:nvPr>
        </p:nvSpPr>
        <p:spPr>
          <a:ln/>
        </p:spPr>
        <p:txBody>
          <a:bodyPr/>
          <a:lstStyle>
            <a:lvl1pPr>
              <a:defRPr/>
            </a:lvl1pPr>
          </a:lstStyle>
          <a:p>
            <a:fld id="{8A19457D-2C34-4272-B92B-C336DA983CF2}" type="slidenum">
              <a:rPr lang="en-US"/>
              <a:pPr/>
              <a:t>‹#›</a:t>
            </a:fld>
            <a:endParaRPr lang="en-US"/>
          </a:p>
        </p:txBody>
      </p:sp>
    </p:spTree>
    <p:extLst>
      <p:ext uri="{BB962C8B-B14F-4D97-AF65-F5344CB8AC3E}">
        <p14:creationId xmlns:p14="http://schemas.microsoft.com/office/powerpoint/2010/main" val="12012511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7"/>
          <p:cNvSpPr>
            <a:spLocks noGrp="1" noChangeArrowheads="1"/>
          </p:cNvSpPr>
          <p:nvPr>
            <p:ph type="dt" idx="10"/>
          </p:nvPr>
        </p:nvSpPr>
        <p:spPr>
          <a:ln/>
        </p:spPr>
        <p:txBody>
          <a:bodyPr/>
          <a:lstStyle>
            <a:lvl1pPr>
              <a:defRPr/>
            </a:lvl1pPr>
          </a:lstStyle>
          <a:p>
            <a:pPr>
              <a:defRPr/>
            </a:pPr>
            <a:fld id="{C8AE47C5-FA50-4ACF-A59A-0D3DFE68B980}" type="datetime1">
              <a:rPr lang="en-US"/>
              <a:pPr>
                <a:defRPr/>
              </a:pPr>
              <a:t>3/12/2019</a:t>
            </a:fld>
            <a:endParaRPr lang="en-US"/>
          </a:p>
        </p:txBody>
      </p:sp>
      <p:sp>
        <p:nvSpPr>
          <p:cNvPr id="4"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5" name="Rectangle 9"/>
          <p:cNvSpPr>
            <a:spLocks noGrp="1" noChangeArrowheads="1"/>
          </p:cNvSpPr>
          <p:nvPr>
            <p:ph type="sldNum" idx="12"/>
          </p:nvPr>
        </p:nvSpPr>
        <p:spPr>
          <a:ln/>
        </p:spPr>
        <p:txBody>
          <a:bodyPr/>
          <a:lstStyle>
            <a:lvl1pPr>
              <a:defRPr/>
            </a:lvl1pPr>
          </a:lstStyle>
          <a:p>
            <a:fld id="{4C5536E4-E2A6-47C7-BE27-DDBF79923A85}" type="slidenum">
              <a:rPr lang="en-US"/>
              <a:pPr/>
              <a:t>‹#›</a:t>
            </a:fld>
            <a:endParaRPr lang="en-US"/>
          </a:p>
        </p:txBody>
      </p:sp>
    </p:spTree>
    <p:extLst>
      <p:ext uri="{BB962C8B-B14F-4D97-AF65-F5344CB8AC3E}">
        <p14:creationId xmlns:p14="http://schemas.microsoft.com/office/powerpoint/2010/main" val="19396794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fld id="{C21C3F11-9750-4267-8E08-1E8B55A49B60}" type="datetime1">
              <a:rPr lang="en-US"/>
              <a:pPr>
                <a:defRPr/>
              </a:pPr>
              <a:t>3/12/2019</a:t>
            </a:fld>
            <a:endParaRPr lang="en-US"/>
          </a:p>
        </p:txBody>
      </p:sp>
      <p:sp>
        <p:nvSpPr>
          <p:cNvPr id="3"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4" name="Rectangle 9"/>
          <p:cNvSpPr>
            <a:spLocks noGrp="1" noChangeArrowheads="1"/>
          </p:cNvSpPr>
          <p:nvPr>
            <p:ph type="sldNum" idx="12"/>
          </p:nvPr>
        </p:nvSpPr>
        <p:spPr>
          <a:ln/>
        </p:spPr>
        <p:txBody>
          <a:bodyPr/>
          <a:lstStyle>
            <a:lvl1pPr>
              <a:defRPr/>
            </a:lvl1pPr>
          </a:lstStyle>
          <a:p>
            <a:fld id="{AE2BDA13-B725-425D-B555-E60C03F54532}" type="slidenum">
              <a:rPr lang="en-US"/>
              <a:pPr/>
              <a:t>‹#›</a:t>
            </a:fld>
            <a:endParaRPr lang="en-US"/>
          </a:p>
        </p:txBody>
      </p:sp>
    </p:spTree>
    <p:extLst>
      <p:ext uri="{BB962C8B-B14F-4D97-AF65-F5344CB8AC3E}">
        <p14:creationId xmlns:p14="http://schemas.microsoft.com/office/powerpoint/2010/main" val="17772108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7114609F-81B8-43BA-B257-DD48165CDCEE}"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984E957C-8085-4C8F-ACB2-867480C22BA3}" type="slidenum">
              <a:rPr lang="en-US"/>
              <a:pPr/>
              <a:t>‹#›</a:t>
            </a:fld>
            <a:endParaRPr lang="en-US"/>
          </a:p>
        </p:txBody>
      </p:sp>
    </p:spTree>
    <p:extLst>
      <p:ext uri="{BB962C8B-B14F-4D97-AF65-F5344CB8AC3E}">
        <p14:creationId xmlns:p14="http://schemas.microsoft.com/office/powerpoint/2010/main" val="14979230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idx="10"/>
          </p:nvPr>
        </p:nvSpPr>
        <p:spPr>
          <a:ln/>
        </p:spPr>
        <p:txBody>
          <a:bodyPr/>
          <a:lstStyle>
            <a:lvl1pPr>
              <a:defRPr/>
            </a:lvl1pPr>
          </a:lstStyle>
          <a:p>
            <a:pPr>
              <a:defRPr/>
            </a:pPr>
            <a:fld id="{5695B52C-E116-4F00-8B5E-AEDBBDB6EC55}" type="datetime1">
              <a:rPr lang="en-US"/>
              <a:pPr>
                <a:defRPr/>
              </a:pPr>
              <a:t>3/12/2019</a:t>
            </a:fld>
            <a:endParaRPr lang="en-US"/>
          </a:p>
        </p:txBody>
      </p:sp>
      <p:sp>
        <p:nvSpPr>
          <p:cNvPr id="6"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7" name="Rectangle 9"/>
          <p:cNvSpPr>
            <a:spLocks noGrp="1" noChangeArrowheads="1"/>
          </p:cNvSpPr>
          <p:nvPr>
            <p:ph type="sldNum" idx="12"/>
          </p:nvPr>
        </p:nvSpPr>
        <p:spPr>
          <a:ln/>
        </p:spPr>
        <p:txBody>
          <a:bodyPr/>
          <a:lstStyle>
            <a:lvl1pPr>
              <a:defRPr/>
            </a:lvl1pPr>
          </a:lstStyle>
          <a:p>
            <a:fld id="{4A5794AB-39A7-467A-8D30-24FDE6717363}" type="slidenum">
              <a:rPr lang="en-US"/>
              <a:pPr/>
              <a:t>‹#›</a:t>
            </a:fld>
            <a:endParaRPr lang="en-US"/>
          </a:p>
        </p:txBody>
      </p:sp>
    </p:spTree>
    <p:extLst>
      <p:ext uri="{BB962C8B-B14F-4D97-AF65-F5344CB8AC3E}">
        <p14:creationId xmlns:p14="http://schemas.microsoft.com/office/powerpoint/2010/main" val="12490453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C652368E-C37B-4C0E-9180-266B90F69322}"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6947ABA3-2203-405A-925E-9A3AAE7B8396}" type="slidenum">
              <a:rPr lang="en-US"/>
              <a:pPr/>
              <a:t>‹#›</a:t>
            </a:fld>
            <a:endParaRPr lang="en-US"/>
          </a:p>
        </p:txBody>
      </p:sp>
    </p:spTree>
    <p:extLst>
      <p:ext uri="{BB962C8B-B14F-4D97-AF65-F5344CB8AC3E}">
        <p14:creationId xmlns:p14="http://schemas.microsoft.com/office/powerpoint/2010/main" val="3626595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333375"/>
            <a:ext cx="2122488" cy="572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33375"/>
            <a:ext cx="6219825" cy="57229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idx="10"/>
          </p:nvPr>
        </p:nvSpPr>
        <p:spPr>
          <a:ln/>
        </p:spPr>
        <p:txBody>
          <a:bodyPr/>
          <a:lstStyle>
            <a:lvl1pPr>
              <a:defRPr/>
            </a:lvl1pPr>
          </a:lstStyle>
          <a:p>
            <a:pPr>
              <a:defRPr/>
            </a:pPr>
            <a:fld id="{B5AB02A5-8A85-49B7-BD82-750329F17345}" type="datetime1">
              <a:rPr lang="en-US"/>
              <a:pPr>
                <a:defRPr/>
              </a:pPr>
              <a:t>3/12/2019</a:t>
            </a:fld>
            <a:endParaRPr lang="en-US"/>
          </a:p>
        </p:txBody>
      </p:sp>
      <p:sp>
        <p:nvSpPr>
          <p:cNvPr id="5" name="Rectangle 8"/>
          <p:cNvSpPr>
            <a:spLocks noGrp="1" noChangeArrowheads="1"/>
          </p:cNvSpPr>
          <p:nvPr>
            <p:ph type="ftr" idx="11"/>
          </p:nvPr>
        </p:nvSpPr>
        <p:spPr>
          <a:ln/>
        </p:spPr>
        <p:txBody>
          <a:bodyPr/>
          <a:lstStyle>
            <a:lvl1pPr>
              <a:defRPr/>
            </a:lvl1pPr>
          </a:lstStyle>
          <a:p>
            <a:pPr>
              <a:defRPr/>
            </a:pPr>
            <a:r>
              <a:rPr lang="en-US"/>
              <a:t>– strictly confidential, confidential, internal, public –</a:t>
            </a:r>
          </a:p>
        </p:txBody>
      </p:sp>
      <p:sp>
        <p:nvSpPr>
          <p:cNvPr id="6" name="Rectangle 9"/>
          <p:cNvSpPr>
            <a:spLocks noGrp="1" noChangeArrowheads="1"/>
          </p:cNvSpPr>
          <p:nvPr>
            <p:ph type="sldNum" idx="12"/>
          </p:nvPr>
        </p:nvSpPr>
        <p:spPr>
          <a:ln/>
        </p:spPr>
        <p:txBody>
          <a:bodyPr/>
          <a:lstStyle>
            <a:lvl1pPr>
              <a:defRPr/>
            </a:lvl1pPr>
          </a:lstStyle>
          <a:p>
            <a:fld id="{CC37957B-64C6-432D-AFD1-9A967D1F7CCC}" type="slidenum">
              <a:rPr lang="en-US"/>
              <a:pPr/>
              <a:t>‹#›</a:t>
            </a:fld>
            <a:endParaRPr lang="en-US"/>
          </a:p>
        </p:txBody>
      </p:sp>
    </p:spTree>
    <p:extLst>
      <p:ext uri="{BB962C8B-B14F-4D97-AF65-F5344CB8AC3E}">
        <p14:creationId xmlns:p14="http://schemas.microsoft.com/office/powerpoint/2010/main" val="1915331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emf"/><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emf"/><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emf"/><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7" name="Rectangle 2"/>
          <p:cNvSpPr>
            <a:spLocks noGrp="1" noChangeArrowheads="1"/>
          </p:cNvSpPr>
          <p:nvPr>
            <p:ph type="title"/>
          </p:nvPr>
        </p:nvSpPr>
        <p:spPr bwMode="auto">
          <a:xfrm>
            <a:off x="304800" y="333375"/>
            <a:ext cx="84947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title text format</a:t>
            </a:r>
          </a:p>
        </p:txBody>
      </p:sp>
      <p:sp>
        <p:nvSpPr>
          <p:cNvPr id="1028" name="Rectangle 3"/>
          <p:cNvSpPr>
            <a:spLocks noGrp="1" noChangeArrowheads="1"/>
          </p:cNvSpPr>
          <p:nvPr>
            <p:ph type="body" idx="1"/>
          </p:nvPr>
        </p:nvSpPr>
        <p:spPr bwMode="auto">
          <a:xfrm>
            <a:off x="304800" y="1773238"/>
            <a:ext cx="8494713"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pic>
        <p:nvPicPr>
          <p:cNvPr id="1029"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24738" y="6357938"/>
            <a:ext cx="1506537" cy="311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0"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938" y="6345238"/>
            <a:ext cx="1706562" cy="354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1" name="Rectangle 6"/>
          <p:cNvSpPr>
            <a:spLocks noChangeArrowheads="1"/>
          </p:cNvSpPr>
          <p:nvPr/>
        </p:nvSpPr>
        <p:spPr bwMode="auto">
          <a:xfrm>
            <a:off x="3175" y="0"/>
            <a:ext cx="9140825" cy="147638"/>
          </a:xfrm>
          <a:prstGeom prst="rect">
            <a:avLst/>
          </a:prstGeom>
          <a:solidFill>
            <a:srgbClr val="9F4C97"/>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mj-lt"/>
          <a:ea typeface="+mj-ea"/>
          <a:cs typeface="+mj-cs"/>
        </a:defRPr>
      </a:lvl1pPr>
      <a:lvl2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2pPr>
      <a:lvl3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3pPr>
      <a:lvl4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4pPr>
      <a:lvl5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5pPr>
      <a:lvl6pPr marL="25146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6pPr>
      <a:lvl7pPr marL="29718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7pPr>
      <a:lvl8pPr marL="34290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8pPr>
      <a:lvl9pPr marL="38862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9pPr>
    </p:titleStyle>
    <p:bodyStyle>
      <a:lvl1pPr marL="342900" indent="-3429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2pPr>
      <a:lvl3pPr marL="11430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3pPr>
      <a:lvl4pPr marL="16002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4pPr>
      <a:lvl5pPr marL="20574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5pPr>
      <a:lvl6pPr marL="25146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6pPr>
      <a:lvl7pPr marL="29718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7pPr>
      <a:lvl8pPr marL="34290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8pPr>
      <a:lvl9pPr marL="38862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20074"/>
        </a:solidFill>
        <a:effectLst/>
      </p:bgPr>
    </p:bg>
    <p:spTree>
      <p:nvGrpSpPr>
        <p:cNvPr id="1" name=""/>
        <p:cNvGrpSpPr/>
        <p:nvPr/>
      </p:nvGrpSpPr>
      <p:grpSpPr>
        <a:xfrm>
          <a:off x="0" y="0"/>
          <a:ext cx="0" cy="0"/>
          <a:chOff x="0" y="0"/>
          <a:chExt cx="0" cy="0"/>
        </a:xfrm>
      </p:grpSpPr>
      <p:pic>
        <p:nvPicPr>
          <p:cNvPr id="2050" name="Picture 1"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1" name="Picture 2"/>
          <p:cNvPicPr>
            <a:picLocks noChangeAspect="1" noChangeArrowheads="1"/>
          </p:cNvPicPr>
          <p:nvPr/>
        </p:nvPicPr>
        <p:blipFill>
          <a:blip r:embed="rId14">
            <a:extLst>
              <a:ext uri="{28A0092B-C50C-407E-A947-70E740481C1C}">
                <a14:useLocalDpi xmlns:a14="http://schemas.microsoft.com/office/drawing/2010/main" val="0"/>
              </a:ext>
            </a:extLst>
          </a:blip>
          <a:srcRect r="61942"/>
          <a:stretch>
            <a:fillRect/>
          </a:stretch>
        </p:blipFill>
        <p:spPr bwMode="auto">
          <a:xfrm>
            <a:off x="323850" y="6138863"/>
            <a:ext cx="1009650" cy="395287"/>
          </a:xfrm>
          <a:prstGeom prst="rect">
            <a:avLst/>
          </a:prstGeom>
          <a:noFill/>
          <a:ln>
            <a:noFill/>
          </a:ln>
          <a:effectLst/>
          <a:extLst>
            <a:ext uri="{909E8E84-426E-40DD-AFC4-6F175D3DCCD1}">
              <a14:hiddenFill xmlns:a14="http://schemas.microsoft.com/office/drawing/2010/main">
                <a:blipFill dpi="0" rotWithShape="0">
                  <a:blip/>
                  <a:srcRect r="61942"/>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2" name="Picture 3"/>
          <p:cNvPicPr>
            <a:picLocks noChangeAspect="1" noChangeArrowheads="1"/>
          </p:cNvPicPr>
          <p:nvPr/>
        </p:nvPicPr>
        <p:blipFill>
          <a:blip r:embed="rId14">
            <a:extLst>
              <a:ext uri="{28A0092B-C50C-407E-A947-70E740481C1C}">
                <a14:useLocalDpi xmlns:a14="http://schemas.microsoft.com/office/drawing/2010/main" val="0"/>
              </a:ext>
            </a:extLst>
          </a:blip>
          <a:srcRect l="45848"/>
          <a:stretch>
            <a:fillRect/>
          </a:stretch>
        </p:blipFill>
        <p:spPr bwMode="auto">
          <a:xfrm>
            <a:off x="7391400" y="6138863"/>
            <a:ext cx="1436688" cy="395287"/>
          </a:xfrm>
          <a:prstGeom prst="rect">
            <a:avLst/>
          </a:prstGeom>
          <a:noFill/>
          <a:ln>
            <a:noFill/>
          </a:ln>
          <a:effectLst/>
          <a:extLst>
            <a:ext uri="{909E8E84-426E-40DD-AFC4-6F175D3DCCD1}">
              <a14:hiddenFill xmlns:a14="http://schemas.microsoft.com/office/drawing/2010/main">
                <a:blipFill dpi="0" rotWithShape="0">
                  <a:blip/>
                  <a:srcRect l="45848"/>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3" name="Rectangle 4"/>
          <p:cNvSpPr>
            <a:spLocks noGrp="1" noChangeArrowheads="1"/>
          </p:cNvSpPr>
          <p:nvPr>
            <p:ph type="title"/>
          </p:nvPr>
        </p:nvSpPr>
        <p:spPr bwMode="auto">
          <a:xfrm>
            <a:off x="304800" y="333375"/>
            <a:ext cx="84947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title text format</a:t>
            </a:r>
          </a:p>
        </p:txBody>
      </p:sp>
      <p:sp>
        <p:nvSpPr>
          <p:cNvPr id="2054" name="Rectangle 5"/>
          <p:cNvSpPr>
            <a:spLocks noGrp="1" noChangeArrowheads="1"/>
          </p:cNvSpPr>
          <p:nvPr>
            <p:ph type="body" idx="1"/>
          </p:nvPr>
        </p:nvSpPr>
        <p:spPr bwMode="auto">
          <a:xfrm>
            <a:off x="304800" y="1773238"/>
            <a:ext cx="8494713"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mj-lt"/>
          <a:ea typeface="+mj-ea"/>
          <a:cs typeface="+mj-cs"/>
        </a:defRPr>
      </a:lvl1pPr>
      <a:lvl2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2pPr>
      <a:lvl3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3pPr>
      <a:lvl4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4pPr>
      <a:lvl5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5pPr>
      <a:lvl6pPr marL="25146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6pPr>
      <a:lvl7pPr marL="29718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7pPr>
      <a:lvl8pPr marL="34290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8pPr>
      <a:lvl9pPr marL="38862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9pPr>
    </p:titleStyle>
    <p:bodyStyle>
      <a:lvl1pPr marL="342900" indent="-3429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2pPr>
      <a:lvl3pPr marL="11430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3pPr>
      <a:lvl4pPr marL="16002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4pPr>
      <a:lvl5pPr marL="20574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5pPr>
      <a:lvl6pPr marL="25146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6pPr>
      <a:lvl7pPr marL="29718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7pPr>
      <a:lvl8pPr marL="34290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8pPr>
      <a:lvl9pPr marL="38862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74" name="Picture 1"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5"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24738" y="6357938"/>
            <a:ext cx="1506537" cy="311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6"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938" y="6345238"/>
            <a:ext cx="1706562" cy="354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7" name="Rectangle 4"/>
          <p:cNvSpPr>
            <a:spLocks noChangeArrowheads="1"/>
          </p:cNvSpPr>
          <p:nvPr/>
        </p:nvSpPr>
        <p:spPr bwMode="auto">
          <a:xfrm>
            <a:off x="3175" y="0"/>
            <a:ext cx="9140825" cy="147638"/>
          </a:xfrm>
          <a:prstGeom prst="rect">
            <a:avLst/>
          </a:prstGeom>
          <a:solidFill>
            <a:srgbClr val="9F4C97"/>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8" name="Rectangle 5"/>
          <p:cNvSpPr>
            <a:spLocks noGrp="1" noChangeArrowheads="1"/>
          </p:cNvSpPr>
          <p:nvPr>
            <p:ph type="title"/>
          </p:nvPr>
        </p:nvSpPr>
        <p:spPr bwMode="auto">
          <a:xfrm>
            <a:off x="304800" y="333375"/>
            <a:ext cx="84947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title text format</a:t>
            </a:r>
          </a:p>
        </p:txBody>
      </p:sp>
      <p:sp>
        <p:nvSpPr>
          <p:cNvPr id="3079" name="Rectangle 6"/>
          <p:cNvSpPr>
            <a:spLocks noGrp="1" noChangeArrowheads="1"/>
          </p:cNvSpPr>
          <p:nvPr>
            <p:ph type="body" idx="1"/>
          </p:nvPr>
        </p:nvSpPr>
        <p:spPr bwMode="auto">
          <a:xfrm>
            <a:off x="304800" y="1773238"/>
            <a:ext cx="8494713"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2" name="Rectangle 7"/>
          <p:cNvSpPr>
            <a:spLocks noGrp="1" noChangeArrowheads="1"/>
          </p:cNvSpPr>
          <p:nvPr>
            <p:ph type="dt"/>
          </p:nvPr>
        </p:nvSpPr>
        <p:spPr bwMode="auto">
          <a:xfrm>
            <a:off x="6804025" y="6357938"/>
            <a:ext cx="17986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Lst>
              <a:defRPr sz="2400">
                <a:solidFill>
                  <a:srgbClr val="000000"/>
                </a:solidFill>
                <a:latin typeface="Times New Roman" pitchFamily="16" charset="0"/>
                <a:ea typeface="DejaVu Sans" charset="0"/>
                <a:cs typeface="DejaVu Sans" charset="0"/>
              </a:defRPr>
            </a:lvl1pPr>
          </a:lstStyle>
          <a:p>
            <a:pPr>
              <a:defRPr/>
            </a:pPr>
            <a:fld id="{1DDCB05E-5A10-4DD0-AB13-44A2C672236E}" type="datetime1">
              <a:rPr lang="en-US"/>
              <a:pPr>
                <a:defRPr/>
              </a:pPr>
              <a:t>3/12/2019</a:t>
            </a:fld>
            <a:endParaRPr lang="en-US"/>
          </a:p>
        </p:txBody>
      </p:sp>
      <p:sp>
        <p:nvSpPr>
          <p:cNvPr id="3080" name="Rectangle 8"/>
          <p:cNvSpPr>
            <a:spLocks noGrp="1" noChangeArrowheads="1"/>
          </p:cNvSpPr>
          <p:nvPr>
            <p:ph type="ftr"/>
          </p:nvPr>
        </p:nvSpPr>
        <p:spPr bwMode="auto">
          <a:xfrm>
            <a:off x="2557463" y="6357938"/>
            <a:ext cx="410051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 pos="1828800" algn="l"/>
                <a:tab pos="2286000" algn="l"/>
                <a:tab pos="2743200" algn="l"/>
                <a:tab pos="3200400" algn="l"/>
                <a:tab pos="3657600" algn="l"/>
              </a:tabLst>
              <a:defRPr sz="2400">
                <a:solidFill>
                  <a:srgbClr val="000000"/>
                </a:solidFill>
                <a:latin typeface="Times New Roman" pitchFamily="16" charset="0"/>
                <a:ea typeface="DejaVu Sans" charset="0"/>
                <a:cs typeface="DejaVu Sans" charset="0"/>
              </a:defRPr>
            </a:lvl1pPr>
          </a:lstStyle>
          <a:p>
            <a:pPr>
              <a:defRPr/>
            </a:pPr>
            <a:r>
              <a:rPr lang="en-US"/>
              <a:t>– strictly confidential, confidential, internal, public –</a:t>
            </a:r>
          </a:p>
        </p:txBody>
      </p:sp>
      <p:sp>
        <p:nvSpPr>
          <p:cNvPr id="3081" name="Rectangle 9"/>
          <p:cNvSpPr>
            <a:spLocks noGrp="1" noChangeArrowheads="1"/>
          </p:cNvSpPr>
          <p:nvPr>
            <p:ph type="sldNum"/>
          </p:nvPr>
        </p:nvSpPr>
        <p:spPr bwMode="auto">
          <a:xfrm>
            <a:off x="8540750" y="6357938"/>
            <a:ext cx="2873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panose="05000000000000000000" pitchFamily="2" charset="2"/>
              <a:buNone/>
              <a:defRPr sz="2400">
                <a:solidFill>
                  <a:srgbClr val="000000"/>
                </a:solidFill>
                <a:latin typeface="Times New Roman" panose="02020603050405020304" pitchFamily="18" charset="0"/>
                <a:ea typeface="DejaVu Sans" charset="0"/>
                <a:cs typeface="DejaVu Sans" charset="0"/>
              </a:defRPr>
            </a:lvl1pPr>
          </a:lstStyle>
          <a:p>
            <a:fld id="{374AA3AD-B7C8-48ED-B3A4-D00FB5E9AF1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p:txStyles>
    <p:titleStyle>
      <a:lvl1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mj-lt"/>
          <a:ea typeface="+mj-ea"/>
          <a:cs typeface="+mj-cs"/>
        </a:defRPr>
      </a:lvl1pPr>
      <a:lvl2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2pPr>
      <a:lvl3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3pPr>
      <a:lvl4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4pPr>
      <a:lvl5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5pPr>
      <a:lvl6pPr marL="25146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6pPr>
      <a:lvl7pPr marL="29718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7pPr>
      <a:lvl8pPr marL="34290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8pPr>
      <a:lvl9pPr marL="38862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9pPr>
    </p:titleStyle>
    <p:bodyStyle>
      <a:lvl1pPr marL="342900" indent="-3429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2pPr>
      <a:lvl3pPr marL="11430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3pPr>
      <a:lvl4pPr marL="16002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4pPr>
      <a:lvl5pPr marL="20574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5pPr>
      <a:lvl6pPr marL="25146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6pPr>
      <a:lvl7pPr marL="29718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7pPr>
      <a:lvl8pPr marL="34290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8pPr>
      <a:lvl9pPr marL="38862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8" name="Picture 1"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99"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24738" y="6357938"/>
            <a:ext cx="1506537" cy="311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00"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938" y="6345238"/>
            <a:ext cx="1706562" cy="354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01" name="Rectangle 4"/>
          <p:cNvSpPr>
            <a:spLocks noChangeArrowheads="1"/>
          </p:cNvSpPr>
          <p:nvPr/>
        </p:nvSpPr>
        <p:spPr bwMode="auto">
          <a:xfrm>
            <a:off x="3175" y="0"/>
            <a:ext cx="9140825" cy="147638"/>
          </a:xfrm>
          <a:prstGeom prst="rect">
            <a:avLst/>
          </a:prstGeom>
          <a:solidFill>
            <a:srgbClr val="9F4C97"/>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02" name="Rectangle 5"/>
          <p:cNvSpPr>
            <a:spLocks noGrp="1" noChangeArrowheads="1"/>
          </p:cNvSpPr>
          <p:nvPr>
            <p:ph type="title"/>
          </p:nvPr>
        </p:nvSpPr>
        <p:spPr bwMode="auto">
          <a:xfrm>
            <a:off x="304800" y="333375"/>
            <a:ext cx="84947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title text format</a:t>
            </a:r>
          </a:p>
        </p:txBody>
      </p:sp>
      <p:sp>
        <p:nvSpPr>
          <p:cNvPr id="4103" name="Rectangle 6"/>
          <p:cNvSpPr>
            <a:spLocks noGrp="1" noChangeArrowheads="1"/>
          </p:cNvSpPr>
          <p:nvPr>
            <p:ph type="body" idx="1"/>
          </p:nvPr>
        </p:nvSpPr>
        <p:spPr bwMode="auto">
          <a:xfrm>
            <a:off x="304800" y="1773238"/>
            <a:ext cx="8494713"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2" name="Rectangle 7"/>
          <p:cNvSpPr>
            <a:spLocks noGrp="1" noChangeArrowheads="1"/>
          </p:cNvSpPr>
          <p:nvPr>
            <p:ph type="dt"/>
          </p:nvPr>
        </p:nvSpPr>
        <p:spPr bwMode="auto">
          <a:xfrm>
            <a:off x="6804025" y="6357938"/>
            <a:ext cx="17986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Lst>
              <a:defRPr sz="2400">
                <a:solidFill>
                  <a:srgbClr val="000000"/>
                </a:solidFill>
                <a:latin typeface="Times New Roman" pitchFamily="16" charset="0"/>
                <a:ea typeface="DejaVu Sans" charset="0"/>
                <a:cs typeface="DejaVu Sans" charset="0"/>
              </a:defRPr>
            </a:lvl1pPr>
          </a:lstStyle>
          <a:p>
            <a:pPr>
              <a:defRPr/>
            </a:pPr>
            <a:fld id="{798F9FB0-AEFA-41EB-8313-4844E3E97967}" type="datetime1">
              <a:rPr lang="en-US"/>
              <a:pPr>
                <a:defRPr/>
              </a:pPr>
              <a:t>3/12/2019</a:t>
            </a:fld>
            <a:endParaRPr lang="en-US"/>
          </a:p>
        </p:txBody>
      </p:sp>
      <p:sp>
        <p:nvSpPr>
          <p:cNvPr id="4104" name="Rectangle 8"/>
          <p:cNvSpPr>
            <a:spLocks noGrp="1" noChangeArrowheads="1"/>
          </p:cNvSpPr>
          <p:nvPr>
            <p:ph type="ftr"/>
          </p:nvPr>
        </p:nvSpPr>
        <p:spPr bwMode="auto">
          <a:xfrm>
            <a:off x="2557463" y="6357938"/>
            <a:ext cx="410051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 pos="1828800" algn="l"/>
                <a:tab pos="2286000" algn="l"/>
                <a:tab pos="2743200" algn="l"/>
                <a:tab pos="3200400" algn="l"/>
                <a:tab pos="3657600" algn="l"/>
              </a:tabLst>
              <a:defRPr sz="2400">
                <a:solidFill>
                  <a:srgbClr val="000000"/>
                </a:solidFill>
                <a:latin typeface="Times New Roman" pitchFamily="16" charset="0"/>
                <a:ea typeface="DejaVu Sans" charset="0"/>
                <a:cs typeface="DejaVu Sans" charset="0"/>
              </a:defRPr>
            </a:lvl1pPr>
          </a:lstStyle>
          <a:p>
            <a:pPr>
              <a:defRPr/>
            </a:pPr>
            <a:r>
              <a:rPr lang="en-US"/>
              <a:t>– strictly confidential, confidential, internal, public –</a:t>
            </a:r>
          </a:p>
        </p:txBody>
      </p:sp>
      <p:sp>
        <p:nvSpPr>
          <p:cNvPr id="4105" name="Rectangle 9"/>
          <p:cNvSpPr>
            <a:spLocks noGrp="1" noChangeArrowheads="1"/>
          </p:cNvSpPr>
          <p:nvPr>
            <p:ph type="sldNum"/>
          </p:nvPr>
        </p:nvSpPr>
        <p:spPr bwMode="auto">
          <a:xfrm>
            <a:off x="8540750" y="6357938"/>
            <a:ext cx="2873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panose="05000000000000000000" pitchFamily="2" charset="2"/>
              <a:buNone/>
              <a:defRPr sz="2400">
                <a:solidFill>
                  <a:srgbClr val="000000"/>
                </a:solidFill>
                <a:latin typeface="Times New Roman" panose="02020603050405020304" pitchFamily="18" charset="0"/>
                <a:ea typeface="DejaVu Sans" charset="0"/>
                <a:cs typeface="DejaVu Sans" charset="0"/>
              </a:defRPr>
            </a:lvl1pPr>
          </a:lstStyle>
          <a:p>
            <a:fld id="{98FEC6F9-1AA2-4C41-969B-E9621A843A9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p:txStyles>
    <p:titleStyle>
      <a:lvl1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mj-lt"/>
          <a:ea typeface="+mj-ea"/>
          <a:cs typeface="+mj-cs"/>
        </a:defRPr>
      </a:lvl1pPr>
      <a:lvl2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2pPr>
      <a:lvl3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3pPr>
      <a:lvl4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4pPr>
      <a:lvl5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5pPr>
      <a:lvl6pPr marL="25146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6pPr>
      <a:lvl7pPr marL="29718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7pPr>
      <a:lvl8pPr marL="34290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8pPr>
      <a:lvl9pPr marL="38862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9pPr>
    </p:titleStyle>
    <p:bodyStyle>
      <a:lvl1pPr marL="342900" indent="-3429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2pPr>
      <a:lvl3pPr marL="11430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3pPr>
      <a:lvl4pPr marL="16002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4pPr>
      <a:lvl5pPr marL="20574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5pPr>
      <a:lvl6pPr marL="25146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6pPr>
      <a:lvl7pPr marL="29718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7pPr>
      <a:lvl8pPr marL="34290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8pPr>
      <a:lvl9pPr marL="38862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22" name="Picture 1"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23"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24738" y="6357938"/>
            <a:ext cx="1506537" cy="311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24"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938" y="6345238"/>
            <a:ext cx="1706562" cy="354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5" name="Rectangle 4"/>
          <p:cNvSpPr>
            <a:spLocks noChangeArrowheads="1"/>
          </p:cNvSpPr>
          <p:nvPr/>
        </p:nvSpPr>
        <p:spPr bwMode="auto">
          <a:xfrm>
            <a:off x="3175" y="0"/>
            <a:ext cx="9140825" cy="147638"/>
          </a:xfrm>
          <a:prstGeom prst="rect">
            <a:avLst/>
          </a:prstGeom>
          <a:solidFill>
            <a:srgbClr val="9F4C97"/>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26" name="Rectangle 5"/>
          <p:cNvSpPr>
            <a:spLocks noGrp="1" noChangeArrowheads="1"/>
          </p:cNvSpPr>
          <p:nvPr>
            <p:ph type="title"/>
          </p:nvPr>
        </p:nvSpPr>
        <p:spPr bwMode="auto">
          <a:xfrm>
            <a:off x="304800" y="333375"/>
            <a:ext cx="84947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title text format</a:t>
            </a:r>
          </a:p>
        </p:txBody>
      </p:sp>
      <p:sp>
        <p:nvSpPr>
          <p:cNvPr id="5127" name="Rectangle 6"/>
          <p:cNvSpPr>
            <a:spLocks noGrp="1" noChangeArrowheads="1"/>
          </p:cNvSpPr>
          <p:nvPr>
            <p:ph type="body" idx="1"/>
          </p:nvPr>
        </p:nvSpPr>
        <p:spPr bwMode="auto">
          <a:xfrm>
            <a:off x="304800" y="1773238"/>
            <a:ext cx="8494713"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2" name="Rectangle 7"/>
          <p:cNvSpPr>
            <a:spLocks noGrp="1" noChangeArrowheads="1"/>
          </p:cNvSpPr>
          <p:nvPr>
            <p:ph type="dt"/>
          </p:nvPr>
        </p:nvSpPr>
        <p:spPr bwMode="auto">
          <a:xfrm>
            <a:off x="6804025" y="6357938"/>
            <a:ext cx="17986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Lst>
              <a:defRPr sz="2400">
                <a:solidFill>
                  <a:srgbClr val="FFFFFF"/>
                </a:solidFill>
                <a:latin typeface="Times New Roman" pitchFamily="16" charset="0"/>
                <a:ea typeface="DejaVu Sans" charset="0"/>
                <a:cs typeface="DejaVu Sans" charset="0"/>
              </a:defRPr>
            </a:lvl1pPr>
          </a:lstStyle>
          <a:p>
            <a:pPr>
              <a:defRPr/>
            </a:pPr>
            <a:fld id="{7E9E70C9-E5B6-4B33-A3D7-A596557E874A}" type="datetime1">
              <a:rPr lang="en-US"/>
              <a:pPr>
                <a:defRPr/>
              </a:pPr>
              <a:t>3/12/2019</a:t>
            </a:fld>
            <a:endParaRPr lang="en-US"/>
          </a:p>
        </p:txBody>
      </p:sp>
      <p:sp>
        <p:nvSpPr>
          <p:cNvPr id="5128" name="Rectangle 8"/>
          <p:cNvSpPr>
            <a:spLocks noGrp="1" noChangeArrowheads="1"/>
          </p:cNvSpPr>
          <p:nvPr>
            <p:ph type="ftr"/>
          </p:nvPr>
        </p:nvSpPr>
        <p:spPr bwMode="auto">
          <a:xfrm>
            <a:off x="2557463" y="6357938"/>
            <a:ext cx="410051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charset="2"/>
              <a:buNone/>
              <a:tabLst>
                <a:tab pos="457200" algn="l"/>
                <a:tab pos="914400" algn="l"/>
                <a:tab pos="1371600" algn="l"/>
                <a:tab pos="1828800" algn="l"/>
                <a:tab pos="2286000" algn="l"/>
                <a:tab pos="2743200" algn="l"/>
                <a:tab pos="3200400" algn="l"/>
                <a:tab pos="3657600" algn="l"/>
              </a:tabLst>
              <a:defRPr sz="2400">
                <a:solidFill>
                  <a:srgbClr val="FFFFFF"/>
                </a:solidFill>
                <a:latin typeface="Times New Roman" pitchFamily="16" charset="0"/>
                <a:ea typeface="DejaVu Sans" charset="0"/>
                <a:cs typeface="DejaVu Sans" charset="0"/>
              </a:defRPr>
            </a:lvl1pPr>
          </a:lstStyle>
          <a:p>
            <a:pPr>
              <a:defRPr/>
            </a:pPr>
            <a:r>
              <a:rPr lang="en-US"/>
              <a:t>– strictly confidential, confidential, internal, public –</a:t>
            </a:r>
          </a:p>
        </p:txBody>
      </p:sp>
      <p:sp>
        <p:nvSpPr>
          <p:cNvPr id="5129" name="Rectangle 9"/>
          <p:cNvSpPr>
            <a:spLocks noGrp="1" noChangeArrowheads="1"/>
          </p:cNvSpPr>
          <p:nvPr>
            <p:ph type="sldNum"/>
          </p:nvPr>
        </p:nvSpPr>
        <p:spPr bwMode="auto">
          <a:xfrm>
            <a:off x="8540750" y="6357938"/>
            <a:ext cx="28733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15900" indent="-215900">
              <a:lnSpc>
                <a:spcPct val="100000"/>
              </a:lnSpc>
              <a:buSzPct val="45000"/>
              <a:buFont typeface="Wingdings" panose="05000000000000000000" pitchFamily="2" charset="2"/>
              <a:buNone/>
              <a:defRPr sz="2400">
                <a:solidFill>
                  <a:srgbClr val="FFFFFF"/>
                </a:solidFill>
                <a:latin typeface="Times New Roman" panose="02020603050405020304" pitchFamily="18" charset="0"/>
                <a:ea typeface="DejaVu Sans" charset="0"/>
                <a:cs typeface="DejaVu Sans" charset="0"/>
              </a:defRPr>
            </a:lvl1pPr>
          </a:lstStyle>
          <a:p>
            <a:fld id="{B9F31EDE-6917-440A-B960-9847779542B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p:txStyles>
    <p:titleStyle>
      <a:lvl1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mj-lt"/>
          <a:ea typeface="+mj-ea"/>
          <a:cs typeface="+mj-cs"/>
        </a:defRPr>
      </a:lvl1pPr>
      <a:lvl2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2pPr>
      <a:lvl3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3pPr>
      <a:lvl4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4pPr>
      <a:lvl5pPr algn="l" defTabSz="457200" rtl="0" eaLnBrk="0" fontAlgn="base" hangingPunct="0">
        <a:lnSpc>
          <a:spcPct val="90000"/>
        </a:lnSpc>
        <a:spcBef>
          <a:spcPct val="0"/>
        </a:spcBef>
        <a:spcAft>
          <a:spcPct val="0"/>
        </a:spcAft>
        <a:buClr>
          <a:srgbClr val="000000"/>
        </a:buClr>
        <a:buSzPct val="100000"/>
        <a:buFont typeface="Times New Roman" panose="02020603050405020304" pitchFamily="18" charset="0"/>
        <a:defRPr sz="3000">
          <a:solidFill>
            <a:srgbClr val="9F4C97"/>
          </a:solidFill>
          <a:latin typeface="Tele-GroteskUlt" charset="0"/>
          <a:ea typeface="TeleGrotesk Headline Ultra" charset="0"/>
          <a:cs typeface="TeleGrotesk Headline Ultra" charset="0"/>
        </a:defRPr>
      </a:lvl5pPr>
      <a:lvl6pPr marL="25146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6pPr>
      <a:lvl7pPr marL="29718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7pPr>
      <a:lvl8pPr marL="34290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8pPr>
      <a:lvl9pPr marL="3886200" indent="-228600" algn="l" defTabSz="457200" rtl="0" eaLnBrk="0" fontAlgn="base" hangingPunct="0">
        <a:lnSpc>
          <a:spcPct val="90000"/>
        </a:lnSpc>
        <a:spcBef>
          <a:spcPct val="0"/>
        </a:spcBef>
        <a:spcAft>
          <a:spcPct val="0"/>
        </a:spcAft>
        <a:buClr>
          <a:srgbClr val="000000"/>
        </a:buClr>
        <a:buSzPct val="100000"/>
        <a:buFont typeface="Times New Roman" pitchFamily="16" charset="0"/>
        <a:defRPr sz="3000">
          <a:solidFill>
            <a:srgbClr val="9F4C97"/>
          </a:solidFill>
          <a:latin typeface="Tele-GroteskUlt" charset="0"/>
          <a:ea typeface="TeleGrotesk Headline Ultra" charset="0"/>
          <a:cs typeface="TeleGrotesk Headline Ultra" charset="0"/>
        </a:defRPr>
      </a:lvl9pPr>
    </p:titleStyle>
    <p:bodyStyle>
      <a:lvl1pPr marL="342900" indent="-3429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2pPr>
      <a:lvl3pPr marL="11430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3pPr>
      <a:lvl4pPr marL="16002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4pPr>
      <a:lvl5pPr marL="2057400" indent="-228600" algn="l" defTabSz="457200" rtl="0" eaLnBrk="0" fontAlgn="base" hangingPunct="0">
        <a:lnSpc>
          <a:spcPct val="90000"/>
        </a:lnSpc>
        <a:spcBef>
          <a:spcPts val="563"/>
        </a:spcBef>
        <a:spcAft>
          <a:spcPct val="0"/>
        </a:spcAft>
        <a:buClr>
          <a:srgbClr val="000000"/>
        </a:buClr>
        <a:buSzPct val="100000"/>
        <a:buFont typeface="Times New Roman" panose="02020603050405020304" pitchFamily="18" charset="0"/>
        <a:defRPr>
          <a:solidFill>
            <a:srgbClr val="000000"/>
          </a:solidFill>
          <a:latin typeface="Tele-GroteskNor" charset="0"/>
          <a:ea typeface="+mn-ea"/>
          <a:cs typeface="+mn-cs"/>
        </a:defRPr>
      </a:lvl5pPr>
      <a:lvl6pPr marL="25146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6pPr>
      <a:lvl7pPr marL="29718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7pPr>
      <a:lvl8pPr marL="34290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8pPr>
      <a:lvl9pPr marL="3886200" indent="-228600" algn="l" defTabSz="457200" rtl="0" eaLnBrk="0" fontAlgn="base" hangingPunct="0">
        <a:lnSpc>
          <a:spcPct val="90000"/>
        </a:lnSpc>
        <a:spcBef>
          <a:spcPts val="563"/>
        </a:spcBef>
        <a:spcAft>
          <a:spcPct val="0"/>
        </a:spcAft>
        <a:buClr>
          <a:srgbClr val="000000"/>
        </a:buClr>
        <a:buSzPct val="100000"/>
        <a:buFont typeface="Times New Roman" pitchFamily="16" charset="0"/>
        <a:defRPr>
          <a:solidFill>
            <a:srgbClr val="000000"/>
          </a:solidFill>
          <a:latin typeface="Tele-GroteskNor"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0.xml"/><Relationship Id="rId1" Type="http://schemas.openxmlformats.org/officeDocument/2006/relationships/themeOverride" Target="../theme/themeOverride1.xml"/><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4.xml"/><Relationship Id="rId1" Type="http://schemas.openxmlformats.org/officeDocument/2006/relationships/slideLayout" Target="../slideLayouts/slideLayout40.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7.xml"/><Relationship Id="rId1" Type="http://schemas.openxmlformats.org/officeDocument/2006/relationships/slideLayout" Target="../slideLayouts/slideLayout40.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8.xml"/><Relationship Id="rId1" Type="http://schemas.openxmlformats.org/officeDocument/2006/relationships/slideLayout" Target="../slideLayouts/slideLayout40.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3.xml"/><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5.xml"/><Relationship Id="rId1" Type="http://schemas.openxmlformats.org/officeDocument/2006/relationships/slideLayout" Target="../slideLayouts/slideLayout40.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6.xml"/><Relationship Id="rId1" Type="http://schemas.openxmlformats.org/officeDocument/2006/relationships/slideLayout" Target="../slideLayouts/slideLayout40.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7.xml"/><Relationship Id="rId1" Type="http://schemas.openxmlformats.org/officeDocument/2006/relationships/slideLayout" Target="../slideLayouts/slideLayout40.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0.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1.xml"/><Relationship Id="rId1" Type="http://schemas.openxmlformats.org/officeDocument/2006/relationships/slideLayout" Target="../slideLayouts/slideLayout40.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2.xml"/><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4.xml"/><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5.xml"/><Relationship Id="rId1" Type="http://schemas.openxmlformats.org/officeDocument/2006/relationships/slideLayout" Target="../slideLayouts/slideLayout40.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6.xml"/><Relationship Id="rId1" Type="http://schemas.openxmlformats.org/officeDocument/2006/relationships/slideLayout" Target="../slideLayouts/slideLayout40.xml"/><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7.xml"/><Relationship Id="rId1" Type="http://schemas.openxmlformats.org/officeDocument/2006/relationships/slideLayout" Target="../slideLayouts/slideLayout40.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40.xml"/><Relationship Id="rId4" Type="http://schemas.openxmlformats.org/officeDocument/2006/relationships/image" Target="../media/image1.emf"/></Relationships>
</file>

<file path=ppt/slides/_rels/slide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9.xml"/><Relationship Id="rId1" Type="http://schemas.openxmlformats.org/officeDocument/2006/relationships/slideLayout" Target="../slideLayouts/slideLayout40.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0.xml"/><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1.xml"/><Relationship Id="rId1" Type="http://schemas.openxmlformats.org/officeDocument/2006/relationships/slideLayout" Target="../slideLayouts/slideLayout40.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1"/>
          <p:cNvPicPr>
            <a:picLocks noChangeAspect="1" noChangeArrowheads="1"/>
          </p:cNvPicPr>
          <p:nvPr/>
        </p:nvPicPr>
        <p:blipFill>
          <a:blip r:embed="rId3">
            <a:extLst>
              <a:ext uri="{28A0092B-C50C-407E-A947-70E740481C1C}">
                <a14:useLocalDpi xmlns:a14="http://schemas.microsoft.com/office/drawing/2010/main" val="0"/>
              </a:ext>
            </a:extLst>
          </a:blip>
          <a:srcRect b="33815"/>
          <a:stretch>
            <a:fillRect/>
          </a:stretch>
        </p:blipFill>
        <p:spPr bwMode="auto">
          <a:xfrm>
            <a:off x="319088" y="327025"/>
            <a:ext cx="8501062" cy="4032250"/>
          </a:xfrm>
          <a:prstGeom prst="rect">
            <a:avLst/>
          </a:prstGeom>
          <a:noFill/>
          <a:ln>
            <a:noFill/>
          </a:ln>
          <a:effectLst/>
          <a:extLst>
            <a:ext uri="{909E8E84-426E-40DD-AFC4-6F175D3DCCD1}">
              <a14:hiddenFill xmlns:a14="http://schemas.microsoft.com/office/drawing/2010/main">
                <a:blipFill dpi="0" rotWithShape="0">
                  <a:blip/>
                  <a:srcRect b="33815"/>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7" name="Text Box 2"/>
          <p:cNvSpPr txBox="1">
            <a:spLocks noChangeArrowheads="1"/>
          </p:cNvSpPr>
          <p:nvPr/>
        </p:nvSpPr>
        <p:spPr bwMode="auto">
          <a:xfrm>
            <a:off x="6804025" y="6357938"/>
            <a:ext cx="1800225"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buClrTx/>
              <a:buFontTx/>
              <a:buNone/>
            </a:pPr>
            <a:fld id="{390D0534-09A0-4631-93BA-6D7EDB6765E0}" type="datetime1">
              <a:rPr lang="en-US">
                <a:solidFill>
                  <a:srgbClr val="FFFFFF"/>
                </a:solidFill>
              </a:rPr>
              <a:pPr eaLnBrk="1" hangingPunct="1">
                <a:buClrTx/>
                <a:buFontTx/>
                <a:buNone/>
              </a:pPr>
              <a:t>3/12/2019</a:t>
            </a:fld>
            <a:endParaRPr lang="en-US">
              <a:solidFill>
                <a:srgbClr val="FFFFFF"/>
              </a:solidFill>
            </a:endParaRPr>
          </a:p>
        </p:txBody>
      </p:sp>
      <p:sp>
        <p:nvSpPr>
          <p:cNvPr id="6148" name="Text Box 3"/>
          <p:cNvSpPr txBox="1">
            <a:spLocks noChangeArrowheads="1"/>
          </p:cNvSpPr>
          <p:nvPr/>
        </p:nvSpPr>
        <p:spPr bwMode="auto">
          <a:xfrm>
            <a:off x="2557463" y="6357938"/>
            <a:ext cx="4102100"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buClrTx/>
              <a:buFontTx/>
              <a:buNone/>
            </a:pPr>
            <a:r>
              <a:rPr lang="en-US">
                <a:solidFill>
                  <a:srgbClr val="FFFFFF"/>
                </a:solidFill>
              </a:rPr>
              <a:t>– strictly confidential, confidential, internal, public –</a:t>
            </a:r>
          </a:p>
        </p:txBody>
      </p:sp>
      <p:sp>
        <p:nvSpPr>
          <p:cNvPr id="6149" name="Text Box 4"/>
          <p:cNvSpPr txBox="1">
            <a:spLocks noChangeArrowheads="1"/>
          </p:cNvSpPr>
          <p:nvPr/>
        </p:nvSpPr>
        <p:spPr bwMode="auto">
          <a:xfrm>
            <a:off x="8540750" y="6357938"/>
            <a:ext cx="288925"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buClrTx/>
              <a:buFontTx/>
              <a:buNone/>
            </a:pPr>
            <a:fld id="{5741A5E7-1DE2-426E-94BB-74B5A518B5CC}" type="slidenum">
              <a:rPr lang="en-US">
                <a:solidFill>
                  <a:srgbClr val="FFFFFF"/>
                </a:solidFill>
              </a:rPr>
              <a:pPr eaLnBrk="1" hangingPunct="1">
                <a:buClrTx/>
                <a:buFontTx/>
                <a:buNone/>
              </a:pPr>
              <a:t>1</a:t>
            </a:fld>
            <a:endParaRPr lang="en-US">
              <a:solidFill>
                <a:srgbClr val="FFFFFF"/>
              </a:solidFill>
            </a:endParaRPr>
          </a:p>
        </p:txBody>
      </p:sp>
      <p:pic>
        <p:nvPicPr>
          <p:cNvPr id="6150" name="Picture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1" name="Picture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52" name="Rectangle 7"/>
          <p:cNvSpPr>
            <a:spLocks noChangeArrowheads="1"/>
          </p:cNvSpPr>
          <p:nvPr/>
        </p:nvSpPr>
        <p:spPr bwMode="auto">
          <a:xfrm>
            <a:off x="0" y="6027738"/>
            <a:ext cx="9144000" cy="830262"/>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153" name="Rectangle 8"/>
          <p:cNvSpPr>
            <a:spLocks noChangeArrowheads="1"/>
          </p:cNvSpPr>
          <p:nvPr/>
        </p:nvSpPr>
        <p:spPr bwMode="auto">
          <a:xfrm>
            <a:off x="319088" y="4078288"/>
            <a:ext cx="8501062" cy="1706562"/>
          </a:xfrm>
          <a:prstGeom prst="rect">
            <a:avLst/>
          </a:prstGeom>
          <a:solidFill>
            <a:srgbClr val="9F4C97"/>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4400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ts val="3988"/>
              </a:lnSpc>
              <a:spcBef>
                <a:spcPct val="0"/>
              </a:spcBef>
              <a:buClrTx/>
              <a:buFontTx/>
              <a:buNone/>
            </a:pPr>
            <a:r>
              <a:rPr lang="en-US" sz="4000" dirty="0" smtClean="0">
                <a:solidFill>
                  <a:srgbClr val="FFFFFF"/>
                </a:solidFill>
              </a:rPr>
              <a:t>COC - Oracle </a:t>
            </a:r>
            <a:r>
              <a:rPr lang="en-US" sz="4000" dirty="0">
                <a:solidFill>
                  <a:srgbClr val="FFFFFF"/>
                </a:solidFill>
              </a:rPr>
              <a:t>Database Administration Fundamentals for SAP</a:t>
            </a:r>
          </a:p>
        </p:txBody>
      </p:sp>
      <p:sp>
        <p:nvSpPr>
          <p:cNvPr id="6154" name="Rectangle 9"/>
          <p:cNvSpPr>
            <a:spLocks noChangeArrowheads="1"/>
          </p:cNvSpPr>
          <p:nvPr/>
        </p:nvSpPr>
        <p:spPr bwMode="auto">
          <a:xfrm>
            <a:off x="468313" y="5159375"/>
            <a:ext cx="82073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615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2438" y="6102350"/>
            <a:ext cx="2165350" cy="444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6"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938" y="6065838"/>
            <a:ext cx="2444750" cy="5064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57" name="Rectangle 12"/>
          <p:cNvSpPr>
            <a:spLocks noChangeArrowheads="1"/>
          </p:cNvSpPr>
          <p:nvPr/>
        </p:nvSpPr>
        <p:spPr bwMode="auto">
          <a:xfrm flipV="1">
            <a:off x="319088" y="3789363"/>
            <a:ext cx="8501062" cy="287337"/>
          </a:xfrm>
          <a:prstGeom prst="rect">
            <a:avLst/>
          </a:prstGeom>
          <a:solidFill>
            <a:srgbClr val="9F4C97">
              <a:alpha val="59999"/>
            </a:srgbClr>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7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Course Objectives</a:t>
            </a:r>
            <a:br>
              <a:rPr lang="en-US" sz="3000">
                <a:solidFill>
                  <a:srgbClr val="9F4C97"/>
                </a:solidFill>
                <a:latin typeface="Tele-GroteskUlt" pitchFamily="2" charset="0"/>
                <a:ea typeface="TeleGrotesk Headline Ultra" pitchFamily="2" charset="0"/>
                <a:cs typeface="TeleGrotesk Headline Ultra" pitchFamily="2" charset="0"/>
              </a:rPr>
            </a:br>
            <a:endParaRPr lang="en-US" sz="3000">
              <a:solidFill>
                <a:srgbClr val="9F4C97"/>
              </a:solidFill>
              <a:latin typeface="Tele-GroteskUlt" pitchFamily="2" charset="0"/>
              <a:ea typeface="TeleGrotesk Headline Ultra" pitchFamily="2" charset="0"/>
              <a:cs typeface="TeleGrotesk Headline Ultra" pitchFamily="2" charset="0"/>
            </a:endParaRPr>
          </a:p>
        </p:txBody>
      </p:sp>
      <p:sp>
        <p:nvSpPr>
          <p:cNvPr id="717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Overview of database data storage model and file architecture</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Archiving process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Using Database Administration Tools – brtools, sql plus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Space Management</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Administrating Oracle Instances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Introduction to SQL</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SAP DB Monitors basics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Reorganization of segments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Backup restore scenario</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Troubleshooting of logs files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UNIT CONTENTS</a:t>
            </a:r>
          </a:p>
        </p:txBody>
      </p:sp>
      <p:sp>
        <p:nvSpPr>
          <p:cNvPr id="8196"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Database Architecture</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Environment Variables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Connecting to the database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1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Database Architecture – Basic Terms</a:t>
            </a:r>
            <a:br>
              <a:rPr lang="en-US" sz="3000">
                <a:solidFill>
                  <a:srgbClr val="9F4C97"/>
                </a:solidFill>
                <a:latin typeface="Tele-GroteskNor" pitchFamily="2" charset="0"/>
                <a:ea typeface="TeleGrotesk Headline Ultra" pitchFamily="2" charset="0"/>
                <a:cs typeface="TeleGrotesk Headline Ultra" pitchFamily="2" charset="0"/>
              </a:rPr>
            </a:br>
            <a:endParaRPr lang="en-US" sz="3000">
              <a:solidFill>
                <a:srgbClr val="9F4C97"/>
              </a:solidFill>
              <a:latin typeface="Tele-GroteskNor" pitchFamily="2" charset="0"/>
              <a:ea typeface="TeleGrotesk Headline Ultra" pitchFamily="2" charset="0"/>
              <a:cs typeface="TeleGrotesk Headline Ultra" pitchFamily="2" charset="0"/>
            </a:endParaRPr>
          </a:p>
        </p:txBody>
      </p:sp>
      <p:sp>
        <p:nvSpPr>
          <p:cNvPr id="11267"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smtClean="0">
                <a:solidFill>
                  <a:srgbClr val="000000"/>
                </a:solidFill>
                <a:latin typeface="Tele-GroteskNor" charset="0"/>
              </a:rPr>
              <a:t>Instance</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Active part of a database server</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It's a combination of Oracle (background) processes and memory buffers</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Every running Oracle database is associated with an Oracle instance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Database Architecture – Basic Terms</a:t>
            </a:r>
            <a:br>
              <a:rPr lang="en-US" sz="3000">
                <a:solidFill>
                  <a:srgbClr val="9F4C97"/>
                </a:solidFill>
                <a:latin typeface="Tele-GroteskNor" pitchFamily="2" charset="0"/>
                <a:ea typeface="TeleGrotesk Headline Ultra" pitchFamily="2" charset="0"/>
                <a:cs typeface="TeleGrotesk Headline Ultra" pitchFamily="2" charset="0"/>
              </a:rPr>
            </a:br>
            <a:endParaRPr lang="en-US" sz="3000">
              <a:solidFill>
                <a:srgbClr val="9F4C97"/>
              </a:solidFill>
              <a:latin typeface="Tele-GroteskNor" pitchFamily="2" charset="0"/>
              <a:ea typeface="TeleGrotesk Headline Ultra" pitchFamily="2" charset="0"/>
              <a:cs typeface="TeleGrotesk Headline Ultra" pitchFamily="2" charset="0"/>
            </a:endParaRPr>
          </a:p>
        </p:txBody>
      </p:sp>
      <p:sp>
        <p:nvSpPr>
          <p:cNvPr id="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smtClean="0">
                <a:solidFill>
                  <a:srgbClr val="000000"/>
                </a:solidFill>
                <a:latin typeface="Tele-GroteskNor" charset="0"/>
              </a:rPr>
              <a:t>Database</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Passive part of a database server</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It's a collection of data, logically treated as a unit</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It consists of 3 file types (data files, control files, redo log files)</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Physically, the data is stored in one or more data files on disks.</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Oracle manages database data in logical unites called </a:t>
            </a:r>
            <a:r>
              <a:rPr lang="en-US" sz="2400" dirty="0" err="1" smtClean="0">
                <a:solidFill>
                  <a:srgbClr val="000000"/>
                </a:solidFill>
                <a:latin typeface="Tele-GroteskNor" charset="0"/>
              </a:rPr>
              <a:t>tablespaces</a:t>
            </a:r>
            <a:r>
              <a:rPr lang="en-US" sz="2400" dirty="0" smtClean="0">
                <a:solidFill>
                  <a:srgbClr val="000000"/>
                </a:solidFill>
                <a:latin typeface="Tele-GroteskNor" charset="0"/>
              </a:rPr>
              <a:t>. A </a:t>
            </a:r>
            <a:r>
              <a:rPr lang="en-US" sz="2400" dirty="0" err="1" smtClean="0">
                <a:solidFill>
                  <a:srgbClr val="000000"/>
                </a:solidFill>
                <a:latin typeface="Tele-GroteskNor" charset="0"/>
              </a:rPr>
              <a:t>tablespace</a:t>
            </a:r>
            <a:r>
              <a:rPr lang="en-US" sz="2400" dirty="0" smtClean="0">
                <a:solidFill>
                  <a:srgbClr val="000000"/>
                </a:solidFill>
                <a:latin typeface="Tele-GroteskNor" charset="0"/>
              </a:rPr>
              <a:t> consists of one or more data files.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7"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Database Architecture</a:t>
            </a:r>
          </a:p>
        </p:txBody>
      </p:sp>
      <p:grpSp>
        <p:nvGrpSpPr>
          <p:cNvPr id="11269" name="Group 204"/>
          <p:cNvGrpSpPr>
            <a:grpSpLocks/>
          </p:cNvGrpSpPr>
          <p:nvPr/>
        </p:nvGrpSpPr>
        <p:grpSpPr bwMode="auto">
          <a:xfrm>
            <a:off x="902342" y="782638"/>
            <a:ext cx="7490388" cy="2269468"/>
            <a:chOff x="755576" y="160549"/>
            <a:chExt cx="7560840" cy="2980419"/>
          </a:xfrm>
        </p:grpSpPr>
        <p:sp>
          <p:nvSpPr>
            <p:cNvPr id="252" name="Rectangle 251"/>
            <p:cNvSpPr/>
            <p:nvPr/>
          </p:nvSpPr>
          <p:spPr>
            <a:xfrm>
              <a:off x="754928" y="1052849"/>
              <a:ext cx="7561875" cy="2088982"/>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53" name="Rectangle 252"/>
            <p:cNvSpPr/>
            <p:nvPr/>
          </p:nvSpPr>
          <p:spPr>
            <a:xfrm>
              <a:off x="761338" y="1052849"/>
              <a:ext cx="1354055" cy="348163"/>
            </a:xfrm>
            <a:prstGeom prst="rect">
              <a:avLst/>
            </a:prstGeom>
            <a:solidFill>
              <a:srgbClr val="C00000"/>
            </a:solidFill>
            <a:ln w="9525" cap="flat" cmpd="sng" algn="ctr">
              <a:no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b="1" kern="0" dirty="0">
                  <a:solidFill>
                    <a:sysClr val="window" lastClr="FFFFFF"/>
                  </a:solidFill>
                  <a:latin typeface="Calibri"/>
                  <a:ea typeface="+mn-ea"/>
                  <a:cs typeface="+mn-cs"/>
                </a:rPr>
                <a:t>Processes</a:t>
              </a:r>
            </a:p>
          </p:txBody>
        </p:sp>
        <p:grpSp>
          <p:nvGrpSpPr>
            <p:cNvPr id="11318" name="Group 253"/>
            <p:cNvGrpSpPr>
              <a:grpSpLocks/>
            </p:cNvGrpSpPr>
            <p:nvPr/>
          </p:nvGrpSpPr>
          <p:grpSpPr bwMode="auto">
            <a:xfrm>
              <a:off x="1621402" y="1401434"/>
              <a:ext cx="3485187" cy="1575792"/>
              <a:chOff x="1547664" y="1308956"/>
              <a:chExt cx="2880320" cy="1575792"/>
            </a:xfrm>
          </p:grpSpPr>
          <p:sp>
            <p:nvSpPr>
              <p:cNvPr id="263" name="Rectangle 262"/>
              <p:cNvSpPr/>
              <p:nvPr/>
            </p:nvSpPr>
            <p:spPr>
              <a:xfrm>
                <a:off x="1542732" y="1308533"/>
                <a:ext cx="2885701" cy="1576118"/>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Background processes</a:t>
                </a:r>
              </a:p>
            </p:txBody>
          </p:sp>
          <p:sp>
            <p:nvSpPr>
              <p:cNvPr id="264" name="Rectangle 263"/>
              <p:cNvSpPr/>
              <p:nvPr/>
            </p:nvSpPr>
            <p:spPr>
              <a:xfrm>
                <a:off x="1684091"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DBW0</a:t>
                </a:r>
              </a:p>
            </p:txBody>
          </p:sp>
          <p:sp>
            <p:nvSpPr>
              <p:cNvPr id="265" name="Rectangle 264"/>
              <p:cNvSpPr/>
              <p:nvPr/>
            </p:nvSpPr>
            <p:spPr>
              <a:xfrm>
                <a:off x="2116139"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LGWR</a:t>
                </a:r>
              </a:p>
            </p:txBody>
          </p:sp>
          <p:sp>
            <p:nvSpPr>
              <p:cNvPr id="266" name="Rectangle 265"/>
              <p:cNvSpPr/>
              <p:nvPr/>
            </p:nvSpPr>
            <p:spPr>
              <a:xfrm>
                <a:off x="2548187"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ARC0</a:t>
                </a:r>
              </a:p>
            </p:txBody>
          </p:sp>
          <p:sp>
            <p:nvSpPr>
              <p:cNvPr id="267" name="Rectangle 266"/>
              <p:cNvSpPr/>
              <p:nvPr/>
            </p:nvSpPr>
            <p:spPr>
              <a:xfrm>
                <a:off x="2980235"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CKPT</a:t>
                </a:r>
              </a:p>
            </p:txBody>
          </p:sp>
          <p:sp>
            <p:nvSpPr>
              <p:cNvPr id="268" name="Rectangle 267"/>
              <p:cNvSpPr/>
              <p:nvPr/>
            </p:nvSpPr>
            <p:spPr>
              <a:xfrm>
                <a:off x="3412283"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PMON</a:t>
                </a:r>
              </a:p>
            </p:txBody>
          </p:sp>
          <p:sp>
            <p:nvSpPr>
              <p:cNvPr id="269" name="Rectangle 268"/>
              <p:cNvSpPr/>
              <p:nvPr/>
            </p:nvSpPr>
            <p:spPr>
              <a:xfrm>
                <a:off x="3839446" y="1628800"/>
                <a:ext cx="432048" cy="112106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SMON</a:t>
                </a:r>
              </a:p>
            </p:txBody>
          </p:sp>
        </p:grpSp>
        <p:grpSp>
          <p:nvGrpSpPr>
            <p:cNvPr id="11319" name="Group 254"/>
            <p:cNvGrpSpPr>
              <a:grpSpLocks/>
            </p:cNvGrpSpPr>
            <p:nvPr/>
          </p:nvGrpSpPr>
          <p:grpSpPr bwMode="auto">
            <a:xfrm>
              <a:off x="5731286" y="160549"/>
              <a:ext cx="1717551" cy="2464713"/>
              <a:chOff x="5224586" y="204289"/>
              <a:chExt cx="1717551" cy="2464713"/>
            </a:xfrm>
          </p:grpSpPr>
          <p:sp>
            <p:nvSpPr>
              <p:cNvPr id="256" name="Rectangle 255"/>
              <p:cNvSpPr/>
              <p:nvPr/>
            </p:nvSpPr>
            <p:spPr>
              <a:xfrm>
                <a:off x="6510089" y="1205135"/>
                <a:ext cx="432048" cy="1121060"/>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sz="1600" kern="0" dirty="0">
                    <a:solidFill>
                      <a:sysClr val="windowText" lastClr="000000"/>
                    </a:solidFill>
                    <a:latin typeface="Calibri"/>
                    <a:ea typeface="+mn-ea"/>
                    <a:cs typeface="+mn-cs"/>
                  </a:rPr>
                  <a:t>SHADOW</a:t>
                </a:r>
              </a:p>
            </p:txBody>
          </p:sp>
          <p:sp>
            <p:nvSpPr>
              <p:cNvPr id="257" name="Rectangle 256"/>
              <p:cNvSpPr/>
              <p:nvPr/>
            </p:nvSpPr>
            <p:spPr>
              <a:xfrm>
                <a:off x="6228184" y="1386135"/>
                <a:ext cx="432048" cy="1121060"/>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sz="1600" kern="0" dirty="0">
                    <a:solidFill>
                      <a:sysClr val="windowText" lastClr="000000"/>
                    </a:solidFill>
                    <a:latin typeface="Calibri"/>
                    <a:ea typeface="+mn-ea"/>
                    <a:cs typeface="+mn-cs"/>
                  </a:rPr>
                  <a:t>SHADOW</a:t>
                </a:r>
              </a:p>
            </p:txBody>
          </p:sp>
          <p:sp>
            <p:nvSpPr>
              <p:cNvPr id="258" name="Rectangle 257"/>
              <p:cNvSpPr/>
              <p:nvPr/>
            </p:nvSpPr>
            <p:spPr>
              <a:xfrm>
                <a:off x="5940152" y="1547942"/>
                <a:ext cx="432048" cy="1121060"/>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ct val="100000"/>
                  </a:lnSpc>
                  <a:spcBef>
                    <a:spcPts val="0"/>
                  </a:spcBef>
                  <a:spcAft>
                    <a:spcPts val="0"/>
                  </a:spcAft>
                  <a:buClrTx/>
                  <a:buSzTx/>
                  <a:buFontTx/>
                  <a:buNone/>
                  <a:defRPr/>
                </a:pPr>
                <a:r>
                  <a:rPr lang="en-US" sz="1600" kern="0" dirty="0">
                    <a:solidFill>
                      <a:sysClr val="windowText" lastClr="000000"/>
                    </a:solidFill>
                    <a:latin typeface="Calibri"/>
                    <a:ea typeface="+mn-ea"/>
                    <a:cs typeface="+mn-cs"/>
                  </a:rPr>
                  <a:t>SHADOW</a:t>
                </a:r>
              </a:p>
            </p:txBody>
          </p:sp>
          <p:sp>
            <p:nvSpPr>
              <p:cNvPr id="259" name="Cloud 258"/>
              <p:cNvSpPr/>
              <p:nvPr/>
            </p:nvSpPr>
            <p:spPr>
              <a:xfrm>
                <a:off x="5225380" y="204289"/>
                <a:ext cx="1445393" cy="800568"/>
              </a:xfrm>
              <a:prstGeom prst="cloud">
                <a:avLst/>
              </a:prstGeom>
              <a:solidFill>
                <a:srgbClr val="4F81BD"/>
              </a:solidFill>
              <a:ln w="25400" cap="flat" cmpd="sng" algn="ctr">
                <a:solidFill>
                  <a:srgbClr val="4F81BD">
                    <a:shade val="50000"/>
                  </a:srgbClr>
                </a:solidFill>
                <a:prstDash val="solid"/>
              </a:ln>
              <a:effectLst/>
            </p:spPr>
            <p:txBody>
              <a:bodyPr anchor="ctr"/>
              <a:lstStyle/>
              <a:p>
                <a:pPr algn="ctr" defTabSz="914400" fontAlgn="auto">
                  <a:lnSpc>
                    <a:spcPct val="100000"/>
                  </a:lnSpc>
                  <a:spcBef>
                    <a:spcPts val="0"/>
                  </a:spcBef>
                  <a:spcAft>
                    <a:spcPts val="0"/>
                  </a:spcAft>
                  <a:buClrTx/>
                  <a:buSzTx/>
                  <a:buFontTx/>
                  <a:buNone/>
                  <a:defRPr/>
                </a:pPr>
                <a:r>
                  <a:rPr lang="en-US" sz="2800" b="1" kern="0" dirty="0">
                    <a:solidFill>
                      <a:sysClr val="window" lastClr="FFFFFF"/>
                    </a:solidFill>
                    <a:latin typeface="Calibri"/>
                    <a:ea typeface="+mn-ea"/>
                    <a:cs typeface="+mn-cs"/>
                  </a:rPr>
                  <a:t>SAP</a:t>
                </a:r>
              </a:p>
            </p:txBody>
          </p:sp>
          <p:cxnSp>
            <p:nvCxnSpPr>
              <p:cNvPr id="11324" name="Straight Arrow Connector 259"/>
              <p:cNvCxnSpPr>
                <a:cxnSpLocks noChangeShapeType="1"/>
                <a:stCxn id="256" idx="0"/>
              </p:cNvCxnSpPr>
              <p:nvPr/>
            </p:nvCxnSpPr>
            <p:spPr bwMode="auto">
              <a:xfrm flipH="1" flipV="1">
                <a:off x="6444208" y="836712"/>
                <a:ext cx="281905" cy="368423"/>
              </a:xfrm>
              <a:prstGeom prst="straightConnector1">
                <a:avLst/>
              </a:prstGeom>
              <a:noFill/>
              <a:ln w="2857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11325" name="Straight Arrow Connector 260"/>
              <p:cNvCxnSpPr>
                <a:cxnSpLocks noChangeShapeType="1"/>
              </p:cNvCxnSpPr>
              <p:nvPr/>
            </p:nvCxnSpPr>
            <p:spPr bwMode="auto">
              <a:xfrm flipH="1" flipV="1">
                <a:off x="6156176" y="1004760"/>
                <a:ext cx="288033" cy="396675"/>
              </a:xfrm>
              <a:prstGeom prst="straightConnector1">
                <a:avLst/>
              </a:prstGeom>
              <a:noFill/>
              <a:ln w="2857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11326" name="Straight Arrow Connector 261"/>
              <p:cNvCxnSpPr>
                <a:cxnSpLocks noChangeShapeType="1"/>
              </p:cNvCxnSpPr>
              <p:nvPr/>
            </p:nvCxnSpPr>
            <p:spPr bwMode="auto">
              <a:xfrm flipH="1" flipV="1">
                <a:off x="5724128" y="1004760"/>
                <a:ext cx="432049" cy="523087"/>
              </a:xfrm>
              <a:prstGeom prst="straightConnector1">
                <a:avLst/>
              </a:prstGeom>
              <a:noFill/>
              <a:ln w="2857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grpSp>
      </p:grpSp>
      <p:grpSp>
        <p:nvGrpSpPr>
          <p:cNvPr id="11270" name="Group 205"/>
          <p:cNvGrpSpPr>
            <a:grpSpLocks/>
          </p:cNvGrpSpPr>
          <p:nvPr/>
        </p:nvGrpSpPr>
        <p:grpSpPr bwMode="auto">
          <a:xfrm>
            <a:off x="896938" y="3071969"/>
            <a:ext cx="7490388" cy="1590104"/>
            <a:chOff x="755576" y="3212976"/>
            <a:chExt cx="7560840" cy="2088232"/>
          </a:xfrm>
        </p:grpSpPr>
        <p:sp>
          <p:nvSpPr>
            <p:cNvPr id="241" name="Rectangle 240"/>
            <p:cNvSpPr/>
            <p:nvPr/>
          </p:nvSpPr>
          <p:spPr>
            <a:xfrm>
              <a:off x="755576" y="3212771"/>
              <a:ext cx="7560272" cy="2088982"/>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42" name="Rectangle 241"/>
            <p:cNvSpPr/>
            <p:nvPr/>
          </p:nvSpPr>
          <p:spPr>
            <a:xfrm>
              <a:off x="761986" y="3227364"/>
              <a:ext cx="1721011" cy="333570"/>
            </a:xfrm>
            <a:prstGeom prst="rect">
              <a:avLst/>
            </a:prstGeom>
            <a:solidFill>
              <a:srgbClr val="C00000"/>
            </a:solidFill>
            <a:ln w="9525" cap="flat" cmpd="sng" algn="ctr">
              <a:no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b="1" kern="0" dirty="0">
                  <a:solidFill>
                    <a:sysClr val="window" lastClr="FFFFFF"/>
                  </a:solidFill>
                  <a:latin typeface="Calibri"/>
                  <a:ea typeface="+mn-ea"/>
                  <a:cs typeface="+mn-cs"/>
                </a:rPr>
                <a:t>Memory area</a:t>
              </a:r>
            </a:p>
          </p:txBody>
        </p:sp>
        <p:sp>
          <p:nvSpPr>
            <p:cNvPr id="243" name="Rectangle 242"/>
            <p:cNvSpPr/>
            <p:nvPr/>
          </p:nvSpPr>
          <p:spPr>
            <a:xfrm>
              <a:off x="1173810" y="3560934"/>
              <a:ext cx="4981960" cy="1576118"/>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System Global Area (SGA)</a:t>
              </a:r>
            </a:p>
          </p:txBody>
        </p:sp>
        <p:sp>
          <p:nvSpPr>
            <p:cNvPr id="244" name="Rectangle 243"/>
            <p:cNvSpPr/>
            <p:nvPr/>
          </p:nvSpPr>
          <p:spPr>
            <a:xfrm>
              <a:off x="1274764" y="3881995"/>
              <a:ext cx="1328415" cy="560815"/>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Calibri"/>
                  <a:ea typeface="+mn-ea"/>
                  <a:cs typeface="+mn-cs"/>
                </a:rPr>
                <a:t>Shared pool</a:t>
              </a:r>
            </a:p>
          </p:txBody>
        </p:sp>
        <p:sp>
          <p:nvSpPr>
            <p:cNvPr id="245" name="Rectangle 244"/>
            <p:cNvSpPr/>
            <p:nvPr/>
          </p:nvSpPr>
          <p:spPr>
            <a:xfrm>
              <a:off x="2699325" y="3881995"/>
              <a:ext cx="1328416" cy="560815"/>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Large pool</a:t>
              </a:r>
            </a:p>
          </p:txBody>
        </p:sp>
        <p:sp>
          <p:nvSpPr>
            <p:cNvPr id="246" name="Rectangle 245"/>
            <p:cNvSpPr/>
            <p:nvPr/>
          </p:nvSpPr>
          <p:spPr>
            <a:xfrm>
              <a:off x="4095043" y="3881995"/>
              <a:ext cx="1326813" cy="560815"/>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Large pool</a:t>
              </a:r>
            </a:p>
          </p:txBody>
        </p:sp>
        <p:sp>
          <p:nvSpPr>
            <p:cNvPr id="247" name="Rectangle 246"/>
            <p:cNvSpPr/>
            <p:nvPr/>
          </p:nvSpPr>
          <p:spPr>
            <a:xfrm>
              <a:off x="1274764" y="4509524"/>
              <a:ext cx="1328415" cy="56081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b="1" kern="0" dirty="0">
                  <a:solidFill>
                    <a:sysClr val="windowText" lastClr="000000"/>
                  </a:solidFill>
                  <a:latin typeface="Calibri"/>
                  <a:ea typeface="+mn-ea"/>
                  <a:cs typeface="+mn-cs"/>
                </a:rPr>
                <a:t>Java pool</a:t>
              </a:r>
            </a:p>
          </p:txBody>
        </p:sp>
        <p:sp>
          <p:nvSpPr>
            <p:cNvPr id="248" name="Rectangle 247"/>
            <p:cNvSpPr/>
            <p:nvPr/>
          </p:nvSpPr>
          <p:spPr>
            <a:xfrm>
              <a:off x="2699325" y="4509524"/>
              <a:ext cx="1328416" cy="56081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Calibri"/>
                  <a:ea typeface="+mn-ea"/>
                  <a:cs typeface="+mn-cs"/>
                </a:rPr>
                <a:t>Database buffer cache</a:t>
              </a:r>
            </a:p>
          </p:txBody>
        </p:sp>
        <p:sp>
          <p:nvSpPr>
            <p:cNvPr id="249" name="Rectangle 248"/>
            <p:cNvSpPr/>
            <p:nvPr/>
          </p:nvSpPr>
          <p:spPr>
            <a:xfrm>
              <a:off x="4095043" y="4509524"/>
              <a:ext cx="1326813" cy="56081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Calibri"/>
                  <a:ea typeface="+mn-ea"/>
                  <a:cs typeface="+mn-cs"/>
                </a:rPr>
                <a:t>Redo buffer</a:t>
              </a:r>
            </a:p>
          </p:txBody>
        </p:sp>
        <p:sp>
          <p:nvSpPr>
            <p:cNvPr id="250" name="Rectangle 249"/>
            <p:cNvSpPr/>
            <p:nvPr/>
          </p:nvSpPr>
          <p:spPr>
            <a:xfrm>
              <a:off x="5492363" y="3875741"/>
              <a:ext cx="591297" cy="560814"/>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a:t>
              </a:r>
            </a:p>
          </p:txBody>
        </p:sp>
        <p:sp>
          <p:nvSpPr>
            <p:cNvPr id="251" name="Rectangle 250"/>
            <p:cNvSpPr/>
            <p:nvPr/>
          </p:nvSpPr>
          <p:spPr>
            <a:xfrm>
              <a:off x="5492363" y="4509524"/>
              <a:ext cx="591297" cy="560814"/>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a:t>
              </a:r>
            </a:p>
          </p:txBody>
        </p:sp>
      </p:grpSp>
      <p:sp>
        <p:nvSpPr>
          <p:cNvPr id="207" name="Rectangle 206"/>
          <p:cNvSpPr/>
          <p:nvPr/>
        </p:nvSpPr>
        <p:spPr bwMode="auto">
          <a:xfrm>
            <a:off x="908050" y="4686300"/>
            <a:ext cx="7485063" cy="1589088"/>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08" name="Rectangle 207"/>
          <p:cNvSpPr/>
          <p:nvPr/>
        </p:nvSpPr>
        <p:spPr bwMode="auto">
          <a:xfrm>
            <a:off x="908050" y="4686300"/>
            <a:ext cx="1706563" cy="261938"/>
          </a:xfrm>
          <a:prstGeom prst="rect">
            <a:avLst/>
          </a:prstGeom>
          <a:solidFill>
            <a:srgbClr val="C00000"/>
          </a:solidFill>
          <a:ln w="9525" cap="flat" cmpd="sng" algn="ctr">
            <a:no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b="1" kern="0" dirty="0">
                <a:solidFill>
                  <a:sysClr val="window" lastClr="FFFFFF"/>
                </a:solidFill>
                <a:latin typeface="Calibri"/>
                <a:ea typeface="+mn-ea"/>
                <a:cs typeface="+mn-cs"/>
              </a:rPr>
              <a:t>Database files</a:t>
            </a:r>
          </a:p>
        </p:txBody>
      </p:sp>
      <p:sp>
        <p:nvSpPr>
          <p:cNvPr id="209" name="Rounded Rectangle 208"/>
          <p:cNvSpPr/>
          <p:nvPr/>
        </p:nvSpPr>
        <p:spPr bwMode="auto">
          <a:xfrm>
            <a:off x="1303338" y="5332413"/>
            <a:ext cx="550862" cy="368300"/>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10" name="TextBox 209"/>
          <p:cNvSpPr txBox="1"/>
          <p:nvPr/>
        </p:nvSpPr>
        <p:spPr bwMode="auto">
          <a:xfrm>
            <a:off x="1154113" y="5899150"/>
            <a:ext cx="944562" cy="304800"/>
          </a:xfrm>
          <a:prstGeom prst="rect">
            <a:avLst/>
          </a:prstGeom>
          <a:noFill/>
        </p:spPr>
        <p:txBody>
          <a:bodyPr>
            <a:spAutoFit/>
          </a:bodyPr>
          <a:lstStyle/>
          <a:p>
            <a:pP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Tele-GroteskFet" charset="0"/>
              </a:rPr>
              <a:t>Profile</a:t>
            </a:r>
          </a:p>
        </p:txBody>
      </p:sp>
      <p:sp>
        <p:nvSpPr>
          <p:cNvPr id="211" name="TextBox 210"/>
          <p:cNvSpPr txBox="1"/>
          <p:nvPr/>
        </p:nvSpPr>
        <p:spPr bwMode="auto">
          <a:xfrm>
            <a:off x="2117725" y="5922963"/>
            <a:ext cx="1646238" cy="304800"/>
          </a:xfrm>
          <a:prstGeom prst="rect">
            <a:avLst/>
          </a:prstGeom>
          <a:noFill/>
        </p:spPr>
        <p:txBody>
          <a:bodyPr>
            <a:spAutoFit/>
          </a:bodyPr>
          <a:lstStyle/>
          <a:p>
            <a:pP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Tele-GroteskFet" charset="0"/>
              </a:rPr>
              <a:t>Control file</a:t>
            </a:r>
          </a:p>
        </p:txBody>
      </p:sp>
      <p:grpSp>
        <p:nvGrpSpPr>
          <p:cNvPr id="11276" name="Group 211"/>
          <p:cNvGrpSpPr>
            <a:grpSpLocks/>
          </p:cNvGrpSpPr>
          <p:nvPr/>
        </p:nvGrpSpPr>
        <p:grpSpPr bwMode="auto">
          <a:xfrm>
            <a:off x="3849038" y="4885167"/>
            <a:ext cx="1261387" cy="955284"/>
            <a:chOff x="3625016" y="4788506"/>
            <a:chExt cx="1255888" cy="1237435"/>
          </a:xfrm>
        </p:grpSpPr>
        <p:sp>
          <p:nvSpPr>
            <p:cNvPr id="237" name="Rounded Rectangle 236"/>
            <p:cNvSpPr/>
            <p:nvPr/>
          </p:nvSpPr>
          <p:spPr>
            <a:xfrm>
              <a:off x="3625663" y="4796176"/>
              <a:ext cx="586394" cy="594294"/>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8" name="Rounded Rectangle 237"/>
            <p:cNvSpPr/>
            <p:nvPr/>
          </p:nvSpPr>
          <p:spPr>
            <a:xfrm>
              <a:off x="4283184" y="4787950"/>
              <a:ext cx="586394" cy="594294"/>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9" name="Rounded Rectangle 238"/>
            <p:cNvSpPr/>
            <p:nvPr/>
          </p:nvSpPr>
          <p:spPr>
            <a:xfrm>
              <a:off x="3636727" y="5431597"/>
              <a:ext cx="586395" cy="594295"/>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40" name="Rounded Rectangle 239"/>
            <p:cNvSpPr/>
            <p:nvPr/>
          </p:nvSpPr>
          <p:spPr>
            <a:xfrm>
              <a:off x="4294248" y="5423371"/>
              <a:ext cx="586395" cy="594295"/>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grpSp>
      <p:sp>
        <p:nvSpPr>
          <p:cNvPr id="213" name="TextBox 212"/>
          <p:cNvSpPr txBox="1"/>
          <p:nvPr/>
        </p:nvSpPr>
        <p:spPr bwMode="auto">
          <a:xfrm>
            <a:off x="3886200" y="5899150"/>
            <a:ext cx="1198563" cy="304800"/>
          </a:xfrm>
          <a:prstGeom prst="rect">
            <a:avLst/>
          </a:prstGeom>
          <a:noFill/>
        </p:spPr>
        <p:txBody>
          <a:bodyPr>
            <a:spAutoFit/>
          </a:bodyPr>
          <a:lstStyle/>
          <a:p>
            <a:pPr defTabSz="914400" fontAlgn="auto">
              <a:lnSpc>
                <a:spcPct val="100000"/>
              </a:lnSpc>
              <a:spcBef>
                <a:spcPts val="0"/>
              </a:spcBef>
              <a:spcAft>
                <a:spcPts val="0"/>
              </a:spcAft>
              <a:buClrTx/>
              <a:buSzTx/>
              <a:buFontTx/>
              <a:buNone/>
              <a:defRPr/>
            </a:pPr>
            <a:r>
              <a:rPr lang="en-US" sz="1600" b="1" kern="0" dirty="0">
                <a:solidFill>
                  <a:sysClr val="windowText" lastClr="000000"/>
                </a:solidFill>
                <a:latin typeface="Tele-GroteskFet" charset="0"/>
              </a:rPr>
              <a:t>Data files</a:t>
            </a:r>
          </a:p>
        </p:txBody>
      </p:sp>
      <p:grpSp>
        <p:nvGrpSpPr>
          <p:cNvPr id="11278" name="Group 213"/>
          <p:cNvGrpSpPr>
            <a:grpSpLocks/>
          </p:cNvGrpSpPr>
          <p:nvPr/>
        </p:nvGrpSpPr>
        <p:grpSpPr bwMode="auto">
          <a:xfrm>
            <a:off x="5447071" y="4947934"/>
            <a:ext cx="1094102" cy="816144"/>
            <a:chOff x="5220072" y="4879752"/>
            <a:chExt cx="1078135" cy="1046332"/>
          </a:xfrm>
        </p:grpSpPr>
        <p:sp>
          <p:nvSpPr>
            <p:cNvPr id="233" name="Rounded Rectangle 232"/>
            <p:cNvSpPr/>
            <p:nvPr/>
          </p:nvSpPr>
          <p:spPr>
            <a:xfrm>
              <a:off x="5526328" y="4880142"/>
              <a:ext cx="470864" cy="411119"/>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4" name="Rounded Rectangle 233"/>
            <p:cNvSpPr/>
            <p:nvPr/>
          </p:nvSpPr>
          <p:spPr>
            <a:xfrm>
              <a:off x="5219719" y="5177287"/>
              <a:ext cx="470864" cy="411119"/>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5" name="Rounded Rectangle 234"/>
            <p:cNvSpPr/>
            <p:nvPr/>
          </p:nvSpPr>
          <p:spPr>
            <a:xfrm>
              <a:off x="5826680" y="5173217"/>
              <a:ext cx="470864" cy="411119"/>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6" name="Rounded Rectangle 235"/>
            <p:cNvSpPr/>
            <p:nvPr/>
          </p:nvSpPr>
          <p:spPr>
            <a:xfrm>
              <a:off x="5540407" y="5515138"/>
              <a:ext cx="470865" cy="411119"/>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grpSp>
      <p:sp>
        <p:nvSpPr>
          <p:cNvPr id="215" name="Rounded Rectangle 214"/>
          <p:cNvSpPr/>
          <p:nvPr/>
        </p:nvSpPr>
        <p:spPr bwMode="auto">
          <a:xfrm>
            <a:off x="6877049" y="4830763"/>
            <a:ext cx="1198563" cy="1003300"/>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grpSp>
        <p:nvGrpSpPr>
          <p:cNvPr id="11280" name="Group 215"/>
          <p:cNvGrpSpPr>
            <a:grpSpLocks/>
          </p:cNvGrpSpPr>
          <p:nvPr/>
        </p:nvGrpSpPr>
        <p:grpSpPr bwMode="auto">
          <a:xfrm>
            <a:off x="2248928" y="5183576"/>
            <a:ext cx="1068414" cy="704360"/>
            <a:chOff x="2294065" y="5059457"/>
            <a:chExt cx="914126" cy="784059"/>
          </a:xfrm>
        </p:grpSpPr>
        <p:sp>
          <p:nvSpPr>
            <p:cNvPr id="230" name="Rounded Rectangle 229"/>
            <p:cNvSpPr/>
            <p:nvPr/>
          </p:nvSpPr>
          <p:spPr>
            <a:xfrm>
              <a:off x="2294544" y="5431888"/>
              <a:ext cx="471313" cy="411741"/>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1" name="Rounded Rectangle 230"/>
            <p:cNvSpPr/>
            <p:nvPr/>
          </p:nvSpPr>
          <p:spPr>
            <a:xfrm>
              <a:off x="2515939" y="5239272"/>
              <a:ext cx="471314" cy="411740"/>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232" name="Rounded Rectangle 231"/>
            <p:cNvSpPr/>
            <p:nvPr/>
          </p:nvSpPr>
          <p:spPr>
            <a:xfrm>
              <a:off x="2737334" y="5059025"/>
              <a:ext cx="471313" cy="411740"/>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grpSp>
      <p:sp>
        <p:nvSpPr>
          <p:cNvPr id="217" name="TextBox 216"/>
          <p:cNvSpPr txBox="1"/>
          <p:nvPr/>
        </p:nvSpPr>
        <p:spPr bwMode="auto">
          <a:xfrm>
            <a:off x="5110163" y="5853113"/>
            <a:ext cx="1760537" cy="388937"/>
          </a:xfrm>
          <a:prstGeom prst="rect">
            <a:avLst/>
          </a:prstGeom>
          <a:noFill/>
        </p:spPr>
        <p:txBody>
          <a:bodyPr>
            <a:spAutoFit/>
          </a:bodyPr>
          <a:lstStyle/>
          <a:p>
            <a:pPr algn="ctr" defTabSz="914400" fontAlgn="auto">
              <a:lnSpc>
                <a:spcPct val="100000"/>
              </a:lnSpc>
              <a:spcBef>
                <a:spcPts val="0"/>
              </a:spcBef>
              <a:spcAft>
                <a:spcPts val="0"/>
              </a:spcAft>
              <a:buClrTx/>
              <a:buSzTx/>
              <a:buFontTx/>
              <a:buNone/>
              <a:defRPr/>
            </a:pPr>
            <a:r>
              <a:rPr lang="en-US" sz="1400" b="1" kern="0" dirty="0">
                <a:solidFill>
                  <a:sysClr val="windowText" lastClr="000000"/>
                </a:solidFill>
                <a:latin typeface="Tele-GroteskFet" charset="0"/>
              </a:rPr>
              <a:t>Online redo log files</a:t>
            </a:r>
          </a:p>
        </p:txBody>
      </p:sp>
      <p:sp>
        <p:nvSpPr>
          <p:cNvPr id="218" name="TextBox 217"/>
          <p:cNvSpPr txBox="1"/>
          <p:nvPr/>
        </p:nvSpPr>
        <p:spPr bwMode="auto">
          <a:xfrm>
            <a:off x="6696075" y="5875338"/>
            <a:ext cx="1760538" cy="352425"/>
          </a:xfrm>
          <a:prstGeom prst="rect">
            <a:avLst/>
          </a:prstGeom>
          <a:noFill/>
        </p:spPr>
        <p:txBody>
          <a:bodyPr>
            <a:spAutoFit/>
          </a:bodyPr>
          <a:lstStyle/>
          <a:p>
            <a:pPr algn="ctr" defTabSz="914400" fontAlgn="auto">
              <a:lnSpc>
                <a:spcPct val="100000"/>
              </a:lnSpc>
              <a:spcBef>
                <a:spcPts val="0"/>
              </a:spcBef>
              <a:spcAft>
                <a:spcPts val="0"/>
              </a:spcAft>
              <a:buClrTx/>
              <a:buSzTx/>
              <a:buFontTx/>
              <a:buNone/>
              <a:defRPr/>
            </a:pPr>
            <a:r>
              <a:rPr lang="en-US" sz="1400" b="1" kern="0" dirty="0">
                <a:solidFill>
                  <a:sysClr val="windowText" lastClr="000000"/>
                </a:solidFill>
                <a:latin typeface="Tele-GroteskFet" charset="0"/>
              </a:rPr>
              <a:t>Offline redo log files</a:t>
            </a:r>
          </a:p>
        </p:txBody>
      </p:sp>
      <p:grpSp>
        <p:nvGrpSpPr>
          <p:cNvPr id="11283" name="Group 218"/>
          <p:cNvGrpSpPr>
            <a:grpSpLocks/>
          </p:cNvGrpSpPr>
          <p:nvPr/>
        </p:nvGrpSpPr>
        <p:grpSpPr bwMode="auto">
          <a:xfrm>
            <a:off x="6984588" y="4894389"/>
            <a:ext cx="997926" cy="855584"/>
            <a:chOff x="5950431" y="4754694"/>
            <a:chExt cx="951872" cy="952394"/>
          </a:xfrm>
        </p:grpSpPr>
        <p:sp>
          <p:nvSpPr>
            <p:cNvPr id="221" name="Rounded Rectangle 220"/>
            <p:cNvSpPr/>
            <p:nvPr/>
          </p:nvSpPr>
          <p:spPr>
            <a:xfrm>
              <a:off x="5950824" y="4754554"/>
              <a:ext cx="277106"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2" name="Rounded Rectangle 221"/>
            <p:cNvSpPr/>
            <p:nvPr/>
          </p:nvSpPr>
          <p:spPr>
            <a:xfrm>
              <a:off x="6285471" y="4761622"/>
              <a:ext cx="275591"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3" name="Rounded Rectangle 222"/>
            <p:cNvSpPr/>
            <p:nvPr/>
          </p:nvSpPr>
          <p:spPr>
            <a:xfrm>
              <a:off x="5950824" y="5095609"/>
              <a:ext cx="277106" cy="272138"/>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4" name="Rounded Rectangle 223"/>
            <p:cNvSpPr/>
            <p:nvPr/>
          </p:nvSpPr>
          <p:spPr>
            <a:xfrm>
              <a:off x="6285471" y="5102677"/>
              <a:ext cx="275591" cy="272138"/>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5" name="Rounded Rectangle 224"/>
            <p:cNvSpPr/>
            <p:nvPr/>
          </p:nvSpPr>
          <p:spPr>
            <a:xfrm>
              <a:off x="5959909" y="5426062"/>
              <a:ext cx="277106"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6" name="Rounded Rectangle 225"/>
            <p:cNvSpPr/>
            <p:nvPr/>
          </p:nvSpPr>
          <p:spPr>
            <a:xfrm>
              <a:off x="6294556" y="5433130"/>
              <a:ext cx="275591"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7" name="Rounded Rectangle 226"/>
            <p:cNvSpPr/>
            <p:nvPr/>
          </p:nvSpPr>
          <p:spPr>
            <a:xfrm>
              <a:off x="6615575" y="4761622"/>
              <a:ext cx="277105"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8" name="Rounded Rectangle 227"/>
            <p:cNvSpPr/>
            <p:nvPr/>
          </p:nvSpPr>
          <p:spPr>
            <a:xfrm>
              <a:off x="6615575" y="5102677"/>
              <a:ext cx="277105" cy="272138"/>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sp>
          <p:nvSpPr>
            <p:cNvPr id="229" name="Rounded Rectangle 228"/>
            <p:cNvSpPr/>
            <p:nvPr/>
          </p:nvSpPr>
          <p:spPr>
            <a:xfrm>
              <a:off x="6624660" y="5433130"/>
              <a:ext cx="277105" cy="273904"/>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u="sng" kern="0">
                <a:solidFill>
                  <a:sysClr val="windowText" lastClr="000000"/>
                </a:solidFill>
                <a:latin typeface="Calibri"/>
                <a:ea typeface="+mn-ea"/>
                <a:cs typeface="+mn-cs"/>
              </a:endParaRPr>
            </a:p>
          </p:txBody>
        </p:sp>
      </p:grpSp>
      <p:sp>
        <p:nvSpPr>
          <p:cNvPr id="220" name="Rectangle 219"/>
          <p:cNvSpPr/>
          <p:nvPr/>
        </p:nvSpPr>
        <p:spPr bwMode="auto">
          <a:xfrm>
            <a:off x="6540500" y="3336925"/>
            <a:ext cx="1609725" cy="1200150"/>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Program Global Area</a:t>
            </a:r>
          </a:p>
          <a:p>
            <a:pPr algn="ctr" defTabSz="914400" fontAlgn="auto">
              <a:lnSpc>
                <a:spcPct val="100000"/>
              </a:lnSpc>
              <a:spcBef>
                <a:spcPts val="0"/>
              </a:spcBef>
              <a:spcAft>
                <a:spcPts val="0"/>
              </a:spcAft>
              <a:buClrTx/>
              <a:buSzTx/>
              <a:buFontTx/>
              <a:buNone/>
              <a:defRPr/>
            </a:pPr>
            <a:r>
              <a:rPr lang="en-US" kern="0" dirty="0">
                <a:solidFill>
                  <a:sysClr val="windowText" lastClr="000000"/>
                </a:solidFill>
                <a:latin typeface="Calibri"/>
                <a:ea typeface="+mn-ea"/>
                <a:cs typeface="+mn-cs"/>
              </a:rPr>
              <a:t>(PGA)</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Listener</a:t>
            </a:r>
          </a:p>
        </p:txBody>
      </p:sp>
      <p:sp>
        <p:nvSpPr>
          <p:cNvPr id="1229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Its responsibility is to listen for incoming connection requests and it forwards the requests to the server </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Once a connection is established, the client and Oracle database server communicate directly with one another </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The listener is configured with a protocol address; only clients configured with the same protocol address can send connection requests to listener</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For checking a connection to the listener, there is a tool: tnsping</a:t>
            </a: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16"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Listener</a:t>
            </a:r>
          </a:p>
        </p:txBody>
      </p:sp>
      <p:sp>
        <p:nvSpPr>
          <p:cNvPr id="14340" name="Text Box 4"/>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dirty="0" smtClean="0">
                <a:solidFill>
                  <a:srgbClr val="000000"/>
                </a:solidFill>
                <a:latin typeface="Tele-GroteskNor" charset="0"/>
              </a:rPr>
              <a:t>$ORACLE_HOME/network/admin</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err="1">
                <a:solidFill>
                  <a:srgbClr val="000000"/>
                </a:solidFill>
                <a:latin typeface="Tele-GroteskNor" charset="0"/>
              </a:rPr>
              <a:t>listener.ora</a:t>
            </a:r>
            <a:endParaRPr lang="en-US" sz="2400" dirty="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err="1">
                <a:solidFill>
                  <a:srgbClr val="000000"/>
                </a:solidFill>
                <a:latin typeface="Tele-GroteskNor" charset="0"/>
              </a:rPr>
              <a:t>tnsnames.ora</a:t>
            </a:r>
            <a:endParaRPr lang="en-US" sz="2400" dirty="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err="1">
                <a:solidFill>
                  <a:srgbClr val="000000"/>
                </a:solidFill>
                <a:latin typeface="Tele-GroteskNor" charset="0"/>
              </a:rPr>
              <a:t>sqlnet.ora</a:t>
            </a:r>
            <a:endParaRPr lang="en-US" sz="2400" dirty="0">
              <a:solidFill>
                <a:srgbClr val="000000"/>
              </a:solidFill>
              <a:latin typeface="Tele-GroteskNor" charset="0"/>
            </a:endParaRPr>
          </a:p>
        </p:txBody>
      </p:sp>
      <p:grpSp>
        <p:nvGrpSpPr>
          <p:cNvPr id="6" name="Group 5"/>
          <p:cNvGrpSpPr/>
          <p:nvPr/>
        </p:nvGrpSpPr>
        <p:grpSpPr>
          <a:xfrm>
            <a:off x="2699792" y="2073554"/>
            <a:ext cx="6101307" cy="4019741"/>
            <a:chOff x="2699792" y="2073554"/>
            <a:chExt cx="6101307" cy="4019741"/>
          </a:xfrm>
        </p:grpSpPr>
        <p:sp>
          <p:nvSpPr>
            <p:cNvPr id="7" name="Rectangle 6"/>
            <p:cNvSpPr/>
            <p:nvPr/>
          </p:nvSpPr>
          <p:spPr bwMode="auto">
            <a:xfrm>
              <a:off x="6649938" y="2073554"/>
              <a:ext cx="2151161" cy="401974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cxnSp>
          <p:nvCxnSpPr>
            <p:cNvPr id="8" name="Straight Arrow Connector 7"/>
            <p:cNvCxnSpPr>
              <a:stCxn id="16" idx="3"/>
              <a:endCxn id="18" idx="0"/>
            </p:cNvCxnSpPr>
            <p:nvPr/>
          </p:nvCxnSpPr>
          <p:spPr bwMode="auto">
            <a:xfrm flipH="1">
              <a:off x="8208073" y="3903757"/>
              <a:ext cx="292" cy="782101"/>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bwMode="auto">
            <a:xfrm>
              <a:off x="2699792" y="2329340"/>
              <a:ext cx="2088232" cy="361994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algn="ctr" defTabSz="914400" fontAlgn="auto">
                <a:lnSpc>
                  <a:spcPct val="100000"/>
                </a:lnSpc>
                <a:spcBef>
                  <a:spcPts val="0"/>
                </a:spcBef>
                <a:spcAft>
                  <a:spcPts val="0"/>
                </a:spcAft>
                <a:buClrTx/>
                <a:buSzTx/>
                <a:buFontTx/>
                <a:buNone/>
                <a:defRPr/>
              </a:pPr>
              <a:endParaRPr lang="en-US" kern="0">
                <a:solidFill>
                  <a:sysClr val="windowText" lastClr="000000"/>
                </a:solidFill>
                <a:latin typeface="Calibri"/>
                <a:ea typeface="+mn-ea"/>
                <a:cs typeface="+mn-cs"/>
              </a:endParaRPr>
            </a:p>
          </p:txBody>
        </p:sp>
        <p:sp>
          <p:nvSpPr>
            <p:cNvPr id="10" name="Rectangle 9"/>
            <p:cNvSpPr/>
            <p:nvPr/>
          </p:nvSpPr>
          <p:spPr bwMode="auto">
            <a:xfrm>
              <a:off x="2699792" y="2329339"/>
              <a:ext cx="2088232" cy="265112"/>
            </a:xfrm>
            <a:prstGeom prst="rect">
              <a:avLst/>
            </a:prstGeom>
            <a:solidFill>
              <a:srgbClr val="C00000"/>
            </a:solidFill>
            <a:ln w="9525" cap="flat" cmpd="sng" algn="ctr">
              <a:no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sz="1600" kern="0" dirty="0" smtClean="0">
                  <a:solidFill>
                    <a:sysClr val="window" lastClr="FFFFFF"/>
                  </a:solidFill>
                  <a:latin typeface="Calibri"/>
                  <a:ea typeface="+mn-ea"/>
                  <a:cs typeface="+mn-cs"/>
                </a:rPr>
                <a:t>SAP application server</a:t>
              </a:r>
              <a:endParaRPr lang="en-US" sz="1600" kern="0" dirty="0">
                <a:solidFill>
                  <a:sysClr val="window" lastClr="FFFFFF"/>
                </a:solidFill>
                <a:latin typeface="Calibri"/>
                <a:ea typeface="+mn-ea"/>
                <a:cs typeface="+mn-cs"/>
              </a:endParaRPr>
            </a:p>
          </p:txBody>
        </p:sp>
        <p:sp>
          <p:nvSpPr>
            <p:cNvPr id="11" name="Rectangle 10"/>
            <p:cNvSpPr/>
            <p:nvPr/>
          </p:nvSpPr>
          <p:spPr bwMode="auto">
            <a:xfrm rot="5400000">
              <a:off x="3606918" y="3830626"/>
              <a:ext cx="428022" cy="1098471"/>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ts val="13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SAP Work process</a:t>
              </a:r>
              <a:endParaRPr lang="en-US" sz="1600" kern="0" dirty="0">
                <a:solidFill>
                  <a:sysClr val="windowText" lastClr="000000"/>
                </a:solidFill>
                <a:latin typeface="Calibri"/>
                <a:ea typeface="+mn-ea"/>
                <a:cs typeface="+mn-cs"/>
              </a:endParaRPr>
            </a:p>
          </p:txBody>
        </p:sp>
        <p:sp>
          <p:nvSpPr>
            <p:cNvPr id="12" name="Rectangle 11"/>
            <p:cNvSpPr/>
            <p:nvPr/>
          </p:nvSpPr>
          <p:spPr bwMode="auto">
            <a:xfrm rot="5400000">
              <a:off x="3378371" y="4022941"/>
              <a:ext cx="428022" cy="1098471"/>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ts val="13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SAP Work process</a:t>
              </a:r>
              <a:endParaRPr lang="en-US" sz="1600" kern="0" dirty="0">
                <a:solidFill>
                  <a:sysClr val="windowText" lastClr="000000"/>
                </a:solidFill>
                <a:latin typeface="Calibri"/>
                <a:ea typeface="+mn-ea"/>
                <a:cs typeface="+mn-cs"/>
              </a:endParaRPr>
            </a:p>
          </p:txBody>
        </p:sp>
        <p:sp>
          <p:nvSpPr>
            <p:cNvPr id="13" name="Rectangle 12"/>
            <p:cNvSpPr/>
            <p:nvPr/>
          </p:nvSpPr>
          <p:spPr bwMode="auto">
            <a:xfrm rot="5400000">
              <a:off x="3185606" y="4283093"/>
              <a:ext cx="428022" cy="1098471"/>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ts val="13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SAP Work process</a:t>
              </a:r>
              <a:endParaRPr lang="en-US" sz="1600" kern="0" dirty="0">
                <a:solidFill>
                  <a:sysClr val="windowText" lastClr="000000"/>
                </a:solidFill>
                <a:latin typeface="Calibri"/>
                <a:ea typeface="+mn-ea"/>
                <a:cs typeface="+mn-cs"/>
              </a:endParaRPr>
            </a:p>
          </p:txBody>
        </p:sp>
        <p:sp>
          <p:nvSpPr>
            <p:cNvPr id="14" name="Rectangle 13"/>
            <p:cNvSpPr/>
            <p:nvPr/>
          </p:nvSpPr>
          <p:spPr bwMode="auto">
            <a:xfrm>
              <a:off x="6649939" y="2073554"/>
              <a:ext cx="2151160" cy="265112"/>
            </a:xfrm>
            <a:prstGeom prst="rect">
              <a:avLst/>
            </a:prstGeom>
            <a:solidFill>
              <a:srgbClr val="C00000"/>
            </a:solidFill>
            <a:ln w="9525" cap="flat" cmpd="sng" algn="ctr">
              <a:noFill/>
              <a:prstDash val="solid"/>
            </a:ln>
            <a:effectLst>
              <a:outerShdw blurRad="40000" dist="20000" dir="5400000" rotWithShape="0">
                <a:srgbClr val="000000">
                  <a:alpha val="38000"/>
                </a:srgbClr>
              </a:outerShdw>
            </a:effectLst>
          </p:spPr>
          <p:txBody>
            <a:bodyPr lIns="0" tIns="0" rIns="0" bIns="0"/>
            <a:lstStyle/>
            <a:p>
              <a:pPr algn="ctr" defTabSz="914400" fontAlgn="auto">
                <a:lnSpc>
                  <a:spcPct val="100000"/>
                </a:lnSpc>
                <a:spcBef>
                  <a:spcPts val="0"/>
                </a:spcBef>
                <a:spcAft>
                  <a:spcPts val="0"/>
                </a:spcAft>
                <a:buClrTx/>
                <a:buSzTx/>
                <a:buFontTx/>
                <a:buNone/>
                <a:defRPr/>
              </a:pPr>
              <a:r>
                <a:rPr lang="en-US" sz="1600" kern="0" dirty="0" smtClean="0">
                  <a:solidFill>
                    <a:sysClr val="window" lastClr="FFFFFF"/>
                  </a:solidFill>
                  <a:latin typeface="Calibri"/>
                  <a:ea typeface="+mn-ea"/>
                  <a:cs typeface="+mn-cs"/>
                </a:rPr>
                <a:t>Database server</a:t>
              </a:r>
              <a:endParaRPr lang="en-US" sz="1600" kern="0" dirty="0">
                <a:solidFill>
                  <a:sysClr val="window" lastClr="FFFFFF"/>
                </a:solidFill>
                <a:latin typeface="Calibri"/>
                <a:ea typeface="+mn-ea"/>
                <a:cs typeface="+mn-cs"/>
              </a:endParaRPr>
            </a:p>
          </p:txBody>
        </p:sp>
        <p:sp>
          <p:nvSpPr>
            <p:cNvPr id="15" name="Rectangle 14"/>
            <p:cNvSpPr/>
            <p:nvPr/>
          </p:nvSpPr>
          <p:spPr bwMode="auto">
            <a:xfrm>
              <a:off x="6736066" y="4077072"/>
              <a:ext cx="830987" cy="57513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b="1" kern="0" dirty="0" smtClean="0">
                  <a:solidFill>
                    <a:sysClr val="windowText" lastClr="000000"/>
                  </a:solidFill>
                  <a:latin typeface="Calibri"/>
                  <a:ea typeface="+mn-ea"/>
                  <a:cs typeface="+mn-cs"/>
                </a:rPr>
                <a:t>Oracle</a:t>
              </a:r>
            </a:p>
            <a:p>
              <a:pPr algn="ctr" defTabSz="914400" fontAlgn="auto">
                <a:lnSpc>
                  <a:spcPct val="100000"/>
                </a:lnSpc>
                <a:spcBef>
                  <a:spcPts val="0"/>
                </a:spcBef>
                <a:spcAft>
                  <a:spcPts val="0"/>
                </a:spcAft>
                <a:buClrTx/>
                <a:buSzTx/>
                <a:buFontTx/>
                <a:buNone/>
                <a:defRPr/>
              </a:pPr>
              <a:r>
                <a:rPr lang="en-US" sz="1600" b="1" kern="0" dirty="0" smtClean="0">
                  <a:solidFill>
                    <a:sysClr val="windowText" lastClr="000000"/>
                  </a:solidFill>
                  <a:latin typeface="Calibri"/>
                  <a:ea typeface="+mn-ea"/>
                  <a:cs typeface="+mn-cs"/>
                </a:rPr>
                <a:t>listener</a:t>
              </a:r>
              <a:endParaRPr lang="en-US" sz="1600" b="1" kern="0" dirty="0">
                <a:solidFill>
                  <a:sysClr val="windowText" lastClr="000000"/>
                </a:solidFill>
                <a:latin typeface="Calibri"/>
                <a:ea typeface="+mn-ea"/>
                <a:cs typeface="+mn-cs"/>
              </a:endParaRPr>
            </a:p>
          </p:txBody>
        </p:sp>
        <p:sp>
          <p:nvSpPr>
            <p:cNvPr id="16" name="Rectangle 15"/>
            <p:cNvSpPr/>
            <p:nvPr/>
          </p:nvSpPr>
          <p:spPr bwMode="auto">
            <a:xfrm rot="5400000">
              <a:off x="7994354" y="3140510"/>
              <a:ext cx="428022" cy="1098471"/>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vert="vert270" lIns="0" tIns="0" rIns="0" bIns="0" anchor="ctr"/>
            <a:lstStyle/>
            <a:p>
              <a:pPr algn="ctr" defTabSz="914400" fontAlgn="auto">
                <a:lnSpc>
                  <a:spcPts val="1300"/>
                </a:lnSpc>
                <a:spcBef>
                  <a:spcPts val="0"/>
                </a:spcBef>
                <a:spcAft>
                  <a:spcPts val="0"/>
                </a:spcAft>
                <a:buClrTx/>
                <a:buSzTx/>
                <a:buFontTx/>
                <a:buNone/>
                <a:defRPr/>
              </a:pPr>
              <a:r>
                <a:rPr lang="en-US" sz="1400" kern="0" dirty="0" smtClean="0">
                  <a:solidFill>
                    <a:sysClr val="windowText" lastClr="000000"/>
                  </a:solidFill>
                  <a:latin typeface="Calibri"/>
                  <a:ea typeface="+mn-ea"/>
                  <a:cs typeface="+mn-cs"/>
                </a:rPr>
                <a:t>SAP Work process</a:t>
              </a:r>
              <a:endParaRPr lang="en-US" sz="1400" kern="0" dirty="0">
                <a:solidFill>
                  <a:sysClr val="windowText" lastClr="000000"/>
                </a:solidFill>
                <a:latin typeface="Calibri"/>
                <a:ea typeface="+mn-ea"/>
                <a:cs typeface="+mn-cs"/>
              </a:endParaRPr>
            </a:p>
          </p:txBody>
        </p:sp>
        <p:sp>
          <p:nvSpPr>
            <p:cNvPr id="17" name="Rectangle 16"/>
            <p:cNvSpPr/>
            <p:nvPr/>
          </p:nvSpPr>
          <p:spPr bwMode="auto">
            <a:xfrm>
              <a:off x="7659129" y="4016963"/>
              <a:ext cx="1098472" cy="404787"/>
            </a:xfrm>
            <a:prstGeom prst="rect">
              <a:avLst/>
            </a:prstGeom>
            <a:gradFill flip="none" rotWithShape="1">
              <a:gsLst>
                <a:gs pos="0">
                  <a:schemeClr val="bg1">
                    <a:lumMod val="65000"/>
                  </a:schemeClr>
                </a:gs>
                <a:gs pos="100000">
                  <a:schemeClr val="accent4">
                    <a:lumMod val="100000"/>
                  </a:schemeClr>
                </a:gs>
              </a:gsLst>
              <a:path path="circle">
                <a:fillToRect l="50000" t="-80000" r="50000" b="180000"/>
              </a:path>
              <a:tileRect/>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400" kern="0" dirty="0" err="1" smtClean="0">
                  <a:latin typeface="Calibri"/>
                  <a:ea typeface="+mn-ea"/>
                  <a:cs typeface="+mn-cs"/>
                </a:rPr>
                <a:t>OracleNet</a:t>
              </a:r>
              <a:endParaRPr lang="en-US" sz="1400" kern="0" dirty="0" smtClean="0">
                <a:latin typeface="Calibri"/>
                <a:ea typeface="+mn-ea"/>
                <a:cs typeface="+mn-cs"/>
              </a:endParaRPr>
            </a:p>
            <a:p>
              <a:pPr algn="ctr" defTabSz="914400" fontAlgn="auto">
                <a:lnSpc>
                  <a:spcPct val="100000"/>
                </a:lnSpc>
                <a:spcBef>
                  <a:spcPts val="0"/>
                </a:spcBef>
                <a:spcAft>
                  <a:spcPts val="0"/>
                </a:spcAft>
                <a:buClrTx/>
                <a:buSzTx/>
                <a:buFontTx/>
                <a:buNone/>
                <a:defRPr/>
              </a:pPr>
              <a:r>
                <a:rPr lang="en-US" sz="1400" kern="0" dirty="0" smtClean="0">
                  <a:latin typeface="Calibri"/>
                  <a:ea typeface="+mn-ea"/>
                  <a:cs typeface="+mn-cs"/>
                </a:rPr>
                <a:t>TCP/IP</a:t>
              </a:r>
              <a:endParaRPr lang="en-US" sz="1400" kern="0" dirty="0">
                <a:latin typeface="Calibri"/>
                <a:ea typeface="+mn-ea"/>
                <a:cs typeface="+mn-cs"/>
              </a:endParaRPr>
            </a:p>
          </p:txBody>
        </p:sp>
        <p:sp>
          <p:nvSpPr>
            <p:cNvPr id="18" name="Rectangle 17"/>
            <p:cNvSpPr/>
            <p:nvPr/>
          </p:nvSpPr>
          <p:spPr bwMode="auto">
            <a:xfrm>
              <a:off x="7792579" y="4685858"/>
              <a:ext cx="830987" cy="28367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Shadow</a:t>
              </a:r>
              <a:endParaRPr lang="en-US" sz="1600" kern="0" dirty="0">
                <a:solidFill>
                  <a:sysClr val="windowText" lastClr="000000"/>
                </a:solidFill>
                <a:latin typeface="Calibri"/>
                <a:ea typeface="+mn-ea"/>
                <a:cs typeface="+mn-cs"/>
              </a:endParaRPr>
            </a:p>
          </p:txBody>
        </p:sp>
        <p:sp>
          <p:nvSpPr>
            <p:cNvPr id="19" name="Rectangle 18"/>
            <p:cNvSpPr/>
            <p:nvPr/>
          </p:nvSpPr>
          <p:spPr bwMode="auto">
            <a:xfrm>
              <a:off x="7723958" y="4883615"/>
              <a:ext cx="830987" cy="28367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Shadow</a:t>
              </a:r>
              <a:endParaRPr lang="en-US" sz="1600" kern="0" dirty="0">
                <a:solidFill>
                  <a:sysClr val="windowText" lastClr="000000"/>
                </a:solidFill>
                <a:latin typeface="Calibri"/>
                <a:ea typeface="+mn-ea"/>
                <a:cs typeface="+mn-cs"/>
              </a:endParaRPr>
            </a:p>
          </p:txBody>
        </p:sp>
        <p:sp>
          <p:nvSpPr>
            <p:cNvPr id="20" name="Rectangle 19"/>
            <p:cNvSpPr/>
            <p:nvPr/>
          </p:nvSpPr>
          <p:spPr bwMode="auto">
            <a:xfrm>
              <a:off x="7631882" y="5094124"/>
              <a:ext cx="830987" cy="28367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Shadow</a:t>
              </a:r>
              <a:endParaRPr lang="en-US" sz="1600" kern="0" dirty="0">
                <a:solidFill>
                  <a:sysClr val="windowText" lastClr="000000"/>
                </a:solidFill>
                <a:latin typeface="Calibri"/>
                <a:ea typeface="+mn-ea"/>
                <a:cs typeface="+mn-cs"/>
              </a:endParaRPr>
            </a:p>
          </p:txBody>
        </p:sp>
        <p:sp>
          <p:nvSpPr>
            <p:cNvPr id="21" name="Rounded Rectangle 20"/>
            <p:cNvSpPr/>
            <p:nvPr/>
          </p:nvSpPr>
          <p:spPr bwMode="auto">
            <a:xfrm>
              <a:off x="6736066" y="5315694"/>
              <a:ext cx="881344" cy="638618"/>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tnsnames.ora</a:t>
              </a:r>
              <a:endParaRPr lang="en-US" sz="1100" kern="0" dirty="0" smtClean="0">
                <a:solidFill>
                  <a:sysClr val="windowText" lastClr="000000"/>
                </a:solidFill>
                <a:latin typeface="Calibri"/>
                <a:ea typeface="+mn-ea"/>
                <a:cs typeface="+mn-cs"/>
              </a:endParaRPr>
            </a:p>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sqlnet.ora</a:t>
              </a:r>
              <a:endParaRPr lang="en-US" sz="1100" kern="0" dirty="0" smtClean="0">
                <a:solidFill>
                  <a:sysClr val="windowText" lastClr="000000"/>
                </a:solidFill>
                <a:latin typeface="Calibri"/>
                <a:ea typeface="+mn-ea"/>
                <a:cs typeface="+mn-cs"/>
              </a:endParaRPr>
            </a:p>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listener.ora</a:t>
              </a:r>
              <a:endParaRPr lang="en-US" sz="1100" kern="0" dirty="0">
                <a:solidFill>
                  <a:sysClr val="windowText" lastClr="000000"/>
                </a:solidFill>
                <a:latin typeface="Calibri"/>
                <a:ea typeface="+mn-ea"/>
                <a:cs typeface="+mn-cs"/>
              </a:endParaRPr>
            </a:p>
          </p:txBody>
        </p:sp>
        <p:sp>
          <p:nvSpPr>
            <p:cNvPr id="22" name="Rounded Rectangle 21"/>
            <p:cNvSpPr/>
            <p:nvPr/>
          </p:nvSpPr>
          <p:spPr bwMode="auto">
            <a:xfrm>
              <a:off x="3803365" y="5147151"/>
              <a:ext cx="881344" cy="638618"/>
            </a:xfrm>
            <a:prstGeom prst="round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tnsnames.ora</a:t>
              </a:r>
              <a:endParaRPr lang="en-US" sz="1100" kern="0" dirty="0" smtClean="0">
                <a:solidFill>
                  <a:sysClr val="windowText" lastClr="000000"/>
                </a:solidFill>
                <a:latin typeface="Calibri"/>
                <a:ea typeface="+mn-ea"/>
                <a:cs typeface="+mn-cs"/>
              </a:endParaRPr>
            </a:p>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sqlnet.ora</a:t>
              </a:r>
              <a:endParaRPr lang="en-US" sz="1100" kern="0" dirty="0" smtClean="0">
                <a:solidFill>
                  <a:sysClr val="windowText" lastClr="000000"/>
                </a:solidFill>
                <a:latin typeface="Calibri"/>
                <a:ea typeface="+mn-ea"/>
                <a:cs typeface="+mn-cs"/>
              </a:endParaRPr>
            </a:p>
            <a:p>
              <a:pPr algn="ctr" defTabSz="914400" fontAlgn="auto">
                <a:lnSpc>
                  <a:spcPct val="100000"/>
                </a:lnSpc>
                <a:spcBef>
                  <a:spcPts val="0"/>
                </a:spcBef>
                <a:spcAft>
                  <a:spcPts val="0"/>
                </a:spcAft>
                <a:buClrTx/>
                <a:buSzTx/>
                <a:buFontTx/>
                <a:buNone/>
                <a:defRPr/>
              </a:pPr>
              <a:r>
                <a:rPr lang="en-US" sz="1100" kern="0" dirty="0" err="1" smtClean="0">
                  <a:solidFill>
                    <a:sysClr val="windowText" lastClr="000000"/>
                  </a:solidFill>
                  <a:latin typeface="Calibri"/>
                  <a:ea typeface="+mn-ea"/>
                  <a:cs typeface="+mn-cs"/>
                </a:rPr>
                <a:t>listener.ora</a:t>
              </a:r>
              <a:endParaRPr lang="en-US" sz="1100" kern="0" dirty="0">
                <a:solidFill>
                  <a:sysClr val="windowText" lastClr="000000"/>
                </a:solidFill>
                <a:latin typeface="Calibri"/>
                <a:ea typeface="+mn-ea"/>
                <a:cs typeface="+mn-cs"/>
              </a:endParaRPr>
            </a:p>
          </p:txBody>
        </p:sp>
        <p:cxnSp>
          <p:nvCxnSpPr>
            <p:cNvPr id="23" name="Straight Arrow Connector 22"/>
            <p:cNvCxnSpPr>
              <a:stCxn id="15" idx="2"/>
              <a:endCxn id="18" idx="1"/>
            </p:cNvCxnSpPr>
            <p:nvPr/>
          </p:nvCxnSpPr>
          <p:spPr bwMode="auto">
            <a:xfrm>
              <a:off x="7151560" y="4652206"/>
              <a:ext cx="641019" cy="175488"/>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p:cNvCxnSpPr>
              <a:stCxn id="15" idx="2"/>
              <a:endCxn id="19" idx="1"/>
            </p:cNvCxnSpPr>
            <p:nvPr/>
          </p:nvCxnSpPr>
          <p:spPr bwMode="auto">
            <a:xfrm>
              <a:off x="7151560" y="4652206"/>
              <a:ext cx="572398" cy="373245"/>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p:cNvCxnSpPr>
              <a:stCxn id="15" idx="2"/>
              <a:endCxn id="20" idx="1"/>
            </p:cNvCxnSpPr>
            <p:nvPr/>
          </p:nvCxnSpPr>
          <p:spPr bwMode="auto">
            <a:xfrm>
              <a:off x="7151560" y="4652206"/>
              <a:ext cx="480322" cy="583754"/>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Rectangle 25"/>
            <p:cNvSpPr/>
            <p:nvPr/>
          </p:nvSpPr>
          <p:spPr bwMode="auto">
            <a:xfrm>
              <a:off x="3801030" y="2777246"/>
              <a:ext cx="830987" cy="1027641"/>
            </a:xfrm>
            <a:prstGeom prst="rect">
              <a:avLst/>
            </a:prstGeom>
            <a:gradFill rotWithShape="1">
              <a:gsLst>
                <a:gs pos="0">
                  <a:schemeClr val="tx1">
                    <a:lumMod val="75000"/>
                    <a:lumOff val="25000"/>
                  </a:schemeClr>
                </a:gs>
                <a:gs pos="100000">
                  <a:schemeClr val="bg2">
                    <a:lumMod val="60000"/>
                    <a:lumOff val="40000"/>
                  </a:schemeClr>
                </a:gs>
              </a:gsLst>
              <a:lin ang="16200000" scaled="1"/>
            </a:gradFill>
            <a:ln w="9525" cap="flat" cmpd="sng" algn="ctr">
              <a:solidFill>
                <a:sysClr val="windowText" lastClr="000000">
                  <a:shade val="95000"/>
                  <a:satMod val="105000"/>
                </a:sysClr>
              </a:solidFill>
              <a:prstDash val="solid"/>
            </a:ln>
            <a:effectLst/>
          </p:spPr>
          <p:txBody>
            <a:bodyPr lIns="0" tIns="0" rIns="0" bIns="0" anchor="ctr"/>
            <a:lstStyle/>
            <a:p>
              <a:pPr algn="ctr" defTabSz="914400" fontAlgn="auto">
                <a:lnSpc>
                  <a:spcPct val="100000"/>
                </a:lnSpc>
                <a:spcBef>
                  <a:spcPts val="0"/>
                </a:spcBef>
                <a:spcAft>
                  <a:spcPts val="0"/>
                </a:spcAft>
                <a:buClrTx/>
                <a:buSzTx/>
                <a:buFontTx/>
                <a:buNone/>
                <a:defRPr/>
              </a:pPr>
              <a:endParaRPr lang="en-US" sz="1600" b="1" kern="0" dirty="0">
                <a:solidFill>
                  <a:sysClr val="windowText" lastClr="000000"/>
                </a:solidFill>
                <a:latin typeface="Calibri"/>
                <a:ea typeface="+mn-ea"/>
                <a:cs typeface="+mn-cs"/>
              </a:endParaRPr>
            </a:p>
          </p:txBody>
        </p:sp>
        <p:cxnSp>
          <p:nvCxnSpPr>
            <p:cNvPr id="27" name="Straight Connector 26"/>
            <p:cNvCxnSpPr/>
            <p:nvPr/>
          </p:nvCxnSpPr>
          <p:spPr bwMode="auto">
            <a:xfrm>
              <a:off x="2850381" y="2854603"/>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a:off x="2842931" y="2996952"/>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p:nvPr/>
          </p:nvCxnSpPr>
          <p:spPr bwMode="auto">
            <a:xfrm>
              <a:off x="2842931" y="3140968"/>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p:cNvCxnSpPr/>
            <p:nvPr/>
          </p:nvCxnSpPr>
          <p:spPr bwMode="auto">
            <a:xfrm>
              <a:off x="2842931" y="3284984"/>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a:off x="2842931" y="3429000"/>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p:cNvCxnSpPr/>
            <p:nvPr/>
          </p:nvCxnSpPr>
          <p:spPr bwMode="auto">
            <a:xfrm>
              <a:off x="2842931" y="3573016"/>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p:cNvCxnSpPr/>
            <p:nvPr/>
          </p:nvCxnSpPr>
          <p:spPr bwMode="auto">
            <a:xfrm>
              <a:off x="2850381" y="3717032"/>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p:cNvCxnSpPr/>
            <p:nvPr/>
          </p:nvCxnSpPr>
          <p:spPr bwMode="auto">
            <a:xfrm>
              <a:off x="2699792" y="3903757"/>
              <a:ext cx="2088232" cy="0"/>
            </a:xfrm>
            <a:prstGeom prst="line">
              <a:avLst/>
            </a:prstGeom>
            <a:solidFill>
              <a:srgbClr val="00B8FF"/>
            </a:solidFill>
            <a:ln w="9525" cap="flat" cmpd="sng" algn="ctr">
              <a:solidFill>
                <a:schemeClr val="tx1"/>
              </a:solidFill>
              <a:prstDash val="solid"/>
              <a:round/>
              <a:headEnd type="none" w="med" len="med"/>
              <a:tailEnd type="none" w="med" len="med"/>
            </a:ln>
            <a:effectLst>
              <a:outerShdw dist="35921" dir="2700000" algn="ctr" rotWithShape="0">
                <a:schemeClr val="bg2"/>
              </a:outerShdw>
            </a:effectLst>
            <a:extLst/>
          </p:spPr>
        </p:cxnSp>
        <p:cxnSp>
          <p:nvCxnSpPr>
            <p:cNvPr id="35" name="Straight Arrow Connector 34"/>
            <p:cNvCxnSpPr>
              <a:endCxn id="11" idx="0"/>
            </p:cNvCxnSpPr>
            <p:nvPr/>
          </p:nvCxnSpPr>
          <p:spPr bwMode="auto">
            <a:xfrm flipH="1">
              <a:off x="4370165" y="4378514"/>
              <a:ext cx="417859" cy="1348"/>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Arrow Connector 35"/>
            <p:cNvCxnSpPr>
              <a:endCxn id="12" idx="0"/>
            </p:cNvCxnSpPr>
            <p:nvPr/>
          </p:nvCxnSpPr>
          <p:spPr bwMode="auto">
            <a:xfrm flipH="1">
              <a:off x="4141618" y="4378514"/>
              <a:ext cx="646406" cy="193663"/>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Arrow Connector 36"/>
            <p:cNvCxnSpPr>
              <a:endCxn id="13" idx="0"/>
            </p:cNvCxnSpPr>
            <p:nvPr/>
          </p:nvCxnSpPr>
          <p:spPr bwMode="auto">
            <a:xfrm flipH="1">
              <a:off x="3948853" y="4378514"/>
              <a:ext cx="839171" cy="453815"/>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p:cNvCxnSpPr/>
            <p:nvPr/>
          </p:nvCxnSpPr>
          <p:spPr bwMode="auto">
            <a:xfrm flipH="1">
              <a:off x="4788024" y="4365104"/>
              <a:ext cx="1948042" cy="17229"/>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Rectangle 38"/>
            <p:cNvSpPr/>
            <p:nvPr/>
          </p:nvSpPr>
          <p:spPr bwMode="auto">
            <a:xfrm>
              <a:off x="5149946" y="3970732"/>
              <a:ext cx="1176628" cy="682404"/>
            </a:xfrm>
            <a:prstGeom prst="rect">
              <a:avLst/>
            </a:prstGeom>
            <a:gradFill flip="none" rotWithShape="1">
              <a:gsLst>
                <a:gs pos="0">
                  <a:schemeClr val="bg1">
                    <a:lumMod val="65000"/>
                  </a:schemeClr>
                </a:gs>
                <a:gs pos="100000">
                  <a:schemeClr val="accent4">
                    <a:lumMod val="100000"/>
                  </a:schemeClr>
                </a:gs>
              </a:gsLst>
              <a:path path="circle">
                <a:fillToRect l="50000" t="-80000" r="50000" b="180000"/>
              </a:path>
              <a:tileRect/>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b="1" kern="0" dirty="0" err="1" smtClean="0">
                  <a:latin typeface="Calibri"/>
                  <a:ea typeface="+mn-ea"/>
                  <a:cs typeface="+mn-cs"/>
                </a:rPr>
                <a:t>OracleNet</a:t>
              </a:r>
              <a:endParaRPr lang="en-US" b="1" kern="0" dirty="0" smtClean="0">
                <a:latin typeface="Calibri"/>
                <a:ea typeface="+mn-ea"/>
                <a:cs typeface="+mn-cs"/>
              </a:endParaRPr>
            </a:p>
            <a:p>
              <a:pPr algn="ctr" defTabSz="914400" fontAlgn="auto">
                <a:lnSpc>
                  <a:spcPct val="100000"/>
                </a:lnSpc>
                <a:spcBef>
                  <a:spcPts val="0"/>
                </a:spcBef>
                <a:spcAft>
                  <a:spcPts val="0"/>
                </a:spcAft>
                <a:buClrTx/>
                <a:buSzTx/>
                <a:buFontTx/>
                <a:buNone/>
                <a:defRPr/>
              </a:pPr>
              <a:r>
                <a:rPr lang="en-US" b="1" kern="0" dirty="0" smtClean="0">
                  <a:latin typeface="Calibri"/>
                  <a:ea typeface="+mn-ea"/>
                  <a:cs typeface="+mn-cs"/>
                </a:rPr>
                <a:t>TCP/IP</a:t>
              </a:r>
              <a:endParaRPr lang="en-US" b="1" kern="0" dirty="0">
                <a:latin typeface="Calibri"/>
                <a:ea typeface="+mn-ea"/>
                <a:cs typeface="+mn-cs"/>
              </a:endParaRPr>
            </a:p>
          </p:txBody>
        </p:sp>
        <p:sp>
          <p:nvSpPr>
            <p:cNvPr id="40" name="Rectangle 39"/>
            <p:cNvSpPr/>
            <p:nvPr/>
          </p:nvSpPr>
          <p:spPr bwMode="auto">
            <a:xfrm>
              <a:off x="7768409" y="2412353"/>
              <a:ext cx="830987" cy="872632"/>
            </a:xfrm>
            <a:prstGeom prst="rect">
              <a:avLst/>
            </a:prstGeom>
            <a:gradFill rotWithShape="1">
              <a:gsLst>
                <a:gs pos="0">
                  <a:schemeClr val="tx1">
                    <a:lumMod val="75000"/>
                    <a:lumOff val="25000"/>
                  </a:schemeClr>
                </a:gs>
                <a:gs pos="100000">
                  <a:schemeClr val="bg2">
                    <a:lumMod val="60000"/>
                    <a:lumOff val="40000"/>
                  </a:schemeClr>
                </a:gs>
              </a:gsLst>
              <a:lin ang="16200000" scaled="1"/>
            </a:gradFill>
            <a:ln w="9525" cap="flat" cmpd="sng" algn="ctr">
              <a:solidFill>
                <a:sysClr val="windowText" lastClr="000000">
                  <a:shade val="95000"/>
                  <a:satMod val="105000"/>
                </a:sysClr>
              </a:solidFill>
              <a:prstDash val="solid"/>
            </a:ln>
            <a:effectLst/>
          </p:spPr>
          <p:txBody>
            <a:bodyPr lIns="0" tIns="0" rIns="0" bIns="0" anchor="ctr"/>
            <a:lstStyle/>
            <a:p>
              <a:pPr algn="ctr" defTabSz="914400" fontAlgn="auto">
                <a:lnSpc>
                  <a:spcPct val="100000"/>
                </a:lnSpc>
                <a:spcBef>
                  <a:spcPts val="0"/>
                </a:spcBef>
                <a:spcAft>
                  <a:spcPts val="0"/>
                </a:spcAft>
                <a:buClrTx/>
                <a:buSzTx/>
                <a:buFontTx/>
                <a:buNone/>
                <a:defRPr/>
              </a:pPr>
              <a:endParaRPr lang="en-US" sz="1600" b="1" kern="0" dirty="0">
                <a:solidFill>
                  <a:sysClr val="windowText" lastClr="000000"/>
                </a:solidFill>
                <a:latin typeface="Calibri"/>
                <a:ea typeface="+mn-ea"/>
                <a:cs typeface="+mn-cs"/>
              </a:endParaRPr>
            </a:p>
          </p:txBody>
        </p:sp>
        <p:cxnSp>
          <p:nvCxnSpPr>
            <p:cNvPr id="41" name="Straight Connector 40"/>
            <p:cNvCxnSpPr/>
            <p:nvPr/>
          </p:nvCxnSpPr>
          <p:spPr bwMode="auto">
            <a:xfrm>
              <a:off x="6817760" y="2489709"/>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p:cNvCxnSpPr/>
            <p:nvPr/>
          </p:nvCxnSpPr>
          <p:spPr bwMode="auto">
            <a:xfrm>
              <a:off x="6810310" y="2632058"/>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p:cNvCxnSpPr/>
            <p:nvPr/>
          </p:nvCxnSpPr>
          <p:spPr bwMode="auto">
            <a:xfrm>
              <a:off x="6810310" y="2776074"/>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p:cNvCxnSpPr/>
            <p:nvPr/>
          </p:nvCxnSpPr>
          <p:spPr bwMode="auto">
            <a:xfrm>
              <a:off x="6810310" y="2920090"/>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p:cNvCxnSpPr/>
            <p:nvPr/>
          </p:nvCxnSpPr>
          <p:spPr bwMode="auto">
            <a:xfrm>
              <a:off x="6810310" y="3064106"/>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p:cNvCxnSpPr/>
            <p:nvPr/>
          </p:nvCxnSpPr>
          <p:spPr bwMode="auto">
            <a:xfrm>
              <a:off x="6810310" y="3208122"/>
              <a:ext cx="857523"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p:cNvCxnSpPr/>
            <p:nvPr/>
          </p:nvCxnSpPr>
          <p:spPr bwMode="auto">
            <a:xfrm>
              <a:off x="6667171" y="3356992"/>
              <a:ext cx="2088232" cy="0"/>
            </a:xfrm>
            <a:prstGeom prst="line">
              <a:avLst/>
            </a:prstGeom>
            <a:solidFill>
              <a:srgbClr val="00B8FF"/>
            </a:solidFill>
            <a:ln w="9525" cap="flat" cmpd="sng" algn="ctr">
              <a:solidFill>
                <a:schemeClr val="tx1"/>
              </a:solidFill>
              <a:prstDash val="solid"/>
              <a:round/>
              <a:headEnd type="none" w="med" len="med"/>
              <a:tailEnd type="none" w="med" len="med"/>
            </a:ln>
            <a:effectLst>
              <a:outerShdw dist="35921" dir="2700000" algn="ctr" rotWithShape="0">
                <a:schemeClr val="bg2"/>
              </a:outerShdw>
            </a:effectLst>
            <a:extLst/>
          </p:spPr>
        </p:cxnSp>
      </p:gr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3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Listener - managing</a:t>
            </a:r>
          </a:p>
        </p:txBody>
      </p:sp>
      <p:sp>
        <p:nvSpPr>
          <p:cNvPr id="14340"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a:solidFill>
                  <a:srgbClr val="000000"/>
                </a:solidFill>
                <a:latin typeface="Tele-GroteskNor" pitchFamily="2" charset="0"/>
              </a:rPr>
              <a:t>LSNRCTL&gt; help</a:t>
            </a:r>
          </a:p>
          <a:p>
            <a:pPr lvl="1" indent="0" eaLnBrk="1" hangingPunct="1">
              <a:lnSpc>
                <a:spcPct val="90000"/>
              </a:lnSpc>
              <a:spcBef>
                <a:spcPts val="750"/>
              </a:spcBef>
              <a:buClrTx/>
              <a:buFontTx/>
              <a:buNone/>
            </a:pPr>
            <a:r>
              <a:rPr lang="en-US" sz="2400">
                <a:solidFill>
                  <a:srgbClr val="000000"/>
                </a:solidFill>
                <a:latin typeface="Tele-GroteskNor" pitchFamily="2" charset="0"/>
              </a:rPr>
              <a:t>The following operations are available</a:t>
            </a:r>
          </a:p>
          <a:p>
            <a:pPr lvl="1" indent="0" eaLnBrk="1" hangingPunct="1">
              <a:lnSpc>
                <a:spcPct val="90000"/>
              </a:lnSpc>
              <a:spcBef>
                <a:spcPts val="750"/>
              </a:spcBef>
              <a:buClrTx/>
              <a:buFontTx/>
              <a:buNone/>
            </a:pPr>
            <a:r>
              <a:rPr lang="en-US" sz="2400">
                <a:solidFill>
                  <a:srgbClr val="000000"/>
                </a:solidFill>
                <a:latin typeface="Tele-GroteskNor" pitchFamily="2" charset="0"/>
              </a:rPr>
              <a:t>An asterisk (*) denotes a modifier or extended command:</a:t>
            </a:r>
          </a:p>
          <a:p>
            <a:pPr lvl="1" indent="0" eaLnBrk="1" hangingPunct="1">
              <a:lnSpc>
                <a:spcPct val="90000"/>
              </a:lnSpc>
              <a:buClrTx/>
              <a:buFontTx/>
              <a:buNone/>
            </a:pPr>
            <a:r>
              <a:rPr lang="en-US">
                <a:solidFill>
                  <a:srgbClr val="000000"/>
                </a:solidFill>
                <a:latin typeface="Courier New" panose="02070309020205020404" pitchFamily="49" charset="0"/>
                <a:cs typeface="Courier New" panose="02070309020205020404" pitchFamily="49" charset="0"/>
              </a:rPr>
              <a:t>start		 		stop		status</a:t>
            </a:r>
          </a:p>
          <a:p>
            <a:pPr lvl="1" indent="0" eaLnBrk="1" hangingPunct="1">
              <a:lnSpc>
                <a:spcPct val="90000"/>
              </a:lnSpc>
              <a:buClrTx/>
              <a:buFontTx/>
              <a:buNone/>
            </a:pPr>
            <a:r>
              <a:rPr lang="en-US">
                <a:solidFill>
                  <a:srgbClr val="000000"/>
                </a:solidFill>
                <a:latin typeface="Courier New" panose="02070309020205020404" pitchFamily="49" charset="0"/>
                <a:cs typeface="Courier New" panose="02070309020205020404" pitchFamily="49" charset="0"/>
              </a:rPr>
              <a:t>services			version	reload</a:t>
            </a:r>
          </a:p>
          <a:p>
            <a:pPr lvl="1" indent="0" eaLnBrk="1" hangingPunct="1">
              <a:lnSpc>
                <a:spcPct val="90000"/>
              </a:lnSpc>
              <a:buClrTx/>
              <a:buFontTx/>
              <a:buNone/>
            </a:pPr>
            <a:r>
              <a:rPr lang="en-US">
                <a:solidFill>
                  <a:srgbClr val="000000"/>
                </a:solidFill>
                <a:latin typeface="Courier New" panose="02070309020205020404" pitchFamily="49" charset="0"/>
                <a:cs typeface="Courier New" panose="02070309020205020404" pitchFamily="49" charset="0"/>
              </a:rPr>
              <a:t>save_config		trace		spawn</a:t>
            </a:r>
          </a:p>
          <a:p>
            <a:pPr lvl="1" indent="0" eaLnBrk="1" hangingPunct="1">
              <a:lnSpc>
                <a:spcPct val="90000"/>
              </a:lnSpc>
              <a:buClrTx/>
              <a:buFontTx/>
              <a:buNone/>
            </a:pPr>
            <a:r>
              <a:rPr lang="en-US">
                <a:solidFill>
                  <a:srgbClr val="000000"/>
                </a:solidFill>
                <a:latin typeface="Courier New" panose="02070309020205020404" pitchFamily="49" charset="0"/>
                <a:cs typeface="Courier New" panose="02070309020205020404" pitchFamily="49" charset="0"/>
              </a:rPr>
              <a:t>change_password	quit		exit</a:t>
            </a:r>
          </a:p>
          <a:p>
            <a:pPr lvl="1" indent="0" eaLnBrk="1" hangingPunct="1">
              <a:lnSpc>
                <a:spcPct val="90000"/>
              </a:lnSpc>
              <a:buClrTx/>
              <a:buFontTx/>
              <a:buNone/>
            </a:pPr>
            <a:r>
              <a:rPr lang="en-US">
                <a:solidFill>
                  <a:srgbClr val="000000"/>
                </a:solidFill>
                <a:latin typeface="Courier New" panose="02070309020205020404" pitchFamily="49" charset="0"/>
                <a:cs typeface="Courier New" panose="02070309020205020404" pitchFamily="49" charset="0"/>
              </a:rPr>
              <a:t>set*				show*</a:t>
            </a:r>
          </a:p>
          <a:p>
            <a:pPr lvl="1" indent="0" eaLnBrk="1" hangingPunct="1">
              <a:lnSpc>
                <a:spcPct val="90000"/>
              </a:lnSpc>
              <a:buClrTx/>
              <a:buFontTx/>
              <a:buNone/>
            </a:pPr>
            <a:endParaRPr lang="en-US">
              <a:solidFill>
                <a:srgbClr val="000000"/>
              </a:solidFill>
              <a:latin typeface="Courier New" panose="02070309020205020404" pitchFamily="49" charset="0"/>
              <a:cs typeface="Courier New" panose="02070309020205020404" pitchFamily="49"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6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fr-FR" sz="3000">
                <a:solidFill>
                  <a:srgbClr val="9F4C97"/>
                </a:solidFill>
                <a:latin typeface="Tele-GroteskNor" pitchFamily="2" charset="0"/>
                <a:ea typeface="TeleGrotesk Headline Ultra" pitchFamily="2" charset="0"/>
                <a:cs typeface="TeleGrotesk Headline Ultra" pitchFamily="2" charset="0"/>
              </a:rPr>
              <a:t>Oracle Directories and Environment Variables</a:t>
            </a:r>
          </a:p>
        </p:txBody>
      </p:sp>
      <p:sp>
        <p:nvSpPr>
          <p:cNvPr id="15364"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 name="Rectangle 5"/>
          <p:cNvSpPr/>
          <p:nvPr/>
        </p:nvSpPr>
        <p:spPr bwMode="auto">
          <a:xfrm>
            <a:off x="373059" y="1706464"/>
            <a:ext cx="8229604" cy="408385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lstStyle/>
          <a:p>
            <a:pPr defTabSz="914400" fontAlgn="auto">
              <a:lnSpc>
                <a:spcPct val="100000"/>
              </a:lnSpc>
              <a:spcBef>
                <a:spcPts val="0"/>
              </a:spcBef>
              <a:spcAft>
                <a:spcPts val="0"/>
              </a:spcAft>
              <a:buClrTx/>
              <a:buSzTx/>
              <a:buFontTx/>
              <a:buNone/>
              <a:defRPr/>
            </a:pPr>
            <a:r>
              <a:rPr lang="en-US" b="1" kern="0" dirty="0" smtClean="0">
                <a:solidFill>
                  <a:sysClr val="windowText" lastClr="000000"/>
                </a:solidFill>
                <a:latin typeface="Calibri"/>
                <a:ea typeface="+mn-ea"/>
                <a:cs typeface="+mn-cs"/>
              </a:rPr>
              <a:t> Server</a:t>
            </a:r>
            <a:endParaRPr lang="en-US" b="1" kern="0" dirty="0">
              <a:solidFill>
                <a:sysClr val="windowText" lastClr="000000"/>
              </a:solidFill>
              <a:latin typeface="Calibri"/>
              <a:ea typeface="+mn-ea"/>
              <a:cs typeface="+mn-cs"/>
            </a:endParaRPr>
          </a:p>
        </p:txBody>
      </p:sp>
      <p:sp>
        <p:nvSpPr>
          <p:cNvPr id="7" name="Rounded Rectangle 6"/>
          <p:cNvSpPr/>
          <p:nvPr/>
        </p:nvSpPr>
        <p:spPr bwMode="auto">
          <a:xfrm>
            <a:off x="1148656" y="2316372"/>
            <a:ext cx="1864118" cy="555132"/>
          </a:xfrm>
          <a:prstGeom prst="roundRect">
            <a:avLst/>
          </a:prstGeom>
          <a:gradFill rotWithShape="1">
            <a:gsLst>
              <a:gs pos="87000">
                <a:srgbClr val="C00000"/>
              </a:gs>
              <a:gs pos="84000">
                <a:schemeClr val="accent3"/>
              </a:gs>
              <a:gs pos="0">
                <a:schemeClr val="accent3">
                  <a:lumMod val="75000"/>
                </a:scheme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b="1" kern="0" dirty="0" smtClean="0">
                <a:solidFill>
                  <a:sysClr val="windowText" lastClr="000000"/>
                </a:solidFill>
                <a:latin typeface="Calibri"/>
                <a:ea typeface="+mn-ea"/>
                <a:cs typeface="+mn-cs"/>
              </a:rPr>
              <a:t>ORACLE_HOME</a:t>
            </a:r>
            <a:endParaRPr lang="en-US" b="1" kern="0" dirty="0">
              <a:solidFill>
                <a:sysClr val="windowText" lastClr="000000"/>
              </a:solidFill>
              <a:latin typeface="Calibri"/>
              <a:ea typeface="+mn-ea"/>
              <a:cs typeface="+mn-cs"/>
            </a:endParaRPr>
          </a:p>
        </p:txBody>
      </p:sp>
      <p:sp>
        <p:nvSpPr>
          <p:cNvPr id="8" name="Rectangle 7"/>
          <p:cNvSpPr/>
          <p:nvPr/>
        </p:nvSpPr>
        <p:spPr bwMode="auto">
          <a:xfrm>
            <a:off x="539552" y="3553239"/>
            <a:ext cx="508918" cy="516715"/>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dbs</a:t>
            </a:r>
            <a:endParaRPr lang="en-US" kern="0" dirty="0">
              <a:solidFill>
                <a:sysClr val="windowText" lastClr="000000"/>
              </a:solidFill>
              <a:latin typeface="Calibri"/>
              <a:ea typeface="+mn-ea"/>
              <a:cs typeface="+mn-cs"/>
            </a:endParaRPr>
          </a:p>
        </p:txBody>
      </p:sp>
      <p:sp>
        <p:nvSpPr>
          <p:cNvPr id="9" name="Rectangle 8"/>
          <p:cNvSpPr/>
          <p:nvPr/>
        </p:nvSpPr>
        <p:spPr bwMode="auto">
          <a:xfrm>
            <a:off x="1802429" y="3553237"/>
            <a:ext cx="537323" cy="516715"/>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smtClean="0">
                <a:solidFill>
                  <a:sysClr val="windowText" lastClr="000000"/>
                </a:solidFill>
                <a:latin typeface="Calibri"/>
                <a:ea typeface="+mn-ea"/>
                <a:cs typeface="+mn-cs"/>
              </a:rPr>
              <a:t>bin</a:t>
            </a:r>
            <a:endParaRPr lang="en-US" kern="0" dirty="0">
              <a:solidFill>
                <a:sysClr val="windowText" lastClr="000000"/>
              </a:solidFill>
              <a:latin typeface="Calibri"/>
              <a:ea typeface="+mn-ea"/>
              <a:cs typeface="+mn-cs"/>
            </a:endParaRPr>
          </a:p>
        </p:txBody>
      </p:sp>
      <p:sp>
        <p:nvSpPr>
          <p:cNvPr id="10" name="Rectangle 9"/>
          <p:cNvSpPr/>
          <p:nvPr/>
        </p:nvSpPr>
        <p:spPr bwMode="auto">
          <a:xfrm>
            <a:off x="2848842" y="3553237"/>
            <a:ext cx="1106660" cy="516715"/>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smtClean="0">
                <a:solidFill>
                  <a:sysClr val="windowText" lastClr="000000"/>
                </a:solidFill>
                <a:latin typeface="Calibri"/>
                <a:ea typeface="+mn-ea"/>
                <a:cs typeface="+mn-cs"/>
              </a:rPr>
              <a:t>network / </a:t>
            </a:r>
            <a:br>
              <a:rPr lang="en-US" kern="0" dirty="0" smtClean="0">
                <a:solidFill>
                  <a:sysClr val="windowText" lastClr="000000"/>
                </a:solidFill>
                <a:latin typeface="Calibri"/>
                <a:ea typeface="+mn-ea"/>
                <a:cs typeface="+mn-cs"/>
              </a:rPr>
            </a:br>
            <a:r>
              <a:rPr lang="en-US" kern="0" dirty="0" smtClean="0">
                <a:solidFill>
                  <a:sysClr val="windowText" lastClr="000000"/>
                </a:solidFill>
                <a:latin typeface="Calibri"/>
                <a:ea typeface="+mn-ea"/>
                <a:cs typeface="+mn-cs"/>
              </a:rPr>
              <a:t>admin</a:t>
            </a:r>
            <a:endParaRPr lang="en-US" kern="0" dirty="0">
              <a:solidFill>
                <a:sysClr val="windowText" lastClr="000000"/>
              </a:solidFill>
              <a:latin typeface="Calibri"/>
              <a:ea typeface="+mn-ea"/>
              <a:cs typeface="+mn-cs"/>
            </a:endParaRPr>
          </a:p>
        </p:txBody>
      </p:sp>
      <p:sp>
        <p:nvSpPr>
          <p:cNvPr id="11" name="Rounded Rectangle 10"/>
          <p:cNvSpPr/>
          <p:nvPr/>
        </p:nvSpPr>
        <p:spPr bwMode="auto">
          <a:xfrm>
            <a:off x="5292899" y="2126524"/>
            <a:ext cx="2495371" cy="555132"/>
          </a:xfrm>
          <a:prstGeom prst="roundRect">
            <a:avLst/>
          </a:prstGeom>
          <a:gradFill rotWithShape="1">
            <a:gsLst>
              <a:gs pos="87000">
                <a:srgbClr val="C00000"/>
              </a:gs>
              <a:gs pos="84000">
                <a:schemeClr val="accent3"/>
              </a:gs>
              <a:gs pos="0">
                <a:schemeClr val="accent3">
                  <a:lumMod val="75000"/>
                </a:scheme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pPr>
            <a:r>
              <a:rPr lang="en-US" b="1" kern="0" dirty="0">
                <a:solidFill>
                  <a:sysClr val="windowText" lastClr="000000"/>
                </a:solidFill>
                <a:latin typeface="Calibri"/>
                <a:ea typeface="+mn-ea"/>
                <a:cs typeface="+mn-cs"/>
              </a:rPr>
              <a:t>ORACLE_SID: &lt;DBSID&gt;</a:t>
            </a:r>
          </a:p>
        </p:txBody>
      </p:sp>
      <p:sp>
        <p:nvSpPr>
          <p:cNvPr id="12" name="Rounded Rectangle 11"/>
          <p:cNvSpPr/>
          <p:nvPr/>
        </p:nvSpPr>
        <p:spPr bwMode="auto">
          <a:xfrm>
            <a:off x="5570703" y="2868611"/>
            <a:ext cx="1864118" cy="555132"/>
          </a:xfrm>
          <a:prstGeom prst="roundRect">
            <a:avLst/>
          </a:prstGeom>
          <a:gradFill rotWithShape="1">
            <a:gsLst>
              <a:gs pos="87000">
                <a:srgbClr val="C00000"/>
              </a:gs>
              <a:gs pos="84000">
                <a:schemeClr val="accent3"/>
              </a:gs>
              <a:gs pos="0">
                <a:schemeClr val="accent3">
                  <a:lumMod val="75000"/>
                </a:scheme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pPr>
            <a:r>
              <a:rPr lang="en-US" b="1" kern="0" dirty="0" smtClean="0">
                <a:solidFill>
                  <a:sysClr val="windowText" lastClr="000000"/>
                </a:solidFill>
                <a:latin typeface="Calibri"/>
                <a:ea typeface="+mn-ea"/>
                <a:cs typeface="+mn-cs"/>
              </a:rPr>
              <a:t>SAPDATA_HOME</a:t>
            </a:r>
            <a:endParaRPr lang="en-US" b="1" kern="0" dirty="0">
              <a:solidFill>
                <a:sysClr val="windowText" lastClr="000000"/>
              </a:solidFill>
              <a:latin typeface="Calibri"/>
              <a:ea typeface="+mn-ea"/>
              <a:cs typeface="+mn-cs"/>
            </a:endParaRPr>
          </a:p>
        </p:txBody>
      </p:sp>
      <p:sp>
        <p:nvSpPr>
          <p:cNvPr id="13" name="Rectangle 12"/>
          <p:cNvSpPr/>
          <p:nvPr/>
        </p:nvSpPr>
        <p:spPr bwMode="auto">
          <a:xfrm>
            <a:off x="4872043" y="363460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smtClean="0">
                <a:solidFill>
                  <a:sysClr val="windowText" lastClr="000000"/>
                </a:solidFill>
                <a:latin typeface="Calibri"/>
                <a:ea typeface="+mn-ea"/>
                <a:cs typeface="+mn-cs"/>
              </a:rPr>
              <a:t>sapdata1</a:t>
            </a:r>
            <a:endParaRPr lang="en-US" kern="0" dirty="0">
              <a:solidFill>
                <a:sysClr val="windowText" lastClr="000000"/>
              </a:solidFill>
              <a:latin typeface="Calibri"/>
              <a:ea typeface="+mn-ea"/>
              <a:cs typeface="+mn-cs"/>
            </a:endParaRPr>
          </a:p>
        </p:txBody>
      </p:sp>
      <p:sp>
        <p:nvSpPr>
          <p:cNvPr id="14" name="Rectangle 13"/>
          <p:cNvSpPr/>
          <p:nvPr/>
        </p:nvSpPr>
        <p:spPr bwMode="auto">
          <a:xfrm>
            <a:off x="4872043" y="414587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oraarch</a:t>
            </a:r>
            <a:endParaRPr lang="en-US" kern="0" dirty="0">
              <a:solidFill>
                <a:sysClr val="windowText" lastClr="000000"/>
              </a:solidFill>
              <a:latin typeface="Calibri"/>
              <a:ea typeface="+mn-ea"/>
              <a:cs typeface="+mn-cs"/>
            </a:endParaRPr>
          </a:p>
        </p:txBody>
      </p:sp>
      <p:sp>
        <p:nvSpPr>
          <p:cNvPr id="15" name="Rectangle 14"/>
          <p:cNvSpPr/>
          <p:nvPr/>
        </p:nvSpPr>
        <p:spPr bwMode="auto">
          <a:xfrm>
            <a:off x="4857174" y="4651718"/>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sapcheck</a:t>
            </a:r>
            <a:endParaRPr lang="en-US" kern="0" dirty="0">
              <a:solidFill>
                <a:sysClr val="windowText" lastClr="000000"/>
              </a:solidFill>
              <a:latin typeface="Calibri"/>
              <a:ea typeface="+mn-ea"/>
              <a:cs typeface="+mn-cs"/>
            </a:endParaRPr>
          </a:p>
        </p:txBody>
      </p:sp>
      <p:sp>
        <p:nvSpPr>
          <p:cNvPr id="16" name="Rectangle 15"/>
          <p:cNvSpPr/>
          <p:nvPr/>
        </p:nvSpPr>
        <p:spPr bwMode="auto">
          <a:xfrm>
            <a:off x="4857174" y="514261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saptrace</a:t>
            </a:r>
            <a:endParaRPr lang="en-US" kern="0" dirty="0">
              <a:solidFill>
                <a:sysClr val="windowText" lastClr="000000"/>
              </a:solidFill>
              <a:latin typeface="Calibri"/>
              <a:ea typeface="+mn-ea"/>
              <a:cs typeface="+mn-cs"/>
            </a:endParaRPr>
          </a:p>
        </p:txBody>
      </p:sp>
      <p:sp>
        <p:nvSpPr>
          <p:cNvPr id="17" name="Rectangle 16"/>
          <p:cNvSpPr/>
          <p:nvPr/>
        </p:nvSpPr>
        <p:spPr bwMode="auto">
          <a:xfrm>
            <a:off x="6851076" y="363460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sapdata</a:t>
            </a:r>
            <a:r>
              <a:rPr lang="en-US" kern="0" dirty="0" smtClean="0">
                <a:solidFill>
                  <a:sysClr val="windowText" lastClr="000000"/>
                </a:solidFill>
                <a:latin typeface="Calibri"/>
                <a:ea typeface="+mn-ea"/>
                <a:cs typeface="+mn-cs"/>
              </a:rPr>
              <a:t>&lt;n&gt;</a:t>
            </a:r>
            <a:endParaRPr lang="en-US" kern="0" dirty="0">
              <a:solidFill>
                <a:sysClr val="windowText" lastClr="000000"/>
              </a:solidFill>
              <a:latin typeface="Calibri"/>
              <a:ea typeface="+mn-ea"/>
              <a:cs typeface="+mn-cs"/>
            </a:endParaRPr>
          </a:p>
        </p:txBody>
      </p:sp>
      <p:sp>
        <p:nvSpPr>
          <p:cNvPr id="18" name="Rectangle 17"/>
          <p:cNvSpPr/>
          <p:nvPr/>
        </p:nvSpPr>
        <p:spPr bwMode="auto">
          <a:xfrm>
            <a:off x="6851076" y="414587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sapbackup</a:t>
            </a:r>
            <a:endParaRPr lang="en-US" kern="0" dirty="0">
              <a:solidFill>
                <a:sysClr val="windowText" lastClr="000000"/>
              </a:solidFill>
              <a:latin typeface="Calibri"/>
              <a:ea typeface="+mn-ea"/>
              <a:cs typeface="+mn-cs"/>
            </a:endParaRPr>
          </a:p>
        </p:txBody>
      </p:sp>
      <p:sp>
        <p:nvSpPr>
          <p:cNvPr id="19" name="Rectangle 18"/>
          <p:cNvSpPr/>
          <p:nvPr/>
        </p:nvSpPr>
        <p:spPr bwMode="auto">
          <a:xfrm>
            <a:off x="6836207" y="4651718"/>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saparch</a:t>
            </a:r>
            <a:endParaRPr lang="en-US" kern="0" dirty="0">
              <a:solidFill>
                <a:sysClr val="windowText" lastClr="000000"/>
              </a:solidFill>
              <a:latin typeface="Calibri"/>
              <a:ea typeface="+mn-ea"/>
              <a:cs typeface="+mn-cs"/>
            </a:endParaRPr>
          </a:p>
        </p:txBody>
      </p:sp>
      <p:sp>
        <p:nvSpPr>
          <p:cNvPr id="20" name="Rectangle 19"/>
          <p:cNvSpPr/>
          <p:nvPr/>
        </p:nvSpPr>
        <p:spPr bwMode="auto">
          <a:xfrm>
            <a:off x="6836207" y="5142614"/>
            <a:ext cx="1343179" cy="372329"/>
          </a:xfrm>
          <a:prstGeom prst="rect">
            <a:avLst/>
          </a:prstGeom>
          <a:gradFill rotWithShape="1">
            <a:gsLst>
              <a:gs pos="0">
                <a:sysClr val="windowText" lastClr="000000">
                  <a:tint val="50000"/>
                  <a:satMod val="300000"/>
                  <a:lumMod val="0"/>
                  <a:lumOff val="100000"/>
                </a:sysClr>
              </a:gs>
              <a:gs pos="35000">
                <a:sysClr val="windowText" lastClr="000000">
                  <a:tint val="37000"/>
                  <a:satMod val="300000"/>
                  <a:lumMod val="46000"/>
                  <a:lumOff val="54000"/>
                </a:sysClr>
              </a:gs>
              <a:gs pos="100000">
                <a:sysClr val="windowText" lastClr="000000">
                  <a:tint val="15000"/>
                  <a:satMod val="350000"/>
                </a:sysClr>
              </a:gs>
            </a:gsLst>
            <a:lin ang="5400000" scaled="0"/>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nchorCtr="1"/>
          <a:lstStyle/>
          <a:p>
            <a:pPr algn="ctr" defTabSz="914400" fontAlgn="auto">
              <a:lnSpc>
                <a:spcPct val="100000"/>
              </a:lnSpc>
              <a:spcBef>
                <a:spcPts val="0"/>
              </a:spcBef>
              <a:spcAft>
                <a:spcPts val="0"/>
              </a:spcAft>
              <a:buClrTx/>
              <a:buSzTx/>
              <a:buFontTx/>
              <a:buNone/>
              <a:defRPr/>
            </a:pPr>
            <a:r>
              <a:rPr lang="en-US" kern="0" dirty="0" err="1" smtClean="0">
                <a:solidFill>
                  <a:sysClr val="windowText" lastClr="000000"/>
                </a:solidFill>
                <a:latin typeface="Calibri"/>
                <a:ea typeface="+mn-ea"/>
                <a:cs typeface="+mn-cs"/>
              </a:rPr>
              <a:t>sapreorg</a:t>
            </a:r>
            <a:endParaRPr lang="en-US" kern="0" dirty="0">
              <a:solidFill>
                <a:sysClr val="windowText" lastClr="000000"/>
              </a:solidFill>
              <a:latin typeface="Calibri"/>
              <a:ea typeface="+mn-ea"/>
              <a:cs typeface="+mn-cs"/>
            </a:endParaRPr>
          </a:p>
        </p:txBody>
      </p:sp>
      <p:cxnSp>
        <p:nvCxnSpPr>
          <p:cNvPr id="21" name="Straight Connector 20"/>
          <p:cNvCxnSpPr>
            <a:stCxn id="13" idx="3"/>
            <a:endCxn id="17" idx="1"/>
          </p:cNvCxnSpPr>
          <p:nvPr/>
        </p:nvCxnSpPr>
        <p:spPr bwMode="auto">
          <a:xfrm>
            <a:off x="6215222" y="3820768"/>
            <a:ext cx="635854"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4" idx="3"/>
            <a:endCxn id="18" idx="1"/>
          </p:cNvCxnSpPr>
          <p:nvPr/>
        </p:nvCxnSpPr>
        <p:spPr bwMode="auto">
          <a:xfrm>
            <a:off x="6215222" y="4332038"/>
            <a:ext cx="635854"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15" idx="3"/>
            <a:endCxn id="19" idx="1"/>
          </p:cNvCxnSpPr>
          <p:nvPr/>
        </p:nvCxnSpPr>
        <p:spPr bwMode="auto">
          <a:xfrm>
            <a:off x="6200353" y="4837882"/>
            <a:ext cx="635854"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a:stCxn id="16" idx="3"/>
            <a:endCxn id="20" idx="1"/>
          </p:cNvCxnSpPr>
          <p:nvPr/>
        </p:nvCxnSpPr>
        <p:spPr bwMode="auto">
          <a:xfrm>
            <a:off x="6200353" y="5328778"/>
            <a:ext cx="635854"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2" idx="2"/>
          </p:cNvCxnSpPr>
          <p:nvPr/>
        </p:nvCxnSpPr>
        <p:spPr bwMode="auto">
          <a:xfrm>
            <a:off x="6502762" y="3423743"/>
            <a:ext cx="15518" cy="1905035"/>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7" idx="2"/>
            <a:endCxn id="9" idx="0"/>
          </p:cNvCxnSpPr>
          <p:nvPr/>
        </p:nvCxnSpPr>
        <p:spPr bwMode="auto">
          <a:xfrm flipH="1">
            <a:off x="2071091" y="2871504"/>
            <a:ext cx="9624" cy="681733"/>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8" idx="0"/>
          </p:cNvCxnSpPr>
          <p:nvPr/>
        </p:nvCxnSpPr>
        <p:spPr bwMode="auto">
          <a:xfrm flipV="1">
            <a:off x="794011" y="3146177"/>
            <a:ext cx="1" cy="407062"/>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a:off x="794011" y="3146176"/>
            <a:ext cx="2608161" cy="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endCxn id="10" idx="0"/>
          </p:cNvCxnSpPr>
          <p:nvPr/>
        </p:nvCxnSpPr>
        <p:spPr bwMode="auto">
          <a:xfrm>
            <a:off x="3402172" y="3146176"/>
            <a:ext cx="0" cy="407061"/>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29"/>
          <p:cNvSpPr/>
          <p:nvPr/>
        </p:nvSpPr>
        <p:spPr bwMode="auto">
          <a:xfrm>
            <a:off x="822721" y="4413419"/>
            <a:ext cx="3389239" cy="127922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lIns="0" tIns="0" rIns="0" bIns="0" anchor="ctr"/>
          <a:lstStyle/>
          <a:p>
            <a:pPr algn="ctr" defTabSz="914400" fontAlgn="auto">
              <a:lnSpc>
                <a:spcPct val="100000"/>
              </a:lnSpc>
              <a:spcBef>
                <a:spcPts val="0"/>
              </a:spcBef>
              <a:spcAft>
                <a:spcPts val="0"/>
              </a:spcAft>
              <a:buClrTx/>
              <a:buSzTx/>
              <a:buFontTx/>
              <a:buNone/>
              <a:defRPr/>
            </a:pPr>
            <a:r>
              <a:rPr lang="en-US" sz="1600" kern="0" dirty="0" smtClean="0">
                <a:solidFill>
                  <a:sysClr val="windowText" lastClr="000000"/>
                </a:solidFill>
                <a:latin typeface="Calibri"/>
                <a:ea typeface="+mn-ea"/>
                <a:cs typeface="+mn-cs"/>
              </a:rPr>
              <a:t>These tree environment variables </a:t>
            </a:r>
            <a:br>
              <a:rPr lang="en-US" sz="1600" kern="0" dirty="0" smtClean="0">
                <a:solidFill>
                  <a:sysClr val="windowText" lastClr="000000"/>
                </a:solidFill>
                <a:latin typeface="Calibri"/>
                <a:ea typeface="+mn-ea"/>
                <a:cs typeface="+mn-cs"/>
              </a:rPr>
            </a:br>
            <a:r>
              <a:rPr lang="en-US" sz="1600" kern="0" dirty="0" smtClean="0">
                <a:solidFill>
                  <a:sysClr val="windowText" lastClr="000000"/>
                </a:solidFill>
                <a:latin typeface="Calibri"/>
                <a:ea typeface="+mn-ea"/>
                <a:cs typeface="+mn-cs"/>
              </a:rPr>
              <a:t>must always be set on </a:t>
            </a:r>
            <a:br>
              <a:rPr lang="en-US" sz="1600" kern="0" dirty="0" smtClean="0">
                <a:solidFill>
                  <a:sysClr val="windowText" lastClr="000000"/>
                </a:solidFill>
                <a:latin typeface="Calibri"/>
                <a:ea typeface="+mn-ea"/>
                <a:cs typeface="+mn-cs"/>
              </a:rPr>
            </a:br>
            <a:r>
              <a:rPr lang="en-US" sz="1600" kern="0" dirty="0" smtClean="0">
                <a:solidFill>
                  <a:sysClr val="windowText" lastClr="000000"/>
                </a:solidFill>
                <a:latin typeface="Calibri"/>
                <a:ea typeface="+mn-ea"/>
                <a:cs typeface="+mn-cs"/>
              </a:rPr>
              <a:t>the database server for users </a:t>
            </a:r>
            <a:br>
              <a:rPr lang="en-US" sz="1600" kern="0" dirty="0" smtClean="0">
                <a:solidFill>
                  <a:sysClr val="windowText" lastClr="000000"/>
                </a:solidFill>
                <a:latin typeface="Calibri"/>
                <a:ea typeface="+mn-ea"/>
                <a:cs typeface="+mn-cs"/>
              </a:rPr>
            </a:br>
            <a:r>
              <a:rPr lang="en-US" sz="1600" kern="0" dirty="0" smtClean="0">
                <a:solidFill>
                  <a:sysClr val="windowText" lastClr="000000"/>
                </a:solidFill>
                <a:latin typeface="Calibri"/>
                <a:ea typeface="+mn-ea"/>
                <a:cs typeface="+mn-cs"/>
              </a:rPr>
              <a:t>&lt;</a:t>
            </a:r>
            <a:r>
              <a:rPr lang="en-US" sz="1600" kern="0" dirty="0" err="1" smtClean="0">
                <a:solidFill>
                  <a:sysClr val="windowText" lastClr="000000"/>
                </a:solidFill>
                <a:latin typeface="Calibri"/>
                <a:ea typeface="+mn-ea"/>
                <a:cs typeface="+mn-cs"/>
              </a:rPr>
              <a:t>sid</a:t>
            </a:r>
            <a:r>
              <a:rPr lang="en-US" sz="1600" kern="0" dirty="0" smtClean="0">
                <a:solidFill>
                  <a:sysClr val="windowText" lastClr="000000"/>
                </a:solidFill>
                <a:latin typeface="Calibri"/>
                <a:ea typeface="+mn-ea"/>
                <a:cs typeface="+mn-cs"/>
              </a:rPr>
              <a:t>&gt;</a:t>
            </a:r>
            <a:r>
              <a:rPr lang="en-US" sz="1600" kern="0" dirty="0" err="1" smtClean="0">
                <a:solidFill>
                  <a:sysClr val="windowText" lastClr="000000"/>
                </a:solidFill>
                <a:latin typeface="Calibri"/>
                <a:ea typeface="+mn-ea"/>
                <a:cs typeface="+mn-cs"/>
              </a:rPr>
              <a:t>adm</a:t>
            </a:r>
            <a:r>
              <a:rPr lang="en-US" sz="1600" kern="0" dirty="0" smtClean="0">
                <a:solidFill>
                  <a:sysClr val="windowText" lastClr="000000"/>
                </a:solidFill>
                <a:latin typeface="Calibri"/>
                <a:ea typeface="+mn-ea"/>
                <a:cs typeface="+mn-cs"/>
              </a:rPr>
              <a:t> and </a:t>
            </a:r>
            <a:r>
              <a:rPr lang="en-US" sz="1600" kern="0" dirty="0" err="1" smtClean="0">
                <a:solidFill>
                  <a:sysClr val="windowText" lastClr="000000"/>
                </a:solidFill>
                <a:latin typeface="Calibri"/>
                <a:ea typeface="+mn-ea"/>
                <a:cs typeface="+mn-cs"/>
              </a:rPr>
              <a:t>ora</a:t>
            </a:r>
            <a:r>
              <a:rPr lang="en-US" sz="1600" kern="0" dirty="0" smtClean="0">
                <a:solidFill>
                  <a:sysClr val="windowText" lastClr="000000"/>
                </a:solidFill>
                <a:latin typeface="Calibri"/>
                <a:ea typeface="+mn-ea"/>
                <a:cs typeface="+mn-cs"/>
              </a:rPr>
              <a:t>&lt;</a:t>
            </a:r>
            <a:r>
              <a:rPr lang="en-US" sz="1600" kern="0" dirty="0" err="1" smtClean="0">
                <a:solidFill>
                  <a:sysClr val="windowText" lastClr="000000"/>
                </a:solidFill>
                <a:latin typeface="Calibri"/>
                <a:ea typeface="+mn-ea"/>
                <a:cs typeface="+mn-cs"/>
              </a:rPr>
              <a:t>sid</a:t>
            </a:r>
            <a:r>
              <a:rPr lang="en-US" sz="1600" kern="0" dirty="0" smtClean="0">
                <a:solidFill>
                  <a:sysClr val="windowText" lastClr="000000"/>
                </a:solidFill>
                <a:latin typeface="Calibri"/>
                <a:ea typeface="+mn-ea"/>
                <a:cs typeface="+mn-cs"/>
              </a:rPr>
              <a:t>&gt;</a:t>
            </a:r>
            <a:endParaRPr lang="en-US" sz="1600" kern="0" dirty="0">
              <a:solidFill>
                <a:sysClr val="windowText" lastClr="000000"/>
              </a:solidFill>
              <a:latin typeface="Calibri"/>
              <a:ea typeface="+mn-ea"/>
              <a:cs typeface="+mn-cs"/>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38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fr-FR" sz="3000">
                <a:solidFill>
                  <a:srgbClr val="9F4C97"/>
                </a:solidFill>
                <a:latin typeface="Tele-GroteskNor" pitchFamily="2" charset="0"/>
                <a:ea typeface="TeleGrotesk Headline Ultra" pitchFamily="2" charset="0"/>
                <a:cs typeface="TeleGrotesk Headline Ultra" pitchFamily="2" charset="0"/>
              </a:rPr>
              <a:t>Oracle Directories and Environment Variables</a:t>
            </a:r>
          </a:p>
        </p:txBody>
      </p:sp>
      <p:sp>
        <p:nvSpPr>
          <p:cNvPr id="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dirty="0" smtClean="0">
                <a:solidFill>
                  <a:srgbClr val="000000"/>
                </a:solidFill>
                <a:latin typeface="Tele-GroteskNor" charset="0"/>
              </a:rPr>
              <a:t>Displays environment variables</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smtClean="0">
                <a:solidFill>
                  <a:srgbClr val="000000"/>
                </a:solidFill>
                <a:latin typeface="Tele-GroteskNor" charset="0"/>
              </a:rPr>
              <a:t> </a:t>
            </a:r>
            <a:r>
              <a:rPr lang="en-US" sz="2400" dirty="0" err="1" smtClean="0">
                <a:solidFill>
                  <a:srgbClr val="000000"/>
                </a:solidFill>
                <a:latin typeface="Tele-GroteskNor" charset="0"/>
              </a:rPr>
              <a:t>env</a:t>
            </a:r>
            <a:endParaRPr lang="en-US" sz="2400" dirty="0">
              <a:solidFill>
                <a:srgbClr val="000000"/>
              </a:solidFill>
              <a:latin typeface="Tele-GroteskNor" charset="0"/>
            </a:endParaRPr>
          </a:p>
          <a:p>
            <a:pPr lvl="1" indent="0">
              <a:lnSpc>
                <a:spcPct val="90000"/>
              </a:lnSpc>
              <a:spcBef>
                <a:spcPts val="750"/>
              </a:spcBef>
              <a:buClrTx/>
              <a:buFontTx/>
              <a:buNone/>
              <a:defRPr/>
            </a:pPr>
            <a:r>
              <a:rPr lang="en-US" sz="2400" dirty="0" smtClean="0">
                <a:solidFill>
                  <a:srgbClr val="000000"/>
                </a:solidFill>
                <a:latin typeface="Tele-GroteskNor" charset="0"/>
              </a:rPr>
              <a:t>Sets an environment variable to requested value </a:t>
            </a:r>
            <a:r>
              <a:rPr lang="en-US" i="1" dirty="0" smtClean="0">
                <a:solidFill>
                  <a:srgbClr val="000000"/>
                </a:solidFill>
                <a:latin typeface="Tele-GroteskNor" charset="0"/>
              </a:rPr>
              <a:t>(</a:t>
            </a:r>
            <a:r>
              <a:rPr lang="en-US" i="1" dirty="0" err="1">
                <a:solidFill>
                  <a:srgbClr val="000000"/>
                </a:solidFill>
                <a:latin typeface="Tele-GroteskNor" charset="0"/>
              </a:rPr>
              <a:t>sh</a:t>
            </a:r>
            <a:r>
              <a:rPr lang="en-US" i="1" dirty="0">
                <a:solidFill>
                  <a:srgbClr val="000000"/>
                </a:solidFill>
                <a:latin typeface="Tele-GroteskNor" charset="0"/>
              </a:rPr>
              <a:t> and </a:t>
            </a:r>
            <a:r>
              <a:rPr lang="en-US" i="1" dirty="0" err="1">
                <a:solidFill>
                  <a:srgbClr val="000000"/>
                </a:solidFill>
                <a:latin typeface="Tele-GroteskNor" charset="0"/>
              </a:rPr>
              <a:t>ksh</a:t>
            </a:r>
            <a:r>
              <a:rPr lang="en-US" i="1" dirty="0">
                <a:solidFill>
                  <a:srgbClr val="000000"/>
                </a:solidFill>
                <a:latin typeface="Tele-GroteskNor" charset="0"/>
              </a:rPr>
              <a:t> </a:t>
            </a:r>
            <a:r>
              <a:rPr lang="en-US" i="1" dirty="0" smtClean="0">
                <a:solidFill>
                  <a:srgbClr val="000000"/>
                </a:solidFill>
                <a:latin typeface="Tele-GroteskNor" charset="0"/>
              </a:rPr>
              <a:t>shells)</a:t>
            </a:r>
            <a:endParaRPr lang="en-US" sz="2400" i="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smtClean="0">
                <a:solidFill>
                  <a:srgbClr val="000000"/>
                </a:solidFill>
                <a:latin typeface="Tele-GroteskNor" charset="0"/>
              </a:rPr>
              <a:t> </a:t>
            </a:r>
            <a:r>
              <a:rPr lang="en-US" sz="2400" dirty="0">
                <a:solidFill>
                  <a:srgbClr val="000000"/>
                </a:solidFill>
                <a:latin typeface="Tele-GroteskNor" charset="0"/>
              </a:rPr>
              <a:t>export &lt;</a:t>
            </a:r>
            <a:r>
              <a:rPr lang="en-US" sz="2400" dirty="0" err="1">
                <a:solidFill>
                  <a:srgbClr val="000000"/>
                </a:solidFill>
                <a:latin typeface="Tele-GroteskNor" charset="0"/>
              </a:rPr>
              <a:t>env_variable</a:t>
            </a:r>
            <a:r>
              <a:rPr lang="en-US" sz="2400" dirty="0">
                <a:solidFill>
                  <a:srgbClr val="000000"/>
                </a:solidFill>
                <a:latin typeface="Tele-GroteskNor" charset="0"/>
              </a:rPr>
              <a:t>&gt;=&lt;value&gt;</a:t>
            </a:r>
          </a:p>
          <a:p>
            <a:pPr lvl="1" indent="0">
              <a:lnSpc>
                <a:spcPct val="90000"/>
              </a:lnSpc>
              <a:spcBef>
                <a:spcPts val="750"/>
              </a:spcBef>
              <a:buClrTx/>
              <a:buFontTx/>
              <a:buNone/>
              <a:defRPr/>
            </a:pPr>
            <a:r>
              <a:rPr lang="en-US" sz="2400" dirty="0">
                <a:solidFill>
                  <a:srgbClr val="000000"/>
                </a:solidFill>
                <a:latin typeface="Tele-GroteskNor" charset="0"/>
              </a:rPr>
              <a:t>o</a:t>
            </a:r>
            <a:r>
              <a:rPr lang="en-US" sz="2400" dirty="0" smtClean="0">
                <a:solidFill>
                  <a:srgbClr val="000000"/>
                </a:solidFill>
                <a:latin typeface="Tele-GroteskNor" charset="0"/>
              </a:rPr>
              <a:t>r </a:t>
            </a:r>
            <a:r>
              <a:rPr lang="en-US" sz="2400" i="1" dirty="0" smtClean="0">
                <a:solidFill>
                  <a:srgbClr val="000000"/>
                </a:solidFill>
                <a:latin typeface="Tele-GroteskNor" charset="0"/>
              </a:rPr>
              <a:t>(</a:t>
            </a:r>
            <a:r>
              <a:rPr lang="en-US" sz="2400" i="1" dirty="0" err="1" smtClean="0">
                <a:solidFill>
                  <a:srgbClr val="000000"/>
                </a:solidFill>
                <a:latin typeface="Tele-GroteskNor" charset="0"/>
              </a:rPr>
              <a:t>csh</a:t>
            </a:r>
            <a:r>
              <a:rPr lang="en-US" sz="2400" i="1" dirty="0" smtClean="0">
                <a:solidFill>
                  <a:srgbClr val="000000"/>
                </a:solidFill>
                <a:latin typeface="Tele-GroteskNor" charset="0"/>
              </a:rPr>
              <a:t> shell)</a:t>
            </a:r>
            <a:endParaRPr lang="en-US" sz="2400"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smtClean="0">
                <a:solidFill>
                  <a:srgbClr val="000000"/>
                </a:solidFill>
                <a:latin typeface="Tele-GroteskNor" charset="0"/>
              </a:rPr>
              <a:t> set </a:t>
            </a:r>
            <a:r>
              <a:rPr lang="en-US" sz="2400" dirty="0">
                <a:solidFill>
                  <a:srgbClr val="000000"/>
                </a:solidFill>
                <a:latin typeface="Tele-GroteskNor" charset="0"/>
              </a:rPr>
              <a:t>&lt;</a:t>
            </a:r>
            <a:r>
              <a:rPr lang="en-US" sz="2400" dirty="0" err="1">
                <a:solidFill>
                  <a:srgbClr val="000000"/>
                </a:solidFill>
                <a:latin typeface="Tele-GroteskNor" charset="0"/>
              </a:rPr>
              <a:t>env_variable</a:t>
            </a:r>
            <a:r>
              <a:rPr lang="en-US" sz="2400" dirty="0">
                <a:solidFill>
                  <a:srgbClr val="000000"/>
                </a:solidFill>
                <a:latin typeface="Tele-GroteskNor" charset="0"/>
              </a:rPr>
              <a:t>&gt; &lt;value&gt;</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smtClean="0">
                <a:solidFill>
                  <a:srgbClr val="000000"/>
                </a:solidFill>
                <a:latin typeface="Tele-GroteskNor" charset="0"/>
              </a:rPr>
              <a:t> </a:t>
            </a:r>
            <a:r>
              <a:rPr lang="en-US" sz="2400" dirty="0">
                <a:solidFill>
                  <a:srgbClr val="000000"/>
                </a:solidFill>
                <a:latin typeface="Tele-GroteskNor" charset="0"/>
              </a:rPr>
              <a:t>sets an environment variable to requested value</a:t>
            </a:r>
          </a:p>
          <a:p>
            <a:pPr lvl="1" indent="0">
              <a:lnSpc>
                <a:spcPct val="90000"/>
              </a:lnSpc>
              <a:spcBef>
                <a:spcPts val="750"/>
              </a:spcBef>
              <a:buClrTx/>
              <a:buFontTx/>
              <a:buNone/>
              <a:defRPr/>
            </a:pPr>
            <a:r>
              <a:rPr lang="en-US" sz="2400" dirty="0" smtClean="0">
                <a:solidFill>
                  <a:srgbClr val="000000"/>
                </a:solidFill>
                <a:latin typeface="Tele-GroteskNor" charset="0"/>
              </a:rPr>
              <a:t>Displays value of ORACLE_HOME environment variable</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smtClean="0">
                <a:solidFill>
                  <a:srgbClr val="000000"/>
                </a:solidFill>
                <a:latin typeface="Tele-GroteskNor" charset="0"/>
              </a:rPr>
              <a:t> </a:t>
            </a:r>
            <a:r>
              <a:rPr lang="en-US" sz="2400" dirty="0">
                <a:solidFill>
                  <a:srgbClr val="000000"/>
                </a:solidFill>
                <a:latin typeface="Tele-GroteskNor" charset="0"/>
              </a:rPr>
              <a:t>echo $ORACLE_HOME</a:t>
            </a:r>
          </a:p>
          <a:p>
            <a:pPr lvl="1" indent="0">
              <a:lnSpc>
                <a:spcPct val="90000"/>
              </a:lnSpc>
              <a:spcBef>
                <a:spcPts val="750"/>
              </a:spcBef>
              <a:buClrTx/>
              <a:buFontTx/>
              <a:buNone/>
              <a:defRPr/>
            </a:pPr>
            <a:endParaRPr lang="en-US" sz="2400" dirty="0" smtClean="0">
              <a:solidFill>
                <a:srgbClr val="000000"/>
              </a:solidFill>
              <a:latin typeface="Tele-GroteskNor"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3025" y="1436688"/>
            <a:ext cx="6332538" cy="4749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1"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12"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17413" name="Text Box 4"/>
          <p:cNvSpPr txBox="1">
            <a:spLocks noChangeArrowheads="1"/>
          </p:cNvSpPr>
          <p:nvPr/>
        </p:nvSpPr>
        <p:spPr bwMode="auto">
          <a:xfrm>
            <a:off x="304800" y="1773238"/>
            <a:ext cx="4259263"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The Oracle directory (folder) and file names are standardized in SAP environments. </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Directories (folders) are always created with the same structure and naming convention during the installation. </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This structure may not be changed, and the naming conventions must be observed, as SAP tools for Oracle administration rely on it.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22531"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err="1" smtClean="0">
                <a:solidFill>
                  <a:srgbClr val="000000"/>
                </a:solidFill>
                <a:latin typeface="Tele-GroteskNor" charset="0"/>
              </a:rPr>
              <a:t>dbs</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The Oracle profile </a:t>
            </a:r>
            <a:r>
              <a:rPr lang="en-US" sz="2400" dirty="0" err="1">
                <a:solidFill>
                  <a:srgbClr val="000000"/>
                </a:solidFill>
                <a:latin typeface="Tele-GroteskNor" charset="0"/>
              </a:rPr>
              <a:t>init</a:t>
            </a:r>
            <a:r>
              <a:rPr lang="en-US" sz="2400" dirty="0">
                <a:solidFill>
                  <a:srgbClr val="000000"/>
                </a:solidFill>
                <a:latin typeface="Tele-GroteskNor" charset="0"/>
              </a:rPr>
              <a:t>&lt;DBSID&gt;.</a:t>
            </a:r>
            <a:r>
              <a:rPr lang="en-US" sz="2400" dirty="0" err="1">
                <a:solidFill>
                  <a:srgbClr val="000000"/>
                </a:solidFill>
                <a:latin typeface="Tele-GroteskNor" charset="0"/>
              </a:rPr>
              <a:t>ora</a:t>
            </a:r>
            <a:r>
              <a:rPr lang="en-US" sz="2400" dirty="0">
                <a:solidFill>
                  <a:srgbClr val="000000"/>
                </a:solidFill>
                <a:latin typeface="Tele-GroteskNor" charset="0"/>
              </a:rPr>
              <a:t> or </a:t>
            </a:r>
            <a:r>
              <a:rPr lang="en-US" sz="2400" dirty="0" err="1">
                <a:solidFill>
                  <a:srgbClr val="000000"/>
                </a:solidFill>
                <a:latin typeface="Tele-GroteskNor" charset="0"/>
              </a:rPr>
              <a:t>spfile</a:t>
            </a:r>
            <a:r>
              <a:rPr lang="en-US" sz="2400" dirty="0">
                <a:solidFill>
                  <a:srgbClr val="000000"/>
                </a:solidFill>
                <a:latin typeface="Tele-GroteskNor" charset="0"/>
              </a:rPr>
              <a:t>&lt;DBSID&gt;.</a:t>
            </a:r>
            <a:r>
              <a:rPr lang="en-US" sz="2400" dirty="0" err="1">
                <a:solidFill>
                  <a:srgbClr val="000000"/>
                </a:solidFill>
                <a:latin typeface="Tele-GroteskNor" charset="0"/>
              </a:rPr>
              <a:t>ora</a:t>
            </a:r>
            <a:r>
              <a:rPr lang="en-US" sz="2400" dirty="0">
                <a:solidFill>
                  <a:srgbClr val="000000"/>
                </a:solidFill>
                <a:latin typeface="Tele-GroteskNor" charset="0"/>
              </a:rPr>
              <a:t> holds the Oracle instance configuration parameters</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The profile </a:t>
            </a:r>
            <a:r>
              <a:rPr lang="en-US" sz="2400" dirty="0" err="1">
                <a:solidFill>
                  <a:srgbClr val="000000"/>
                </a:solidFill>
                <a:latin typeface="Tele-GroteskNor" charset="0"/>
              </a:rPr>
              <a:t>init</a:t>
            </a:r>
            <a:r>
              <a:rPr lang="en-US" sz="2400" dirty="0">
                <a:solidFill>
                  <a:srgbClr val="000000"/>
                </a:solidFill>
                <a:latin typeface="Tele-GroteskNor" charset="0"/>
              </a:rPr>
              <a:t>&lt;DBSID&gt;.sap holds configuration parameters for administration tools BR*Tools</a:t>
            </a:r>
          </a:p>
          <a:p>
            <a:pPr lvl="1" indent="0">
              <a:lnSpc>
                <a:spcPct val="90000"/>
              </a:lnSpc>
              <a:spcBef>
                <a:spcPts val="750"/>
              </a:spcBef>
              <a:buClrTx/>
              <a:buFontTx/>
              <a:buNone/>
              <a:defRPr/>
            </a:pPr>
            <a:r>
              <a:rPr lang="en-US" sz="2400" b="1" i="1" dirty="0" err="1" smtClean="0">
                <a:solidFill>
                  <a:srgbClr val="000000"/>
                </a:solidFill>
                <a:latin typeface="Tele-GroteskNor" charset="0"/>
              </a:rPr>
              <a:t>sapdata</a:t>
            </a:r>
            <a:r>
              <a:rPr lang="en-US" sz="2400" b="1" i="1" dirty="0" smtClean="0">
                <a:solidFill>
                  <a:srgbClr val="000000"/>
                </a:solidFill>
                <a:latin typeface="Tele-GroteskNor" charset="0"/>
              </a:rPr>
              <a:t>&lt;n&gt;</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Contains the data files of the </a:t>
            </a:r>
            <a:r>
              <a:rPr lang="en-US" sz="2400" dirty="0" err="1">
                <a:solidFill>
                  <a:srgbClr val="000000"/>
                </a:solidFill>
                <a:latin typeface="Tele-GroteskNor" charset="0"/>
              </a:rPr>
              <a:t>tablespaces</a:t>
            </a:r>
            <a:endParaRPr lang="en-US" sz="2400" dirty="0">
              <a:solidFill>
                <a:srgbClr val="000000"/>
              </a:solidFill>
              <a:latin typeface="Tele-GroteskNor"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5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23555"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err="1" smtClean="0">
                <a:solidFill>
                  <a:srgbClr val="000000"/>
                </a:solidFill>
                <a:latin typeface="Tele-GroteskNor" charset="0"/>
              </a:rPr>
              <a:t>origlogA</a:t>
            </a:r>
            <a:r>
              <a:rPr lang="en-US" sz="2400" b="1" dirty="0" smtClean="0">
                <a:solidFill>
                  <a:srgbClr val="000000"/>
                </a:solidFill>
                <a:latin typeface="Tele-GroteskNor" charset="0"/>
              </a:rPr>
              <a:t>/B, </a:t>
            </a:r>
            <a:r>
              <a:rPr lang="en-US" sz="2400" b="1" dirty="0" err="1" smtClean="0">
                <a:solidFill>
                  <a:srgbClr val="000000"/>
                </a:solidFill>
                <a:latin typeface="Tele-GroteskNor" charset="0"/>
              </a:rPr>
              <a:t>mirrlogA</a:t>
            </a:r>
            <a:r>
              <a:rPr lang="en-US" sz="2400" b="1" dirty="0" smtClean="0">
                <a:solidFill>
                  <a:srgbClr val="000000"/>
                </a:solidFill>
                <a:latin typeface="Tele-GroteskNor" charset="0"/>
              </a:rPr>
              <a:t>/B</a:t>
            </a: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Online redo log files reside in the </a:t>
            </a:r>
            <a:r>
              <a:rPr lang="en-US" sz="2400" dirty="0" err="1">
                <a:solidFill>
                  <a:srgbClr val="000000"/>
                </a:solidFill>
                <a:latin typeface="Tele-GroteskNor" charset="0"/>
              </a:rPr>
              <a:t>origlog</a:t>
            </a:r>
            <a:r>
              <a:rPr lang="en-US" sz="2400" dirty="0">
                <a:solidFill>
                  <a:srgbClr val="000000"/>
                </a:solidFill>
                <a:latin typeface="Tele-GroteskNor" charset="0"/>
              </a:rPr>
              <a:t> and </a:t>
            </a:r>
            <a:r>
              <a:rPr lang="en-US" sz="2400" dirty="0" err="1">
                <a:solidFill>
                  <a:srgbClr val="000000"/>
                </a:solidFill>
                <a:latin typeface="Tele-GroteskNor" charset="0"/>
              </a:rPr>
              <a:t>mirrlog</a:t>
            </a:r>
            <a:r>
              <a:rPr lang="en-US" sz="2400" dirty="0">
                <a:solidFill>
                  <a:srgbClr val="000000"/>
                </a:solidFill>
                <a:latin typeface="Tele-GroteskNor" charset="0"/>
              </a:rPr>
              <a:t> directories: </a:t>
            </a:r>
            <a:br>
              <a:rPr lang="en-US" sz="2400" dirty="0">
                <a:solidFill>
                  <a:srgbClr val="000000"/>
                </a:solidFill>
                <a:latin typeface="Tele-GroteskNor" charset="0"/>
              </a:rPr>
            </a:br>
            <a:r>
              <a:rPr lang="en-US" sz="2400" dirty="0">
                <a:solidFill>
                  <a:srgbClr val="000000"/>
                </a:solidFill>
                <a:latin typeface="Tele-GroteskNor" charset="0"/>
              </a:rPr>
              <a:t>Log file numbers 1 and 3 and their mirrors in </a:t>
            </a:r>
            <a:r>
              <a:rPr lang="en-US" sz="2400" dirty="0" err="1">
                <a:solidFill>
                  <a:srgbClr val="000000"/>
                </a:solidFill>
                <a:latin typeface="Tele-GroteskNor" charset="0"/>
              </a:rPr>
              <a:t>origlogA</a:t>
            </a:r>
            <a:r>
              <a:rPr lang="en-US" sz="2400" dirty="0">
                <a:solidFill>
                  <a:srgbClr val="000000"/>
                </a:solidFill>
                <a:latin typeface="Tele-GroteskNor" charset="0"/>
              </a:rPr>
              <a:t> and </a:t>
            </a:r>
            <a:r>
              <a:rPr lang="en-US" sz="2400" dirty="0" err="1">
                <a:solidFill>
                  <a:srgbClr val="000000"/>
                </a:solidFill>
                <a:latin typeface="Tele-GroteskNor" charset="0"/>
              </a:rPr>
              <a:t>mirrlogA</a:t>
            </a:r>
            <a:r>
              <a:rPr lang="en-US" sz="2400" dirty="0">
                <a:solidFill>
                  <a:srgbClr val="000000"/>
                </a:solidFill>
                <a:latin typeface="Tele-GroteskNor" charset="0"/>
              </a:rPr>
              <a:t>, log file numbers 2 and 4 and their mirrors in </a:t>
            </a:r>
            <a:r>
              <a:rPr lang="en-US" sz="2400" dirty="0" err="1">
                <a:solidFill>
                  <a:srgbClr val="000000"/>
                </a:solidFill>
                <a:latin typeface="Tele-GroteskNor" charset="0"/>
              </a:rPr>
              <a:t>origlogB</a:t>
            </a:r>
            <a:r>
              <a:rPr lang="en-US" sz="2400" dirty="0">
                <a:solidFill>
                  <a:srgbClr val="000000"/>
                </a:solidFill>
                <a:latin typeface="Tele-GroteskNor" charset="0"/>
              </a:rPr>
              <a:t> and </a:t>
            </a:r>
            <a:r>
              <a:rPr lang="en-US" sz="2400" dirty="0" err="1">
                <a:solidFill>
                  <a:srgbClr val="000000"/>
                </a:solidFill>
                <a:latin typeface="Tele-GroteskNor" charset="0"/>
              </a:rPr>
              <a:t>mirrlogB</a:t>
            </a:r>
            <a:r>
              <a:rPr lang="en-US" sz="2400" dirty="0">
                <a:solidFill>
                  <a:srgbClr val="000000"/>
                </a:solidFill>
                <a:latin typeface="Tele-GroteskNor" charset="0"/>
              </a:rPr>
              <a:t>, respectively</a:t>
            </a:r>
          </a:p>
          <a:p>
            <a:pPr lvl="1" indent="0">
              <a:lnSpc>
                <a:spcPct val="90000"/>
              </a:lnSpc>
              <a:spcBef>
                <a:spcPts val="750"/>
              </a:spcBef>
              <a:buClrTx/>
              <a:buFontTx/>
              <a:buNone/>
              <a:defRPr/>
            </a:pPr>
            <a:r>
              <a:rPr lang="en-US" sz="2400" b="1" dirty="0" err="1" smtClean="0">
                <a:solidFill>
                  <a:srgbClr val="000000"/>
                </a:solidFill>
                <a:latin typeface="Tele-GroteskNor" charset="0"/>
              </a:rPr>
              <a:t>oraarch</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Offline redo log files are written to the </a:t>
            </a:r>
            <a:r>
              <a:rPr lang="en-US" sz="2400" dirty="0" err="1">
                <a:solidFill>
                  <a:srgbClr val="000000"/>
                </a:solidFill>
                <a:latin typeface="Tele-GroteskNor" charset="0"/>
              </a:rPr>
              <a:t>oraarch</a:t>
            </a:r>
            <a:r>
              <a:rPr lang="en-US" sz="2400" dirty="0">
                <a:solidFill>
                  <a:srgbClr val="000000"/>
                </a:solidFill>
                <a:latin typeface="Tele-GroteskNor" charset="0"/>
              </a:rPr>
              <a:t> directory; their names are specified with help of Oracle instance configuration parameters, so the name &lt;DBSID&gt;arch1_&lt;LSN&gt;.dbf is just an example.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64"/>
          <p:cNvSpPr>
            <a:spLocks noChangeArrowheads="1"/>
          </p:cNvSpPr>
          <p:nvPr/>
        </p:nvSpPr>
        <p:spPr bwMode="auto">
          <a:xfrm>
            <a:off x="6975475" y="4402683"/>
            <a:ext cx="1039813" cy="581025"/>
          </a:xfrm>
          <a:prstGeom prst="can">
            <a:avLst>
              <a:gd name="adj" fmla="val 25000"/>
            </a:avLst>
          </a:prstGeom>
          <a:solidFill>
            <a:schemeClr val="bg2">
              <a:lumMod val="40000"/>
              <a:lumOff val="60000"/>
            </a:schemeClr>
          </a:solidFill>
          <a:ln>
            <a:noFill/>
          </a:ln>
          <a:effectLst/>
        </p:spPr>
        <p:txBody>
          <a:bodyPr wrap="none" anchor="ctr"/>
          <a:lstStyle/>
          <a:p>
            <a:r>
              <a:rPr lang="en-US" dirty="0" smtClean="0"/>
              <a:t> </a:t>
            </a:r>
            <a:endParaRPr lang="en-US" dirty="0"/>
          </a:p>
        </p:txBody>
      </p:sp>
      <p:grpSp>
        <p:nvGrpSpPr>
          <p:cNvPr id="40" name="Group 39"/>
          <p:cNvGrpSpPr/>
          <p:nvPr/>
        </p:nvGrpSpPr>
        <p:grpSpPr>
          <a:xfrm>
            <a:off x="2459037" y="3416720"/>
            <a:ext cx="1223962" cy="780634"/>
            <a:chOff x="2459037" y="3416720"/>
            <a:chExt cx="1223962" cy="780634"/>
          </a:xfrm>
        </p:grpSpPr>
        <p:grpSp>
          <p:nvGrpSpPr>
            <p:cNvPr id="35" name="Group 34"/>
            <p:cNvGrpSpPr/>
            <p:nvPr/>
          </p:nvGrpSpPr>
          <p:grpSpPr>
            <a:xfrm>
              <a:off x="2459037" y="3700466"/>
              <a:ext cx="1223962" cy="496888"/>
              <a:chOff x="2433638" y="3997992"/>
              <a:chExt cx="1223962" cy="496888"/>
            </a:xfrm>
          </p:grpSpPr>
          <p:sp>
            <p:nvSpPr>
              <p:cNvPr id="33" name="AutoShape 66"/>
              <p:cNvSpPr>
                <a:spLocks noChangeArrowheads="1"/>
              </p:cNvSpPr>
              <p:nvPr/>
            </p:nvSpPr>
            <p:spPr bwMode="auto">
              <a:xfrm>
                <a:off x="2433638" y="3997992"/>
                <a:ext cx="1036637" cy="365125"/>
              </a:xfrm>
              <a:prstGeom prst="can">
                <a:avLst>
                  <a:gd name="adj" fmla="val 25000"/>
                </a:avLst>
              </a:prstGeom>
              <a:solidFill>
                <a:srgbClr val="0070C0"/>
              </a:solidFill>
              <a:ln>
                <a:noFill/>
              </a:ln>
              <a:effectLst/>
            </p:spPr>
            <p:txBody>
              <a:bodyPr wrap="none" anchor="ctr"/>
              <a:lstStyle/>
              <a:p>
                <a:endParaRPr lang="en-US"/>
              </a:p>
            </p:txBody>
          </p:sp>
          <p:sp>
            <p:nvSpPr>
              <p:cNvPr id="34" name="AutoShape 67"/>
              <p:cNvSpPr>
                <a:spLocks noChangeArrowheads="1"/>
              </p:cNvSpPr>
              <p:nvPr/>
            </p:nvSpPr>
            <p:spPr bwMode="auto">
              <a:xfrm>
                <a:off x="2620963" y="4129755"/>
                <a:ext cx="1036637" cy="365125"/>
              </a:xfrm>
              <a:prstGeom prst="can">
                <a:avLst>
                  <a:gd name="adj" fmla="val 25000"/>
                </a:avLst>
              </a:prstGeom>
              <a:solidFill>
                <a:srgbClr val="0070C0"/>
              </a:solidFill>
              <a:ln>
                <a:noFill/>
              </a:ln>
              <a:effectLst/>
            </p:spPr>
            <p:txBody>
              <a:bodyPr wrap="none" anchor="ctr"/>
              <a:lstStyle/>
              <a:p>
                <a:endParaRPr lang="en-US"/>
              </a:p>
            </p:txBody>
          </p:sp>
        </p:grpSp>
        <p:grpSp>
          <p:nvGrpSpPr>
            <p:cNvPr id="36" name="Group 35"/>
            <p:cNvGrpSpPr/>
            <p:nvPr/>
          </p:nvGrpSpPr>
          <p:grpSpPr>
            <a:xfrm>
              <a:off x="2459037" y="3416720"/>
              <a:ext cx="1223962" cy="496888"/>
              <a:chOff x="2433638" y="3997992"/>
              <a:chExt cx="1223962" cy="496888"/>
            </a:xfrm>
          </p:grpSpPr>
          <p:sp>
            <p:nvSpPr>
              <p:cNvPr id="37" name="AutoShape 66"/>
              <p:cNvSpPr>
                <a:spLocks noChangeArrowheads="1"/>
              </p:cNvSpPr>
              <p:nvPr/>
            </p:nvSpPr>
            <p:spPr bwMode="auto">
              <a:xfrm>
                <a:off x="2433638" y="3997992"/>
                <a:ext cx="1036637" cy="365125"/>
              </a:xfrm>
              <a:prstGeom prst="can">
                <a:avLst>
                  <a:gd name="adj" fmla="val 25000"/>
                </a:avLst>
              </a:prstGeom>
              <a:solidFill>
                <a:srgbClr val="0070C0"/>
              </a:solidFill>
              <a:ln>
                <a:noFill/>
              </a:ln>
              <a:effectLst/>
            </p:spPr>
            <p:txBody>
              <a:bodyPr wrap="none" anchor="ctr"/>
              <a:lstStyle/>
              <a:p>
                <a:endParaRPr lang="en-US"/>
              </a:p>
            </p:txBody>
          </p:sp>
          <p:sp>
            <p:nvSpPr>
              <p:cNvPr id="38" name="AutoShape 67"/>
              <p:cNvSpPr>
                <a:spLocks noChangeArrowheads="1"/>
              </p:cNvSpPr>
              <p:nvPr/>
            </p:nvSpPr>
            <p:spPr bwMode="auto">
              <a:xfrm>
                <a:off x="2620963" y="4129755"/>
                <a:ext cx="1036637" cy="365125"/>
              </a:xfrm>
              <a:prstGeom prst="can">
                <a:avLst>
                  <a:gd name="adj" fmla="val 25000"/>
                </a:avLst>
              </a:prstGeom>
              <a:solidFill>
                <a:srgbClr val="0070C0"/>
              </a:solidFill>
              <a:ln>
                <a:noFill/>
              </a:ln>
              <a:effectLst/>
            </p:spPr>
            <p:txBody>
              <a:bodyPr wrap="none" anchor="ctr"/>
              <a:lstStyle/>
              <a:p>
                <a:endParaRPr lang="en-US"/>
              </a:p>
            </p:txBody>
          </p:sp>
        </p:grpSp>
      </p:grpSp>
      <p:grpSp>
        <p:nvGrpSpPr>
          <p:cNvPr id="29" name="Group 52"/>
          <p:cNvGrpSpPr>
            <a:grpSpLocks/>
          </p:cNvGrpSpPr>
          <p:nvPr/>
        </p:nvGrpSpPr>
        <p:grpSpPr bwMode="auto">
          <a:xfrm>
            <a:off x="4137025" y="4392620"/>
            <a:ext cx="1223963" cy="788988"/>
            <a:chOff x="1604" y="3463"/>
            <a:chExt cx="771" cy="497"/>
          </a:xfrm>
        </p:grpSpPr>
        <p:sp>
          <p:nvSpPr>
            <p:cNvPr id="30" name="AutoShape 53"/>
            <p:cNvSpPr>
              <a:spLocks noChangeArrowheads="1"/>
            </p:cNvSpPr>
            <p:nvPr/>
          </p:nvSpPr>
          <p:spPr bwMode="auto">
            <a:xfrm>
              <a:off x="1604" y="3463"/>
              <a:ext cx="653" cy="366"/>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AutoShape 54"/>
            <p:cNvSpPr>
              <a:spLocks noChangeArrowheads="1"/>
            </p:cNvSpPr>
            <p:nvPr/>
          </p:nvSpPr>
          <p:spPr bwMode="auto">
            <a:xfrm>
              <a:off x="1722" y="3594"/>
              <a:ext cx="653" cy="366"/>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aphicFrame>
        <p:nvGraphicFramePr>
          <p:cNvPr id="5" name="Group 4"/>
          <p:cNvGraphicFramePr>
            <a:graphicFrameLocks noGrp="1"/>
          </p:cNvGraphicFramePr>
          <p:nvPr>
            <p:extLst>
              <p:ext uri="{D42A27DB-BD31-4B8C-83A1-F6EECF244321}">
                <p14:modId xmlns:p14="http://schemas.microsoft.com/office/powerpoint/2010/main" val="3622736728"/>
              </p:ext>
            </p:extLst>
          </p:nvPr>
        </p:nvGraphicFramePr>
        <p:xfrm>
          <a:off x="3906838" y="1606550"/>
          <a:ext cx="1276350" cy="1200150"/>
        </p:xfrm>
        <a:graphic>
          <a:graphicData uri="http://schemas.openxmlformats.org/drawingml/2006/table">
            <a:tbl>
              <a:tblPr/>
              <a:tblGrid>
                <a:gridCol w="639762"/>
                <a:gridCol w="636588"/>
              </a:tblGrid>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r h="200025">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98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sz="700" b="0" i="0" u="none" strike="noStrike" cap="none" normalizeH="0" baseline="0" dirty="0" smtClean="0">
                        <a:ln>
                          <a:noFill/>
                        </a:ln>
                        <a:solidFill>
                          <a:srgbClr val="000000"/>
                        </a:solidFill>
                        <a:effectLst/>
                        <a:latin typeface="Tele-GroteskNor" charset="0"/>
                        <a:ea typeface="WenQuanYi Zen Hei Sharp" charset="0"/>
                        <a:cs typeface="WenQuanYi Zen Hei Sharp" charset="0"/>
                      </a:endParaRPr>
                    </a:p>
                  </a:txBody>
                  <a:tcPr marL="90000" marR="90000" marT="48564"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Text Box 49"/>
          <p:cNvSpPr txBox="1">
            <a:spLocks noChangeArrowheads="1"/>
          </p:cNvSpPr>
          <p:nvPr/>
        </p:nvSpPr>
        <p:spPr bwMode="auto">
          <a:xfrm>
            <a:off x="5360988" y="1606550"/>
            <a:ext cx="2841625" cy="228600"/>
          </a:xfrm>
          <a:prstGeom prst="rect">
            <a:avLst/>
          </a:prstGeom>
          <a:solidFill>
            <a:srgbClr val="FFFFFF"/>
          </a:solidFill>
          <a:ln w="25560" cap="sq">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spcBef>
                <a:spcPct val="0"/>
              </a:spcBef>
              <a:spcAft>
                <a:spcPts val="450"/>
              </a:spcAft>
              <a:buClrTx/>
              <a:buFontTx/>
              <a:buNone/>
            </a:pPr>
            <a:r>
              <a:rPr lang="en-US" sz="2000" b="1" dirty="0">
                <a:solidFill>
                  <a:srgbClr val="000000"/>
                </a:solidFill>
                <a:latin typeface="Tele-GroteskNor" pitchFamily="2" charset="0"/>
              </a:rPr>
              <a:t>Redo Log buffer</a:t>
            </a:r>
          </a:p>
        </p:txBody>
      </p:sp>
      <p:grpSp>
        <p:nvGrpSpPr>
          <p:cNvPr id="9" name="Group 52"/>
          <p:cNvGrpSpPr>
            <a:grpSpLocks/>
          </p:cNvGrpSpPr>
          <p:nvPr/>
        </p:nvGrpSpPr>
        <p:grpSpPr bwMode="auto">
          <a:xfrm>
            <a:off x="2546350" y="5497513"/>
            <a:ext cx="1223963" cy="788987"/>
            <a:chOff x="1604" y="3463"/>
            <a:chExt cx="771" cy="497"/>
          </a:xfrm>
        </p:grpSpPr>
        <p:sp>
          <p:nvSpPr>
            <p:cNvPr id="10" name="AutoShape 53"/>
            <p:cNvSpPr>
              <a:spLocks noChangeArrowheads="1"/>
            </p:cNvSpPr>
            <p:nvPr/>
          </p:nvSpPr>
          <p:spPr bwMode="auto">
            <a:xfrm>
              <a:off x="1604" y="3463"/>
              <a:ext cx="653" cy="366"/>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AutoShape 54"/>
            <p:cNvSpPr>
              <a:spLocks noChangeArrowheads="1"/>
            </p:cNvSpPr>
            <p:nvPr/>
          </p:nvSpPr>
          <p:spPr bwMode="auto">
            <a:xfrm>
              <a:off x="1722" y="3594"/>
              <a:ext cx="653" cy="366"/>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12" name="Group 55"/>
          <p:cNvGrpSpPr>
            <a:grpSpLocks/>
          </p:cNvGrpSpPr>
          <p:nvPr/>
        </p:nvGrpSpPr>
        <p:grpSpPr bwMode="auto">
          <a:xfrm>
            <a:off x="963613" y="4392613"/>
            <a:ext cx="1223962" cy="787400"/>
            <a:chOff x="607" y="2767"/>
            <a:chExt cx="771" cy="496"/>
          </a:xfrm>
        </p:grpSpPr>
        <p:sp>
          <p:nvSpPr>
            <p:cNvPr id="13" name="AutoShape 56"/>
            <p:cNvSpPr>
              <a:spLocks noChangeArrowheads="1"/>
            </p:cNvSpPr>
            <p:nvPr/>
          </p:nvSpPr>
          <p:spPr bwMode="auto">
            <a:xfrm>
              <a:off x="607" y="2767"/>
              <a:ext cx="653" cy="365"/>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AutoShape 57"/>
            <p:cNvSpPr>
              <a:spLocks noChangeArrowheads="1"/>
            </p:cNvSpPr>
            <p:nvPr/>
          </p:nvSpPr>
          <p:spPr bwMode="auto">
            <a:xfrm>
              <a:off x="725" y="2898"/>
              <a:ext cx="653" cy="365"/>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5" name="Freeform 58"/>
          <p:cNvSpPr>
            <a:spLocks noChangeArrowheads="1"/>
          </p:cNvSpPr>
          <p:nvPr/>
        </p:nvSpPr>
        <p:spPr bwMode="auto">
          <a:xfrm>
            <a:off x="1482725" y="3463925"/>
            <a:ext cx="685800" cy="712788"/>
          </a:xfrm>
          <a:custGeom>
            <a:avLst/>
            <a:gdLst>
              <a:gd name="T0" fmla="*/ 0 w 685657"/>
              <a:gd name="T1" fmla="*/ 699317 h 713835"/>
              <a:gd name="T2" fmla="*/ 0 w 685657"/>
              <a:gd name="T3" fmla="*/ 377837 h 713835"/>
              <a:gd name="T4" fmla="*/ 300857 w 685657"/>
              <a:gd name="T5" fmla="*/ 83963 h 713835"/>
              <a:gd name="T6" fmla="*/ 515743 w 685657"/>
              <a:gd name="T7" fmla="*/ 83963 h 713835"/>
              <a:gd name="T8" fmla="*/ 515743 w 685657"/>
              <a:gd name="T9" fmla="*/ 0 h 713835"/>
              <a:gd name="T10" fmla="*/ 687659 w 685657"/>
              <a:gd name="T11" fmla="*/ 167928 h 713835"/>
              <a:gd name="T12" fmla="*/ 515743 w 685657"/>
              <a:gd name="T13" fmla="*/ 335856 h 713835"/>
              <a:gd name="T14" fmla="*/ 515743 w 685657"/>
              <a:gd name="T15" fmla="*/ 251891 h 713835"/>
              <a:gd name="T16" fmla="*/ 300857 w 685657"/>
              <a:gd name="T17" fmla="*/ 251891 h 713835"/>
              <a:gd name="T18" fmla="*/ 171918 w 685657"/>
              <a:gd name="T19" fmla="*/ 377837 h 713835"/>
              <a:gd name="T20" fmla="*/ 171918 w 685657"/>
              <a:gd name="T21" fmla="*/ 699317 h 713835"/>
              <a:gd name="T22" fmla="*/ 0 w 685657"/>
              <a:gd name="T23" fmla="*/ 699317 h 7138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85657" h="713835">
                <a:moveTo>
                  <a:pt x="0" y="713835"/>
                </a:moveTo>
                <a:lnTo>
                  <a:pt x="0" y="385682"/>
                </a:lnTo>
                <a:cubicBezTo>
                  <a:pt x="0" y="220010"/>
                  <a:pt x="134303" y="85707"/>
                  <a:pt x="299975" y="85707"/>
                </a:cubicBezTo>
                <a:lnTo>
                  <a:pt x="514243" y="85707"/>
                </a:lnTo>
                <a:lnTo>
                  <a:pt x="514243" y="0"/>
                </a:lnTo>
                <a:lnTo>
                  <a:pt x="685657" y="171414"/>
                </a:lnTo>
                <a:lnTo>
                  <a:pt x="514243" y="342829"/>
                </a:lnTo>
                <a:lnTo>
                  <a:pt x="514243" y="257121"/>
                </a:lnTo>
                <a:lnTo>
                  <a:pt x="299975" y="257121"/>
                </a:lnTo>
                <a:cubicBezTo>
                  <a:pt x="228973" y="257121"/>
                  <a:pt x="171414" y="314680"/>
                  <a:pt x="171414" y="385682"/>
                </a:cubicBezTo>
                <a:lnTo>
                  <a:pt x="171414" y="713835"/>
                </a:lnTo>
                <a:lnTo>
                  <a:pt x="0" y="713835"/>
                </a:lnTo>
                <a:close/>
              </a:path>
            </a:pathLst>
          </a:custGeom>
          <a:solidFill>
            <a:srgbClr val="BCBCBC"/>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59"/>
          <p:cNvSpPr>
            <a:spLocks noChangeArrowheads="1"/>
          </p:cNvSpPr>
          <p:nvPr/>
        </p:nvSpPr>
        <p:spPr bwMode="auto">
          <a:xfrm rot="5400000">
            <a:off x="4116388" y="3536950"/>
            <a:ext cx="685800" cy="714375"/>
          </a:xfrm>
          <a:custGeom>
            <a:avLst/>
            <a:gdLst>
              <a:gd name="T0" fmla="*/ 0 w 685657"/>
              <a:gd name="T1" fmla="*/ 721432 h 713835"/>
              <a:gd name="T2" fmla="*/ 0 w 685657"/>
              <a:gd name="T3" fmla="*/ 389787 h 713835"/>
              <a:gd name="T4" fmla="*/ 300857 w 685657"/>
              <a:gd name="T5" fmla="*/ 86617 h 713835"/>
              <a:gd name="T6" fmla="*/ 515743 w 685657"/>
              <a:gd name="T7" fmla="*/ 86617 h 713835"/>
              <a:gd name="T8" fmla="*/ 515743 w 685657"/>
              <a:gd name="T9" fmla="*/ 0 h 713835"/>
              <a:gd name="T10" fmla="*/ 687659 w 685657"/>
              <a:gd name="T11" fmla="*/ 173239 h 713835"/>
              <a:gd name="T12" fmla="*/ 515743 w 685657"/>
              <a:gd name="T13" fmla="*/ 346479 h 713835"/>
              <a:gd name="T14" fmla="*/ 515743 w 685657"/>
              <a:gd name="T15" fmla="*/ 259858 h 713835"/>
              <a:gd name="T16" fmla="*/ 300857 w 685657"/>
              <a:gd name="T17" fmla="*/ 259858 h 713835"/>
              <a:gd name="T18" fmla="*/ 171918 w 685657"/>
              <a:gd name="T19" fmla="*/ 389787 h 713835"/>
              <a:gd name="T20" fmla="*/ 171918 w 685657"/>
              <a:gd name="T21" fmla="*/ 721432 h 713835"/>
              <a:gd name="T22" fmla="*/ 0 w 685657"/>
              <a:gd name="T23" fmla="*/ 721432 h 7138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85657" h="713835">
                <a:moveTo>
                  <a:pt x="0" y="713835"/>
                </a:moveTo>
                <a:lnTo>
                  <a:pt x="0" y="385682"/>
                </a:lnTo>
                <a:cubicBezTo>
                  <a:pt x="0" y="220010"/>
                  <a:pt x="134303" y="85707"/>
                  <a:pt x="299975" y="85707"/>
                </a:cubicBezTo>
                <a:lnTo>
                  <a:pt x="514243" y="85707"/>
                </a:lnTo>
                <a:lnTo>
                  <a:pt x="514243" y="0"/>
                </a:lnTo>
                <a:lnTo>
                  <a:pt x="685657" y="171414"/>
                </a:lnTo>
                <a:lnTo>
                  <a:pt x="514243" y="342829"/>
                </a:lnTo>
                <a:lnTo>
                  <a:pt x="514243" y="257121"/>
                </a:lnTo>
                <a:lnTo>
                  <a:pt x="299975" y="257121"/>
                </a:lnTo>
                <a:cubicBezTo>
                  <a:pt x="228973" y="257121"/>
                  <a:pt x="171414" y="314680"/>
                  <a:pt x="171414" y="385682"/>
                </a:cubicBezTo>
                <a:lnTo>
                  <a:pt x="171414" y="713835"/>
                </a:lnTo>
                <a:lnTo>
                  <a:pt x="0" y="713835"/>
                </a:lnTo>
                <a:close/>
              </a:path>
            </a:pathLst>
          </a:custGeom>
          <a:solidFill>
            <a:srgbClr val="BCBCBC"/>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60"/>
          <p:cNvSpPr>
            <a:spLocks noChangeArrowheads="1"/>
          </p:cNvSpPr>
          <p:nvPr/>
        </p:nvSpPr>
        <p:spPr bwMode="auto">
          <a:xfrm rot="10800000">
            <a:off x="4221163" y="5589588"/>
            <a:ext cx="684212" cy="714375"/>
          </a:xfrm>
          <a:custGeom>
            <a:avLst/>
            <a:gdLst>
              <a:gd name="T0" fmla="*/ 0 w 685657"/>
              <a:gd name="T1" fmla="*/ 721432 h 713835"/>
              <a:gd name="T2" fmla="*/ 0 w 685657"/>
              <a:gd name="T3" fmla="*/ 389787 h 713835"/>
              <a:gd name="T4" fmla="*/ 291244 w 685657"/>
              <a:gd name="T5" fmla="*/ 86617 h 713835"/>
              <a:gd name="T6" fmla="*/ 499277 w 685657"/>
              <a:gd name="T7" fmla="*/ 86617 h 713835"/>
              <a:gd name="T8" fmla="*/ 499277 w 685657"/>
              <a:gd name="T9" fmla="*/ 0 h 713835"/>
              <a:gd name="T10" fmla="*/ 665700 w 685657"/>
              <a:gd name="T11" fmla="*/ 173239 h 713835"/>
              <a:gd name="T12" fmla="*/ 499277 w 685657"/>
              <a:gd name="T13" fmla="*/ 346479 h 713835"/>
              <a:gd name="T14" fmla="*/ 499277 w 685657"/>
              <a:gd name="T15" fmla="*/ 259858 h 713835"/>
              <a:gd name="T16" fmla="*/ 291244 w 685657"/>
              <a:gd name="T17" fmla="*/ 259858 h 713835"/>
              <a:gd name="T18" fmla="*/ 166427 w 685657"/>
              <a:gd name="T19" fmla="*/ 389787 h 713835"/>
              <a:gd name="T20" fmla="*/ 166427 w 685657"/>
              <a:gd name="T21" fmla="*/ 721432 h 713835"/>
              <a:gd name="T22" fmla="*/ 0 w 685657"/>
              <a:gd name="T23" fmla="*/ 721432 h 7138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85657" h="713835">
                <a:moveTo>
                  <a:pt x="0" y="713835"/>
                </a:moveTo>
                <a:lnTo>
                  <a:pt x="0" y="385682"/>
                </a:lnTo>
                <a:cubicBezTo>
                  <a:pt x="0" y="220010"/>
                  <a:pt x="134303" y="85707"/>
                  <a:pt x="299975" y="85707"/>
                </a:cubicBezTo>
                <a:lnTo>
                  <a:pt x="514243" y="85707"/>
                </a:lnTo>
                <a:lnTo>
                  <a:pt x="514243" y="0"/>
                </a:lnTo>
                <a:lnTo>
                  <a:pt x="685657" y="171414"/>
                </a:lnTo>
                <a:lnTo>
                  <a:pt x="514243" y="342829"/>
                </a:lnTo>
                <a:lnTo>
                  <a:pt x="514243" y="257121"/>
                </a:lnTo>
                <a:lnTo>
                  <a:pt x="299975" y="257121"/>
                </a:lnTo>
                <a:cubicBezTo>
                  <a:pt x="228973" y="257121"/>
                  <a:pt x="171414" y="314680"/>
                  <a:pt x="171414" y="385682"/>
                </a:cubicBezTo>
                <a:lnTo>
                  <a:pt x="171414" y="713835"/>
                </a:lnTo>
                <a:lnTo>
                  <a:pt x="0" y="713835"/>
                </a:lnTo>
                <a:close/>
              </a:path>
            </a:pathLst>
          </a:custGeom>
          <a:solidFill>
            <a:srgbClr val="BCBCBC"/>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61"/>
          <p:cNvSpPr>
            <a:spLocks noChangeArrowheads="1"/>
          </p:cNvSpPr>
          <p:nvPr/>
        </p:nvSpPr>
        <p:spPr bwMode="auto">
          <a:xfrm rot="16200000">
            <a:off x="1314451" y="5497512"/>
            <a:ext cx="685800" cy="714375"/>
          </a:xfrm>
          <a:custGeom>
            <a:avLst/>
            <a:gdLst>
              <a:gd name="T0" fmla="*/ 0 w 685657"/>
              <a:gd name="T1" fmla="*/ 721432 h 713835"/>
              <a:gd name="T2" fmla="*/ 0 w 685657"/>
              <a:gd name="T3" fmla="*/ 389787 h 713835"/>
              <a:gd name="T4" fmla="*/ 300857 w 685657"/>
              <a:gd name="T5" fmla="*/ 86617 h 713835"/>
              <a:gd name="T6" fmla="*/ 515743 w 685657"/>
              <a:gd name="T7" fmla="*/ 86617 h 713835"/>
              <a:gd name="T8" fmla="*/ 515743 w 685657"/>
              <a:gd name="T9" fmla="*/ 0 h 713835"/>
              <a:gd name="T10" fmla="*/ 687659 w 685657"/>
              <a:gd name="T11" fmla="*/ 173239 h 713835"/>
              <a:gd name="T12" fmla="*/ 515743 w 685657"/>
              <a:gd name="T13" fmla="*/ 346479 h 713835"/>
              <a:gd name="T14" fmla="*/ 515743 w 685657"/>
              <a:gd name="T15" fmla="*/ 259858 h 713835"/>
              <a:gd name="T16" fmla="*/ 300857 w 685657"/>
              <a:gd name="T17" fmla="*/ 259858 h 713835"/>
              <a:gd name="T18" fmla="*/ 171918 w 685657"/>
              <a:gd name="T19" fmla="*/ 389787 h 713835"/>
              <a:gd name="T20" fmla="*/ 171918 w 685657"/>
              <a:gd name="T21" fmla="*/ 721432 h 713835"/>
              <a:gd name="T22" fmla="*/ 0 w 685657"/>
              <a:gd name="T23" fmla="*/ 721432 h 7138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85657" h="713835">
                <a:moveTo>
                  <a:pt x="0" y="713835"/>
                </a:moveTo>
                <a:lnTo>
                  <a:pt x="0" y="385682"/>
                </a:lnTo>
                <a:cubicBezTo>
                  <a:pt x="0" y="220010"/>
                  <a:pt x="134303" y="85707"/>
                  <a:pt x="299975" y="85707"/>
                </a:cubicBezTo>
                <a:lnTo>
                  <a:pt x="514243" y="85707"/>
                </a:lnTo>
                <a:lnTo>
                  <a:pt x="514243" y="0"/>
                </a:lnTo>
                <a:lnTo>
                  <a:pt x="685657" y="171414"/>
                </a:lnTo>
                <a:lnTo>
                  <a:pt x="514243" y="342829"/>
                </a:lnTo>
                <a:lnTo>
                  <a:pt x="514243" y="257121"/>
                </a:lnTo>
                <a:lnTo>
                  <a:pt x="299975" y="257121"/>
                </a:lnTo>
                <a:cubicBezTo>
                  <a:pt x="228973" y="257121"/>
                  <a:pt x="171414" y="314680"/>
                  <a:pt x="171414" y="385682"/>
                </a:cubicBezTo>
                <a:lnTo>
                  <a:pt x="171414" y="713835"/>
                </a:lnTo>
                <a:lnTo>
                  <a:pt x="0" y="713835"/>
                </a:lnTo>
                <a:close/>
              </a:path>
            </a:pathLst>
          </a:custGeom>
          <a:solidFill>
            <a:srgbClr val="BCBCBC"/>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Text Box 62"/>
          <p:cNvSpPr txBox="1">
            <a:spLocks noChangeArrowheads="1"/>
          </p:cNvSpPr>
          <p:nvPr/>
        </p:nvSpPr>
        <p:spPr bwMode="auto">
          <a:xfrm>
            <a:off x="460375" y="2952750"/>
            <a:ext cx="1992313" cy="230832"/>
          </a:xfrm>
          <a:prstGeom prst="rect">
            <a:avLst/>
          </a:prstGeom>
          <a:solidFill>
            <a:srgbClr val="FFFFFF"/>
          </a:solidFill>
          <a:ln w="25560" cap="sq">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spcBef>
                <a:spcPct val="0"/>
              </a:spcBef>
              <a:spcAft>
                <a:spcPts val="450"/>
              </a:spcAft>
              <a:buClrTx/>
              <a:buFontTx/>
              <a:buNone/>
            </a:pPr>
            <a:r>
              <a:rPr lang="en-US" sz="2000" b="1">
                <a:solidFill>
                  <a:srgbClr val="000000"/>
                </a:solidFill>
                <a:latin typeface="Tele-GroteskNor" pitchFamily="2" charset="0"/>
              </a:rPr>
              <a:t>Online redo log files</a:t>
            </a:r>
          </a:p>
        </p:txBody>
      </p:sp>
      <p:sp>
        <p:nvSpPr>
          <p:cNvPr id="20" name="AutoShape 64"/>
          <p:cNvSpPr>
            <a:spLocks noChangeArrowheads="1"/>
          </p:cNvSpPr>
          <p:nvPr/>
        </p:nvSpPr>
        <p:spPr bwMode="auto">
          <a:xfrm>
            <a:off x="6975475" y="4403997"/>
            <a:ext cx="1039813" cy="581025"/>
          </a:xfrm>
          <a:prstGeom prst="can">
            <a:avLst>
              <a:gd name="adj" fmla="val 25000"/>
            </a:avLst>
          </a:prstGeom>
          <a:solidFill>
            <a:schemeClr val="accent3">
              <a:lumMod val="75000"/>
            </a:schemeClr>
          </a:solidFill>
          <a:ln>
            <a:noFill/>
          </a:ln>
          <a:effectLst/>
        </p:spPr>
        <p:txBody>
          <a:bodyPr wrap="none" anchor="ctr"/>
          <a:lstStyle/>
          <a:p>
            <a:r>
              <a:rPr lang="en-US" dirty="0" smtClean="0"/>
              <a:t> </a:t>
            </a:r>
            <a:endParaRPr lang="en-US" dirty="0"/>
          </a:p>
        </p:txBody>
      </p:sp>
      <p:sp>
        <p:nvSpPr>
          <p:cNvPr id="24" name="AutoShape 68"/>
          <p:cNvSpPr>
            <a:spLocks noChangeArrowheads="1"/>
          </p:cNvSpPr>
          <p:nvPr/>
        </p:nvSpPr>
        <p:spPr bwMode="auto">
          <a:xfrm rot="18360000">
            <a:off x="3484563" y="2938462"/>
            <a:ext cx="577850" cy="263525"/>
          </a:xfrm>
          <a:prstGeom prst="leftArrow">
            <a:avLst>
              <a:gd name="adj1" fmla="val 50000"/>
              <a:gd name="adj2" fmla="val 49845"/>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AutoShape 69"/>
          <p:cNvSpPr>
            <a:spLocks noChangeArrowheads="1"/>
          </p:cNvSpPr>
          <p:nvPr/>
        </p:nvSpPr>
        <p:spPr bwMode="auto">
          <a:xfrm rot="10800000">
            <a:off x="5768975" y="4611688"/>
            <a:ext cx="1012825" cy="263525"/>
          </a:xfrm>
          <a:prstGeom prst="leftArrow">
            <a:avLst>
              <a:gd name="adj1" fmla="val 50000"/>
              <a:gd name="adj2" fmla="val 49804"/>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Rectangle 25"/>
          <p:cNvSpPr/>
          <p:nvPr/>
        </p:nvSpPr>
        <p:spPr bwMode="auto">
          <a:xfrm>
            <a:off x="3906665" y="1606550"/>
            <a:ext cx="648072" cy="228600"/>
          </a:xfrm>
          <a:prstGeom prst="rect">
            <a:avLst/>
          </a:prstGeom>
          <a:solidFill>
            <a:srgbClr val="0070C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pPr>
            <a:endParaRPr kumimoji="0" lang="en-US" sz="1800" b="0" i="0" u="none" strike="noStrike" cap="none" normalizeH="0" baseline="0" smtClean="0">
              <a:ln>
                <a:noFill/>
              </a:ln>
              <a:solidFill>
                <a:schemeClr val="bg1"/>
              </a:solidFill>
              <a:effectLst/>
              <a:latin typeface="Tele-GroteskFet" charset="0"/>
            </a:endParaRPr>
          </a:p>
        </p:txBody>
      </p:sp>
      <p:sp>
        <p:nvSpPr>
          <p:cNvPr id="27" name="Rectangle 26"/>
          <p:cNvSpPr/>
          <p:nvPr/>
        </p:nvSpPr>
        <p:spPr bwMode="auto">
          <a:xfrm>
            <a:off x="3906665" y="1602581"/>
            <a:ext cx="648072" cy="1004049"/>
          </a:xfrm>
          <a:prstGeom prst="rect">
            <a:avLst/>
          </a:prstGeom>
          <a:solidFill>
            <a:srgbClr val="0070C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pPr>
            <a:endParaRPr kumimoji="0" lang="en-US" sz="1800" b="0" i="0" u="none" strike="noStrike" cap="none" normalizeH="0" baseline="0" smtClean="0">
              <a:ln>
                <a:noFill/>
              </a:ln>
              <a:solidFill>
                <a:schemeClr val="bg1"/>
              </a:solidFill>
              <a:effectLst/>
              <a:latin typeface="Tele-GroteskFet" charset="0"/>
            </a:endParaRPr>
          </a:p>
        </p:txBody>
      </p:sp>
      <p:grpSp>
        <p:nvGrpSpPr>
          <p:cNvPr id="39" name="Group 38"/>
          <p:cNvGrpSpPr/>
          <p:nvPr/>
        </p:nvGrpSpPr>
        <p:grpSpPr>
          <a:xfrm>
            <a:off x="2459037" y="3416720"/>
            <a:ext cx="1223962" cy="496888"/>
            <a:chOff x="2459037" y="3416720"/>
            <a:chExt cx="1223962" cy="496888"/>
          </a:xfrm>
        </p:grpSpPr>
        <p:sp>
          <p:nvSpPr>
            <p:cNvPr id="22" name="AutoShape 66"/>
            <p:cNvSpPr>
              <a:spLocks noChangeArrowheads="1"/>
            </p:cNvSpPr>
            <p:nvPr/>
          </p:nvSpPr>
          <p:spPr bwMode="auto">
            <a:xfrm>
              <a:off x="2459037" y="3416720"/>
              <a:ext cx="1036637" cy="365125"/>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AutoShape 67"/>
            <p:cNvSpPr>
              <a:spLocks noChangeArrowheads="1"/>
            </p:cNvSpPr>
            <p:nvPr/>
          </p:nvSpPr>
          <p:spPr bwMode="auto">
            <a:xfrm>
              <a:off x="2646362" y="3548483"/>
              <a:ext cx="1036637" cy="365125"/>
            </a:xfrm>
            <a:prstGeom prst="can">
              <a:avLst>
                <a:gd name="adj" fmla="val 25000"/>
              </a:avLst>
            </a:prstGeom>
            <a:solidFill>
              <a:srgbClr val="BCBCB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45" name="Group 44"/>
          <p:cNvGrpSpPr/>
          <p:nvPr/>
        </p:nvGrpSpPr>
        <p:grpSpPr>
          <a:xfrm>
            <a:off x="8650289" y="3861048"/>
            <a:ext cx="345900" cy="882403"/>
            <a:chOff x="8650289" y="3861048"/>
            <a:chExt cx="345900" cy="882403"/>
          </a:xfrm>
        </p:grpSpPr>
        <p:sp>
          <p:nvSpPr>
            <p:cNvPr id="41" name="AutoShape 64"/>
            <p:cNvSpPr>
              <a:spLocks noChangeArrowheads="1"/>
            </p:cNvSpPr>
            <p:nvPr/>
          </p:nvSpPr>
          <p:spPr bwMode="auto">
            <a:xfrm>
              <a:off x="8650290" y="3861048"/>
              <a:ext cx="345899" cy="193281"/>
            </a:xfrm>
            <a:prstGeom prst="can">
              <a:avLst>
                <a:gd name="adj" fmla="val 25000"/>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dirty="0" smtClean="0"/>
                <a:t> </a:t>
              </a:r>
              <a:endParaRPr lang="en-US" dirty="0"/>
            </a:p>
          </p:txBody>
        </p:sp>
        <p:sp>
          <p:nvSpPr>
            <p:cNvPr id="42" name="AutoShape 64"/>
            <p:cNvSpPr>
              <a:spLocks noChangeArrowheads="1"/>
            </p:cNvSpPr>
            <p:nvPr/>
          </p:nvSpPr>
          <p:spPr bwMode="auto">
            <a:xfrm>
              <a:off x="8650289" y="4080072"/>
              <a:ext cx="345899" cy="193281"/>
            </a:xfrm>
            <a:prstGeom prst="can">
              <a:avLst>
                <a:gd name="adj" fmla="val 25000"/>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dirty="0" smtClean="0"/>
                <a:t> </a:t>
              </a:r>
              <a:endParaRPr lang="en-US" dirty="0"/>
            </a:p>
          </p:txBody>
        </p:sp>
        <p:sp>
          <p:nvSpPr>
            <p:cNvPr id="43" name="AutoShape 64"/>
            <p:cNvSpPr>
              <a:spLocks noChangeArrowheads="1"/>
            </p:cNvSpPr>
            <p:nvPr/>
          </p:nvSpPr>
          <p:spPr bwMode="auto">
            <a:xfrm>
              <a:off x="8650289" y="4315839"/>
              <a:ext cx="345899" cy="193281"/>
            </a:xfrm>
            <a:prstGeom prst="can">
              <a:avLst>
                <a:gd name="adj" fmla="val 25000"/>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dirty="0" smtClean="0"/>
                <a:t> </a:t>
              </a:r>
              <a:endParaRPr lang="en-US" dirty="0"/>
            </a:p>
          </p:txBody>
        </p:sp>
        <p:sp>
          <p:nvSpPr>
            <p:cNvPr id="44" name="AutoShape 64"/>
            <p:cNvSpPr>
              <a:spLocks noChangeArrowheads="1"/>
            </p:cNvSpPr>
            <p:nvPr/>
          </p:nvSpPr>
          <p:spPr bwMode="auto">
            <a:xfrm>
              <a:off x="8650289" y="4550170"/>
              <a:ext cx="345899" cy="193281"/>
            </a:xfrm>
            <a:prstGeom prst="can">
              <a:avLst>
                <a:gd name="adj" fmla="val 25000"/>
              </a:avLst>
            </a:prstGeom>
            <a:solidFill>
              <a:srgbClr val="427BAB"/>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dirty="0" smtClean="0"/>
                <a:t> </a:t>
              </a:r>
              <a:endParaRPr lang="en-US" dirty="0"/>
            </a:p>
          </p:txBody>
        </p:sp>
      </p:grpSp>
      <p:sp>
        <p:nvSpPr>
          <p:cNvPr id="47" name="Text Box 49"/>
          <p:cNvSpPr txBox="1">
            <a:spLocks noChangeArrowheads="1"/>
          </p:cNvSpPr>
          <p:nvPr/>
        </p:nvSpPr>
        <p:spPr bwMode="auto">
          <a:xfrm>
            <a:off x="7991864" y="3547656"/>
            <a:ext cx="1146843" cy="228600"/>
          </a:xfrm>
          <a:prstGeom prst="rect">
            <a:avLst/>
          </a:prstGeom>
          <a:solidFill>
            <a:srgbClr val="FFFFFF"/>
          </a:solidFill>
          <a:ln w="25560" cap="sq">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spcBef>
                <a:spcPct val="0"/>
              </a:spcBef>
              <a:spcAft>
                <a:spcPts val="450"/>
              </a:spcAft>
              <a:buClrTx/>
              <a:buFontTx/>
              <a:buNone/>
            </a:pPr>
            <a:r>
              <a:rPr lang="en-US" sz="2000" b="1" dirty="0" err="1" smtClean="0">
                <a:solidFill>
                  <a:srgbClr val="000000"/>
                </a:solidFill>
                <a:latin typeface="Tele-GroteskNor" pitchFamily="2" charset="0"/>
              </a:rPr>
              <a:t>Archivepool</a:t>
            </a:r>
            <a:endParaRPr lang="en-US" sz="2000" b="1" dirty="0">
              <a:solidFill>
                <a:srgbClr val="000000"/>
              </a:solidFill>
              <a:latin typeface="Tele-GroteskNor" pitchFamily="2" charset="0"/>
            </a:endParaRPr>
          </a:p>
        </p:txBody>
      </p:sp>
      <p:sp>
        <p:nvSpPr>
          <p:cNvPr id="48"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dirty="0">
                <a:solidFill>
                  <a:srgbClr val="9F4C97"/>
                </a:solidFill>
                <a:latin typeface="Tele-GroteskUlt" pitchFamily="2" charset="0"/>
                <a:ea typeface="TeleGrotesk Headline Ultra" pitchFamily="2" charset="0"/>
                <a:cs typeface="TeleGrotesk Headline Ultra" pitchFamily="2" charset="0"/>
              </a:rPr>
              <a:t>Overview of Database </a:t>
            </a:r>
            <a:br>
              <a:rPr lang="en-US" sz="3000" dirty="0">
                <a:solidFill>
                  <a:srgbClr val="9F4C97"/>
                </a:solidFill>
                <a:latin typeface="Tele-GroteskUlt" pitchFamily="2" charset="0"/>
                <a:ea typeface="TeleGrotesk Headline Ultra" pitchFamily="2" charset="0"/>
                <a:cs typeface="TeleGrotesk Headline Ultra" pitchFamily="2" charset="0"/>
              </a:rPr>
            </a:br>
            <a:r>
              <a:rPr lang="en-US" sz="3000" dirty="0">
                <a:solidFill>
                  <a:srgbClr val="9F4C97"/>
                </a:solidFill>
                <a:latin typeface="Tele-GroteskNor" pitchFamily="2" charset="0"/>
                <a:ea typeface="TeleGrotesk Headline Ultra" pitchFamily="2" charset="0"/>
                <a:cs typeface="TeleGrotesk Headline Ultra" pitchFamily="2" charset="0"/>
              </a:rPr>
              <a:t>Logging of Modifications</a:t>
            </a:r>
          </a:p>
        </p:txBody>
      </p:sp>
    </p:spTree>
    <p:extLst>
      <p:ext uri="{BB962C8B-B14F-4D97-AF65-F5344CB8AC3E}">
        <p14:creationId xmlns:p14="http://schemas.microsoft.com/office/powerpoint/2010/main" val="30572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2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mph" presetSubtype="1" nodeType="clickEffect">
                                  <p:stCondLst>
                                    <p:cond delay="0"/>
                                  </p:stCondLst>
                                  <p:childTnLst>
                                    <p:set>
                                      <p:cBhvr>
                                        <p:cTn id="11" dur="indefinite"/>
                                        <p:tgtEl>
                                          <p:spTgt spid="24"/>
                                        </p:tgtEl>
                                        <p:attrNameLst>
                                          <p:attrName>fillcolor</p:attrName>
                                        </p:attrNameLst>
                                      </p:cBhvr>
                                      <p:to>
                                        <p:clrVal>
                                          <a:srgbClr val="C00000"/>
                                        </p:clrVal>
                                      </p:to>
                                    </p:set>
                                    <p:set>
                                      <p:cBhvr>
                                        <p:cTn id="12" dur="indefinite"/>
                                        <p:tgtEl>
                                          <p:spTgt spid="24"/>
                                        </p:tgtEl>
                                        <p:attrNameLst>
                                          <p:attrName>fill.type</p:attrName>
                                        </p:attrNameLst>
                                      </p:cBhvr>
                                      <p:to>
                                        <p:strVal val="solid"/>
                                      </p:to>
                                    </p:set>
                                    <p:set>
                                      <p:cBhvr>
                                        <p:cTn id="13" dur="indefinite"/>
                                        <p:tgtEl>
                                          <p:spTgt spid="24"/>
                                        </p:tgtEl>
                                        <p:attrNameLst>
                                          <p:attrName>fill.on</p:attrName>
                                        </p:attrNameLst>
                                      </p:cBhvr>
                                      <p:to>
                                        <p:strVal val="true"/>
                                      </p:to>
                                    </p:set>
                                  </p:childTnLst>
                                </p:cTn>
                              </p:par>
                              <p:par>
                                <p:cTn id="14" presetID="22" presetClass="exit" presetSubtype="4" fill="hold" nodeType="withEffect">
                                  <p:stCondLst>
                                    <p:cond delay="0"/>
                                  </p:stCondLst>
                                  <p:childTnLst>
                                    <p:animEffect transition="out" filter="wipe(down)">
                                      <p:cBhvr>
                                        <p:cTn id="15" dur="2500"/>
                                        <p:tgtEl>
                                          <p:spTgt spid="39"/>
                                        </p:tgtEl>
                                      </p:cBhvr>
                                    </p:animEffect>
                                    <p:set>
                                      <p:cBhvr>
                                        <p:cTn id="16" dur="1" fill="hold">
                                          <p:stCondLst>
                                            <p:cond delay="2499"/>
                                          </p:stCondLst>
                                        </p:cTn>
                                        <p:tgtEl>
                                          <p:spTgt spid="39"/>
                                        </p:tgtEl>
                                        <p:attrNameLst>
                                          <p:attrName>style.visibility</p:attrName>
                                        </p:attrNameLst>
                                      </p:cBhvr>
                                      <p:to>
                                        <p:strVal val="hidden"/>
                                      </p:to>
                                    </p:set>
                                  </p:childTnLst>
                                </p:cTn>
                              </p:par>
                              <p:par>
                                <p:cTn id="17" presetID="22" presetClass="exit" presetSubtype="4" fill="hold" grpId="2" nodeType="withEffect">
                                  <p:stCondLst>
                                    <p:cond delay="0"/>
                                  </p:stCondLst>
                                  <p:childTnLst>
                                    <p:animEffect transition="out" filter="wipe(down)">
                                      <p:cBhvr>
                                        <p:cTn id="18" dur="2500"/>
                                        <p:tgtEl>
                                          <p:spTgt spid="27"/>
                                        </p:tgtEl>
                                      </p:cBhvr>
                                    </p:animEffect>
                                    <p:set>
                                      <p:cBhvr>
                                        <p:cTn id="19" dur="1" fill="hold">
                                          <p:stCondLst>
                                            <p:cond delay="2499"/>
                                          </p:stCondLst>
                                        </p:cTn>
                                        <p:tgtEl>
                                          <p:spTgt spid="27"/>
                                        </p:tgtEl>
                                        <p:attrNameLst>
                                          <p:attrName>style.visibility</p:attrName>
                                        </p:attrNameLst>
                                      </p:cBhvr>
                                      <p:to>
                                        <p:strVal val="hidden"/>
                                      </p:to>
                                    </p:set>
                                  </p:childTnLst>
                                </p:cTn>
                              </p:par>
                            </p:childTnLst>
                          </p:cTn>
                        </p:par>
                        <p:par>
                          <p:cTn id="20" fill="hold">
                            <p:stCondLst>
                              <p:cond delay="2500"/>
                            </p:stCondLst>
                            <p:childTnLst>
                              <p:par>
                                <p:cTn id="21" presetID="1" presetClass="emph" presetSubtype="2" fill="hold" nodeType="afterEffect">
                                  <p:stCondLst>
                                    <p:cond delay="0"/>
                                  </p:stCondLst>
                                  <p:childTnLst>
                                    <p:animClr clrSpc="rgb" dir="cw">
                                      <p:cBhvr>
                                        <p:cTn id="22" dur="2000" fill="hold"/>
                                        <p:tgtEl>
                                          <p:spTgt spid="24"/>
                                        </p:tgtEl>
                                        <p:attrNameLst>
                                          <p:attrName>fillcolor</p:attrName>
                                        </p:attrNameLst>
                                      </p:cBhvr>
                                      <p:to>
                                        <a:srgbClr val="0070C0"/>
                                      </p:to>
                                    </p:animClr>
                                    <p:set>
                                      <p:cBhvr>
                                        <p:cTn id="23" dur="2000" fill="hold"/>
                                        <p:tgtEl>
                                          <p:spTgt spid="24"/>
                                        </p:tgtEl>
                                        <p:attrNameLst>
                                          <p:attrName>fill.type</p:attrName>
                                        </p:attrNameLst>
                                      </p:cBhvr>
                                      <p:to>
                                        <p:strVal val="solid"/>
                                      </p:to>
                                    </p:set>
                                    <p:set>
                                      <p:cBhvr>
                                        <p:cTn id="24" dur="2000" fill="hold"/>
                                        <p:tgtEl>
                                          <p:spTgt spid="24"/>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mph" presetSubtype="2" fill="hold" nodeType="clickEffect">
                                  <p:stCondLst>
                                    <p:cond delay="0"/>
                                  </p:stCondLst>
                                  <p:childTnLst>
                                    <p:animClr clrSpc="rgb" dir="cw">
                                      <p:cBhvr>
                                        <p:cTn id="28" dur="2000" fill="hold"/>
                                        <p:tgtEl>
                                          <p:spTgt spid="16"/>
                                        </p:tgtEl>
                                        <p:attrNameLst>
                                          <p:attrName>fillcolor</p:attrName>
                                        </p:attrNameLst>
                                      </p:cBhvr>
                                      <p:to>
                                        <a:srgbClr val="C00000"/>
                                      </p:to>
                                    </p:animClr>
                                    <p:set>
                                      <p:cBhvr>
                                        <p:cTn id="29" dur="2000" fill="hold"/>
                                        <p:tgtEl>
                                          <p:spTgt spid="16"/>
                                        </p:tgtEl>
                                        <p:attrNameLst>
                                          <p:attrName>fill.type</p:attrName>
                                        </p:attrNameLst>
                                      </p:cBhvr>
                                      <p:to>
                                        <p:strVal val="solid"/>
                                      </p:to>
                                    </p:set>
                                    <p:set>
                                      <p:cBhvr>
                                        <p:cTn id="30" dur="2000" fill="hold"/>
                                        <p:tgtEl>
                                          <p:spTgt spid="16"/>
                                        </p:tgtEl>
                                        <p:attrNameLst>
                                          <p:attrName>fill.on</p:attrName>
                                        </p:attrNameLst>
                                      </p:cBhvr>
                                      <p:to>
                                        <p:strVal val="true"/>
                                      </p:to>
                                    </p:set>
                                  </p:childTnLst>
                                </p:cTn>
                              </p:par>
                              <p:par>
                                <p:cTn id="31" presetID="1" presetClass="emph" presetSubtype="2" fill="hold" nodeType="withEffect">
                                  <p:stCondLst>
                                    <p:cond delay="0"/>
                                  </p:stCondLst>
                                  <p:childTnLst>
                                    <p:animClr clrSpc="rgb" dir="cw">
                                      <p:cBhvr>
                                        <p:cTn id="32" dur="2000" fill="hold"/>
                                        <p:tgtEl>
                                          <p:spTgt spid="17"/>
                                        </p:tgtEl>
                                        <p:attrNameLst>
                                          <p:attrName>fillcolor</p:attrName>
                                        </p:attrNameLst>
                                      </p:cBhvr>
                                      <p:to>
                                        <a:srgbClr val="C00000"/>
                                      </p:to>
                                    </p:animClr>
                                    <p:set>
                                      <p:cBhvr>
                                        <p:cTn id="33" dur="2000" fill="hold"/>
                                        <p:tgtEl>
                                          <p:spTgt spid="17"/>
                                        </p:tgtEl>
                                        <p:attrNameLst>
                                          <p:attrName>fill.type</p:attrName>
                                        </p:attrNameLst>
                                      </p:cBhvr>
                                      <p:to>
                                        <p:strVal val="solid"/>
                                      </p:to>
                                    </p:set>
                                    <p:set>
                                      <p:cBhvr>
                                        <p:cTn id="34" dur="2000" fill="hold"/>
                                        <p:tgtEl>
                                          <p:spTgt spid="17"/>
                                        </p:tgtEl>
                                        <p:attrNameLst>
                                          <p:attrName>fill.on</p:attrName>
                                        </p:attrNameLst>
                                      </p:cBhvr>
                                      <p:to>
                                        <p:strVal val="true"/>
                                      </p:to>
                                    </p:set>
                                  </p:childTnLst>
                                </p:cTn>
                              </p:par>
                              <p:par>
                                <p:cTn id="35" presetID="1" presetClass="emph" presetSubtype="2" fill="hold" nodeType="withEffect">
                                  <p:stCondLst>
                                    <p:cond delay="0"/>
                                  </p:stCondLst>
                                  <p:childTnLst>
                                    <p:animClr clrSpc="rgb" dir="cw">
                                      <p:cBhvr>
                                        <p:cTn id="36" dur="2000" fill="hold"/>
                                        <p:tgtEl>
                                          <p:spTgt spid="18"/>
                                        </p:tgtEl>
                                        <p:attrNameLst>
                                          <p:attrName>fillcolor</p:attrName>
                                        </p:attrNameLst>
                                      </p:cBhvr>
                                      <p:to>
                                        <a:srgbClr val="C00000"/>
                                      </p:to>
                                    </p:animClr>
                                    <p:set>
                                      <p:cBhvr>
                                        <p:cTn id="37" dur="2000" fill="hold"/>
                                        <p:tgtEl>
                                          <p:spTgt spid="18"/>
                                        </p:tgtEl>
                                        <p:attrNameLst>
                                          <p:attrName>fill.type</p:attrName>
                                        </p:attrNameLst>
                                      </p:cBhvr>
                                      <p:to>
                                        <p:strVal val="solid"/>
                                      </p:to>
                                    </p:set>
                                    <p:set>
                                      <p:cBhvr>
                                        <p:cTn id="38" dur="2000" fill="hold"/>
                                        <p:tgtEl>
                                          <p:spTgt spid="18"/>
                                        </p:tgtEl>
                                        <p:attrNameLst>
                                          <p:attrName>fill.on</p:attrName>
                                        </p:attrNameLst>
                                      </p:cBhvr>
                                      <p:to>
                                        <p:strVal val="true"/>
                                      </p:to>
                                    </p:set>
                                  </p:childTnLst>
                                </p:cTn>
                              </p:par>
                              <p:par>
                                <p:cTn id="39" presetID="1" presetClass="emph" presetSubtype="2" fill="hold" nodeType="withEffect">
                                  <p:stCondLst>
                                    <p:cond delay="0"/>
                                  </p:stCondLst>
                                  <p:childTnLst>
                                    <p:animClr clrSpc="rgb" dir="cw">
                                      <p:cBhvr>
                                        <p:cTn id="40" dur="2000" fill="hold"/>
                                        <p:tgtEl>
                                          <p:spTgt spid="15"/>
                                        </p:tgtEl>
                                        <p:attrNameLst>
                                          <p:attrName>fillcolor</p:attrName>
                                        </p:attrNameLst>
                                      </p:cBhvr>
                                      <p:to>
                                        <a:srgbClr val="C00000"/>
                                      </p:to>
                                    </p:animClr>
                                    <p:set>
                                      <p:cBhvr>
                                        <p:cTn id="41" dur="2000" fill="hold"/>
                                        <p:tgtEl>
                                          <p:spTgt spid="15"/>
                                        </p:tgtEl>
                                        <p:attrNameLst>
                                          <p:attrName>fill.type</p:attrName>
                                        </p:attrNameLst>
                                      </p:cBhvr>
                                      <p:to>
                                        <p:strVal val="solid"/>
                                      </p:to>
                                    </p:set>
                                    <p:set>
                                      <p:cBhvr>
                                        <p:cTn id="42" dur="2000" fill="hold"/>
                                        <p:tgtEl>
                                          <p:spTgt spid="15"/>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nodeType="clickEffect">
                                  <p:stCondLst>
                                    <p:cond delay="0"/>
                                  </p:stCondLst>
                                  <p:childTnLst>
                                    <p:animMotion origin="layout" path="M -3.88889E-6 -2.59259E-6 L 0.18351 0.14282 " pathEditMode="relative" rAng="0" ptsTypes="AA">
                                      <p:cBhvr>
                                        <p:cTn id="46" dur="5000" fill="hold"/>
                                        <p:tgtEl>
                                          <p:spTgt spid="40"/>
                                        </p:tgtEl>
                                        <p:attrNameLst>
                                          <p:attrName>ppt_x</p:attrName>
                                          <p:attrName>ppt_y</p:attrName>
                                        </p:attrNameLst>
                                      </p:cBhvr>
                                      <p:rCtr x="9392" y="7338"/>
                                    </p:animMotion>
                                  </p:childTnLst>
                                </p:cTn>
                              </p:par>
                              <p:par>
                                <p:cTn id="47" presetID="42" presetClass="path" presetSubtype="0" accel="50000" decel="50000" fill="hold" nodeType="withEffect">
                                  <p:stCondLst>
                                    <p:cond delay="0"/>
                                  </p:stCondLst>
                                  <p:childTnLst>
                                    <p:animMotion origin="layout" path="M -8.33333E-7 3.33333E-6 L -0.17674 0.15902 " pathEditMode="relative" rAng="0" ptsTypes="AA">
                                      <p:cBhvr>
                                        <p:cTn id="48" dur="5000" fill="hold"/>
                                        <p:tgtEl>
                                          <p:spTgt spid="29"/>
                                        </p:tgtEl>
                                        <p:attrNameLst>
                                          <p:attrName>ppt_x</p:attrName>
                                          <p:attrName>ppt_y</p:attrName>
                                        </p:attrNameLst>
                                      </p:cBhvr>
                                      <p:rCtr x="-8837" y="7940"/>
                                    </p:animMotion>
                                  </p:childTnLst>
                                </p:cTn>
                              </p:par>
                              <p:par>
                                <p:cTn id="49" presetID="42" presetClass="path" presetSubtype="0" accel="50000" decel="50000" fill="hold" nodeType="withEffect">
                                  <p:stCondLst>
                                    <p:cond delay="0"/>
                                  </p:stCondLst>
                                  <p:childTnLst>
                                    <p:animMotion origin="layout" path="M -2.5E-6 2.22222E-6 L -0.17604 -0.15949 " pathEditMode="relative" rAng="0" ptsTypes="AA">
                                      <p:cBhvr>
                                        <p:cTn id="50" dur="5000" fill="hold"/>
                                        <p:tgtEl>
                                          <p:spTgt spid="9"/>
                                        </p:tgtEl>
                                        <p:attrNameLst>
                                          <p:attrName>ppt_x</p:attrName>
                                          <p:attrName>ppt_y</p:attrName>
                                        </p:attrNameLst>
                                      </p:cBhvr>
                                      <p:rCtr x="-8802" y="-7986"/>
                                    </p:animMotion>
                                  </p:childTnLst>
                                </p:cTn>
                              </p:par>
                              <p:par>
                                <p:cTn id="51" presetID="42" presetClass="path" presetSubtype="0" accel="50000" decel="50000" fill="hold" nodeType="withEffect">
                                  <p:stCondLst>
                                    <p:cond delay="0"/>
                                  </p:stCondLst>
                                  <p:childTnLst>
                                    <p:animMotion origin="layout" path="M -2.22222E-6 0.00092 L 0.16285 -0.16736 " pathEditMode="relative" rAng="0" ptsTypes="AA">
                                      <p:cBhvr>
                                        <p:cTn id="52" dur="5000" fill="hold"/>
                                        <p:tgtEl>
                                          <p:spTgt spid="12"/>
                                        </p:tgtEl>
                                        <p:attrNameLst>
                                          <p:attrName>ppt_x</p:attrName>
                                          <p:attrName>ppt_y</p:attrName>
                                        </p:attrNameLst>
                                      </p:cBhvr>
                                      <p:rCtr x="8108" y="-6644"/>
                                    </p:animMotion>
                                  </p:childTnLst>
                                </p:cTn>
                              </p:par>
                            </p:childTnLst>
                          </p:cTn>
                        </p:par>
                        <p:par>
                          <p:cTn id="53" fill="hold">
                            <p:stCondLst>
                              <p:cond delay="5000"/>
                            </p:stCondLst>
                            <p:childTnLst>
                              <p:par>
                                <p:cTn id="54" presetID="1" presetClass="emph" presetSubtype="2" fill="hold" nodeType="afterEffect">
                                  <p:stCondLst>
                                    <p:cond delay="0"/>
                                  </p:stCondLst>
                                  <p:childTnLst>
                                    <p:animClr clrSpc="rgb" dir="cw">
                                      <p:cBhvr>
                                        <p:cTn id="55" dur="2000" fill="hold"/>
                                        <p:tgtEl>
                                          <p:spTgt spid="16"/>
                                        </p:tgtEl>
                                        <p:attrNameLst>
                                          <p:attrName>fillcolor</p:attrName>
                                        </p:attrNameLst>
                                      </p:cBhvr>
                                      <p:to>
                                        <a:srgbClr val="BFBFBF"/>
                                      </p:to>
                                    </p:animClr>
                                    <p:set>
                                      <p:cBhvr>
                                        <p:cTn id="56" dur="2000" fill="hold"/>
                                        <p:tgtEl>
                                          <p:spTgt spid="16"/>
                                        </p:tgtEl>
                                        <p:attrNameLst>
                                          <p:attrName>fill.type</p:attrName>
                                        </p:attrNameLst>
                                      </p:cBhvr>
                                      <p:to>
                                        <p:strVal val="solid"/>
                                      </p:to>
                                    </p:set>
                                    <p:set>
                                      <p:cBhvr>
                                        <p:cTn id="57" dur="2000" fill="hold"/>
                                        <p:tgtEl>
                                          <p:spTgt spid="16"/>
                                        </p:tgtEl>
                                        <p:attrNameLst>
                                          <p:attrName>fill.on</p:attrName>
                                        </p:attrNameLst>
                                      </p:cBhvr>
                                      <p:to>
                                        <p:strVal val="true"/>
                                      </p:to>
                                    </p:set>
                                  </p:childTnLst>
                                </p:cTn>
                              </p:par>
                              <p:par>
                                <p:cTn id="58" presetID="1" presetClass="emph" presetSubtype="2" fill="hold" nodeType="withEffect">
                                  <p:stCondLst>
                                    <p:cond delay="0"/>
                                  </p:stCondLst>
                                  <p:childTnLst>
                                    <p:animClr clrSpc="rgb" dir="cw">
                                      <p:cBhvr>
                                        <p:cTn id="59" dur="2000" fill="hold"/>
                                        <p:tgtEl>
                                          <p:spTgt spid="17"/>
                                        </p:tgtEl>
                                        <p:attrNameLst>
                                          <p:attrName>fillcolor</p:attrName>
                                        </p:attrNameLst>
                                      </p:cBhvr>
                                      <p:to>
                                        <a:srgbClr val="BFBFBF"/>
                                      </p:to>
                                    </p:animClr>
                                    <p:set>
                                      <p:cBhvr>
                                        <p:cTn id="60" dur="2000" fill="hold"/>
                                        <p:tgtEl>
                                          <p:spTgt spid="17"/>
                                        </p:tgtEl>
                                        <p:attrNameLst>
                                          <p:attrName>fill.type</p:attrName>
                                        </p:attrNameLst>
                                      </p:cBhvr>
                                      <p:to>
                                        <p:strVal val="solid"/>
                                      </p:to>
                                    </p:set>
                                    <p:set>
                                      <p:cBhvr>
                                        <p:cTn id="61" dur="2000" fill="hold"/>
                                        <p:tgtEl>
                                          <p:spTgt spid="17"/>
                                        </p:tgtEl>
                                        <p:attrNameLst>
                                          <p:attrName>fill.on</p:attrName>
                                        </p:attrNameLst>
                                      </p:cBhvr>
                                      <p:to>
                                        <p:strVal val="true"/>
                                      </p:to>
                                    </p:set>
                                  </p:childTnLst>
                                </p:cTn>
                              </p:par>
                              <p:par>
                                <p:cTn id="62" presetID="1" presetClass="emph" presetSubtype="2" fill="hold" nodeType="withEffect">
                                  <p:stCondLst>
                                    <p:cond delay="0"/>
                                  </p:stCondLst>
                                  <p:childTnLst>
                                    <p:animClr clrSpc="rgb" dir="cw">
                                      <p:cBhvr>
                                        <p:cTn id="63" dur="2000" fill="hold"/>
                                        <p:tgtEl>
                                          <p:spTgt spid="18"/>
                                        </p:tgtEl>
                                        <p:attrNameLst>
                                          <p:attrName>fillcolor</p:attrName>
                                        </p:attrNameLst>
                                      </p:cBhvr>
                                      <p:to>
                                        <a:srgbClr val="BFBFBF"/>
                                      </p:to>
                                    </p:animClr>
                                    <p:set>
                                      <p:cBhvr>
                                        <p:cTn id="64" dur="2000" fill="hold"/>
                                        <p:tgtEl>
                                          <p:spTgt spid="18"/>
                                        </p:tgtEl>
                                        <p:attrNameLst>
                                          <p:attrName>fill.type</p:attrName>
                                        </p:attrNameLst>
                                      </p:cBhvr>
                                      <p:to>
                                        <p:strVal val="solid"/>
                                      </p:to>
                                    </p:set>
                                    <p:set>
                                      <p:cBhvr>
                                        <p:cTn id="65" dur="2000" fill="hold"/>
                                        <p:tgtEl>
                                          <p:spTgt spid="18"/>
                                        </p:tgtEl>
                                        <p:attrNameLst>
                                          <p:attrName>fill.on</p:attrName>
                                        </p:attrNameLst>
                                      </p:cBhvr>
                                      <p:to>
                                        <p:strVal val="true"/>
                                      </p:to>
                                    </p:set>
                                  </p:childTnLst>
                                </p:cTn>
                              </p:par>
                              <p:par>
                                <p:cTn id="66" presetID="1" presetClass="emph" presetSubtype="2" fill="hold" nodeType="withEffect">
                                  <p:stCondLst>
                                    <p:cond delay="0"/>
                                  </p:stCondLst>
                                  <p:childTnLst>
                                    <p:animClr clrSpc="rgb" dir="cw">
                                      <p:cBhvr>
                                        <p:cTn id="67" dur="2000" fill="hold"/>
                                        <p:tgtEl>
                                          <p:spTgt spid="15"/>
                                        </p:tgtEl>
                                        <p:attrNameLst>
                                          <p:attrName>fillcolor</p:attrName>
                                        </p:attrNameLst>
                                      </p:cBhvr>
                                      <p:to>
                                        <a:srgbClr val="BFBFBF"/>
                                      </p:to>
                                    </p:animClr>
                                    <p:set>
                                      <p:cBhvr>
                                        <p:cTn id="68" dur="2000" fill="hold"/>
                                        <p:tgtEl>
                                          <p:spTgt spid="15"/>
                                        </p:tgtEl>
                                        <p:attrNameLst>
                                          <p:attrName>fill.type</p:attrName>
                                        </p:attrNameLst>
                                      </p:cBhvr>
                                      <p:to>
                                        <p:strVal val="solid"/>
                                      </p:to>
                                    </p:set>
                                    <p:set>
                                      <p:cBhvr>
                                        <p:cTn id="69" dur="2000" fill="hold"/>
                                        <p:tgtEl>
                                          <p:spTgt spid="15"/>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1" nodeType="clickEffect">
                                  <p:stCondLst>
                                    <p:cond delay="0"/>
                                  </p:stCondLst>
                                  <p:childTnLst>
                                    <p:set>
                                      <p:cBhvr>
                                        <p:cTn id="73" dur="indefinite"/>
                                        <p:tgtEl>
                                          <p:spTgt spid="25"/>
                                        </p:tgtEl>
                                        <p:attrNameLst>
                                          <p:attrName>fillcolor</p:attrName>
                                        </p:attrNameLst>
                                      </p:cBhvr>
                                      <p:to>
                                        <p:clrVal>
                                          <a:srgbClr val="C00000"/>
                                        </p:clrVal>
                                      </p:to>
                                    </p:set>
                                    <p:set>
                                      <p:cBhvr>
                                        <p:cTn id="74" dur="indefinite"/>
                                        <p:tgtEl>
                                          <p:spTgt spid="25"/>
                                        </p:tgtEl>
                                        <p:attrNameLst>
                                          <p:attrName>fill.type</p:attrName>
                                        </p:attrNameLst>
                                      </p:cBhvr>
                                      <p:to>
                                        <p:strVal val="solid"/>
                                      </p:to>
                                    </p:set>
                                    <p:set>
                                      <p:cBhvr>
                                        <p:cTn id="75" dur="indefinite"/>
                                        <p:tgtEl>
                                          <p:spTgt spid="25"/>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1" presetClass="emph" presetSubtype="2" fill="hold" nodeType="clickEffect">
                                  <p:stCondLst>
                                    <p:cond delay="0"/>
                                  </p:stCondLst>
                                  <p:childTnLst>
                                    <p:animClr clrSpc="rgb" dir="cw">
                                      <p:cBhvr>
                                        <p:cTn id="79" dur="2000" fill="hold"/>
                                        <p:tgtEl>
                                          <p:spTgt spid="20"/>
                                        </p:tgtEl>
                                        <p:attrNameLst>
                                          <p:attrName>fillcolor</p:attrName>
                                        </p:attrNameLst>
                                      </p:cBhvr>
                                      <p:to>
                                        <a:srgbClr val="0070C0"/>
                                      </p:to>
                                    </p:animClr>
                                    <p:set>
                                      <p:cBhvr>
                                        <p:cTn id="80" dur="2000" fill="hold"/>
                                        <p:tgtEl>
                                          <p:spTgt spid="20"/>
                                        </p:tgtEl>
                                        <p:attrNameLst>
                                          <p:attrName>fill.type</p:attrName>
                                        </p:attrNameLst>
                                      </p:cBhvr>
                                      <p:to>
                                        <p:strVal val="solid"/>
                                      </p:to>
                                    </p:set>
                                    <p:set>
                                      <p:cBhvr>
                                        <p:cTn id="81" dur="2000" fill="hold"/>
                                        <p:tgtEl>
                                          <p:spTgt spid="20"/>
                                        </p:tgtEl>
                                        <p:attrNameLst>
                                          <p:attrName>fill.on</p:attrName>
                                        </p:attrNameLst>
                                      </p:cBhvr>
                                      <p:to>
                                        <p:strVal val="true"/>
                                      </p:to>
                                    </p:set>
                                  </p:childTnLst>
                                </p:cTn>
                              </p:par>
                            </p:childTnLst>
                          </p:cTn>
                        </p:par>
                        <p:par>
                          <p:cTn id="82" fill="hold">
                            <p:stCondLst>
                              <p:cond delay="2000"/>
                            </p:stCondLst>
                            <p:childTnLst>
                              <p:par>
                                <p:cTn id="83" presetID="6" presetClass="emph" presetSubtype="0" fill="hold" grpId="1" nodeType="afterEffect">
                                  <p:stCondLst>
                                    <p:cond delay="0"/>
                                  </p:stCondLst>
                                  <p:childTnLst>
                                    <p:animScale>
                                      <p:cBhvr>
                                        <p:cTn id="84" dur="2000" fill="hold"/>
                                        <p:tgtEl>
                                          <p:spTgt spid="20"/>
                                        </p:tgtEl>
                                      </p:cBhvr>
                                      <p:by x="50000" y="50000"/>
                                    </p:animScale>
                                  </p:childTnLst>
                                </p:cTn>
                              </p:par>
                              <p:par>
                                <p:cTn id="85" presetID="1" presetClass="emph" presetSubtype="2" fill="hold" nodeType="withEffect">
                                  <p:stCondLst>
                                    <p:cond delay="0"/>
                                  </p:stCondLst>
                                  <p:childTnLst>
                                    <p:animClr clrSpc="rgb" dir="cw">
                                      <p:cBhvr>
                                        <p:cTn id="86" dur="2000" fill="hold"/>
                                        <p:tgtEl>
                                          <p:spTgt spid="25"/>
                                        </p:tgtEl>
                                        <p:attrNameLst>
                                          <p:attrName>fillcolor</p:attrName>
                                        </p:attrNameLst>
                                      </p:cBhvr>
                                      <p:to>
                                        <a:srgbClr val="0070C0"/>
                                      </p:to>
                                    </p:animClr>
                                    <p:set>
                                      <p:cBhvr>
                                        <p:cTn id="87" dur="2000" fill="hold"/>
                                        <p:tgtEl>
                                          <p:spTgt spid="25"/>
                                        </p:tgtEl>
                                        <p:attrNameLst>
                                          <p:attrName>fill.type</p:attrName>
                                        </p:attrNameLst>
                                      </p:cBhvr>
                                      <p:to>
                                        <p:strVal val="solid"/>
                                      </p:to>
                                    </p:set>
                                    <p:set>
                                      <p:cBhvr>
                                        <p:cTn id="88" dur="2000" fill="hold"/>
                                        <p:tgtEl>
                                          <p:spTgt spid="25"/>
                                        </p:tgtEl>
                                        <p:attrNameLst>
                                          <p:attrName>fill.on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2000"/>
                                        <p:tgtEl>
                                          <p:spTgt spid="4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childTnLst>
                          </p:cTn>
                        </p:par>
                        <p:par>
                          <p:cTn id="97" fill="hold">
                            <p:stCondLst>
                              <p:cond delay="2000"/>
                            </p:stCondLst>
                            <p:childTnLst>
                              <p:par>
                                <p:cTn id="98" presetID="42" presetClass="path" presetSubtype="0" accel="50000" decel="50000" fill="hold" grpId="0" nodeType="afterEffect">
                                  <p:stCondLst>
                                    <p:cond delay="0"/>
                                  </p:stCondLst>
                                  <p:childTnLst>
                                    <p:animMotion origin="layout" path="M 1.94444E-6 -7.40741E-7 L 0.14496 0.04838 " pathEditMode="relative" rAng="0" ptsTypes="AA">
                                      <p:cBhvr>
                                        <p:cTn id="99" dur="2000" fill="hold"/>
                                        <p:tgtEl>
                                          <p:spTgt spid="20"/>
                                        </p:tgtEl>
                                        <p:attrNameLst>
                                          <p:attrName>ppt_x</p:attrName>
                                          <p:attrName>ppt_y</p:attrName>
                                        </p:attrNameLst>
                                      </p:cBhvr>
                                      <p:rCtr x="7240" y="2407"/>
                                    </p:animMotion>
                                  </p:childTnLst>
                                </p:cTn>
                              </p:par>
                              <p:par>
                                <p:cTn id="100" presetID="10" presetClass="entr" presetSubtype="0" fill="hold" grpId="2"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2000"/>
                                        <p:tgtEl>
                                          <p:spTgt spid="4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xit" presetSubtype="0" fill="hold" nodeType="clickEffect">
                                  <p:stCondLst>
                                    <p:cond delay="0"/>
                                  </p:stCondLst>
                                  <p:childTnLst>
                                    <p:animEffect transition="out" filter="fade">
                                      <p:cBhvr>
                                        <p:cTn id="106" dur="500"/>
                                        <p:tgtEl>
                                          <p:spTgt spid="45"/>
                                        </p:tgtEl>
                                      </p:cBhvr>
                                    </p:animEffect>
                                    <p:set>
                                      <p:cBhvr>
                                        <p:cTn id="107" dur="1" fill="hold">
                                          <p:stCondLst>
                                            <p:cond delay="499"/>
                                          </p:stCondLst>
                                        </p:cTn>
                                        <p:tgtEl>
                                          <p:spTgt spid="45"/>
                                        </p:tgtEl>
                                        <p:attrNameLst>
                                          <p:attrName>style.visibility</p:attrName>
                                        </p:attrNameLst>
                                      </p:cBhvr>
                                      <p:to>
                                        <p:strVal val="hidden"/>
                                      </p:to>
                                    </p:set>
                                  </p:childTnLst>
                                </p:cTn>
                              </p:par>
                              <p:par>
                                <p:cTn id="108" presetID="10" presetClass="exit" presetSubtype="0" fill="hold" grpId="2" nodeType="withEffect">
                                  <p:stCondLst>
                                    <p:cond delay="0"/>
                                  </p:stCondLst>
                                  <p:childTnLst>
                                    <p:animEffect transition="out" filter="fade">
                                      <p:cBhvr>
                                        <p:cTn id="109" dur="500"/>
                                        <p:tgtEl>
                                          <p:spTgt spid="20"/>
                                        </p:tgtEl>
                                      </p:cBhvr>
                                    </p:animEffect>
                                    <p:set>
                                      <p:cBhvr>
                                        <p:cTn id="110" dur="1" fill="hold">
                                          <p:stCondLst>
                                            <p:cond delay="499"/>
                                          </p:stCondLst>
                                        </p:cTn>
                                        <p:tgtEl>
                                          <p:spTgt spid="20"/>
                                        </p:tgtEl>
                                        <p:attrNameLst>
                                          <p:attrName>style.visibility</p:attrName>
                                        </p:attrNameLst>
                                      </p:cBhvr>
                                      <p:to>
                                        <p:strVal val="hidden"/>
                                      </p:to>
                                    </p:set>
                                  </p:childTnLst>
                                </p:cTn>
                              </p:par>
                              <p:par>
                                <p:cTn id="111" presetID="22" presetClass="exit" presetSubtype="4" fill="hold" grpId="1" nodeType="withEffect">
                                  <p:stCondLst>
                                    <p:cond delay="0"/>
                                  </p:stCondLst>
                                  <p:childTnLst>
                                    <p:animEffect transition="out" filter="wipe(down)">
                                      <p:cBhvr>
                                        <p:cTn id="112" dur="500"/>
                                        <p:tgtEl>
                                          <p:spTgt spid="47"/>
                                        </p:tgtEl>
                                      </p:cBhvr>
                                    </p:animEffect>
                                    <p:set>
                                      <p:cBhvr>
                                        <p:cTn id="113"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2" animBg="1"/>
      <p:bldP spid="20" grpId="0" animBg="1"/>
      <p:bldP spid="20" grpId="1" animBg="1"/>
      <p:bldP spid="20" grpId="2" animBg="1"/>
      <p:bldP spid="27" grpId="0" animBg="1"/>
      <p:bldP spid="27" grpId="2" animBg="1"/>
      <p:bldP spid="47" grpId="0" animBg="1"/>
      <p:bldP spid="4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7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err="1" smtClean="0">
                <a:solidFill>
                  <a:srgbClr val="000000"/>
                </a:solidFill>
                <a:latin typeface="Tele-GroteskNor" charset="0"/>
              </a:rPr>
              <a:t>saptrace</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Oracle dump files are written in the directory </a:t>
            </a:r>
            <a:r>
              <a:rPr lang="en-US" sz="2400" dirty="0" err="1">
                <a:solidFill>
                  <a:srgbClr val="000000"/>
                </a:solidFill>
                <a:latin typeface="Tele-GroteskNor" charset="0"/>
              </a:rPr>
              <a:t>saptrace</a:t>
            </a:r>
            <a:r>
              <a:rPr lang="en-US" sz="2400" dirty="0">
                <a:solidFill>
                  <a:srgbClr val="000000"/>
                </a:solidFill>
                <a:latin typeface="Tele-GroteskNor" charset="0"/>
              </a:rPr>
              <a:t>. The Oracle alert log alert_&lt;DBSID&gt;.log occurs in the directory </a:t>
            </a:r>
            <a:r>
              <a:rPr lang="en-US" sz="2400" dirty="0" smtClean="0">
                <a:solidFill>
                  <a:srgbClr val="000000"/>
                </a:solidFill>
                <a:latin typeface="Tele-GroteskNor" charset="0"/>
              </a:rPr>
              <a:t>background</a:t>
            </a:r>
            <a:r>
              <a:rPr lang="en-US" sz="2400" dirty="0">
                <a:solidFill>
                  <a:srgbClr val="000000"/>
                </a:solidFill>
                <a:latin typeface="Tele-GroteskNor" charset="0"/>
              </a:rPr>
              <a:t>. Traces of Oracle shadow processes are written to the directory </a:t>
            </a:r>
            <a:r>
              <a:rPr lang="en-US" sz="2400" dirty="0" err="1" smtClean="0">
                <a:solidFill>
                  <a:srgbClr val="000000"/>
                </a:solidFill>
                <a:latin typeface="Tele-GroteskNor" charset="0"/>
              </a:rPr>
              <a:t>usertrace</a:t>
            </a:r>
            <a:r>
              <a:rPr lang="en-US" sz="2400" dirty="0">
                <a:solidFill>
                  <a:srgbClr val="000000"/>
                </a:solidFill>
                <a:latin typeface="Tele-GroteskNor" charset="0"/>
              </a:rPr>
              <a:t>.</a:t>
            </a:r>
          </a:p>
          <a:p>
            <a:pPr lvl="1" indent="0">
              <a:lnSpc>
                <a:spcPct val="90000"/>
              </a:lnSpc>
              <a:spcBef>
                <a:spcPts val="750"/>
              </a:spcBef>
              <a:buClrTx/>
              <a:buFontTx/>
              <a:buNone/>
              <a:defRPr/>
            </a:pPr>
            <a:r>
              <a:rPr lang="en-US" sz="2400" b="1" dirty="0" err="1" smtClean="0">
                <a:solidFill>
                  <a:srgbClr val="000000"/>
                </a:solidFill>
                <a:latin typeface="Tele-GroteskNor" charset="0"/>
              </a:rPr>
              <a:t>saparch</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Stores the logs written by the SAP tool BRARCHIVE</a:t>
            </a:r>
          </a:p>
          <a:p>
            <a:pPr lvl="1" indent="0">
              <a:lnSpc>
                <a:spcPct val="90000"/>
              </a:lnSpc>
              <a:spcBef>
                <a:spcPts val="750"/>
              </a:spcBef>
              <a:buClrTx/>
              <a:buFontTx/>
              <a:buNone/>
              <a:defRPr/>
            </a:pPr>
            <a:r>
              <a:rPr lang="en-US" sz="2400" b="1" dirty="0" err="1" smtClean="0">
                <a:solidFill>
                  <a:srgbClr val="000000"/>
                </a:solidFill>
                <a:latin typeface="Tele-GroteskNor" charset="0"/>
              </a:rPr>
              <a:t>sapbackup</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Stores logs written by the SAP tools BRBACKUP, BRRESTORE, and BRRECOVER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602" name="Picture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dirty="0" err="1" smtClean="0">
                <a:solidFill>
                  <a:srgbClr val="000000"/>
                </a:solidFill>
                <a:latin typeface="Tele-GroteskNor" charset="0"/>
              </a:rPr>
              <a:t>sapreorg</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BRSPACE creates logs for its different functions here</a:t>
            </a:r>
          </a:p>
          <a:p>
            <a:pPr lvl="1" indent="0">
              <a:lnSpc>
                <a:spcPct val="90000"/>
              </a:lnSpc>
              <a:spcBef>
                <a:spcPts val="750"/>
              </a:spcBef>
              <a:buClrTx/>
              <a:buFontTx/>
              <a:buNone/>
              <a:defRPr/>
            </a:pPr>
            <a:r>
              <a:rPr lang="en-US" sz="2400" b="1" dirty="0" err="1" smtClean="0">
                <a:solidFill>
                  <a:srgbClr val="000000"/>
                </a:solidFill>
                <a:latin typeface="Tele-GroteskNor" charset="0"/>
              </a:rPr>
              <a:t>sapcheck</a:t>
            </a:r>
            <a:endParaRPr lang="en-US" sz="2400" b="1" dirty="0" smtClean="0">
              <a:solidFill>
                <a:srgbClr val="000000"/>
              </a:solidFill>
              <a:latin typeface="Tele-GroteskNor" charset="0"/>
            </a:endParaRPr>
          </a:p>
          <a:p>
            <a:pPr marL="342900" lvl="1" indent="-341313">
              <a:lnSpc>
                <a:spcPct val="90000"/>
              </a:lnSpc>
              <a:spcBef>
                <a:spcPts val="750"/>
              </a:spcBef>
              <a:buClr>
                <a:srgbClr val="9F4C97"/>
              </a:buClr>
              <a:buFont typeface="Arial" charset="0"/>
              <a:buChar cha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dirty="0">
                <a:solidFill>
                  <a:srgbClr val="000000"/>
                </a:solidFill>
                <a:latin typeface="Tele-GroteskNor" charset="0"/>
              </a:rPr>
              <a:t>BRSPACE creates logs for its different functions here</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
          <p:cNvPicPr>
            <a:picLocks noChangeAspect="1" noChangeArrowheads="1"/>
          </p:cNvPicPr>
          <p:nvPr/>
        </p:nvPicPr>
        <p:blipFill>
          <a:blip r:embed="rId3">
            <a:extLst>
              <a:ext uri="{28A0092B-C50C-407E-A947-70E740481C1C}">
                <a14:useLocalDpi xmlns:a14="http://schemas.microsoft.com/office/drawing/2010/main" val="0"/>
              </a:ext>
            </a:extLst>
          </a:blip>
          <a:srcRect r="3236" b="2020"/>
          <a:stretch>
            <a:fillRect/>
          </a:stretch>
        </p:blipFill>
        <p:spPr bwMode="auto">
          <a:xfrm>
            <a:off x="304800" y="1300163"/>
            <a:ext cx="6883400" cy="5070475"/>
          </a:xfrm>
          <a:prstGeom prst="rect">
            <a:avLst/>
          </a:prstGeom>
          <a:noFill/>
          <a:ln>
            <a:noFill/>
          </a:ln>
          <a:effectLst/>
          <a:extLst>
            <a:ext uri="{909E8E84-426E-40DD-AFC4-6F175D3DCCD1}">
              <a14:hiddenFill xmlns:a14="http://schemas.microsoft.com/office/drawing/2010/main">
                <a:blipFill dpi="0" rotWithShape="0">
                  <a:blip/>
                  <a:srcRect r="3236" b="2020"/>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27"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28"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Directory Structure in SAP</a:t>
            </a:r>
          </a:p>
        </p:txBody>
      </p:sp>
      <p:sp>
        <p:nvSpPr>
          <p:cNvPr id="26629" name="Text Box 4"/>
          <p:cNvSpPr txBox="1">
            <a:spLocks noChangeArrowheads="1"/>
          </p:cNvSpPr>
          <p:nvPr/>
        </p:nvSpPr>
        <p:spPr bwMode="auto">
          <a:xfrm>
            <a:off x="304800" y="1773238"/>
            <a:ext cx="4259263"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Control file</a:t>
            </a:r>
          </a:p>
        </p:txBody>
      </p:sp>
      <p:sp>
        <p:nvSpPr>
          <p:cNvPr id="2765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Text Box 3"/>
          <p:cNvSpPr txBox="1">
            <a:spLocks noChangeArrowheads="1"/>
          </p:cNvSpPr>
          <p:nvPr/>
        </p:nvSpPr>
        <p:spPr bwMode="auto">
          <a:xfrm>
            <a:off x="457200" y="19256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1pPr>
            <a:lvl2pPr marL="342900" indent="-341313">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2pPr>
            <a:lvl3pP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3pPr>
            <a:lvl4pP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4pPr>
            <a:lvl5pPr>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Tele-GroteskFet" charset="0"/>
                <a:ea typeface="WenQuanYi Zen Hei Sharp" charset="0"/>
                <a:cs typeface="WenQuanYi Zen Hei Sharp" charset="0"/>
              </a:defRPr>
            </a:lvl9pPr>
          </a:lstStyle>
          <a:p>
            <a:pPr marL="1587" lvl="1" indent="0">
              <a:lnSpc>
                <a:spcPct val="90000"/>
              </a:lnSpc>
              <a:spcBef>
                <a:spcPts val="750"/>
              </a:spcBef>
              <a:buClr>
                <a:srgbClr val="9F4C97"/>
              </a:buClr>
              <a:buFont typeface="Times New Roman" pitchFamily="16" charset="0"/>
              <a:buNone/>
              <a:defRPr/>
            </a:pPr>
            <a:r>
              <a:rPr lang="en-US" sz="2400" dirty="0" smtClean="0">
                <a:solidFill>
                  <a:srgbClr val="000000"/>
                </a:solidFill>
                <a:latin typeface="Tele-GroteskNor" charset="0"/>
              </a:rPr>
              <a:t>Every Oracle database has a control file. A control file is a small binary file that records the physical structure of the database and includes:</a:t>
            </a:r>
          </a:p>
          <a:p>
            <a:pPr lvl="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The database name</a:t>
            </a:r>
          </a:p>
          <a:p>
            <a:pPr lvl="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Names and locations of associated </a:t>
            </a:r>
            <a:r>
              <a:rPr lang="en-US" sz="2400" dirty="0" err="1" smtClean="0">
                <a:solidFill>
                  <a:srgbClr val="000000"/>
                </a:solidFill>
                <a:latin typeface="Tele-GroteskNor" charset="0"/>
              </a:rPr>
              <a:t>datafiles</a:t>
            </a:r>
            <a:r>
              <a:rPr lang="en-US" sz="2400" dirty="0" smtClean="0">
                <a:solidFill>
                  <a:srgbClr val="000000"/>
                </a:solidFill>
                <a:latin typeface="Tele-GroteskNor" charset="0"/>
              </a:rPr>
              <a:t> and online redo log files</a:t>
            </a:r>
          </a:p>
          <a:p>
            <a:pPr lvl="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The timestamp of the database creation</a:t>
            </a:r>
          </a:p>
          <a:p>
            <a:pPr lvl="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The current log sequence number</a:t>
            </a:r>
          </a:p>
          <a:p>
            <a:pPr lvl="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Checkpoint information</a:t>
            </a:r>
          </a:p>
          <a:p>
            <a:pPr marL="1587" lvl="1" indent="0">
              <a:lnSpc>
                <a:spcPct val="90000"/>
              </a:lnSpc>
              <a:spcBef>
                <a:spcPts val="750"/>
              </a:spcBef>
              <a:buClr>
                <a:srgbClr val="9F4C97"/>
              </a:buClr>
              <a:buFont typeface="Times New Roman" pitchFamily="16" charset="0"/>
              <a:buNone/>
              <a:defRPr/>
            </a:pPr>
            <a:endParaRPr lang="en-US" sz="2400" dirty="0" smtClean="0">
              <a:solidFill>
                <a:srgbClr val="000000"/>
              </a:solidFill>
              <a:latin typeface="Tele-GroteskNor" charset="0"/>
            </a:endParaRPr>
          </a:p>
          <a:p>
            <a:pPr marL="1587" lvl="1" indent="0">
              <a:lnSpc>
                <a:spcPct val="90000"/>
              </a:lnSpc>
              <a:spcBef>
                <a:spcPts val="750"/>
              </a:spcBef>
              <a:buClr>
                <a:srgbClr val="9F4C97"/>
              </a:buClr>
              <a:buFont typeface="Times New Roman" pitchFamily="16" charset="0"/>
              <a:buNone/>
              <a:defRPr/>
            </a:pPr>
            <a:r>
              <a:rPr lang="en-US" sz="2400" dirty="0" smtClean="0">
                <a:solidFill>
                  <a:srgbClr val="000000"/>
                </a:solidFill>
                <a:latin typeface="Tele-GroteskNor" charset="0"/>
              </a:rPr>
              <a:t>Location of the control file is configured in Oracle profile </a:t>
            </a:r>
            <a:r>
              <a:rPr lang="en-US" sz="2400" dirty="0" err="1" smtClean="0">
                <a:solidFill>
                  <a:srgbClr val="000000"/>
                </a:solidFill>
                <a:latin typeface="Tele-GroteskNor" charset="0"/>
              </a:rPr>
              <a:t>init</a:t>
            </a:r>
            <a:r>
              <a:rPr lang="en-US" sz="2400" dirty="0" smtClean="0">
                <a:solidFill>
                  <a:srgbClr val="000000"/>
                </a:solidFill>
                <a:latin typeface="Tele-GroteskNor" charset="0"/>
              </a:rPr>
              <a:t>&lt;SID&gt;.</a:t>
            </a:r>
            <a:r>
              <a:rPr lang="en-US" sz="2400" dirty="0" err="1" smtClean="0">
                <a:solidFill>
                  <a:srgbClr val="000000"/>
                </a:solidFill>
                <a:latin typeface="Tele-GroteskNor" charset="0"/>
              </a:rPr>
              <a:t>ora</a:t>
            </a:r>
            <a:endParaRPr lang="en-US" sz="2400" dirty="0" smtClean="0">
              <a:solidFill>
                <a:srgbClr val="000000"/>
              </a:solidFill>
              <a:latin typeface="Tele-GroteskNor" charset="0"/>
            </a:endParaRPr>
          </a:p>
          <a:p>
            <a:pPr lvl="1">
              <a:lnSpc>
                <a:spcPct val="90000"/>
              </a:lnSpc>
              <a:spcBef>
                <a:spcPts val="750"/>
              </a:spcBef>
              <a:buClr>
                <a:srgbClr val="9F4C97"/>
              </a:buClr>
              <a:buFont typeface="Arial" charset="0"/>
              <a:buChar char="•"/>
              <a:defRPr/>
            </a:pPr>
            <a:endParaRPr lang="en-US" sz="2400" dirty="0" smtClean="0">
              <a:solidFill>
                <a:srgbClr val="000000"/>
              </a:solidFill>
              <a:latin typeface="Tele-GroteskNor"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4156075"/>
            <a:ext cx="5937250" cy="2054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675"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6"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Logical and Physical Database Structures</a:t>
            </a:r>
          </a:p>
        </p:txBody>
      </p:sp>
      <p:sp>
        <p:nvSpPr>
          <p:cNvPr id="18436" name="Text Box 4"/>
          <p:cNvSpPr txBox="1">
            <a:spLocks noChangeArrowheads="1"/>
          </p:cNvSpPr>
          <p:nvPr/>
        </p:nvSpPr>
        <p:spPr bwMode="auto">
          <a:xfrm>
            <a:off x="304800" y="1773238"/>
            <a:ext cx="42418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Logical structure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Database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Tablespace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Segment – Table / Index</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Extent</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Data block</a:t>
            </a:r>
          </a:p>
          <a:p>
            <a:pPr marL="0" lvl="1" indent="0">
              <a:lnSpc>
                <a:spcPct val="90000"/>
              </a:lnSpc>
              <a:spcBef>
                <a:spcPts val="750"/>
              </a:spcBef>
              <a:buClr>
                <a:srgbClr val="9F4C97"/>
              </a:buClr>
              <a:buFont typeface="Arial" charset="0"/>
              <a:buNone/>
              <a:defRPr/>
            </a:pPr>
            <a:endParaRPr lang="en-US" sz="2400" b="1" smtClean="0">
              <a:solidFill>
                <a:srgbClr val="000000"/>
              </a:solidFill>
              <a:latin typeface="Tele-GroteskNor" charset="0"/>
            </a:endParaRPr>
          </a:p>
          <a:p>
            <a:pPr marL="0" lvl="1" indent="0">
              <a:lnSpc>
                <a:spcPct val="90000"/>
              </a:lnSpc>
              <a:spcBef>
                <a:spcPts val="750"/>
              </a:spcBef>
              <a:buClr>
                <a:srgbClr val="9F4C97"/>
              </a:buClr>
              <a:buFont typeface="Arial" charset="0"/>
              <a:buNone/>
              <a:defRPr/>
            </a:pPr>
            <a:endParaRPr lang="en-US" sz="2400" b="1" smtClean="0">
              <a:solidFill>
                <a:srgbClr val="000000"/>
              </a:solidFill>
              <a:latin typeface="Tele-GroteskNor" charset="0"/>
            </a:endParaRPr>
          </a:p>
          <a:p>
            <a:pPr lvl="1" indent="0">
              <a:lnSpc>
                <a:spcPct val="90000"/>
              </a:lnSpc>
              <a:spcBef>
                <a:spcPts val="750"/>
              </a:spcBef>
              <a:buClrTx/>
              <a:buFontTx/>
              <a:buNone/>
              <a:defRPr/>
            </a:pPr>
            <a:endParaRPr lang="en-US" sz="2400" b="1" smtClean="0">
              <a:solidFill>
                <a:srgbClr val="000000"/>
              </a:solidFill>
              <a:latin typeface="Tele-GroteskNor" charset="0"/>
            </a:endParaRPr>
          </a:p>
        </p:txBody>
      </p:sp>
      <p:sp>
        <p:nvSpPr>
          <p:cNvPr id="18437" name="Text Box 5"/>
          <p:cNvSpPr txBox="1">
            <a:spLocks noChangeArrowheads="1"/>
          </p:cNvSpPr>
          <p:nvPr/>
        </p:nvSpPr>
        <p:spPr bwMode="auto">
          <a:xfrm>
            <a:off x="4699000" y="1925638"/>
            <a:ext cx="4240213"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1pPr>
            <a:lvl2pPr marL="1588">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2pPr>
            <a:lvl3pPr>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3pPr>
            <a:lvl4pPr>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4pPr>
            <a:lvl5pPr>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8788" algn="l"/>
                <a:tab pos="915988" algn="l"/>
                <a:tab pos="1373188" algn="l"/>
                <a:tab pos="1830388" algn="l"/>
                <a:tab pos="2287588" algn="l"/>
                <a:tab pos="2744788" algn="l"/>
                <a:tab pos="3201988" algn="l"/>
                <a:tab pos="3659188" algn="l"/>
                <a:tab pos="4116388" algn="l"/>
                <a:tab pos="4573588" algn="l"/>
                <a:tab pos="5030788" algn="l"/>
                <a:tab pos="5487988" algn="l"/>
                <a:tab pos="5945188" algn="l"/>
                <a:tab pos="6402388" algn="l"/>
                <a:tab pos="6859588" algn="l"/>
                <a:tab pos="7316788" algn="l"/>
                <a:tab pos="7773988" algn="l"/>
                <a:tab pos="8231188" algn="l"/>
                <a:tab pos="8688388" algn="l"/>
                <a:tab pos="9145588"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Physical structure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Datafile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Disk block</a:t>
            </a:r>
          </a:p>
          <a:p>
            <a:pPr marL="0" lvl="1" indent="0">
              <a:lnSpc>
                <a:spcPct val="90000"/>
              </a:lnSpc>
              <a:spcBef>
                <a:spcPts val="750"/>
              </a:spcBef>
              <a:buClr>
                <a:srgbClr val="9F4C97"/>
              </a:buClr>
              <a:buFont typeface="Arial" charset="0"/>
              <a:buNone/>
              <a:defRPr/>
            </a:pPr>
            <a:endParaRPr lang="en-US" sz="2400" b="1" smtClean="0">
              <a:solidFill>
                <a:srgbClr val="000000"/>
              </a:solidFill>
              <a:latin typeface="Tele-GroteskNor" charset="0"/>
            </a:endParaRPr>
          </a:p>
          <a:p>
            <a:pPr lvl="1" indent="0">
              <a:lnSpc>
                <a:spcPct val="90000"/>
              </a:lnSpc>
              <a:spcBef>
                <a:spcPts val="750"/>
              </a:spcBef>
              <a:buClrTx/>
              <a:buFontTx/>
              <a:buNone/>
              <a:defRPr/>
            </a:pPr>
            <a:endParaRPr lang="en-US" sz="2400" b="1" smtClean="0">
              <a:solidFill>
                <a:srgbClr val="000000"/>
              </a:solidFill>
              <a:latin typeface="Tele-GroteskNor"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196975"/>
            <a:ext cx="6715125" cy="5181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699"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0"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Overview of Database</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Logical and Physical Database Structures</a:t>
            </a:r>
          </a:p>
        </p:txBody>
      </p:sp>
      <p:sp>
        <p:nvSpPr>
          <p:cNvPr id="29701" name="Text Box 4"/>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Database Administration Tools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Oracle Administration Tools on OS level</a:t>
            </a:r>
          </a:p>
        </p:txBody>
      </p:sp>
      <p:sp>
        <p:nvSpPr>
          <p:cNvPr id="30724"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BRTOOLS</a:t>
            </a: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SQLPLUS</a:t>
            </a:r>
          </a:p>
          <a:p>
            <a:pPr lvl="1" eaLnBrk="1" hangingPunct="1">
              <a:lnSpc>
                <a:spcPct val="90000"/>
              </a:lnSpc>
              <a:spcBef>
                <a:spcPts val="750"/>
              </a:spcBef>
              <a:buClr>
                <a:srgbClr val="9F4C97"/>
              </a:buClr>
              <a:buFont typeface="Arial" charset="0"/>
              <a:buChar char="•"/>
              <a:defRPr/>
            </a:pPr>
            <a:r>
              <a:rPr lang="en-US" sz="2400" dirty="0">
                <a:solidFill>
                  <a:schemeClr val="bg1">
                    <a:lumMod val="65000"/>
                  </a:schemeClr>
                </a:solidFill>
                <a:latin typeface="Tele-GroteskNor" charset="0"/>
              </a:rPr>
              <a:t>BRGUI</a:t>
            </a:r>
          </a:p>
          <a:p>
            <a:pPr lvl="1" eaLnBrk="1" hangingPunct="1">
              <a:lnSpc>
                <a:spcPct val="90000"/>
              </a:lnSpc>
              <a:spcBef>
                <a:spcPts val="750"/>
              </a:spcBef>
              <a:buClr>
                <a:srgbClr val="9F4C97"/>
              </a:buClr>
              <a:buFont typeface="Arial" charset="0"/>
              <a:buChar char="•"/>
              <a:defRPr/>
            </a:pPr>
            <a:r>
              <a:rPr lang="en-US" sz="2400" dirty="0">
                <a:solidFill>
                  <a:schemeClr val="bg1">
                    <a:lumMod val="65000"/>
                  </a:schemeClr>
                </a:solidFill>
                <a:latin typeface="Tele-GroteskNor" charset="0"/>
              </a:rPr>
              <a:t>Enterprise Manager</a:t>
            </a:r>
          </a:p>
          <a:p>
            <a:pPr lvl="1" eaLnBrk="1" hangingPunct="1">
              <a:lnSpc>
                <a:spcPct val="90000"/>
              </a:lnSpc>
              <a:spcBef>
                <a:spcPts val="750"/>
              </a:spcBef>
              <a:buClr>
                <a:srgbClr val="9F4C97"/>
              </a:buClr>
              <a:buFont typeface="Arial" charset="0"/>
              <a:buChar char="•"/>
              <a:defRPr/>
            </a:pPr>
            <a:r>
              <a:rPr lang="en-US" sz="2400" dirty="0" smtClean="0">
                <a:solidFill>
                  <a:schemeClr val="bg1">
                    <a:lumMod val="65000"/>
                  </a:schemeClr>
                </a:solidFill>
                <a:latin typeface="Tele-GroteskNor" charset="0"/>
              </a:rPr>
              <a:t>SQL Developer</a:t>
            </a:r>
          </a:p>
          <a:p>
            <a:pPr lvl="1" eaLnBrk="1" hangingPunct="1">
              <a:lnSpc>
                <a:spcPct val="90000"/>
              </a:lnSpc>
              <a:spcBef>
                <a:spcPts val="750"/>
              </a:spcBef>
              <a:buClr>
                <a:srgbClr val="9F4C97"/>
              </a:buClr>
              <a:buFont typeface="Arial" charset="0"/>
              <a:buNone/>
              <a:defRPr/>
            </a:pPr>
            <a:endParaRPr lang="en-US" sz="2400" dirty="0" smtClean="0">
              <a:solidFill>
                <a:srgbClr val="000000"/>
              </a:solidFill>
              <a:latin typeface="Tele-GroteskNor" charset="0"/>
            </a:endParaRPr>
          </a:p>
        </p:txBody>
      </p:sp>
      <p:pic>
        <p:nvPicPr>
          <p:cNvPr id="3072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000" y="2060575"/>
            <a:ext cx="6007100" cy="42560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800" y="3003550"/>
            <a:ext cx="7099300" cy="2965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 Box 2"/>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smtClean="0">
                <a:solidFill>
                  <a:srgbClr val="000000"/>
                </a:solidFill>
                <a:latin typeface="Tele-GroteskNor" charset="0"/>
              </a:rPr>
              <a:t>BRTOOLS is provided as a character-based user interface for the functional programs:</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BRBACKUP</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BRARCHIVE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BRRESTORE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BRRECOVER</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BRSPACE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BRCONNECT</a:t>
            </a:r>
          </a:p>
        </p:txBody>
      </p:sp>
      <p:pic>
        <p:nvPicPr>
          <p:cNvPr id="31748" name="Picture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49" name="Text Box 4"/>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Database Administration Tools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BRTOOLS</a:t>
            </a:r>
            <a:br>
              <a:rPr lang="en-US" sz="3000">
                <a:solidFill>
                  <a:srgbClr val="9F4C97"/>
                </a:solidFill>
                <a:latin typeface="Tele-GroteskNor" pitchFamily="2" charset="0"/>
                <a:ea typeface="TeleGrotesk Headline Ultra" pitchFamily="2" charset="0"/>
                <a:cs typeface="TeleGrotesk Headline Ultra" pitchFamily="2" charset="0"/>
              </a:rPr>
            </a:br>
            <a:endParaRPr lang="en-US" sz="3000">
              <a:solidFill>
                <a:srgbClr val="9F4C97"/>
              </a:solidFill>
              <a:latin typeface="Tele-GroteskNor" pitchFamily="2" charset="0"/>
              <a:ea typeface="TeleGrotesk Headline Ultra" pitchFamily="2" charset="0"/>
              <a:cs typeface="TeleGrotesk Headline Ultra" pitchFamily="2"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304800" y="1773238"/>
            <a:ext cx="8496300" cy="282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32771"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72"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Database Administration Tools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BRTOOLS - Menu Structure</a:t>
            </a:r>
            <a:br>
              <a:rPr lang="en-US" sz="3000">
                <a:solidFill>
                  <a:srgbClr val="9F4C97"/>
                </a:solidFill>
                <a:latin typeface="Tele-GroteskNor" pitchFamily="2" charset="0"/>
                <a:ea typeface="TeleGrotesk Headline Ultra" pitchFamily="2" charset="0"/>
                <a:cs typeface="TeleGrotesk Headline Ultra" pitchFamily="2" charset="0"/>
              </a:rPr>
            </a:br>
            <a:endParaRPr lang="en-US" sz="3000">
              <a:solidFill>
                <a:srgbClr val="9F4C97"/>
              </a:solidFill>
              <a:latin typeface="Tele-GroteskNor" pitchFamily="2" charset="0"/>
              <a:ea typeface="TeleGrotesk Headline Ultra" pitchFamily="2" charset="0"/>
              <a:cs typeface="TeleGrotesk Headline Ultra" pitchFamily="2" charset="0"/>
            </a:endParaRPr>
          </a:p>
        </p:txBody>
      </p:sp>
      <p:pic>
        <p:nvPicPr>
          <p:cNvPr id="32773" name="Picture 6" descr="D:\bordel\brtool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412875"/>
            <a:ext cx="6305550" cy="472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79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Space Management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Tablespaces</a:t>
            </a:r>
          </a:p>
        </p:txBody>
      </p:sp>
      <p:sp>
        <p:nvSpPr>
          <p:cNvPr id="33796"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itchFamily="16"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charset="0"/>
                <a:ea typeface="WenQuanYi Zen Hei Sharp" charset="0"/>
                <a:cs typeface="WenQuanYi Zen Hei Sharp" charset="0"/>
              </a:defRPr>
            </a:lvl9pPr>
          </a:lstStyle>
          <a:p>
            <a:pPr marL="1587" lvl="1" indent="0" eaLnBrk="1" hangingPunct="1">
              <a:lnSpc>
                <a:spcPct val="90000"/>
              </a:lnSpc>
              <a:spcBef>
                <a:spcPts val="750"/>
              </a:spcBef>
              <a:buClr>
                <a:srgbClr val="9F4C97"/>
              </a:buClr>
              <a:buFont typeface="Times New Roman" pitchFamily="16" charset="0"/>
              <a:buNone/>
              <a:defRPr/>
            </a:pPr>
            <a:r>
              <a:rPr lang="en-US" sz="2400" dirty="0" smtClean="0">
                <a:solidFill>
                  <a:srgbClr val="000000"/>
                </a:solidFill>
                <a:latin typeface="Tele-GroteskNor" charset="0"/>
              </a:rPr>
              <a:t>Oracle stores data logically in </a:t>
            </a:r>
            <a:r>
              <a:rPr lang="en-US" sz="2400" dirty="0" err="1" smtClean="0">
                <a:solidFill>
                  <a:srgbClr val="000000"/>
                </a:solidFill>
                <a:latin typeface="Tele-GroteskNor" charset="0"/>
              </a:rPr>
              <a:t>tablespaces</a:t>
            </a:r>
            <a:r>
              <a:rPr lang="en-US" sz="2400" dirty="0" smtClean="0">
                <a:solidFill>
                  <a:srgbClr val="000000"/>
                </a:solidFill>
                <a:latin typeface="Tele-GroteskNor" charset="0"/>
              </a:rPr>
              <a:t> and physically in </a:t>
            </a:r>
            <a:r>
              <a:rPr lang="en-US" sz="2400" dirty="0" err="1" smtClean="0">
                <a:solidFill>
                  <a:srgbClr val="000000"/>
                </a:solidFill>
                <a:latin typeface="Tele-GroteskNor" charset="0"/>
              </a:rPr>
              <a:t>datafiles</a:t>
            </a:r>
            <a:r>
              <a:rPr lang="en-US" sz="2400" dirty="0" smtClean="0">
                <a:solidFill>
                  <a:srgbClr val="000000"/>
                </a:solidFill>
                <a:latin typeface="Tele-GroteskNor" charset="0"/>
              </a:rPr>
              <a:t> associated with the corresponding </a:t>
            </a:r>
            <a:r>
              <a:rPr lang="en-US" sz="2400" dirty="0" err="1" smtClean="0">
                <a:solidFill>
                  <a:srgbClr val="000000"/>
                </a:solidFill>
                <a:latin typeface="Tele-GroteskNor" charset="0"/>
              </a:rPr>
              <a:t>tablespace</a:t>
            </a:r>
            <a:endParaRPr lang="en-US" sz="2400" dirty="0" smtClean="0">
              <a:solidFill>
                <a:srgbClr val="000000"/>
              </a:solidFill>
              <a:latin typeface="Tele-GroteskNor" charset="0"/>
            </a:endParaRPr>
          </a:p>
          <a:p>
            <a:pPr marL="1587" lvl="1" indent="0" eaLnBrk="1" hangingPunct="1">
              <a:lnSpc>
                <a:spcPct val="90000"/>
              </a:lnSpc>
              <a:spcBef>
                <a:spcPts val="750"/>
              </a:spcBef>
              <a:buClr>
                <a:srgbClr val="9F4C97"/>
              </a:buClr>
              <a:buFont typeface="Times New Roman" pitchFamily="16" charset="0"/>
              <a:buNone/>
              <a:defRPr/>
            </a:pPr>
            <a:r>
              <a:rPr lang="en-US" sz="2400" dirty="0" smtClean="0">
                <a:solidFill>
                  <a:srgbClr val="000000"/>
                </a:solidFill>
                <a:latin typeface="Tele-GroteskNor" charset="0"/>
              </a:rPr>
              <a:t>Possible actions on </a:t>
            </a:r>
            <a:r>
              <a:rPr lang="en-US" sz="2400" dirty="0" err="1" smtClean="0">
                <a:solidFill>
                  <a:srgbClr val="000000"/>
                </a:solidFill>
                <a:latin typeface="Tele-GroteskNor" charset="0"/>
              </a:rPr>
              <a:t>tablespace</a:t>
            </a:r>
            <a:endParaRPr lang="en-US" sz="2400" dirty="0" smtClean="0">
              <a:solidFill>
                <a:srgbClr val="000000"/>
              </a:solidFill>
              <a:latin typeface="Tele-GroteskNor" charset="0"/>
            </a:endParaRP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Resize Extend / Shrink</a:t>
            </a:r>
            <a:endParaRPr lang="en-US" sz="2400" dirty="0" smtClean="0">
              <a:solidFill>
                <a:srgbClr val="000000"/>
              </a:solidFill>
              <a:latin typeface="Tele-GroteskNor" charset="0"/>
            </a:endParaRP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Add</a:t>
            </a: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Change </a:t>
            </a:r>
            <a:r>
              <a:rPr lang="en-US" sz="2400" dirty="0" err="1">
                <a:solidFill>
                  <a:srgbClr val="000000"/>
                </a:solidFill>
                <a:latin typeface="Tele-GroteskNor" charset="0"/>
              </a:rPr>
              <a:t>a</a:t>
            </a:r>
            <a:r>
              <a:rPr lang="en-US" sz="2400" dirty="0" err="1" smtClean="0">
                <a:solidFill>
                  <a:srgbClr val="000000"/>
                </a:solidFill>
                <a:latin typeface="Tele-GroteskNor" charset="0"/>
              </a:rPr>
              <a:t>utoextend</a:t>
            </a:r>
            <a:r>
              <a:rPr lang="en-US" sz="2400" dirty="0" smtClean="0">
                <a:solidFill>
                  <a:srgbClr val="000000"/>
                </a:solidFill>
                <a:latin typeface="Tele-GroteskNor" charset="0"/>
              </a:rPr>
              <a:t> properties</a:t>
            </a: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Set offline</a:t>
            </a:r>
          </a:p>
          <a:p>
            <a:pPr lvl="1" eaLnBrk="1" hangingPunct="1">
              <a:lnSpc>
                <a:spcPct val="90000"/>
              </a:lnSpc>
              <a:spcBef>
                <a:spcPts val="750"/>
              </a:spcBef>
              <a:buClr>
                <a:srgbClr val="9F4C97"/>
              </a:buClr>
              <a:buFont typeface="Arial" charset="0"/>
              <a:buChar char="•"/>
              <a:defRPr/>
            </a:pPr>
            <a:r>
              <a:rPr lang="en-US" sz="2400" dirty="0" smtClean="0">
                <a:solidFill>
                  <a:srgbClr val="000000"/>
                </a:solidFill>
                <a:latin typeface="Tele-GroteskNor" charset="0"/>
              </a:rPr>
              <a:t>Drop</a:t>
            </a:r>
          </a:p>
          <a:p>
            <a:pPr lvl="1" eaLnBrk="1" hangingPunct="1">
              <a:lnSpc>
                <a:spcPct val="90000"/>
              </a:lnSpc>
              <a:spcBef>
                <a:spcPts val="750"/>
              </a:spcBef>
              <a:buClr>
                <a:srgbClr val="9F4C97"/>
              </a:buClr>
              <a:buFont typeface="Arial" charset="0"/>
              <a:buNone/>
              <a:defRPr/>
            </a:pPr>
            <a:endParaRPr lang="en-US" sz="2400" dirty="0" smtClean="0">
              <a:solidFill>
                <a:srgbClr val="000000"/>
              </a:solidFill>
              <a:latin typeface="Tele-GroteskNor"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763" y="1365250"/>
            <a:ext cx="7281862" cy="4954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19"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20"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Space Management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Tablespaces Storage Parameters</a:t>
            </a:r>
          </a:p>
        </p:txBody>
      </p:sp>
      <p:sp>
        <p:nvSpPr>
          <p:cNvPr id="34821" name="Text Box 4"/>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Space Management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Enlarging a Tablespaces</a:t>
            </a:r>
          </a:p>
        </p:txBody>
      </p:sp>
      <p:sp>
        <p:nvSpPr>
          <p:cNvPr id="35844"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pic>
        <p:nvPicPr>
          <p:cNvPr id="3584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539875"/>
            <a:ext cx="7897812" cy="45180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6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Space Management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Tablespaces - Naming Conventions</a:t>
            </a:r>
          </a:p>
        </p:txBody>
      </p:sp>
      <p:sp>
        <p:nvSpPr>
          <p:cNvPr id="36868"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368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1488" y="1382713"/>
            <a:ext cx="5838825" cy="32083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7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9588" y="4344988"/>
            <a:ext cx="5757862" cy="17129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3">
            <a:extLst>
              <a:ext uri="{28A0092B-C50C-407E-A947-70E740481C1C}">
                <a14:useLocalDpi xmlns:a14="http://schemas.microsoft.com/office/drawing/2010/main" val="0"/>
              </a:ext>
            </a:extLst>
          </a:blip>
          <a:srcRect l="16319"/>
          <a:stretch>
            <a:fillRect/>
          </a:stretch>
        </p:blipFill>
        <p:spPr bwMode="auto">
          <a:xfrm>
            <a:off x="2130425" y="1773238"/>
            <a:ext cx="6065838" cy="4133850"/>
          </a:xfrm>
          <a:prstGeom prst="rect">
            <a:avLst/>
          </a:prstGeom>
          <a:noFill/>
          <a:ln>
            <a:noFill/>
          </a:ln>
          <a:effectLst/>
          <a:extLst>
            <a:ext uri="{909E8E84-426E-40DD-AFC4-6F175D3DCCD1}">
              <a14:hiddenFill xmlns:a14="http://schemas.microsoft.com/office/drawing/2010/main">
                <a:blipFill dpi="0" rotWithShape="0">
                  <a:blip/>
                  <a:srcRect l="16319"/>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Rectangle 2"/>
          <p:cNvSpPr/>
          <p:nvPr/>
        </p:nvSpPr>
        <p:spPr bwMode="auto">
          <a:xfrm>
            <a:off x="990731" y="1844824"/>
            <a:ext cx="1031974" cy="3600400"/>
          </a:xfrm>
          <a:prstGeom prst="rect">
            <a:avLst/>
          </a:prstGeom>
          <a:ln>
            <a:solidFill>
              <a:schemeClr val="bg2">
                <a:lumMod val="75000"/>
              </a:schemeClr>
            </a:solidFill>
            <a:headEnd type="none" w="med" len="med"/>
            <a:tailEnd type="none" w="med" len="med"/>
          </a:ln>
          <a:extLst/>
        </p:spPr>
        <p:style>
          <a:lnRef idx="0">
            <a:schemeClr val="accent3"/>
          </a:lnRef>
          <a:fillRef idx="3">
            <a:schemeClr val="accent3"/>
          </a:fillRef>
          <a:effectRef idx="3">
            <a:schemeClr val="accent3"/>
          </a:effectRef>
          <a:fontRef idx="minor">
            <a:schemeClr val="lt1"/>
          </a:fontRef>
        </p:style>
        <p:txBody>
          <a:bodyPr/>
          <a:lstStyle/>
          <a:p>
            <a:pPr>
              <a:buFont typeface="Times New Roman" pitchFamily="16" charset="0"/>
              <a:buNone/>
              <a:defRPr/>
            </a:pPr>
            <a:endParaRPr lang="en-US">
              <a:solidFill>
                <a:schemeClr val="bg1"/>
              </a:solidFill>
            </a:endParaRPr>
          </a:p>
        </p:txBody>
      </p:sp>
      <p:pic>
        <p:nvPicPr>
          <p:cNvPr id="37894" name="Picture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89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Startup options</a:t>
            </a:r>
          </a:p>
        </p:txBody>
      </p:sp>
      <p:sp>
        <p:nvSpPr>
          <p:cNvPr id="2" name="Oval 1"/>
          <p:cNvSpPr/>
          <p:nvPr/>
        </p:nvSpPr>
        <p:spPr bwMode="auto">
          <a:xfrm>
            <a:off x="1187624" y="2060848"/>
            <a:ext cx="648072" cy="648072"/>
          </a:xfrm>
          <a:prstGeom prst="ellipse">
            <a:avLst/>
          </a:prstGeom>
          <a:gradFill flip="none" rotWithShape="1">
            <a:gsLst>
              <a:gs pos="0">
                <a:srgbClr val="FF0000"/>
              </a:gs>
              <a:gs pos="100000">
                <a:srgbClr val="C00000"/>
              </a:gs>
            </a:gsLst>
            <a:path path="circle">
              <a:fillToRect l="50000" t="50000" r="50000" b="50000"/>
            </a:path>
            <a:tileRect/>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a:buFont typeface="Times New Roman" pitchFamily="16" charset="0"/>
              <a:buNone/>
              <a:defRPr/>
            </a:pPr>
            <a:endParaRPr lang="en-US">
              <a:latin typeface="Tele-GroteskFet" charset="0"/>
            </a:endParaRPr>
          </a:p>
        </p:txBody>
      </p:sp>
      <p:sp>
        <p:nvSpPr>
          <p:cNvPr id="7" name="Oval 6"/>
          <p:cNvSpPr/>
          <p:nvPr/>
        </p:nvSpPr>
        <p:spPr bwMode="auto">
          <a:xfrm>
            <a:off x="1182682" y="2877346"/>
            <a:ext cx="648072" cy="648072"/>
          </a:xfrm>
          <a:prstGeom prst="ellipse">
            <a:avLst/>
          </a:prstGeom>
          <a:gradFill flip="none" rotWithShape="1">
            <a:gsLst>
              <a:gs pos="0">
                <a:srgbClr val="FFC000"/>
              </a:gs>
              <a:gs pos="100000">
                <a:srgbClr val="C00000"/>
              </a:gs>
            </a:gsLst>
            <a:path path="circle">
              <a:fillToRect l="50000" t="50000" r="50000" b="50000"/>
            </a:path>
            <a:tileRect/>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a:buFont typeface="Times New Roman" pitchFamily="16" charset="0"/>
              <a:buNone/>
              <a:defRPr/>
            </a:pPr>
            <a:endParaRPr lang="en-US">
              <a:latin typeface="Tele-GroteskFet" charset="0"/>
            </a:endParaRPr>
          </a:p>
        </p:txBody>
      </p:sp>
      <p:sp>
        <p:nvSpPr>
          <p:cNvPr id="8" name="Oval 7"/>
          <p:cNvSpPr/>
          <p:nvPr/>
        </p:nvSpPr>
        <p:spPr bwMode="auto">
          <a:xfrm>
            <a:off x="1187624" y="3677818"/>
            <a:ext cx="648072" cy="648072"/>
          </a:xfrm>
          <a:prstGeom prst="ellipse">
            <a:avLst/>
          </a:prstGeom>
          <a:gradFill flip="none" rotWithShape="1">
            <a:gsLst>
              <a:gs pos="0">
                <a:srgbClr val="FFC000"/>
              </a:gs>
              <a:gs pos="100000">
                <a:srgbClr val="C00000"/>
              </a:gs>
            </a:gsLst>
            <a:path path="circle">
              <a:fillToRect l="50000" t="50000" r="50000" b="50000"/>
            </a:path>
            <a:tileRect/>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a:buFont typeface="Times New Roman" pitchFamily="16" charset="0"/>
              <a:buNone/>
              <a:defRPr/>
            </a:pPr>
            <a:endParaRPr lang="en-US">
              <a:latin typeface="Tele-GroteskFet" charset="0"/>
            </a:endParaRPr>
          </a:p>
        </p:txBody>
      </p:sp>
      <p:sp>
        <p:nvSpPr>
          <p:cNvPr id="9" name="Oval 8"/>
          <p:cNvSpPr/>
          <p:nvPr/>
        </p:nvSpPr>
        <p:spPr bwMode="auto">
          <a:xfrm>
            <a:off x="1187624" y="4478290"/>
            <a:ext cx="648072" cy="648072"/>
          </a:xfrm>
          <a:prstGeom prst="ellipse">
            <a:avLst/>
          </a:prstGeom>
          <a:gradFill flip="none" rotWithShape="1">
            <a:gsLst>
              <a:gs pos="0">
                <a:srgbClr val="00B050"/>
              </a:gs>
              <a:gs pos="100000">
                <a:srgbClr val="004C22"/>
              </a:gs>
            </a:gsLst>
            <a:path path="circle">
              <a:fillToRect l="50000" t="50000" r="50000" b="50000"/>
            </a:path>
            <a:tileRect/>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a:buFont typeface="Times New Roman" pitchFamily="16" charset="0"/>
              <a:buNone/>
              <a:defRPr/>
            </a:pPr>
            <a:endParaRPr lang="en-US">
              <a:latin typeface="Tele-GroteskFet" charset="0"/>
            </a:endParaRPr>
          </a:p>
        </p:txBody>
      </p:sp>
      <p:sp>
        <p:nvSpPr>
          <p:cNvPr id="11" name="Rectangle 10"/>
          <p:cNvSpPr/>
          <p:nvPr/>
        </p:nvSpPr>
        <p:spPr bwMode="auto">
          <a:xfrm>
            <a:off x="1412462" y="5452383"/>
            <a:ext cx="188509" cy="784929"/>
          </a:xfrm>
          <a:prstGeom prst="rect">
            <a:avLst/>
          </a:prstGeom>
          <a:ln>
            <a:solidFill>
              <a:schemeClr val="bg2">
                <a:lumMod val="75000"/>
              </a:schemeClr>
            </a:solidFill>
            <a:headEnd type="none" w="med" len="med"/>
            <a:tailEnd type="none" w="med" len="med"/>
          </a:ln>
          <a:extLst/>
        </p:spPr>
        <p:style>
          <a:lnRef idx="0">
            <a:schemeClr val="accent3"/>
          </a:lnRef>
          <a:fillRef idx="3">
            <a:schemeClr val="accent3"/>
          </a:fillRef>
          <a:effectRef idx="3">
            <a:schemeClr val="accent3"/>
          </a:effectRef>
          <a:fontRef idx="minor">
            <a:schemeClr val="lt1"/>
          </a:fontRef>
        </p:style>
        <p:txBody>
          <a:bodyPr/>
          <a:lstStyle/>
          <a:p>
            <a:pPr>
              <a:buFont typeface="Times New Roman" pitchFamily="16" charset="0"/>
              <a:buNone/>
              <a:defRPr/>
            </a:pPr>
            <a:endParaRPr lang="en-US">
              <a:solidFill>
                <a:schemeClr val="bg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1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NOMOUNT</a:t>
            </a:r>
          </a:p>
        </p:txBody>
      </p:sp>
      <p:sp>
        <p:nvSpPr>
          <p:cNvPr id="44035"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NOMOUNT</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In the NOMOUNT phase, the parameter file is opened and evaluated, and the database instance is started. Operating system resources are allocated using configuration information stored in the parameter file.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3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MOUNT</a:t>
            </a:r>
          </a:p>
        </p:txBody>
      </p:sp>
      <p:sp>
        <p:nvSpPr>
          <p:cNvPr id="45059"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MOUNT</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In the MOUNT phase, the control files of the database are opened (using the value of parameter CONTROL_FILES from the parameter file) and evaluated. The system reads the information about the physical structure of the database. Although data files and log files are not yet opened, parts of the data dictionary are loaded, so V$ views are available. If one or more of the files specified by the CONTROL_FILES initialization parameter does not exist or cannot be opened when you attempt to mount a database, Oracle returns an error message and does not mount the database.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OPEN</a:t>
            </a:r>
          </a:p>
        </p:txBody>
      </p:sp>
      <p:sp>
        <p:nvSpPr>
          <p:cNvPr id="46083"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OPEN</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In the OPEN phase, all remaining files of the database system are opened. If required, an instance recovery is performed during opening the database. Only when the database is open can valid database users connect to the database. If one or more of the data files or redo log files is not available or cannot be opened when attempting to open a database, Oracle returns an error message and does not open the database.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8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Startup options</a:t>
            </a:r>
          </a:p>
        </p:txBody>
      </p:sp>
      <p:sp>
        <p:nvSpPr>
          <p:cNvPr id="41988"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The </a:t>
            </a:r>
            <a:r>
              <a:rPr lang="en-US" sz="2400" b="1">
                <a:solidFill>
                  <a:srgbClr val="000000"/>
                </a:solidFill>
                <a:latin typeface="Tele-GroteskNor" pitchFamily="2" charset="0"/>
              </a:rPr>
              <a:t>NOMOUNT</a:t>
            </a:r>
            <a:r>
              <a:rPr lang="en-US" sz="2400">
                <a:solidFill>
                  <a:srgbClr val="000000"/>
                </a:solidFill>
                <a:latin typeface="Tele-GroteskNor" pitchFamily="2" charset="0"/>
              </a:rPr>
              <a:t> state is necessary for creating a database and for re-creating lost control files.</a:t>
            </a:r>
          </a:p>
          <a:p>
            <a:pPr lvl="1"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The </a:t>
            </a:r>
            <a:r>
              <a:rPr lang="en-US" sz="2400" b="1">
                <a:solidFill>
                  <a:srgbClr val="000000"/>
                </a:solidFill>
                <a:latin typeface="Tele-GroteskNor" pitchFamily="2" charset="0"/>
              </a:rPr>
              <a:t>MOUNT</a:t>
            </a:r>
            <a:r>
              <a:rPr lang="en-US" sz="2400">
                <a:solidFill>
                  <a:srgbClr val="000000"/>
                </a:solidFill>
                <a:latin typeface="Tele-GroteskNor" pitchFamily="2" charset="0"/>
              </a:rPr>
              <a:t> state is needed for database recovery, for changing the ARCHIVELOG mode, for renaming (moving) data files, and for adding, dropping, or renaming online redo log files.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1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Shutdown options</a:t>
            </a:r>
          </a:p>
        </p:txBody>
      </p:sp>
      <p:sp>
        <p:nvSpPr>
          <p:cNvPr id="48131"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NORMAL</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No new connections are allowed. Oracle waits for all currently connected users to disconnect from the database. Only after the last user has disconnected (in SAP system: all work processes have been stopped), Oracle shuts down the database: all files are closed, the database is dismounted, and the instance is shut down.</a:t>
            </a:r>
          </a:p>
          <a:p>
            <a:pPr lvl="1" indent="0">
              <a:lnSpc>
                <a:spcPct val="90000"/>
              </a:lnSpc>
              <a:spcBef>
                <a:spcPts val="750"/>
              </a:spcBef>
              <a:buClrTx/>
              <a:buFontTx/>
              <a:buNone/>
              <a:defRPr/>
            </a:pPr>
            <a:r>
              <a:rPr lang="en-US" sz="2400" b="1" smtClean="0">
                <a:solidFill>
                  <a:srgbClr val="000000"/>
                </a:solidFill>
                <a:latin typeface="Tele-GroteskNor" charset="0"/>
              </a:rPr>
              <a:t>TRANSACTIONAL</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After this instruction has been defined, no new connections or new transactions are allowed. Oracle waits for all open transactions to finish, then it disconnects all database connections and shuts down the database.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3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Shutdown options</a:t>
            </a:r>
          </a:p>
        </p:txBody>
      </p:sp>
      <p:sp>
        <p:nvSpPr>
          <p:cNvPr id="49155"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b="1" smtClean="0">
                <a:solidFill>
                  <a:srgbClr val="000000"/>
                </a:solidFill>
                <a:latin typeface="Tele-GroteskNor" charset="0"/>
              </a:rPr>
              <a:t>IMMEDIATE</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No new connections are allowed, and no new transactions are allowed to be started after the statement is issued. The PMON process ends all user sessions and performs a rollback of any open transactions. Then the database is shut down.</a:t>
            </a:r>
          </a:p>
          <a:p>
            <a:pPr lvl="1" indent="0">
              <a:lnSpc>
                <a:spcPct val="90000"/>
              </a:lnSpc>
              <a:spcBef>
                <a:spcPts val="750"/>
              </a:spcBef>
              <a:buClrTx/>
              <a:buFontTx/>
              <a:buNone/>
              <a:defRPr/>
            </a:pPr>
            <a:r>
              <a:rPr lang="en-US" sz="2400" b="1" smtClean="0">
                <a:solidFill>
                  <a:srgbClr val="000000"/>
                </a:solidFill>
                <a:latin typeface="Tele-GroteskNor" charset="0"/>
              </a:rPr>
              <a:t>ABORT </a:t>
            </a:r>
          </a:p>
          <a:p>
            <a:pPr marL="0" lvl="1" indent="0">
              <a:lnSpc>
                <a:spcPct val="90000"/>
              </a:lnSpc>
              <a:spcBef>
                <a:spcPts val="750"/>
              </a:spcBef>
              <a:buClr>
                <a:srgbClr val="9F4C97"/>
              </a:buClr>
              <a:buFont typeface="Arial" charset="0"/>
              <a:buChar char="•"/>
              <a:defRPr/>
            </a:pPr>
            <a:r>
              <a:rPr lang="en-US" sz="2400" smtClean="0">
                <a:solidFill>
                  <a:srgbClr val="000000"/>
                </a:solidFill>
                <a:latin typeface="Tele-GroteskNor" charset="0"/>
              </a:rPr>
              <a:t>No new connections are allowed, and no new transactions are allowed to be started after the statement is issued. All client SQL statements currently being processed are terminated, without rolling back open transactions. User connections are disconnected and Oracle processes are stopped.</a:t>
            </a:r>
          </a:p>
        </p:txBody>
      </p:sp>
      <p:pic>
        <p:nvPicPr>
          <p:cNvPr id="4403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3497263"/>
            <a:ext cx="546100" cy="546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05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Shutdown options</a:t>
            </a:r>
          </a:p>
        </p:txBody>
      </p:sp>
      <p:sp>
        <p:nvSpPr>
          <p:cNvPr id="45060"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4506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455738"/>
            <a:ext cx="8542338" cy="46370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08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Statuses of an Oracle Instance / Shutdown options</a:t>
            </a:r>
          </a:p>
        </p:txBody>
      </p:sp>
      <p:sp>
        <p:nvSpPr>
          <p:cNvPr id="46084"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4608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481138"/>
            <a:ext cx="8493125" cy="45767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0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Introduction to SQL</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SQLplus</a:t>
            </a:r>
          </a:p>
        </p:txBody>
      </p:sp>
      <p:sp>
        <p:nvSpPr>
          <p:cNvPr id="36867"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1pPr>
            <a:lvl2pPr marL="1588">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2pPr>
            <a:lvl3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3pPr>
            <a:lvl4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4pPr>
            <a:lvl5pPr>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5pPr>
            <a:lvl6pPr marL="25146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6pPr>
            <a:lvl7pPr marL="29718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7pPr>
            <a:lvl8pPr marL="34290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8pPr>
            <a:lvl9pPr marL="3886200" indent="-228600" defTabSz="457200" fontAlgn="base">
              <a:lnSpc>
                <a:spcPts val="1800"/>
              </a:lnSpc>
              <a:spcBef>
                <a:spcPts val="563"/>
              </a:spcBef>
              <a:spcAft>
                <a:spcPct val="0"/>
              </a:spcAft>
              <a:buClr>
                <a:srgbClr val="000000"/>
              </a:buClr>
              <a:buSzPct val="100000"/>
              <a:buFont typeface="Times New Roman" pitchFamily="16"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rgbClr val="FFFFFF"/>
                </a:solidFill>
                <a:latin typeface="Tele-GroteskFet" charset="0"/>
                <a:ea typeface="WenQuanYi Zen Hei Sharp" charset="0"/>
                <a:cs typeface="WenQuanYi Zen Hei Sharp" charset="0"/>
              </a:defRPr>
            </a:lvl9pPr>
          </a:lstStyle>
          <a:p>
            <a:pPr lvl="1" indent="0">
              <a:lnSpc>
                <a:spcPct val="90000"/>
              </a:lnSpc>
              <a:spcBef>
                <a:spcPts val="750"/>
              </a:spcBef>
              <a:buClrTx/>
              <a:buFontTx/>
              <a:buNone/>
              <a:defRPr/>
            </a:pPr>
            <a:r>
              <a:rPr lang="en-US" sz="2400" dirty="0" smtClean="0">
                <a:solidFill>
                  <a:srgbClr val="000000"/>
                </a:solidFill>
                <a:latin typeface="Tele-GroteskNor" charset="0"/>
              </a:rPr>
              <a:t>With the Oracle tool SQL*Plus, you can:</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Start and stop the database</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Log into the database</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Perform database administration</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Enter SQL*Plus commands to configure an SQL*Plus environment</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Enter, edit, store, retrieve, and run SQL commands and SQL scripts</a:t>
            </a:r>
          </a:p>
          <a:p>
            <a:pPr marL="342900" lvl="1" indent="-342900">
              <a:lnSpc>
                <a:spcPct val="90000"/>
              </a:lnSpc>
              <a:spcBef>
                <a:spcPts val="750"/>
              </a:spcBef>
              <a:buClr>
                <a:srgbClr val="9F4C97"/>
              </a:buClr>
              <a:buFont typeface="Arial" panose="020B0604020202020204" pitchFamily="34" charset="0"/>
              <a:buChar char="•"/>
              <a:defRPr/>
            </a:pPr>
            <a:r>
              <a:rPr lang="en-US" sz="2400" dirty="0" smtClean="0">
                <a:solidFill>
                  <a:srgbClr val="000000"/>
                </a:solidFill>
                <a:latin typeface="Tele-GroteskNor" charset="0"/>
              </a:rPr>
              <a:t>Redirect the output of query results to text files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3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Introduction to SQL</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SQL commands</a:t>
            </a:r>
          </a:p>
        </p:txBody>
      </p:sp>
      <p:sp>
        <p:nvSpPr>
          <p:cNvPr id="4813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marL="0" lvl="1" indent="0" eaLnBrk="1" hangingPunct="1">
              <a:lnSpc>
                <a:spcPct val="90000"/>
              </a:lnSpc>
              <a:spcBef>
                <a:spcPts val="750"/>
              </a:spcBef>
              <a:buClr>
                <a:srgbClr val="9F4C97"/>
              </a:buClr>
            </a:pPr>
            <a:r>
              <a:rPr lang="en-US" sz="2400">
                <a:solidFill>
                  <a:srgbClr val="000000"/>
                </a:solidFill>
                <a:latin typeface="Tele-GroteskNor" pitchFamily="2" charset="0"/>
              </a:rPr>
              <a:t>SQL commands by type</a:t>
            </a:r>
          </a:p>
          <a:p>
            <a:pPr marL="0" lvl="1" indent="0"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DML – SELECT, INSERT, UPDATE, DELETE, MERGE</a:t>
            </a:r>
          </a:p>
          <a:p>
            <a:pPr marL="0" lvl="1" indent="0"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DDL – CREATE, ALTER, DROP, RENAME, TRUNCATE, COMMENT</a:t>
            </a:r>
          </a:p>
          <a:p>
            <a:pPr marL="0" lvl="1" indent="0"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DCL – GRANT, REVOKE</a:t>
            </a:r>
          </a:p>
          <a:p>
            <a:pPr marL="0" lvl="1" indent="0" eaLnBrk="1" hangingPunct="1">
              <a:lnSpc>
                <a:spcPct val="90000"/>
              </a:lnSpc>
              <a:spcBef>
                <a:spcPts val="750"/>
              </a:spcBef>
              <a:buClr>
                <a:srgbClr val="9F4C97"/>
              </a:buClr>
              <a:buFont typeface="Arial" panose="020B0604020202020204" pitchFamily="34" charset="0"/>
              <a:buChar char="•"/>
            </a:pPr>
            <a:r>
              <a:rPr lang="en-US" sz="2400">
                <a:solidFill>
                  <a:srgbClr val="000000"/>
                </a:solidFill>
                <a:latin typeface="Tele-GroteskNor" pitchFamily="2" charset="0"/>
              </a:rPr>
              <a:t>TCL – COMMIT, ROLLBACK, SAVEPOINT</a:t>
            </a:r>
          </a:p>
          <a:p>
            <a:pPr marL="0" lvl="1" indent="0"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marL="0" lvl="1" indent="0"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marL="0" lvl="1" indent="0"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5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Introduction to SQL</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SQL commands</a:t>
            </a:r>
          </a:p>
        </p:txBody>
      </p:sp>
      <p:sp>
        <p:nvSpPr>
          <p:cNvPr id="49156"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marL="0" lvl="1" indent="0" eaLnBrk="1" hangingPunct="1">
              <a:lnSpc>
                <a:spcPct val="90000"/>
              </a:lnSpc>
              <a:spcBef>
                <a:spcPts val="750"/>
              </a:spcBef>
              <a:buClr>
                <a:srgbClr val="9F4C97"/>
              </a:buClr>
            </a:pPr>
            <a:r>
              <a:rPr lang="en-US" sz="2400">
                <a:solidFill>
                  <a:srgbClr val="000000"/>
                </a:solidFill>
                <a:latin typeface="Tele-GroteskNor" pitchFamily="2" charset="0"/>
              </a:rPr>
              <a:t>sqlplus / as sysdba</a:t>
            </a:r>
          </a:p>
          <a:p>
            <a:pPr marL="0" lvl="1" indent="0" eaLnBrk="1" hangingPunct="1">
              <a:lnSpc>
                <a:spcPct val="90000"/>
              </a:lnSpc>
              <a:spcBef>
                <a:spcPts val="750"/>
              </a:spcBef>
              <a:buClr>
                <a:srgbClr val="9F4C97"/>
              </a:buClr>
            </a:pPr>
            <a:r>
              <a:rPr lang="en-US" sz="2400">
                <a:solidFill>
                  <a:srgbClr val="000000"/>
                </a:solidFill>
                <a:latin typeface="Tele-GroteskNor" pitchFamily="2" charset="0"/>
              </a:rPr>
              <a:t>Basic syntax</a:t>
            </a:r>
          </a:p>
          <a:p>
            <a:pPr marL="0" lvl="1" indent="0" eaLnBrk="1" hangingPunct="1">
              <a:lnSpc>
                <a:spcPct val="90000"/>
              </a:lnSpc>
              <a:spcBef>
                <a:spcPts val="750"/>
              </a:spcBef>
              <a:buClr>
                <a:srgbClr val="9F4C97"/>
              </a:buClr>
              <a:buFont typeface="Arial" panose="020B0604020202020204" pitchFamily="34" charset="0"/>
              <a:buNone/>
            </a:pPr>
            <a:r>
              <a:rPr lang="en-US" b="1">
                <a:solidFill>
                  <a:srgbClr val="000000"/>
                </a:solidFill>
                <a:latin typeface="Courier New" panose="02070309020205020404" pitchFamily="49" charset="0"/>
                <a:cs typeface="Courier New" panose="02070309020205020404" pitchFamily="49" charset="0"/>
              </a:rPr>
              <a:t>SELECT</a:t>
            </a:r>
            <a:r>
              <a:rPr lang="en-US">
                <a:solidFill>
                  <a:srgbClr val="000000"/>
                </a:solidFill>
                <a:latin typeface="Courier New" panose="02070309020205020404" pitchFamily="49" charset="0"/>
                <a:cs typeface="Courier New" panose="02070309020205020404" pitchFamily="49" charset="0"/>
              </a:rPr>
              <a:t> &lt;COLUMN&gt; from &lt;SCHEMA&gt;.&lt;TABLE&gt; where &lt;COLUMN&gt;='&lt;condition&gt;';</a:t>
            </a:r>
          </a:p>
          <a:p>
            <a:pPr marL="0" lvl="1" indent="0" eaLnBrk="1" hangingPunct="1">
              <a:lnSpc>
                <a:spcPct val="90000"/>
              </a:lnSpc>
              <a:spcBef>
                <a:spcPts val="750"/>
              </a:spcBef>
              <a:buClr>
                <a:srgbClr val="9F4C97"/>
              </a:buClr>
              <a:buFont typeface="Arial" panose="020B0604020202020204" pitchFamily="34" charset="0"/>
              <a:buNone/>
            </a:pPr>
            <a:endParaRPr lang="en-US">
              <a:solidFill>
                <a:srgbClr val="000000"/>
              </a:solidFill>
              <a:latin typeface="Courier New" panose="02070309020205020404" pitchFamily="49" charset="0"/>
              <a:cs typeface="Courier New" panose="02070309020205020404" pitchFamily="49" charset="0"/>
            </a:endParaRPr>
          </a:p>
          <a:p>
            <a:pPr marL="0" lvl="1" indent="0" eaLnBrk="1" hangingPunct="1">
              <a:lnSpc>
                <a:spcPct val="90000"/>
              </a:lnSpc>
              <a:spcBef>
                <a:spcPts val="750"/>
              </a:spcBef>
              <a:buClr>
                <a:srgbClr val="9F4C97"/>
              </a:buClr>
              <a:buFont typeface="Arial" panose="020B0604020202020204" pitchFamily="34" charset="0"/>
              <a:buNone/>
            </a:pPr>
            <a:r>
              <a:rPr lang="en-US" b="1">
                <a:solidFill>
                  <a:srgbClr val="000000"/>
                </a:solidFill>
                <a:latin typeface="Courier New" panose="02070309020205020404" pitchFamily="49" charset="0"/>
                <a:cs typeface="Courier New" panose="02070309020205020404" pitchFamily="49" charset="0"/>
              </a:rPr>
              <a:t>UPDATE</a:t>
            </a:r>
            <a:r>
              <a:rPr lang="en-US">
                <a:solidFill>
                  <a:srgbClr val="000000"/>
                </a:solidFill>
                <a:latin typeface="Courier New" panose="02070309020205020404" pitchFamily="49" charset="0"/>
                <a:cs typeface="Courier New" panose="02070309020205020404" pitchFamily="49" charset="0"/>
              </a:rPr>
              <a:t> &lt;SCHEMA&gt;.&lt;TABLE&gt; set &lt;COLUMN&gt;=&lt;value&gt; where &lt;COLUMN&gt;='&lt;condition&gt;';</a:t>
            </a:r>
          </a:p>
          <a:p>
            <a:pPr marL="0" lvl="1" indent="0" eaLnBrk="1" hangingPunct="1">
              <a:lnSpc>
                <a:spcPct val="90000"/>
              </a:lnSpc>
              <a:spcBef>
                <a:spcPts val="750"/>
              </a:spcBef>
              <a:buClr>
                <a:srgbClr val="9F4C97"/>
              </a:buClr>
              <a:buFont typeface="Arial" panose="020B0604020202020204" pitchFamily="34" charset="0"/>
              <a:buNone/>
            </a:pPr>
            <a:endParaRPr lang="en-US">
              <a:solidFill>
                <a:srgbClr val="000000"/>
              </a:solidFill>
              <a:latin typeface="Courier New" panose="02070309020205020404" pitchFamily="49" charset="0"/>
              <a:cs typeface="Courier New" panose="02070309020205020404" pitchFamily="49" charset="0"/>
            </a:endParaRPr>
          </a:p>
          <a:p>
            <a:pPr marL="0" lvl="1" indent="0" eaLnBrk="1" hangingPunct="1">
              <a:lnSpc>
                <a:spcPct val="90000"/>
              </a:lnSpc>
              <a:spcBef>
                <a:spcPts val="750"/>
              </a:spcBef>
              <a:buClr>
                <a:srgbClr val="9F4C97"/>
              </a:buClr>
              <a:buFont typeface="Arial" panose="020B0604020202020204" pitchFamily="34" charset="0"/>
              <a:buNone/>
            </a:pPr>
            <a:r>
              <a:rPr lang="en-US" b="1">
                <a:solidFill>
                  <a:srgbClr val="000000"/>
                </a:solidFill>
                <a:latin typeface="Courier New" panose="02070309020205020404" pitchFamily="49" charset="0"/>
                <a:cs typeface="Courier New" panose="02070309020205020404" pitchFamily="49" charset="0"/>
              </a:rPr>
              <a:t>DELETE</a:t>
            </a:r>
            <a:r>
              <a:rPr lang="en-US">
                <a:solidFill>
                  <a:srgbClr val="000000"/>
                </a:solidFill>
                <a:latin typeface="Courier New" panose="02070309020205020404" pitchFamily="49" charset="0"/>
                <a:cs typeface="Courier New" panose="02070309020205020404" pitchFamily="49" charset="0"/>
              </a:rPr>
              <a:t> from &lt;SCHEMA&gt;.&lt;TABLE&gt; where &lt;COLUMN&gt;='&lt;condition&gt;';</a:t>
            </a:r>
          </a:p>
          <a:p>
            <a:pPr marL="0" lvl="1" indent="0"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marL="0" lvl="1" indent="0"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79"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SAP DB Monitors basics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DB12, DB13, DB02…</a:t>
            </a:r>
          </a:p>
        </p:txBody>
      </p:sp>
      <p:sp>
        <p:nvSpPr>
          <p:cNvPr id="50180"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5018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9663" y="1465263"/>
            <a:ext cx="6757987" cy="48593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03"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SAP DB Monitors basics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DB13</a:t>
            </a:r>
          </a:p>
        </p:txBody>
      </p:sp>
      <p:sp>
        <p:nvSpPr>
          <p:cNvPr id="51204"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a:solidFill>
                  <a:srgbClr val="000000"/>
                </a:solidFill>
                <a:latin typeface="Tele-GroteskNor" pitchFamily="2" charset="0"/>
              </a:rPr>
              <a:t>The </a:t>
            </a:r>
            <a:r>
              <a:rPr lang="en-US" sz="2400" b="1">
                <a:solidFill>
                  <a:srgbClr val="000000"/>
                </a:solidFill>
                <a:latin typeface="Tele-GroteskNor" pitchFamily="2" charset="0"/>
              </a:rPr>
              <a:t>DBA Planning Calendar </a:t>
            </a:r>
            <a:r>
              <a:rPr lang="en-US" sz="2400">
                <a:solidFill>
                  <a:srgbClr val="000000"/>
                </a:solidFill>
                <a:latin typeface="Tele-GroteskNor" pitchFamily="2" charset="0"/>
              </a:rPr>
              <a:t>and the central DBA planning calendar (transaction DB13 and DB13C) is available for scheduling backups and other</a:t>
            </a:r>
          </a:p>
          <a:p>
            <a:pPr lvl="1" indent="0" eaLnBrk="1" hangingPunct="1">
              <a:lnSpc>
                <a:spcPct val="90000"/>
              </a:lnSpc>
              <a:spcBef>
                <a:spcPts val="750"/>
              </a:spcBef>
              <a:buClrTx/>
              <a:buFontTx/>
              <a:buNone/>
            </a:pPr>
            <a:r>
              <a:rPr lang="en-US" sz="2400">
                <a:solidFill>
                  <a:srgbClr val="000000"/>
                </a:solidFill>
                <a:latin typeface="Tele-GroteskNor" pitchFamily="2" charset="0"/>
              </a:rPr>
              <a:t>administrative jobs in your database system. You can use this transaction to schedule backups and administrative activities locally or centrally for several SAP systems and databases.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2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SAP DB Monitors basics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DB12, DB14</a:t>
            </a:r>
          </a:p>
        </p:txBody>
      </p:sp>
      <p:sp>
        <p:nvSpPr>
          <p:cNvPr id="52228"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a:solidFill>
                  <a:srgbClr val="000000"/>
                </a:solidFill>
                <a:latin typeface="Tele-GroteskNor" pitchFamily="2" charset="0"/>
              </a:rPr>
              <a:t>You can use the </a:t>
            </a:r>
            <a:r>
              <a:rPr lang="en-US" sz="2400" b="1">
                <a:solidFill>
                  <a:srgbClr val="000000"/>
                </a:solidFill>
                <a:latin typeface="Tele-GroteskNor" pitchFamily="2" charset="0"/>
              </a:rPr>
              <a:t>Backup Log Overview </a:t>
            </a:r>
            <a:r>
              <a:rPr lang="en-US" sz="2400">
                <a:solidFill>
                  <a:srgbClr val="000000"/>
                </a:solidFill>
                <a:latin typeface="Tele-GroteskNor" pitchFamily="2" charset="0"/>
              </a:rPr>
              <a:t>(transaction DB12) to display the results of your backups and the status of the archive directory. If all backups are available for a restore and recovery, it also contains a function for checking the restore reports.</a:t>
            </a:r>
          </a:p>
          <a:p>
            <a:pPr lvl="1" indent="0" eaLnBrk="1" hangingPunct="1">
              <a:lnSpc>
                <a:spcPct val="90000"/>
              </a:lnSpc>
              <a:spcBef>
                <a:spcPts val="750"/>
              </a:spcBef>
              <a:buClrTx/>
              <a:buFontTx/>
              <a:buNone/>
            </a:pPr>
            <a:endParaRPr lang="en-US" sz="2400">
              <a:solidFill>
                <a:srgbClr val="000000"/>
              </a:solidFill>
              <a:latin typeface="Tele-GroteskNor" pitchFamily="2" charset="0"/>
            </a:endParaRPr>
          </a:p>
          <a:p>
            <a:pPr lvl="1" indent="0" eaLnBrk="1" hangingPunct="1">
              <a:lnSpc>
                <a:spcPct val="90000"/>
              </a:lnSpc>
              <a:spcBef>
                <a:spcPts val="750"/>
              </a:spcBef>
              <a:buClrTx/>
              <a:buFontTx/>
              <a:buNone/>
            </a:pPr>
            <a:r>
              <a:rPr lang="en-US" sz="2400">
                <a:solidFill>
                  <a:srgbClr val="000000"/>
                </a:solidFill>
                <a:latin typeface="Tele-GroteskNor" pitchFamily="2" charset="0"/>
              </a:rPr>
              <a:t>The </a:t>
            </a:r>
            <a:r>
              <a:rPr lang="en-US" sz="2400" b="1">
                <a:solidFill>
                  <a:srgbClr val="000000"/>
                </a:solidFill>
                <a:latin typeface="Tele-GroteskNor" pitchFamily="2" charset="0"/>
              </a:rPr>
              <a:t>DBA Operations Monitor </a:t>
            </a:r>
            <a:r>
              <a:rPr lang="en-US" sz="2400">
                <a:solidFill>
                  <a:srgbClr val="000000"/>
                </a:solidFill>
                <a:latin typeface="Tele-GroteskNor" pitchFamily="2" charset="0"/>
              </a:rPr>
              <a:t>(transaction DB14) checks the status and logs of all database operations, including backup monitoring, updates of the optimizer statistics, and database checks.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5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SAP DB Monitors basics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ST04, DB02</a:t>
            </a:r>
          </a:p>
        </p:txBody>
      </p:sp>
      <p:sp>
        <p:nvSpPr>
          <p:cNvPr id="53252" name="Text Box 3"/>
          <p:cNvSpPr txBox="1">
            <a:spLocks noChangeArrowheads="1"/>
          </p:cNvSpPr>
          <p:nvPr/>
        </p:nvSpPr>
        <p:spPr bwMode="auto">
          <a:xfrm>
            <a:off x="304800" y="1773238"/>
            <a:ext cx="8496300" cy="442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dirty="0">
                <a:solidFill>
                  <a:srgbClr val="000000"/>
                </a:solidFill>
                <a:latin typeface="Tele-GroteskNor" pitchFamily="2" charset="0"/>
              </a:rPr>
              <a:t>The </a:t>
            </a:r>
            <a:r>
              <a:rPr lang="en-US" sz="2400" b="1" dirty="0">
                <a:solidFill>
                  <a:srgbClr val="000000"/>
                </a:solidFill>
                <a:latin typeface="Tele-GroteskNor" pitchFamily="2" charset="0"/>
              </a:rPr>
              <a:t>Database Performance Monitor </a:t>
            </a:r>
            <a:r>
              <a:rPr lang="en-US" sz="2400" dirty="0">
                <a:solidFill>
                  <a:srgbClr val="000000"/>
                </a:solidFill>
                <a:latin typeface="Tele-GroteskNor" pitchFamily="2" charset="0"/>
              </a:rPr>
              <a:t>(transaction ST04) displays the most important indicators for Oracle database performance – such as buffer cache quality, statistics of user calls or number of block reads per SQL statement – and the configuration of the database management system and the database,</a:t>
            </a:r>
          </a:p>
          <a:p>
            <a:pPr lvl="1" indent="0" eaLnBrk="1" hangingPunct="1">
              <a:lnSpc>
                <a:spcPct val="90000"/>
              </a:lnSpc>
              <a:spcBef>
                <a:spcPts val="750"/>
              </a:spcBef>
              <a:buClrTx/>
              <a:buFontTx/>
              <a:buNone/>
            </a:pPr>
            <a:r>
              <a:rPr lang="en-US" sz="2400" dirty="0">
                <a:solidFill>
                  <a:srgbClr val="000000"/>
                </a:solidFill>
                <a:latin typeface="Tele-GroteskNor" pitchFamily="2" charset="0"/>
              </a:rPr>
              <a:t>either directly through showing current parameter values or with help of V$ views.</a:t>
            </a:r>
          </a:p>
          <a:p>
            <a:pPr lvl="1" indent="0" eaLnBrk="1" hangingPunct="1">
              <a:lnSpc>
                <a:spcPct val="90000"/>
              </a:lnSpc>
              <a:spcBef>
                <a:spcPts val="750"/>
              </a:spcBef>
              <a:buClrTx/>
              <a:buFontTx/>
              <a:buNone/>
            </a:pPr>
            <a:endParaRPr lang="en-US" sz="2400" dirty="0">
              <a:solidFill>
                <a:srgbClr val="000000"/>
              </a:solidFill>
              <a:latin typeface="Tele-GroteskNor" pitchFamily="2" charset="0"/>
            </a:endParaRPr>
          </a:p>
          <a:p>
            <a:pPr lvl="1" indent="0" eaLnBrk="1" hangingPunct="1">
              <a:lnSpc>
                <a:spcPct val="90000"/>
              </a:lnSpc>
              <a:spcBef>
                <a:spcPts val="750"/>
              </a:spcBef>
              <a:buClrTx/>
              <a:buFontTx/>
              <a:buNone/>
            </a:pPr>
            <a:r>
              <a:rPr lang="en-US" sz="2400" dirty="0">
                <a:solidFill>
                  <a:srgbClr val="000000"/>
                </a:solidFill>
                <a:latin typeface="Tele-GroteskNor" pitchFamily="2" charset="0"/>
              </a:rPr>
              <a:t>•The </a:t>
            </a:r>
            <a:r>
              <a:rPr lang="en-US" sz="2400" b="1" dirty="0">
                <a:solidFill>
                  <a:srgbClr val="000000"/>
                </a:solidFill>
                <a:latin typeface="Tele-GroteskNor" pitchFamily="2" charset="0"/>
              </a:rPr>
              <a:t>Tables and Indexes Monitor </a:t>
            </a:r>
            <a:r>
              <a:rPr lang="en-US" sz="2400" dirty="0">
                <a:solidFill>
                  <a:srgbClr val="000000"/>
                </a:solidFill>
                <a:latin typeface="Tele-GroteskNor" pitchFamily="2" charset="0"/>
              </a:rPr>
              <a:t>(transaction DB02) monitors the storage behavior of the database (for example, space statistics showing the history of the database, or size and free space in each </a:t>
            </a:r>
            <a:r>
              <a:rPr lang="en-US" sz="2400" dirty="0" err="1">
                <a:solidFill>
                  <a:srgbClr val="000000"/>
                </a:solidFill>
                <a:latin typeface="Tele-GroteskNor" pitchFamily="2" charset="0"/>
              </a:rPr>
              <a:t>tablespace</a:t>
            </a:r>
            <a:r>
              <a:rPr lang="en-US" sz="2400" dirty="0">
                <a:solidFill>
                  <a:srgbClr val="000000"/>
                </a:solidFill>
                <a:latin typeface="Tele-GroteskNor" pitchFamily="2" charset="0"/>
              </a:rPr>
              <a:t>) and the status of the database objects (for example size of each table in kilobytes and blocks, or indexes that are defined in the ABAP Dictionary but missing in the database).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427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Database index</a:t>
            </a:r>
          </a:p>
        </p:txBody>
      </p:sp>
      <p:sp>
        <p:nvSpPr>
          <p:cNvPr id="54276" name="Text Box 3"/>
          <p:cNvSpPr txBox="1">
            <a:spLocks noChangeArrowheads="1"/>
          </p:cNvSpPr>
          <p:nvPr/>
        </p:nvSpPr>
        <p:spPr bwMode="auto">
          <a:xfrm>
            <a:off x="304800" y="1341438"/>
            <a:ext cx="8496300" cy="442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a:solidFill>
                  <a:srgbClr val="000000"/>
                </a:solidFill>
                <a:latin typeface="Tele-GroteskNor" pitchFamily="2" charset="0"/>
              </a:rPr>
              <a:t>Indexes are schema objects that are logically and physically independent of the data in the objects with which they are associated. Thus, an index can be dropped or created without physically affecting the table for the index.</a:t>
            </a:r>
          </a:p>
        </p:txBody>
      </p:sp>
      <p:pic>
        <p:nvPicPr>
          <p:cNvPr id="54277" name="Picture 2" descr="Description of Figure 3-1 follow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492375"/>
            <a:ext cx="5256213" cy="376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837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 </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 Backup</a:t>
            </a:r>
          </a:p>
        </p:txBody>
      </p:sp>
      <p:sp>
        <p:nvSpPr>
          <p:cNvPr id="5837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pic>
        <p:nvPicPr>
          <p:cNvPr id="5837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075" y="1358900"/>
            <a:ext cx="6556375" cy="47847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395"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 Backup</a:t>
            </a:r>
          </a:p>
        </p:txBody>
      </p:sp>
      <p:sp>
        <p:nvSpPr>
          <p:cNvPr id="59396"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None/>
            </a:pPr>
            <a:endParaRPr lang="en-US" sz="2400">
              <a:solidFill>
                <a:srgbClr val="000000"/>
              </a:solidFill>
              <a:latin typeface="Tele-GroteskNor" pitchFamily="2" charset="0"/>
            </a:endParaRPr>
          </a:p>
        </p:txBody>
      </p:sp>
      <p:pic>
        <p:nvPicPr>
          <p:cNvPr id="5939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738" y="1398588"/>
            <a:ext cx="6388100" cy="47926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275" y="1292225"/>
            <a:ext cx="6640513" cy="5067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0419" name="Picture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0"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 Backup</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43" name="Text Box 3"/>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Administrating Oracle Instances</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DB Recovery</a:t>
            </a:r>
          </a:p>
        </p:txBody>
      </p:sp>
      <p:pic>
        <p:nvPicPr>
          <p:cNvPr id="6144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1412875"/>
            <a:ext cx="6400800" cy="49530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467"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Troubleshooting</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Log files</a:t>
            </a:r>
          </a:p>
        </p:txBody>
      </p:sp>
      <p:sp>
        <p:nvSpPr>
          <p:cNvPr id="62468"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1pPr>
            <a:lvl2pPr marL="3429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2pPr>
            <a:lvl3pPr marL="520700" indent="-341313"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3pPr>
            <a:lvl4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4pPr>
            <a:lvl5pPr eaLnBrk="0" hangingPunc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342900"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Tele-GroteskFet" pitchFamily="2" charset="0"/>
                <a:ea typeface="WenQuanYi Zen Hei Sharp" charset="0"/>
                <a:cs typeface="WenQuanYi Zen Hei Sharp" charset="0"/>
              </a:defRPr>
            </a:lvl9pPr>
          </a:lstStyle>
          <a:p>
            <a:pPr lvl="1" eaLnBrk="1" hangingPunct="1">
              <a:lnSpc>
                <a:spcPct val="90000"/>
              </a:lnSpc>
              <a:spcBef>
                <a:spcPts val="750"/>
              </a:spcBef>
              <a:buClr>
                <a:srgbClr val="9F4C97"/>
              </a:buClr>
              <a:buFont typeface="Arial" panose="020B0604020202020204" pitchFamily="34" charset="0"/>
              <a:buChar char="•"/>
            </a:pPr>
            <a:r>
              <a:rPr lang="en-US" sz="2400" dirty="0">
                <a:solidFill>
                  <a:srgbClr val="000000"/>
                </a:solidFill>
                <a:latin typeface="Tele-GroteskNor" pitchFamily="2" charset="0"/>
              </a:rPr>
              <a:t>Backup log</a:t>
            </a:r>
          </a:p>
          <a:p>
            <a:pPr lvl="2" eaLnBrk="1" hangingPunct="1">
              <a:lnSpc>
                <a:spcPct val="90000"/>
              </a:lnSpc>
              <a:spcBef>
                <a:spcPts val="750"/>
              </a:spcBef>
              <a:buClr>
                <a:srgbClr val="9F4C97"/>
              </a:buClr>
              <a:buSzPct val="75000"/>
              <a:buFont typeface="Arial" panose="020B0604020202020204" pitchFamily="34" charset="0"/>
              <a:buChar char="•"/>
            </a:pPr>
            <a:r>
              <a:rPr lang="en-US" sz="2400" dirty="0">
                <a:solidFill>
                  <a:srgbClr val="000000"/>
                </a:solidFill>
                <a:latin typeface="Tele-GroteskNor" pitchFamily="2" charset="0"/>
              </a:rPr>
              <a:t>/oracle/&lt;SID&gt;/</a:t>
            </a:r>
            <a:r>
              <a:rPr lang="en-US" sz="2400" dirty="0" err="1">
                <a:solidFill>
                  <a:srgbClr val="000000"/>
                </a:solidFill>
                <a:latin typeface="Tele-GroteskNor" pitchFamily="2" charset="0"/>
              </a:rPr>
              <a:t>sapbackup</a:t>
            </a:r>
            <a:r>
              <a:rPr lang="en-US" sz="2400" dirty="0">
                <a:solidFill>
                  <a:srgbClr val="000000"/>
                </a:solidFill>
                <a:latin typeface="Tele-GroteskNor" pitchFamily="2" charset="0"/>
              </a:rPr>
              <a:t>/*.</a:t>
            </a:r>
            <a:r>
              <a:rPr lang="en-US" sz="2400" dirty="0" err="1">
                <a:solidFill>
                  <a:srgbClr val="000000"/>
                </a:solidFill>
                <a:latin typeface="Tele-GroteskNor" pitchFamily="2" charset="0"/>
              </a:rPr>
              <a:t>afd</a:t>
            </a:r>
            <a:endParaRPr lang="en-US" sz="2400" dirty="0">
              <a:solidFill>
                <a:srgbClr val="000000"/>
              </a:solidFill>
              <a:latin typeface="Tele-GroteskNor" pitchFamily="2" charset="0"/>
            </a:endParaRPr>
          </a:p>
          <a:p>
            <a:pPr lvl="1" eaLnBrk="1" hangingPunct="1">
              <a:lnSpc>
                <a:spcPct val="90000"/>
              </a:lnSpc>
              <a:spcBef>
                <a:spcPts val="750"/>
              </a:spcBef>
              <a:buClr>
                <a:srgbClr val="9F4C97"/>
              </a:buClr>
              <a:buFont typeface="Arial" panose="020B0604020202020204" pitchFamily="34" charset="0"/>
              <a:buChar char="•"/>
            </a:pPr>
            <a:r>
              <a:rPr lang="en-US" sz="2400" dirty="0" err="1">
                <a:solidFill>
                  <a:srgbClr val="000000"/>
                </a:solidFill>
                <a:latin typeface="Tele-GroteskNor" pitchFamily="2" charset="0"/>
              </a:rPr>
              <a:t>Redologs</a:t>
            </a:r>
            <a:r>
              <a:rPr lang="en-US" sz="2400" dirty="0">
                <a:solidFill>
                  <a:srgbClr val="000000"/>
                </a:solidFill>
                <a:latin typeface="Tele-GroteskNor" pitchFamily="2" charset="0"/>
              </a:rPr>
              <a:t> backup log</a:t>
            </a:r>
          </a:p>
          <a:p>
            <a:pPr lvl="2" eaLnBrk="1" hangingPunct="1">
              <a:lnSpc>
                <a:spcPct val="90000"/>
              </a:lnSpc>
              <a:spcBef>
                <a:spcPts val="750"/>
              </a:spcBef>
              <a:buClr>
                <a:srgbClr val="9F4C97"/>
              </a:buClr>
              <a:buSzPct val="75000"/>
              <a:buFont typeface="Arial" panose="020B0604020202020204" pitchFamily="34" charset="0"/>
              <a:buChar char="•"/>
            </a:pPr>
            <a:r>
              <a:rPr lang="en-US" sz="2400" dirty="0">
                <a:solidFill>
                  <a:srgbClr val="000000"/>
                </a:solidFill>
                <a:latin typeface="Tele-GroteskNor" pitchFamily="2" charset="0"/>
              </a:rPr>
              <a:t>/oracle/&lt;SID&gt;/</a:t>
            </a:r>
            <a:r>
              <a:rPr lang="en-US" sz="2400" dirty="0" err="1">
                <a:solidFill>
                  <a:srgbClr val="000000"/>
                </a:solidFill>
                <a:latin typeface="Tele-GroteskNor" pitchFamily="2" charset="0"/>
              </a:rPr>
              <a:t>saparch</a:t>
            </a:r>
            <a:r>
              <a:rPr lang="en-US" sz="2400" dirty="0">
                <a:solidFill>
                  <a:srgbClr val="000000"/>
                </a:solidFill>
                <a:latin typeface="Tele-GroteskNor" pitchFamily="2" charset="0"/>
              </a:rPr>
              <a:t>/arch&lt;SID&gt;.log</a:t>
            </a:r>
          </a:p>
          <a:p>
            <a:pPr lvl="1" eaLnBrk="1" hangingPunct="1">
              <a:lnSpc>
                <a:spcPct val="90000"/>
              </a:lnSpc>
              <a:spcBef>
                <a:spcPts val="750"/>
              </a:spcBef>
              <a:buClr>
                <a:srgbClr val="9F4C97"/>
              </a:buClr>
              <a:buFont typeface="Arial" panose="020B0604020202020204" pitchFamily="34" charset="0"/>
              <a:buChar char="•"/>
            </a:pPr>
            <a:r>
              <a:rPr lang="en-US" sz="2400" dirty="0">
                <a:solidFill>
                  <a:srgbClr val="000000"/>
                </a:solidFill>
                <a:latin typeface="Tele-GroteskNor" pitchFamily="2" charset="0"/>
              </a:rPr>
              <a:t>Alert log</a:t>
            </a:r>
          </a:p>
          <a:p>
            <a:pPr lvl="2" eaLnBrk="1" hangingPunct="1">
              <a:lnSpc>
                <a:spcPct val="90000"/>
              </a:lnSpc>
              <a:spcBef>
                <a:spcPts val="750"/>
              </a:spcBef>
              <a:buClr>
                <a:srgbClr val="9F4C97"/>
              </a:buClr>
              <a:buSzPct val="75000"/>
              <a:buFont typeface="Wingdings" panose="05000000000000000000" pitchFamily="2" charset="2"/>
              <a:buChar char=""/>
            </a:pPr>
            <a:r>
              <a:rPr lang="en-US" sz="2400" dirty="0" smtClean="0">
                <a:solidFill>
                  <a:srgbClr val="000000"/>
                </a:solidFill>
                <a:latin typeface="Tele-GroteskNor" pitchFamily="2" charset="0"/>
              </a:rPr>
              <a:t>11g / 12c</a:t>
            </a:r>
            <a:endParaRPr lang="en-US" sz="2400" dirty="0">
              <a:solidFill>
                <a:srgbClr val="000000"/>
              </a:solidFill>
              <a:latin typeface="Tele-GroteskNor" pitchFamily="2" charset="0"/>
            </a:endParaRPr>
          </a:p>
          <a:p>
            <a:pPr lvl="2" eaLnBrk="1" hangingPunct="1">
              <a:lnSpc>
                <a:spcPct val="90000"/>
              </a:lnSpc>
              <a:spcBef>
                <a:spcPts val="750"/>
              </a:spcBef>
              <a:buClr>
                <a:srgbClr val="9F4C97"/>
              </a:buClr>
              <a:buSzPct val="75000"/>
              <a:buFont typeface="Wingdings" panose="05000000000000000000" pitchFamily="2" charset="2"/>
              <a:buChar char=""/>
            </a:pPr>
            <a:r>
              <a:rPr lang="en-US" sz="2000" dirty="0">
                <a:solidFill>
                  <a:srgbClr val="000000"/>
                </a:solidFill>
                <a:latin typeface="Tele-GroteskNor" pitchFamily="2" charset="0"/>
              </a:rPr>
              <a:t>/oracle/&lt;SID&gt;/</a:t>
            </a:r>
            <a:r>
              <a:rPr lang="en-US" sz="2000" dirty="0" err="1">
                <a:solidFill>
                  <a:srgbClr val="000000"/>
                </a:solidFill>
                <a:latin typeface="Tele-GroteskNor" pitchFamily="2" charset="0"/>
              </a:rPr>
              <a:t>saptrace</a:t>
            </a:r>
            <a:r>
              <a:rPr lang="en-US" sz="2000" dirty="0">
                <a:solidFill>
                  <a:srgbClr val="000000"/>
                </a:solidFill>
                <a:latin typeface="Tele-GroteskNor" pitchFamily="2" charset="0"/>
              </a:rPr>
              <a:t>/</a:t>
            </a:r>
            <a:r>
              <a:rPr lang="en-US" sz="2000" dirty="0" err="1">
                <a:solidFill>
                  <a:srgbClr val="000000"/>
                </a:solidFill>
                <a:latin typeface="Tele-GroteskNor" pitchFamily="2" charset="0"/>
              </a:rPr>
              <a:t>diag</a:t>
            </a:r>
            <a:r>
              <a:rPr lang="en-US" sz="2000" dirty="0">
                <a:solidFill>
                  <a:srgbClr val="000000"/>
                </a:solidFill>
                <a:latin typeface="Tele-GroteskNor" pitchFamily="2" charset="0"/>
              </a:rPr>
              <a:t>/</a:t>
            </a:r>
            <a:r>
              <a:rPr lang="en-US" sz="2000" dirty="0" err="1">
                <a:solidFill>
                  <a:srgbClr val="000000"/>
                </a:solidFill>
                <a:latin typeface="Tele-GroteskNor" pitchFamily="2" charset="0"/>
              </a:rPr>
              <a:t>rdbms</a:t>
            </a:r>
            <a:r>
              <a:rPr lang="en-US" sz="2000" dirty="0">
                <a:solidFill>
                  <a:srgbClr val="000000"/>
                </a:solidFill>
                <a:latin typeface="Tele-GroteskNor" pitchFamily="2" charset="0"/>
              </a:rPr>
              <a:t>/&lt;</a:t>
            </a:r>
            <a:r>
              <a:rPr lang="en-US" sz="2000" dirty="0" err="1">
                <a:solidFill>
                  <a:srgbClr val="000000"/>
                </a:solidFill>
                <a:latin typeface="Tele-GroteskNor" pitchFamily="2" charset="0"/>
              </a:rPr>
              <a:t>sid</a:t>
            </a:r>
            <a:r>
              <a:rPr lang="en-US" sz="2000" dirty="0">
                <a:solidFill>
                  <a:srgbClr val="000000"/>
                </a:solidFill>
                <a:latin typeface="Tele-GroteskNor" pitchFamily="2" charset="0"/>
              </a:rPr>
              <a:t>&gt;/&lt;SID&gt;/trace/alert_&lt;SID&gt;.</a:t>
            </a:r>
            <a:r>
              <a:rPr lang="en-US" sz="2000" dirty="0" smtClean="0">
                <a:solidFill>
                  <a:srgbClr val="000000"/>
                </a:solidFill>
                <a:latin typeface="Tele-GroteskNor" pitchFamily="2" charset="0"/>
              </a:rPr>
              <a:t>log</a:t>
            </a:r>
          </a:p>
          <a:p>
            <a:pPr lvl="2" eaLnBrk="1" hangingPunct="1">
              <a:lnSpc>
                <a:spcPct val="90000"/>
              </a:lnSpc>
              <a:spcBef>
                <a:spcPts val="750"/>
              </a:spcBef>
              <a:buClr>
                <a:srgbClr val="9F4C97"/>
              </a:buClr>
              <a:buFont typeface="Arial" panose="020B0604020202020204" pitchFamily="34" charset="0"/>
              <a:buChar char="•"/>
            </a:pPr>
            <a:r>
              <a:rPr lang="en-US" sz="2000" dirty="0">
                <a:solidFill>
                  <a:schemeClr val="bg1">
                    <a:lumMod val="50000"/>
                  </a:schemeClr>
                </a:solidFill>
                <a:latin typeface="Tele-GroteskNor" pitchFamily="2" charset="0"/>
              </a:rPr>
              <a:t>10g</a:t>
            </a:r>
          </a:p>
          <a:p>
            <a:pPr lvl="2" eaLnBrk="1" hangingPunct="1">
              <a:lnSpc>
                <a:spcPct val="90000"/>
              </a:lnSpc>
              <a:spcBef>
                <a:spcPts val="750"/>
              </a:spcBef>
              <a:buClr>
                <a:srgbClr val="9F4C97"/>
              </a:buClr>
              <a:buFont typeface="Arial" panose="020B0604020202020204" pitchFamily="34" charset="0"/>
              <a:buChar char="•"/>
            </a:pPr>
            <a:r>
              <a:rPr lang="en-US" sz="2000" dirty="0">
                <a:solidFill>
                  <a:schemeClr val="bg1">
                    <a:lumMod val="50000"/>
                  </a:schemeClr>
                </a:solidFill>
                <a:latin typeface="Tele-GroteskNor" pitchFamily="2" charset="0"/>
              </a:rPr>
              <a:t>/oracle/&lt;SID&gt;/</a:t>
            </a:r>
            <a:r>
              <a:rPr lang="en-US" sz="2000" dirty="0" err="1">
                <a:solidFill>
                  <a:schemeClr val="bg1">
                    <a:lumMod val="50000"/>
                  </a:schemeClr>
                </a:solidFill>
                <a:latin typeface="Tele-GroteskNor" pitchFamily="2" charset="0"/>
              </a:rPr>
              <a:t>saptrace</a:t>
            </a:r>
            <a:r>
              <a:rPr lang="en-US" sz="2000" dirty="0">
                <a:solidFill>
                  <a:schemeClr val="bg1">
                    <a:lumMod val="50000"/>
                  </a:schemeClr>
                </a:solidFill>
                <a:latin typeface="Tele-GroteskNor" pitchFamily="2" charset="0"/>
              </a:rPr>
              <a:t>/background/alert_&lt;SID&gt;.log</a:t>
            </a:r>
          </a:p>
          <a:p>
            <a:pPr lvl="2" eaLnBrk="1" hangingPunct="1">
              <a:lnSpc>
                <a:spcPct val="90000"/>
              </a:lnSpc>
              <a:spcBef>
                <a:spcPts val="750"/>
              </a:spcBef>
              <a:buClr>
                <a:srgbClr val="9F4C97"/>
              </a:buClr>
              <a:buSzPct val="75000"/>
              <a:buFont typeface="Wingdings" panose="05000000000000000000" pitchFamily="2" charset="2"/>
              <a:buChar char=""/>
            </a:pPr>
            <a:endParaRPr lang="en-US" sz="2000" dirty="0">
              <a:solidFill>
                <a:srgbClr val="000000"/>
              </a:solidFill>
              <a:latin typeface="Tele-GroteskNor" pitchFamily="2"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1"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3491" name="Text Box 2"/>
          <p:cNvSpPr txBox="1">
            <a:spLocks noChangeArrowheads="1"/>
          </p:cNvSpPr>
          <p:nvPr/>
        </p:nvSpPr>
        <p:spPr bwMode="auto">
          <a:xfrm>
            <a:off x="304800" y="552450"/>
            <a:ext cx="84963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en-US" sz="3000">
                <a:solidFill>
                  <a:srgbClr val="9F4C97"/>
                </a:solidFill>
                <a:latin typeface="Tele-GroteskUlt" pitchFamily="2" charset="0"/>
                <a:ea typeface="TeleGrotesk Headline Ultra" pitchFamily="2" charset="0"/>
                <a:cs typeface="TeleGrotesk Headline Ultra" pitchFamily="2" charset="0"/>
              </a:rPr>
              <a:t>Troubleshooting</a:t>
            </a:r>
            <a:br>
              <a:rPr lang="en-US" sz="3000">
                <a:solidFill>
                  <a:srgbClr val="9F4C97"/>
                </a:solidFill>
                <a:latin typeface="Tele-GroteskUlt" pitchFamily="2" charset="0"/>
                <a:ea typeface="TeleGrotesk Headline Ultra" pitchFamily="2" charset="0"/>
                <a:cs typeface="TeleGrotesk Headline Ultra" pitchFamily="2" charset="0"/>
              </a:rPr>
            </a:br>
            <a:r>
              <a:rPr lang="en-US" sz="3000">
                <a:solidFill>
                  <a:srgbClr val="9F4C97"/>
                </a:solidFill>
                <a:latin typeface="Tele-GroteskNor" pitchFamily="2" charset="0"/>
                <a:ea typeface="TeleGrotesk Headline Ultra" pitchFamily="2" charset="0"/>
                <a:cs typeface="TeleGrotesk Headline Ultra" pitchFamily="2" charset="0"/>
              </a:rPr>
              <a:t>Archiver Stuck</a:t>
            </a:r>
          </a:p>
        </p:txBody>
      </p:sp>
      <p:sp>
        <p:nvSpPr>
          <p:cNvPr id="63492" name="Text Box 3"/>
          <p:cNvSpPr txBox="1">
            <a:spLocks noChangeArrowheads="1"/>
          </p:cNvSpPr>
          <p:nvPr/>
        </p:nvSpPr>
        <p:spPr bwMode="auto">
          <a:xfrm>
            <a:off x="304800" y="1773238"/>
            <a:ext cx="8496300" cy="428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1pPr>
            <a:lvl2pPr marL="1588"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2pPr>
            <a:lvl3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3pPr>
            <a:lvl4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4pPr>
            <a:lvl5pPr eaLnBrk="0" hangingPunc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1588"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bg1"/>
                </a:solidFill>
                <a:latin typeface="Tele-GroteskFet" pitchFamily="2" charset="0"/>
                <a:ea typeface="WenQuanYi Zen Hei Sharp" charset="0"/>
                <a:cs typeface="WenQuanYi Zen Hei Sharp" charset="0"/>
              </a:defRPr>
            </a:lvl9pPr>
          </a:lstStyle>
          <a:p>
            <a:pPr lvl="1" indent="0" eaLnBrk="1" hangingPunct="1">
              <a:lnSpc>
                <a:spcPct val="90000"/>
              </a:lnSpc>
              <a:spcBef>
                <a:spcPts val="750"/>
              </a:spcBef>
              <a:buClrTx/>
              <a:buFontTx/>
              <a:buNone/>
            </a:pPr>
            <a:r>
              <a:rPr lang="en-US" sz="2400">
                <a:solidFill>
                  <a:srgbClr val="000000"/>
                </a:solidFill>
                <a:latin typeface="Tele-GroteskNor" pitchFamily="2" charset="0"/>
              </a:rPr>
              <a:t>An archiver stuck is a situation in which the archiver instance process cannot copy an online redo log file to the archive directory (oraarch) and the online redo log file to be copied needs to be overwritten by the log writer (LGWR).</a:t>
            </a:r>
          </a:p>
        </p:txBody>
      </p:sp>
      <p:pic>
        <p:nvPicPr>
          <p:cNvPr id="6349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8113" y="2809875"/>
            <a:ext cx="5948362" cy="36147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1"/>
          <p:cNvSpPr txBox="1">
            <a:spLocks noChangeArrowheads="1"/>
          </p:cNvSpPr>
          <p:nvPr/>
        </p:nvSpPr>
        <p:spPr bwMode="auto">
          <a:xfrm>
            <a:off x="2557463" y="6357938"/>
            <a:ext cx="4102100"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buClrTx/>
              <a:buFontTx/>
              <a:buNone/>
            </a:pPr>
            <a:r>
              <a:rPr lang="en-US">
                <a:solidFill>
                  <a:srgbClr val="FFFFFF"/>
                </a:solidFill>
              </a:rPr>
              <a:t>– strictly confidential, confidential, internal, public –</a:t>
            </a:r>
          </a:p>
        </p:txBody>
      </p:sp>
      <p:pic>
        <p:nvPicPr>
          <p:cNvPr id="64515"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4516" name="Rectangle 3"/>
          <p:cNvSpPr>
            <a:spLocks noChangeArrowheads="1"/>
          </p:cNvSpPr>
          <p:nvPr/>
        </p:nvSpPr>
        <p:spPr bwMode="auto">
          <a:xfrm>
            <a:off x="0" y="0"/>
            <a:ext cx="9144000" cy="6348413"/>
          </a:xfrm>
          <a:prstGeom prst="rect">
            <a:avLst/>
          </a:prstGeom>
          <a:solidFill>
            <a:srgbClr val="666666"/>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517" name="Rectangle 4"/>
          <p:cNvSpPr>
            <a:spLocks noChangeArrowheads="1"/>
          </p:cNvSpPr>
          <p:nvPr/>
        </p:nvSpPr>
        <p:spPr bwMode="auto">
          <a:xfrm>
            <a:off x="323850" y="1773238"/>
            <a:ext cx="8496300" cy="147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5pPr>
            <a:lvl6pPr marL="25146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6pPr>
            <a:lvl7pPr marL="29718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7pPr>
            <a:lvl8pPr marL="34290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8pPr>
            <a:lvl9pPr marL="3886200" indent="-228600" defTabSz="457200" eaLnBrk="0" fontAlgn="base" hangingPunct="0">
              <a:lnSpc>
                <a:spcPts val="1800"/>
              </a:lnSpc>
              <a:spcBef>
                <a:spcPts val="563"/>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Tele-GroteskFet" pitchFamily="2" charset="0"/>
                <a:ea typeface="WenQuanYi Zen Hei Sharp" charset="0"/>
                <a:cs typeface="WenQuanYi Zen Hei Sharp" charset="0"/>
              </a:defRPr>
            </a:lvl9pPr>
          </a:lstStyle>
          <a:p>
            <a:pPr eaLnBrk="1" hangingPunct="1">
              <a:lnSpc>
                <a:spcPct val="90000"/>
              </a:lnSpc>
              <a:spcBef>
                <a:spcPct val="0"/>
              </a:spcBef>
              <a:buClrTx/>
              <a:buFontTx/>
              <a:buNone/>
            </a:pPr>
            <a:r>
              <a:rPr lang="de-DE" sz="4400">
                <a:solidFill>
                  <a:srgbClr val="FFFFFF"/>
                </a:solidFill>
                <a:latin typeface="Tele-GroteskUlt" pitchFamily="2" charset="0"/>
              </a:rPr>
              <a:t>Oracle DBA</a:t>
            </a:r>
          </a:p>
          <a:p>
            <a:pPr eaLnBrk="1" hangingPunct="1">
              <a:lnSpc>
                <a:spcPct val="90000"/>
              </a:lnSpc>
              <a:spcBef>
                <a:spcPct val="0"/>
              </a:spcBef>
              <a:buClrTx/>
              <a:buFontTx/>
              <a:buNone/>
            </a:pPr>
            <a:r>
              <a:rPr lang="de-DE" sz="4400">
                <a:solidFill>
                  <a:srgbClr val="FFFFFF"/>
                </a:solidFill>
                <a:latin typeface="Tele-GroteskUlt" pitchFamily="2" charset="0"/>
              </a:rPr>
              <a:t>For SAP</a:t>
            </a:r>
          </a:p>
        </p:txBody>
      </p:sp>
      <p:pic>
        <p:nvPicPr>
          <p:cNvPr id="573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6113" y="390525"/>
            <a:ext cx="5957887" cy="59578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withEffect">
                                  <p:stCondLst>
                                    <p:cond delay="1000"/>
                                  </p:stCondLst>
                                  <p:childTnLst>
                                    <p:set>
                                      <p:cBhvr additive="repl">
                                        <p:cTn id="6" dur="1" fill="hold">
                                          <p:stCondLst>
                                            <p:cond delay="0"/>
                                          </p:stCondLst>
                                        </p:cTn>
                                        <p:tgtEl>
                                          <p:spTgt spid="57349"/>
                                        </p:tgtEl>
                                        <p:attrNameLst>
                                          <p:attrName>style.visibility</p:attrName>
                                        </p:attrNameLst>
                                      </p:cBhvr>
                                      <p:to>
                                        <p:strVal val="visible"/>
                                      </p:to>
                                    </p:set>
                                    <p:animEffect transition="in" filter="wipe(down)">
                                      <p:cBhvr additive="repl">
                                        <p:cTn id="7" dur="225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ele-GroteskUlt"/>
        <a:ea typeface="TeleGrotesk Headline Ultra"/>
        <a:cs typeface="TeleGrotesk Headline Ultra"/>
      </a:majorFont>
      <a:minorFont>
        <a:latin typeface="Tele-GroteskFet"/>
        <a:ea typeface="WenQuanYi Zen Hei Sharp"/>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ele-GroteskUlt"/>
        <a:ea typeface="TeleGrotesk Headline Ultra"/>
        <a:cs typeface="TeleGrotesk Headline Ultra"/>
      </a:majorFont>
      <a:minorFont>
        <a:latin typeface="Tele-GroteskFet"/>
        <a:ea typeface="WenQuanYi Zen Hei Sharp"/>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ele-GroteskUlt"/>
        <a:ea typeface="TeleGrotesk Headline Ultra"/>
        <a:cs typeface="TeleGrotesk Headline Ultra"/>
      </a:majorFont>
      <a:minorFont>
        <a:latin typeface="Tele-GroteskFet"/>
        <a:ea typeface="WenQuanYi Zen Hei Sharp"/>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ele-GroteskUlt"/>
        <a:ea typeface="TeleGrotesk Headline Ultra"/>
        <a:cs typeface="TeleGrotesk Headline Ultra"/>
      </a:majorFont>
      <a:minorFont>
        <a:latin typeface="Tele-GroteskFet"/>
        <a:ea typeface="WenQuanYi Zen Hei Sharp"/>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ele-GroteskUlt"/>
        <a:ea typeface="TeleGrotesk Headline Ultra"/>
        <a:cs typeface="TeleGrotesk Headline Ultra"/>
      </a:majorFont>
      <a:minorFont>
        <a:latin typeface="Tele-GroteskFet"/>
        <a:ea typeface="WenQuanYi Zen Hei Sharp"/>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ts val="1800"/>
          </a:lnSpc>
          <a:spcBef>
            <a:spcPts val="563"/>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Tele-GroteskFet"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7780</TotalTime>
  <Words>3090</Words>
  <Application>Microsoft Office PowerPoint</Application>
  <PresentationFormat>On-screen Show (4:3)</PresentationFormat>
  <Paragraphs>485</Paragraphs>
  <Slides>52</Slides>
  <Notes>52</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52</vt:i4>
      </vt:variant>
    </vt:vector>
  </HeadingPairs>
  <TitlesOfParts>
    <vt:vector size="68" baseType="lpstr">
      <vt:lpstr>Arial</vt:lpstr>
      <vt:lpstr>Calibri</vt:lpstr>
      <vt:lpstr>Courier New</vt:lpstr>
      <vt:lpstr>DejaVu Sans</vt:lpstr>
      <vt:lpstr>TeleGrotesk Headline Ultra</vt:lpstr>
      <vt:lpstr>Tele-GroteskFet</vt:lpstr>
      <vt:lpstr>Tele-GroteskNor</vt:lpstr>
      <vt:lpstr>Tele-GroteskUlt</vt:lpstr>
      <vt:lpstr>Times New Roman</vt:lpstr>
      <vt:lpstr>WenQuanYi Zen Hei Sharp</vt:lpstr>
      <vt:lpstr>Wingdings</vt:lpstr>
      <vt:lpstr>Office Theme</vt:lpstr>
      <vt:lpstr>1_Office Theme</vt:lpstr>
      <vt:lpstr>2_Office Theme</vt:lpstr>
      <vt:lpstr>3_Office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Frank Mueller</dc:creator>
  <cp:keywords/>
  <dc:description/>
  <cp:lastModifiedBy>mmagac</cp:lastModifiedBy>
  <cp:revision>892</cp:revision>
  <cp:lastPrinted>2017-01-30T06:27:59Z</cp:lastPrinted>
  <dcterms:created xsi:type="dcterms:W3CDTF">2011-07-07T11:12:14Z</dcterms:created>
  <dcterms:modified xsi:type="dcterms:W3CDTF">2019-03-12T13:47:00Z</dcterms:modified>
  <cp:category>OPEN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000800bc140000000000010250600207f980073804f000</vt:lpwstr>
  </property>
  <property fmtid="{D5CDD505-2E9C-101B-9397-08002B2CF9AE}" pid="3" name="tsystems-DocumentTagging.ClassificationMark.P00">
    <vt:lpwstr>&lt;ClassificationMark xmlns:xsi="http://www.w3.org/2001/XMLSchema-instance" xmlns:xsd="http://www.w3.org/2001/XMLSchema" margin="NaN" class="C0" owner="Frank Mueller" position="BottomMiddle" marginX="0" marginY="0" classifiedOn="2018-05-04T08:22:23.689</vt:lpwstr>
  </property>
  <property fmtid="{D5CDD505-2E9C-101B-9397-08002B2CF9AE}" pid="4" name="tsystems-DocumentTagging.ClassificationMark.P01">
    <vt:lpwstr>248+02:00" showPrintedBy="false" showPrintDate="false" language="en" ApplicationVersion="Microsoft PowerPoint, 14.0" addinVersion="5.10.4.12" template="Default"&gt;&lt;history bulk="false" class="OPEN " code="C0" user="Magac Martin" date="2018-05-04T08:22:</vt:lpwstr>
  </property>
  <property fmtid="{D5CDD505-2E9C-101B-9397-08002B2CF9AE}" pid="5" name="tsystems-DocumentTagging.ClassificationMark.P02">
    <vt:lpwstr>23.8772292+02:00" /&gt;&lt;recipients /&gt;&lt;documentOwners /&gt;&lt;/ClassificationMark&gt;</vt:lpwstr>
  </property>
  <property fmtid="{D5CDD505-2E9C-101B-9397-08002B2CF9AE}" pid="6" name="tsystems-DocumentTagging.ClassificationMark">
    <vt:lpwstr>￼PARTS:3</vt:lpwstr>
  </property>
  <property fmtid="{D5CDD505-2E9C-101B-9397-08002B2CF9AE}" pid="7" name="tsystems-DocumentClasification">
    <vt:lpwstr>OPEN </vt:lpwstr>
  </property>
  <property fmtid="{D5CDD505-2E9C-101B-9397-08002B2CF9AE}" pid="8" name="tsystems-DLP">
    <vt:lpwstr>tsystems-DLP:TAG_SEC_C0</vt:lpwstr>
  </property>
</Properties>
</file>